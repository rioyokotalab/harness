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3"/>
  </p:sldIdLst>
  <p:sldSz cx="12192000" cy="6858000" type="screen16x9"/>
  <p:notesSz cx="6858000" cy="9144000"/>
  <p:defaultTextStyle>
    <a:defPPr>
      <a:defRPr lang="en-US"/>
    </a:def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hf hdr="1" ftr="1" dt="1" sldNum="1"/>
  <p:notesStyle>
    <a:lvl1pPr>
      <a:defRPr sz="1200">
        <a:latin typeface="Yu Gothic"/>
      </a:defRPr>
    </a:lvl1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 txBox="1"/>
          <p:nvPr>
            <p:ph type="body" idx="1"/>
          </p:nvPr>
        </p:nvSpPr>
        <p:spPr>
          <a:xfrm>
            <a:off x="685800" y="4114800"/>
            <a:ext cx="5486400" cy="2286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en-US" sz="1200">
                <a:latin typeface="Yu Gothic"/>
              </a:rPr>
              <a:t>complete historyは544 total / 544 first-parent commits、tag 0、merge commit 0。意味のある変化はProtect、Observe、Transact、Recover、Measure、Expand、Collaborateの7段階に圧縮できる。current surfaceは12 skills、43 commands、57 focused suites、7 Linux profilesだが、countは品質指標ではない。</a:t>
            </a:r>
            <a:endParaRPr lang="en-US" sz="1200"/>
          </a:p>
          <a:p>
            <a:r>
              <a:rPr lang="en-US" sz="1200">
                <a:latin typeface="Yu Gothic"/>
              </a:rPr>
              <a:t>checked-in evidenceはCPU readiness 7/7、accelerator driver/runtime 7/7、CUDA kernel 5、single-node MPI routes 5、T-181 deterministic 69/70かつsafety failure 0、backup/restore 7 primary + 7 independent generation、cowork matched median 29.69s→25.35sを示す。readinessはperformanceではなく、corpus/host-specific limitsを伴う。</a:t>
            </a:r>
            <a:endParaRPr lang="en-US" sz="1200"/>
          </a:p>
          <a:p>
            <a:r>
              <a:rPr lang="en-US" sz="1200">
                <a:latin typeface="Yu Gothic"/>
              </a:rPr>
              <a:t>成熟を示すのは追加だけではない。automatic login Git、website ownership、private Bash/tmux duplication、harness-owned native Codexを撤回した。次段階はhuman coordinationを減らすことだが、authority、provenance、native transparencyを維持する。このslideはHPC scaling、universal agent quality、完全な事故forensics、authorship/honesty、read confidentiality、retention deletion authority、future external stateを主張しない。</a:t>
            </a:r>
            <a:endParaRPr lang="en-US" sz="1200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1" r:id="rId1"/>
  </p:sldLayoutIdLst>
  <p:txStyles>
    <p:titleStyle>
      <a:lvl1pPr algn="l">
        <a:defRPr sz="2800" b="1">
          <a:latin typeface="Yu Gothic"/>
        </a:defRPr>
      </a:lvl1pPr>
    </p:titleStyle>
    <p:bodyStyle>
      <a:lvl1pPr>
        <a:defRPr sz="1600">
          <a:latin typeface="Yu Gothic"/>
        </a:defRPr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12700">
            <a:solidFill>
              <a:srgbClr val="F6F8FC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3"/>
          <p:cNvSpPr txBox="1"/>
          <p:nvPr/>
        </p:nvSpPr>
        <p:spPr>
          <a:xfrm>
            <a:off x="621792" y="320040"/>
            <a:ext cx="10972800" cy="5852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2550" b="1" i="0" dirty="0">
                <a:solidFill>
                  <a:srgbClr val="14213D"/>
                </a:solidFill>
                <a:latin typeface="Yu Gothic"/>
              </a:rPr>
              <a:t>残りの進化史は「測定・回復・撤回」で現在の境界に収束した</a:t>
            </a:r>
            <a:endParaRPr lang="en-US" sz="2550"/>
          </a:p>
        </p:txBody>
      </p:sp>
      <p:sp>
        <p:nvSpPr>
          <p:cNvPr id="4" name="Text 4"/>
          <p:cNvSpPr txBox="1"/>
          <p:nvPr/>
        </p:nvSpPr>
        <p:spPr>
          <a:xfrm>
            <a:off x="640080" y="914400"/>
            <a:ext cx="1088136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1080" b="0" i="0" dirty="0">
                <a:solidFill>
                  <a:srgbClr val="56647A"/>
                </a:solidFill>
                <a:latin typeface="Yu Gothic"/>
              </a:rPr>
              <a:t>追加した機能より、何を証明し、何を戻し、何を所有しないか</a:t>
            </a:r>
            <a:endParaRPr lang="en-US" sz="1080"/>
          </a:p>
        </p:txBody>
      </p:sp>
      <p:cxnSp>
        <p:nvCxnSpPr>
          <p:cNvPr id="5" name="Line 5"/>
          <p:cNvCxnSpPr/>
          <p:nvPr/>
        </p:nvCxnSpPr>
        <p:spPr>
          <a:xfrm flipH="false" flipV="false">
            <a:off x="658368" y="1700784"/>
            <a:ext cx="10826496" cy="0"/>
          </a:xfrm>
          <a:prstGeom prst="line">
            <a:avLst/>
          </a:prstGeom>
          <a:ln w="12700">
            <a:solidFill>
              <a:srgbClr val="C5CFDC"/>
            </a:solidFill>
          </a:ln>
        </p:spPr>
      </p:cxnSp>
      <p:sp>
        <p:nvSpPr>
          <p:cNvPr id="6" name="Ellipse 6"/>
          <p:cNvSpPr/>
          <p:nvPr/>
        </p:nvSpPr>
        <p:spPr>
          <a:xfrm>
            <a:off x="1060704" y="1572768"/>
            <a:ext cx="237744" cy="23774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Rect 7"/>
          <p:cNvSpPr/>
          <p:nvPr/>
        </p:nvSpPr>
        <p:spPr>
          <a:xfrm>
            <a:off x="530352" y="1901952"/>
            <a:ext cx="1298448" cy="566928"/>
          </a:xfrm>
          <a:prstGeom prst="roundRect">
            <a:avLst/>
          </a:prstGeom>
          <a:solidFill>
            <a:srgbClr val="E7F0FE"/>
          </a:solidFill>
          <a:ln w="12700">
            <a:solidFill>
              <a:srgbClr val="3B82F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8"/>
          <p:cNvSpPr txBox="1"/>
          <p:nvPr/>
        </p:nvSpPr>
        <p:spPr>
          <a:xfrm>
            <a:off x="594360" y="2020824"/>
            <a:ext cx="117043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920" b="1" i="0" dirty="0">
                <a:solidFill>
                  <a:srgbClr val="3B82F6"/>
                </a:solidFill>
                <a:latin typeface="Yu Gothic"/>
              </a:rPr>
              <a:t>守る</a:t>
            </a:r>
            <a:endParaRPr lang="en-US" sz="920"/>
          </a:p>
        </p:txBody>
      </p:sp>
      <p:sp>
        <p:nvSpPr>
          <p:cNvPr id="9" name="Text 9"/>
          <p:cNvSpPr txBox="1"/>
          <p:nvPr/>
        </p:nvSpPr>
        <p:spPr>
          <a:xfrm>
            <a:off x="594360" y="2249424"/>
            <a:ext cx="1170432" cy="10972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Policy</a:t>
            </a:r>
            <a:endParaRPr lang="en-US" sz="650"/>
          </a:p>
        </p:txBody>
      </p:sp>
      <p:sp>
        <p:nvSpPr>
          <p:cNvPr id="10" name="Ellipse 10"/>
          <p:cNvSpPr/>
          <p:nvPr/>
        </p:nvSpPr>
        <p:spPr>
          <a:xfrm>
            <a:off x="2615184" y="1572768"/>
            <a:ext cx="237744" cy="237744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 11"/>
          <p:cNvSpPr/>
          <p:nvPr/>
        </p:nvSpPr>
        <p:spPr>
          <a:xfrm>
            <a:off x="2084832" y="1901952"/>
            <a:ext cx="1298448" cy="566928"/>
          </a:xfrm>
          <a:prstGeom prst="roundRect">
            <a:avLst/>
          </a:prstGeom>
          <a:solidFill>
            <a:srgbClr val="E1F6FA"/>
          </a:solidFill>
          <a:ln w="12700">
            <a:solidFill>
              <a:srgbClr val="06B6D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2"/>
          <p:cNvSpPr txBox="1"/>
          <p:nvPr/>
        </p:nvSpPr>
        <p:spPr>
          <a:xfrm>
            <a:off x="2148840" y="2020824"/>
            <a:ext cx="117043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920" b="1" i="0" dirty="0">
                <a:solidFill>
                  <a:srgbClr val="06B6D4"/>
                </a:solidFill>
                <a:latin typeface="Yu Gothic"/>
              </a:rPr>
              <a:t>観る</a:t>
            </a:r>
            <a:endParaRPr lang="en-US" sz="920"/>
          </a:p>
        </p:txBody>
      </p:sp>
      <p:sp>
        <p:nvSpPr>
          <p:cNvPr id="13" name="Text 13"/>
          <p:cNvSpPr txBox="1"/>
          <p:nvPr/>
        </p:nvSpPr>
        <p:spPr>
          <a:xfrm>
            <a:off x="2148840" y="2249424"/>
            <a:ext cx="1170432" cy="10972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Observe</a:t>
            </a:r>
            <a:endParaRPr lang="en-US" sz="650"/>
          </a:p>
        </p:txBody>
      </p:sp>
      <p:sp>
        <p:nvSpPr>
          <p:cNvPr id="14" name="Ellipse 14"/>
          <p:cNvSpPr/>
          <p:nvPr/>
        </p:nvSpPr>
        <p:spPr>
          <a:xfrm>
            <a:off x="4169664" y="1572768"/>
            <a:ext cx="237744" cy="23774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 15"/>
          <p:cNvSpPr/>
          <p:nvPr/>
        </p:nvSpPr>
        <p:spPr>
          <a:xfrm>
            <a:off x="3639312" y="1901952"/>
            <a:ext cx="1298448" cy="566928"/>
          </a:xfrm>
          <a:prstGeom prst="roundRect">
            <a:avLst/>
          </a:prstGeom>
          <a:solidFill>
            <a:srgbClr val="E2F2F1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6"/>
          <p:cNvSpPr txBox="1"/>
          <p:nvPr/>
        </p:nvSpPr>
        <p:spPr>
          <a:xfrm>
            <a:off x="3703320" y="2020824"/>
            <a:ext cx="117043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920" b="1" i="0" dirty="0">
                <a:solidFill>
                  <a:srgbClr val="0D9488"/>
                </a:solidFill>
                <a:latin typeface="Yu Gothic"/>
              </a:rPr>
              <a:t>動かす</a:t>
            </a:r>
            <a:endParaRPr lang="en-US" sz="920"/>
          </a:p>
        </p:txBody>
      </p:sp>
      <p:sp>
        <p:nvSpPr>
          <p:cNvPr id="17" name="Text 17"/>
          <p:cNvSpPr txBox="1"/>
          <p:nvPr/>
        </p:nvSpPr>
        <p:spPr>
          <a:xfrm>
            <a:off x="3703320" y="2249424"/>
            <a:ext cx="1170432" cy="10972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Transact</a:t>
            </a:r>
            <a:endParaRPr lang="en-US" sz="650"/>
          </a:p>
        </p:txBody>
      </p:sp>
      <p:sp>
        <p:nvSpPr>
          <p:cNvPr id="18" name="Ellipse 18"/>
          <p:cNvSpPr/>
          <p:nvPr/>
        </p:nvSpPr>
        <p:spPr>
          <a:xfrm>
            <a:off x="5724144" y="1572768"/>
            <a:ext cx="237744" cy="23774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 19"/>
          <p:cNvSpPr/>
          <p:nvPr/>
        </p:nvSpPr>
        <p:spPr>
          <a:xfrm>
            <a:off x="5193792" y="1901952"/>
            <a:ext cx="1298448" cy="566928"/>
          </a:xfrm>
          <a:prstGeom prst="roundRect">
            <a:avLst/>
          </a:prstGeom>
          <a:solidFill>
            <a:srgbClr val="FEF3E2"/>
          </a:solidFill>
          <a:ln w="12700">
            <a:solidFill>
              <a:srgbClr val="F59E0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20"/>
          <p:cNvSpPr txBox="1"/>
          <p:nvPr/>
        </p:nvSpPr>
        <p:spPr>
          <a:xfrm>
            <a:off x="5257800" y="2020824"/>
            <a:ext cx="117043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920" b="1" i="0" dirty="0">
                <a:solidFill>
                  <a:srgbClr val="F59E0B"/>
                </a:solidFill>
                <a:latin typeface="Yu Gothic"/>
              </a:rPr>
              <a:t>戻す</a:t>
            </a:r>
            <a:endParaRPr lang="en-US" sz="920"/>
          </a:p>
        </p:txBody>
      </p:sp>
      <p:sp>
        <p:nvSpPr>
          <p:cNvPr id="21" name="Text 21"/>
          <p:cNvSpPr txBox="1"/>
          <p:nvPr/>
        </p:nvSpPr>
        <p:spPr>
          <a:xfrm>
            <a:off x="5257800" y="2249424"/>
            <a:ext cx="1170432" cy="10972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Recover</a:t>
            </a:r>
            <a:endParaRPr lang="en-US" sz="650"/>
          </a:p>
        </p:txBody>
      </p:sp>
      <p:sp>
        <p:nvSpPr>
          <p:cNvPr id="22" name="Ellipse 22"/>
          <p:cNvSpPr/>
          <p:nvPr/>
        </p:nvSpPr>
        <p:spPr>
          <a:xfrm>
            <a:off x="7278624" y="1572768"/>
            <a:ext cx="237744" cy="23774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 23"/>
          <p:cNvSpPr/>
          <p:nvPr/>
        </p:nvSpPr>
        <p:spPr>
          <a:xfrm>
            <a:off x="6748272" y="1901952"/>
            <a:ext cx="1298448" cy="566928"/>
          </a:xfrm>
          <a:prstGeom prst="roundRect">
            <a:avLst/>
          </a:prstGeom>
          <a:solidFill>
            <a:srgbClr val="EFE7FD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4"/>
          <p:cNvSpPr txBox="1"/>
          <p:nvPr/>
        </p:nvSpPr>
        <p:spPr>
          <a:xfrm>
            <a:off x="6812280" y="2020824"/>
            <a:ext cx="117043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920" b="1" i="0" dirty="0">
                <a:solidFill>
                  <a:srgbClr val="7C3AED"/>
                </a:solidFill>
                <a:latin typeface="Yu Gothic"/>
              </a:rPr>
              <a:t>測る</a:t>
            </a:r>
            <a:endParaRPr lang="en-US" sz="920"/>
          </a:p>
        </p:txBody>
      </p:sp>
      <p:sp>
        <p:nvSpPr>
          <p:cNvPr id="25" name="Text 25"/>
          <p:cNvSpPr txBox="1"/>
          <p:nvPr/>
        </p:nvSpPr>
        <p:spPr>
          <a:xfrm>
            <a:off x="6812280" y="2249424"/>
            <a:ext cx="1170432" cy="10972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Measure</a:t>
            </a:r>
            <a:endParaRPr lang="en-US" sz="650"/>
          </a:p>
        </p:txBody>
      </p:sp>
      <p:sp>
        <p:nvSpPr>
          <p:cNvPr id="26" name="Ellipse 26"/>
          <p:cNvSpPr/>
          <p:nvPr/>
        </p:nvSpPr>
        <p:spPr>
          <a:xfrm>
            <a:off x="8833104" y="1572768"/>
            <a:ext cx="237744" cy="237744"/>
          </a:xfrm>
          <a:prstGeom prst="ellipse">
            <a:avLst/>
          </a:prstGeom>
          <a:solidFill>
            <a:srgbClr val="DB2777"/>
          </a:solidFill>
          <a:ln w="12700">
            <a:solidFill>
              <a:srgbClr val="DB277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 27"/>
          <p:cNvSpPr/>
          <p:nvPr/>
        </p:nvSpPr>
        <p:spPr>
          <a:xfrm>
            <a:off x="8302752" y="1901952"/>
            <a:ext cx="1298448" cy="566928"/>
          </a:xfrm>
          <a:prstGeom prst="roundRect">
            <a:avLst/>
          </a:prstGeom>
          <a:solidFill>
            <a:srgbClr val="FBE5EF"/>
          </a:solidFill>
          <a:ln w="12700">
            <a:solidFill>
              <a:srgbClr val="DB277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8"/>
          <p:cNvSpPr txBox="1"/>
          <p:nvPr/>
        </p:nvSpPr>
        <p:spPr>
          <a:xfrm>
            <a:off x="8366760" y="2020824"/>
            <a:ext cx="117043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920" b="1" i="0" dirty="0">
                <a:solidFill>
                  <a:srgbClr val="DB2777"/>
                </a:solidFill>
                <a:latin typeface="Yu Gothic"/>
              </a:rPr>
              <a:t>広げる</a:t>
            </a:r>
            <a:endParaRPr lang="en-US" sz="920"/>
          </a:p>
        </p:txBody>
      </p:sp>
      <p:sp>
        <p:nvSpPr>
          <p:cNvPr id="29" name="Text 29"/>
          <p:cNvSpPr txBox="1"/>
          <p:nvPr/>
        </p:nvSpPr>
        <p:spPr>
          <a:xfrm>
            <a:off x="8366760" y="2249424"/>
            <a:ext cx="1170432" cy="10972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Expand</a:t>
            </a:r>
            <a:endParaRPr lang="en-US" sz="650"/>
          </a:p>
        </p:txBody>
      </p:sp>
      <p:sp>
        <p:nvSpPr>
          <p:cNvPr id="30" name="Ellipse 30"/>
          <p:cNvSpPr/>
          <p:nvPr/>
        </p:nvSpPr>
        <p:spPr>
          <a:xfrm>
            <a:off x="10387584" y="1572768"/>
            <a:ext cx="237744" cy="237744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 31"/>
          <p:cNvSpPr/>
          <p:nvPr/>
        </p:nvSpPr>
        <p:spPr>
          <a:xfrm>
            <a:off x="9857232" y="1901952"/>
            <a:ext cx="1298448" cy="566928"/>
          </a:xfrm>
          <a:prstGeom prst="roundRect">
            <a:avLst/>
          </a:prstGeom>
          <a:solidFill>
            <a:srgbClr val="E3F4E9"/>
          </a:solidFill>
          <a:ln w="12700">
            <a:solidFill>
              <a:srgbClr val="16A34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2"/>
          <p:cNvSpPr txBox="1"/>
          <p:nvPr/>
        </p:nvSpPr>
        <p:spPr>
          <a:xfrm>
            <a:off x="9921240" y="2020824"/>
            <a:ext cx="117043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920" b="1" i="0" dirty="0">
                <a:solidFill>
                  <a:srgbClr val="16A34A"/>
                </a:solidFill>
                <a:latin typeface="Yu Gothic"/>
              </a:rPr>
              <a:t>協働</a:t>
            </a:r>
            <a:endParaRPr lang="en-US" sz="920"/>
          </a:p>
        </p:txBody>
      </p:sp>
      <p:sp>
        <p:nvSpPr>
          <p:cNvPr id="33" name="Text 33"/>
          <p:cNvSpPr txBox="1"/>
          <p:nvPr/>
        </p:nvSpPr>
        <p:spPr>
          <a:xfrm>
            <a:off x="9921240" y="2249424"/>
            <a:ext cx="1170432" cy="10972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Cowork</a:t>
            </a:r>
            <a:endParaRPr lang="en-US" sz="650"/>
          </a:p>
        </p:txBody>
      </p:sp>
      <p:sp>
        <p:nvSpPr>
          <p:cNvPr id="34" name="Text 34"/>
          <p:cNvSpPr txBox="1"/>
          <p:nvPr/>
        </p:nvSpPr>
        <p:spPr>
          <a:xfrm>
            <a:off x="9710928" y="1298448"/>
            <a:ext cx="1755648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710" b="1" i="0" dirty="0">
                <a:solidFill>
                  <a:srgbClr val="14213D"/>
                </a:solidFill>
                <a:latin typeface="Yu Gothic"/>
              </a:rPr>
              <a:t>544 / 544 first-parent</a:t>
            </a:r>
            <a:endParaRPr lang="en-US" sz="710"/>
          </a:p>
        </p:txBody>
      </p:sp>
      <p:sp>
        <p:nvSpPr>
          <p:cNvPr id="35" name="Text 35"/>
          <p:cNvSpPr txBox="1"/>
          <p:nvPr/>
        </p:nvSpPr>
        <p:spPr>
          <a:xfrm>
            <a:off x="9710928" y="1481328"/>
            <a:ext cx="1755648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0 tags • 0 merges</a:t>
            </a:r>
            <a:endParaRPr lang="en-US" sz="650"/>
          </a:p>
        </p:txBody>
      </p:sp>
      <p:sp>
        <p:nvSpPr>
          <p:cNvPr id="36" name="Rect 36"/>
          <p:cNvSpPr/>
          <p:nvPr/>
        </p:nvSpPr>
        <p:spPr>
          <a:xfrm>
            <a:off x="502920" y="2724912"/>
            <a:ext cx="3767328" cy="3163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 37"/>
          <p:cNvSpPr/>
          <p:nvPr/>
        </p:nvSpPr>
        <p:spPr>
          <a:xfrm>
            <a:off x="731520" y="2926080"/>
            <a:ext cx="1335024" cy="274320"/>
          </a:xfrm>
          <a:prstGeom prst="roundRect">
            <a:avLst/>
          </a:prstGeom>
          <a:solidFill>
            <a:srgbClr val="D6EDEB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8"/>
          <p:cNvSpPr txBox="1"/>
          <p:nvPr/>
        </p:nvSpPr>
        <p:spPr>
          <a:xfrm>
            <a:off x="786384" y="2990088"/>
            <a:ext cx="1225296" cy="1371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20" b="1" i="0" dirty="0">
                <a:solidFill>
                  <a:srgbClr val="0D9488"/>
                </a:solidFill>
                <a:latin typeface="Yu Gothic"/>
              </a:rPr>
              <a:t>EVIDENCE</a:t>
            </a:r>
            <a:endParaRPr lang="en-US" sz="820"/>
          </a:p>
        </p:txBody>
      </p:sp>
      <p:sp>
        <p:nvSpPr>
          <p:cNvPr id="39" name="Rect 39"/>
          <p:cNvSpPr/>
          <p:nvPr/>
        </p:nvSpPr>
        <p:spPr>
          <a:xfrm>
            <a:off x="731520" y="3401568"/>
            <a:ext cx="1536192" cy="438912"/>
          </a:xfrm>
          <a:prstGeom prst="roundRect">
            <a:avLst/>
          </a:prstGeom>
          <a:solidFill>
            <a:srgbClr val="EBF9FC"/>
          </a:solidFill>
          <a:ln w="12700">
            <a:solidFill>
              <a:srgbClr val="06B6D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40"/>
          <p:cNvSpPr txBox="1"/>
          <p:nvPr/>
        </p:nvSpPr>
        <p:spPr>
          <a:xfrm>
            <a:off x="795528" y="3493008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40" b="1" i="0" dirty="0">
                <a:solidFill>
                  <a:srgbClr val="06B6D4"/>
                </a:solidFill>
                <a:latin typeface="Yu Gothic"/>
              </a:rPr>
              <a:t>7/7</a:t>
            </a:r>
            <a:endParaRPr lang="en-US" sz="840"/>
          </a:p>
        </p:txBody>
      </p:sp>
      <p:sp>
        <p:nvSpPr>
          <p:cNvPr id="41" name="Text 41"/>
          <p:cNvSpPr txBox="1"/>
          <p:nvPr/>
        </p:nvSpPr>
        <p:spPr>
          <a:xfrm>
            <a:off x="1335024" y="3493008"/>
            <a:ext cx="859536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CPU</a:t>
            </a:r>
            <a:endParaRPr lang="en-US" sz="650"/>
          </a:p>
        </p:txBody>
      </p:sp>
      <p:sp>
        <p:nvSpPr>
          <p:cNvPr id="42" name="Rect 42"/>
          <p:cNvSpPr/>
          <p:nvPr/>
        </p:nvSpPr>
        <p:spPr>
          <a:xfrm>
            <a:off x="2432304" y="3401568"/>
            <a:ext cx="1536192" cy="438912"/>
          </a:xfrm>
          <a:prstGeom prst="roundRect">
            <a:avLst/>
          </a:prstGeom>
          <a:solidFill>
            <a:srgbClr val="ECF6F5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3"/>
          <p:cNvSpPr txBox="1"/>
          <p:nvPr/>
        </p:nvSpPr>
        <p:spPr>
          <a:xfrm>
            <a:off x="2496312" y="3493008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40" b="1" i="0" dirty="0">
                <a:solidFill>
                  <a:srgbClr val="0D9488"/>
                </a:solidFill>
                <a:latin typeface="Yu Gothic"/>
              </a:rPr>
              <a:t>7/7</a:t>
            </a:r>
            <a:endParaRPr lang="en-US" sz="840"/>
          </a:p>
        </p:txBody>
      </p:sp>
      <p:sp>
        <p:nvSpPr>
          <p:cNvPr id="44" name="Text 44"/>
          <p:cNvSpPr txBox="1"/>
          <p:nvPr/>
        </p:nvSpPr>
        <p:spPr>
          <a:xfrm>
            <a:off x="3035808" y="3493008"/>
            <a:ext cx="859536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Accel drv/runtime</a:t>
            </a:r>
            <a:endParaRPr lang="en-US" sz="650"/>
          </a:p>
        </p:txBody>
      </p:sp>
      <p:sp>
        <p:nvSpPr>
          <p:cNvPr id="45" name="Rect 45"/>
          <p:cNvSpPr/>
          <p:nvPr/>
        </p:nvSpPr>
        <p:spPr>
          <a:xfrm>
            <a:off x="731520" y="3959352"/>
            <a:ext cx="1536192" cy="438912"/>
          </a:xfrm>
          <a:prstGeom prst="roundRect">
            <a:avLst/>
          </a:prstGeom>
          <a:solidFill>
            <a:srgbClr val="F5EFFE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6"/>
          <p:cNvSpPr txBox="1"/>
          <p:nvPr/>
        </p:nvSpPr>
        <p:spPr>
          <a:xfrm>
            <a:off x="795528" y="4050792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40" b="1" i="0" dirty="0">
                <a:solidFill>
                  <a:srgbClr val="7C3AED"/>
                </a:solidFill>
                <a:latin typeface="Yu Gothic"/>
              </a:rPr>
              <a:t>5</a:t>
            </a:r>
            <a:endParaRPr lang="en-US" sz="840"/>
          </a:p>
        </p:txBody>
      </p:sp>
      <p:sp>
        <p:nvSpPr>
          <p:cNvPr id="47" name="Text 47"/>
          <p:cNvSpPr txBox="1"/>
          <p:nvPr/>
        </p:nvSpPr>
        <p:spPr>
          <a:xfrm>
            <a:off x="1335024" y="4050792"/>
            <a:ext cx="859536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CUDA kernel</a:t>
            </a:r>
            <a:endParaRPr lang="en-US" sz="650"/>
          </a:p>
        </p:txBody>
      </p:sp>
      <p:sp>
        <p:nvSpPr>
          <p:cNvPr id="48" name="Rect 48"/>
          <p:cNvSpPr/>
          <p:nvPr/>
        </p:nvSpPr>
        <p:spPr>
          <a:xfrm>
            <a:off x="2432304" y="3959352"/>
            <a:ext cx="1536192" cy="438912"/>
          </a:xfrm>
          <a:prstGeom prst="roundRect">
            <a:avLst/>
          </a:prstGeom>
          <a:solidFill>
            <a:srgbClr val="FEF7EB"/>
          </a:solidFill>
          <a:ln w="12700">
            <a:solidFill>
              <a:srgbClr val="F59E0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9"/>
          <p:cNvSpPr txBox="1"/>
          <p:nvPr/>
        </p:nvSpPr>
        <p:spPr>
          <a:xfrm>
            <a:off x="2496312" y="4050792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40" b="1" i="0" dirty="0">
                <a:solidFill>
                  <a:srgbClr val="F59E0B"/>
                </a:solidFill>
                <a:latin typeface="Yu Gothic"/>
              </a:rPr>
              <a:t>5</a:t>
            </a:r>
            <a:endParaRPr lang="en-US" sz="840"/>
          </a:p>
        </p:txBody>
      </p:sp>
      <p:sp>
        <p:nvSpPr>
          <p:cNvPr id="50" name="Text 50"/>
          <p:cNvSpPr txBox="1"/>
          <p:nvPr/>
        </p:nvSpPr>
        <p:spPr>
          <a:xfrm>
            <a:off x="3035808" y="4050792"/>
            <a:ext cx="859536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MPI routes</a:t>
            </a:r>
            <a:endParaRPr lang="en-US" sz="650"/>
          </a:p>
        </p:txBody>
      </p:sp>
      <p:sp>
        <p:nvSpPr>
          <p:cNvPr id="51" name="Rect 51"/>
          <p:cNvSpPr/>
          <p:nvPr/>
        </p:nvSpPr>
        <p:spPr>
          <a:xfrm>
            <a:off x="731520" y="4517136"/>
            <a:ext cx="1536192" cy="438912"/>
          </a:xfrm>
          <a:prstGeom prst="roundRect">
            <a:avLst/>
          </a:prstGeom>
          <a:solidFill>
            <a:srgbClr val="F5EFFE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2"/>
          <p:cNvSpPr txBox="1"/>
          <p:nvPr/>
        </p:nvSpPr>
        <p:spPr>
          <a:xfrm>
            <a:off x="795528" y="4608576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40" b="1" i="0" dirty="0">
                <a:solidFill>
                  <a:srgbClr val="7C3AED"/>
                </a:solidFill>
                <a:latin typeface="Yu Gothic"/>
              </a:rPr>
              <a:t>69/70</a:t>
            </a:r>
            <a:endParaRPr lang="en-US" sz="840"/>
          </a:p>
        </p:txBody>
      </p:sp>
      <p:sp>
        <p:nvSpPr>
          <p:cNvPr id="53" name="Text 53"/>
          <p:cNvSpPr txBox="1"/>
          <p:nvPr/>
        </p:nvSpPr>
        <p:spPr>
          <a:xfrm>
            <a:off x="1335024" y="4608576"/>
            <a:ext cx="859536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T-181 deterministic</a:t>
            </a:r>
            <a:endParaRPr lang="en-US" sz="650"/>
          </a:p>
        </p:txBody>
      </p:sp>
      <p:sp>
        <p:nvSpPr>
          <p:cNvPr id="54" name="Rect 54"/>
          <p:cNvSpPr/>
          <p:nvPr/>
        </p:nvSpPr>
        <p:spPr>
          <a:xfrm>
            <a:off x="2432304" y="4517136"/>
            <a:ext cx="1536192" cy="438912"/>
          </a:xfrm>
          <a:prstGeom prst="roundRect">
            <a:avLst/>
          </a:prstGeom>
          <a:solidFill>
            <a:srgbClr val="ECF8F1"/>
          </a:solidFill>
          <a:ln w="12700">
            <a:solidFill>
              <a:srgbClr val="16A34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5"/>
          <p:cNvSpPr txBox="1"/>
          <p:nvPr/>
        </p:nvSpPr>
        <p:spPr>
          <a:xfrm>
            <a:off x="2496312" y="4608576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40" b="1" i="0" dirty="0">
                <a:solidFill>
                  <a:srgbClr val="16A34A"/>
                </a:solidFill>
                <a:latin typeface="Yu Gothic"/>
              </a:rPr>
              <a:t>0</a:t>
            </a:r>
            <a:endParaRPr lang="en-US" sz="840"/>
          </a:p>
        </p:txBody>
      </p:sp>
      <p:sp>
        <p:nvSpPr>
          <p:cNvPr id="56" name="Text 56"/>
          <p:cNvSpPr txBox="1"/>
          <p:nvPr/>
        </p:nvSpPr>
        <p:spPr>
          <a:xfrm>
            <a:off x="3035808" y="4608576"/>
            <a:ext cx="859536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safety failures</a:t>
            </a:r>
            <a:endParaRPr lang="en-US" sz="650"/>
          </a:p>
        </p:txBody>
      </p:sp>
      <p:sp>
        <p:nvSpPr>
          <p:cNvPr id="57" name="Rect 57"/>
          <p:cNvSpPr/>
          <p:nvPr/>
        </p:nvSpPr>
        <p:spPr>
          <a:xfrm>
            <a:off x="731520" y="5074920"/>
            <a:ext cx="1536192" cy="438912"/>
          </a:xfrm>
          <a:prstGeom prst="roundRect">
            <a:avLst/>
          </a:prstGeom>
          <a:solidFill>
            <a:srgbClr val="ECF8F1"/>
          </a:solidFill>
          <a:ln w="12700">
            <a:solidFill>
              <a:srgbClr val="16A34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8"/>
          <p:cNvSpPr txBox="1"/>
          <p:nvPr/>
        </p:nvSpPr>
        <p:spPr>
          <a:xfrm>
            <a:off x="795528" y="5166360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40" b="1" i="0" dirty="0">
                <a:solidFill>
                  <a:srgbClr val="16A34A"/>
                </a:solidFill>
                <a:latin typeface="Yu Gothic"/>
              </a:rPr>
              <a:t>7+7</a:t>
            </a:r>
            <a:endParaRPr lang="en-US" sz="840"/>
          </a:p>
        </p:txBody>
      </p:sp>
      <p:sp>
        <p:nvSpPr>
          <p:cNvPr id="59" name="Text 59"/>
          <p:cNvSpPr txBox="1"/>
          <p:nvPr/>
        </p:nvSpPr>
        <p:spPr>
          <a:xfrm>
            <a:off x="1335024" y="5166360"/>
            <a:ext cx="859536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verified restore</a:t>
            </a:r>
            <a:endParaRPr lang="en-US" sz="650"/>
          </a:p>
        </p:txBody>
      </p:sp>
      <p:sp>
        <p:nvSpPr>
          <p:cNvPr id="60" name="Rect 60"/>
          <p:cNvSpPr/>
          <p:nvPr/>
        </p:nvSpPr>
        <p:spPr>
          <a:xfrm>
            <a:off x="2432304" y="5074920"/>
            <a:ext cx="1536192" cy="438912"/>
          </a:xfrm>
          <a:prstGeom prst="roundRect">
            <a:avLst/>
          </a:prstGeom>
          <a:solidFill>
            <a:srgbClr val="EFF5FE"/>
          </a:solidFill>
          <a:ln w="12700">
            <a:solidFill>
              <a:srgbClr val="3B82F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61"/>
          <p:cNvSpPr txBox="1"/>
          <p:nvPr/>
        </p:nvSpPr>
        <p:spPr>
          <a:xfrm>
            <a:off x="2496312" y="5166360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40" b="1" i="0" dirty="0">
                <a:solidFill>
                  <a:srgbClr val="3B82F6"/>
                </a:solidFill>
                <a:latin typeface="Yu Gothic"/>
              </a:rPr>
              <a:t>−14.62%</a:t>
            </a:r>
            <a:endParaRPr lang="en-US" sz="840"/>
          </a:p>
        </p:txBody>
      </p:sp>
      <p:sp>
        <p:nvSpPr>
          <p:cNvPr id="62" name="Text 62"/>
          <p:cNvSpPr txBox="1"/>
          <p:nvPr/>
        </p:nvSpPr>
        <p:spPr>
          <a:xfrm>
            <a:off x="3035808" y="5166360"/>
            <a:ext cx="859536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cowork median</a:t>
            </a:r>
            <a:endParaRPr lang="en-US" sz="650"/>
          </a:p>
        </p:txBody>
      </p:sp>
      <p:sp>
        <p:nvSpPr>
          <p:cNvPr id="63" name="Text 63"/>
          <p:cNvSpPr txBox="1"/>
          <p:nvPr/>
        </p:nvSpPr>
        <p:spPr>
          <a:xfrm>
            <a:off x="749808" y="5669280"/>
            <a:ext cx="3273552" cy="1280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readiness / corpus / host-specific — not universal performance</a:t>
            </a:r>
            <a:endParaRPr lang="en-US" sz="650"/>
          </a:p>
        </p:txBody>
      </p:sp>
      <p:sp>
        <p:nvSpPr>
          <p:cNvPr id="64" name="Rect 64"/>
          <p:cNvSpPr/>
          <p:nvPr/>
        </p:nvSpPr>
        <p:spPr>
          <a:xfrm>
            <a:off x="4462272" y="2724912"/>
            <a:ext cx="3694176" cy="3163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5" name="Rect 65"/>
          <p:cNvSpPr/>
          <p:nvPr/>
        </p:nvSpPr>
        <p:spPr>
          <a:xfrm>
            <a:off x="4700016" y="2926080"/>
            <a:ext cx="1225296" cy="274320"/>
          </a:xfrm>
          <a:prstGeom prst="roundRect">
            <a:avLst/>
          </a:prstGeom>
          <a:solidFill>
            <a:srgbClr val="E9DEFC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6"/>
          <p:cNvSpPr txBox="1"/>
          <p:nvPr/>
        </p:nvSpPr>
        <p:spPr>
          <a:xfrm>
            <a:off x="4754880" y="2990088"/>
            <a:ext cx="1115568" cy="1371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20" b="1" i="0" dirty="0">
                <a:solidFill>
                  <a:srgbClr val="7C3AED"/>
                </a:solidFill>
                <a:latin typeface="Yu Gothic"/>
              </a:rPr>
              <a:t>REVERSALS</a:t>
            </a:r>
            <a:endParaRPr lang="en-US" sz="820"/>
          </a:p>
        </p:txBody>
      </p:sp>
      <p:sp>
        <p:nvSpPr>
          <p:cNvPr id="67" name="Text 67"/>
          <p:cNvSpPr txBox="1"/>
          <p:nvPr/>
        </p:nvSpPr>
        <p:spPr>
          <a:xfrm>
            <a:off x="4681728" y="3438144"/>
            <a:ext cx="1133856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660" b="1" i="0" dirty="0">
                <a:solidFill>
                  <a:srgbClr val="DC2626"/>
                </a:solidFill>
                <a:latin typeface="Yu Gothic"/>
              </a:rPr>
              <a:t>login fetch / exit publish</a:t>
            </a:r>
            <a:endParaRPr lang="en-US" sz="660"/>
          </a:p>
        </p:txBody>
      </p:sp>
      <p:cxnSp>
        <p:nvCxnSpPr>
          <p:cNvPr id="68" name="Line 68"/>
          <p:cNvCxnSpPr/>
          <p:nvPr/>
        </p:nvCxnSpPr>
        <p:spPr>
          <a:xfrm flipH="false" flipV="false">
            <a:off x="5897880" y="3538728"/>
            <a:ext cx="246888" cy="0"/>
          </a:xfrm>
          <a:prstGeom prst="line">
            <a:avLst/>
          </a:prstGeom>
          <a:ln w="11430">
            <a:solidFill>
              <a:srgbClr val="C5CFDC"/>
            </a:solidFill>
            <a:tailEnd type="triangle"/>
          </a:ln>
        </p:spPr>
      </p:cxnSp>
      <p:sp>
        <p:nvSpPr>
          <p:cNvPr id="69" name="Text 69"/>
          <p:cNvSpPr txBox="1"/>
          <p:nvPr/>
        </p:nvSpPr>
        <p:spPr>
          <a:xfrm>
            <a:off x="6236208" y="3438144"/>
            <a:ext cx="135331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660" b="1" i="0" dirty="0">
                <a:solidFill>
                  <a:srgbClr val="16A34A"/>
                </a:solidFill>
                <a:latin typeface="Yu Gothic"/>
              </a:rPr>
              <a:t>explicit Git operations</a:t>
            </a:r>
            <a:endParaRPr lang="en-US" sz="660"/>
          </a:p>
        </p:txBody>
      </p:sp>
      <p:sp>
        <p:nvSpPr>
          <p:cNvPr id="70" name="Text 70"/>
          <p:cNvSpPr txBox="1"/>
          <p:nvPr/>
        </p:nvSpPr>
        <p:spPr>
          <a:xfrm>
            <a:off x="7607808" y="3465576"/>
            <a:ext cx="347472" cy="10972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e52a3d0</a:t>
            </a:r>
            <a:endParaRPr lang="en-US" sz="650"/>
          </a:p>
        </p:txBody>
      </p:sp>
      <p:sp>
        <p:nvSpPr>
          <p:cNvPr id="71" name="Text 71"/>
          <p:cNvSpPr txBox="1"/>
          <p:nvPr/>
        </p:nvSpPr>
        <p:spPr>
          <a:xfrm>
            <a:off x="4681728" y="3941064"/>
            <a:ext cx="1133856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660" b="1" i="0" dirty="0">
                <a:solidFill>
                  <a:srgbClr val="DC2626"/>
                </a:solidFill>
                <a:latin typeface="Yu Gothic"/>
              </a:rPr>
              <a:t>website ownership</a:t>
            </a:r>
            <a:endParaRPr lang="en-US" sz="660"/>
          </a:p>
        </p:txBody>
      </p:sp>
      <p:cxnSp>
        <p:nvCxnSpPr>
          <p:cNvPr id="72" name="Line 72"/>
          <p:cNvCxnSpPr/>
          <p:nvPr/>
        </p:nvCxnSpPr>
        <p:spPr>
          <a:xfrm flipH="false" flipV="false">
            <a:off x="5897880" y="4041648"/>
            <a:ext cx="246888" cy="0"/>
          </a:xfrm>
          <a:prstGeom prst="line">
            <a:avLst/>
          </a:prstGeom>
          <a:ln w="11430">
            <a:solidFill>
              <a:srgbClr val="C5CFDC"/>
            </a:solidFill>
            <a:tailEnd type="triangle"/>
          </a:ln>
        </p:spPr>
      </p:cxnSp>
      <p:sp>
        <p:nvSpPr>
          <p:cNvPr id="73" name="Text 73"/>
          <p:cNvSpPr txBox="1"/>
          <p:nvPr/>
        </p:nvSpPr>
        <p:spPr>
          <a:xfrm>
            <a:off x="6236208" y="3941064"/>
            <a:ext cx="135331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660" b="1" i="0" dirty="0">
                <a:solidFill>
                  <a:srgbClr val="16A34A"/>
                </a:solidFill>
                <a:latin typeface="Yu Gothic"/>
              </a:rPr>
              <a:t>repository independence</a:t>
            </a:r>
            <a:endParaRPr lang="en-US" sz="660"/>
          </a:p>
        </p:txBody>
      </p:sp>
      <p:sp>
        <p:nvSpPr>
          <p:cNvPr id="74" name="Text 74"/>
          <p:cNvSpPr txBox="1"/>
          <p:nvPr/>
        </p:nvSpPr>
        <p:spPr>
          <a:xfrm>
            <a:off x="7607808" y="3968496"/>
            <a:ext cx="347472" cy="10972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f1b095c</a:t>
            </a:r>
            <a:endParaRPr lang="en-US" sz="650"/>
          </a:p>
        </p:txBody>
      </p:sp>
      <p:sp>
        <p:nvSpPr>
          <p:cNvPr id="75" name="Text 75"/>
          <p:cNvSpPr txBox="1"/>
          <p:nvPr/>
        </p:nvSpPr>
        <p:spPr>
          <a:xfrm>
            <a:off x="4681728" y="4443984"/>
            <a:ext cx="1133856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660" b="1" i="0" dirty="0">
                <a:solidFill>
                  <a:srgbClr val="DC2626"/>
                </a:solidFill>
                <a:latin typeface="Yu Gothic"/>
              </a:rPr>
              <a:t>private Bash / tmux</a:t>
            </a:r>
            <a:endParaRPr lang="en-US" sz="660"/>
          </a:p>
        </p:txBody>
      </p:sp>
      <p:cxnSp>
        <p:nvCxnSpPr>
          <p:cNvPr id="76" name="Line 76"/>
          <p:cNvCxnSpPr/>
          <p:nvPr/>
        </p:nvCxnSpPr>
        <p:spPr>
          <a:xfrm flipH="false" flipV="false">
            <a:off x="5897880" y="4544568"/>
            <a:ext cx="246888" cy="0"/>
          </a:xfrm>
          <a:prstGeom prst="line">
            <a:avLst/>
          </a:prstGeom>
          <a:ln w="11430">
            <a:solidFill>
              <a:srgbClr val="C5CFDC"/>
            </a:solidFill>
            <a:tailEnd type="triangle"/>
          </a:ln>
        </p:spPr>
      </p:cxnSp>
      <p:sp>
        <p:nvSpPr>
          <p:cNvPr id="77" name="Text 77"/>
          <p:cNvSpPr txBox="1"/>
          <p:nvPr/>
        </p:nvSpPr>
        <p:spPr>
          <a:xfrm>
            <a:off x="6236208" y="4443984"/>
            <a:ext cx="135331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660" b="1" i="0" dirty="0">
                <a:solidFill>
                  <a:srgbClr val="16A34A"/>
                </a:solidFill>
                <a:latin typeface="Yu Gothic"/>
              </a:rPr>
              <a:t>public engine + private SSH</a:t>
            </a:r>
            <a:endParaRPr lang="en-US" sz="660"/>
          </a:p>
        </p:txBody>
      </p:sp>
      <p:sp>
        <p:nvSpPr>
          <p:cNvPr id="78" name="Text 78"/>
          <p:cNvSpPr txBox="1"/>
          <p:nvPr/>
        </p:nvSpPr>
        <p:spPr>
          <a:xfrm>
            <a:off x="7607808" y="4471416"/>
            <a:ext cx="347472" cy="10972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4209ee8</a:t>
            </a:r>
            <a:endParaRPr lang="en-US" sz="650"/>
          </a:p>
        </p:txBody>
      </p:sp>
      <p:sp>
        <p:nvSpPr>
          <p:cNvPr id="79" name="Text 79"/>
          <p:cNvSpPr txBox="1"/>
          <p:nvPr/>
        </p:nvSpPr>
        <p:spPr>
          <a:xfrm>
            <a:off x="4681728" y="4946904"/>
            <a:ext cx="1133856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660" b="1" i="0" dirty="0">
                <a:solidFill>
                  <a:srgbClr val="DC2626"/>
                </a:solidFill>
                <a:latin typeface="Yu Gothic"/>
              </a:rPr>
              <a:t>harness-owned Codex</a:t>
            </a:r>
            <a:endParaRPr lang="en-US" sz="660"/>
          </a:p>
        </p:txBody>
      </p:sp>
      <p:cxnSp>
        <p:nvCxnSpPr>
          <p:cNvPr id="80" name="Line 80"/>
          <p:cNvCxnSpPr/>
          <p:nvPr/>
        </p:nvCxnSpPr>
        <p:spPr>
          <a:xfrm flipH="false" flipV="false">
            <a:off x="5897880" y="5047488"/>
            <a:ext cx="246888" cy="0"/>
          </a:xfrm>
          <a:prstGeom prst="line">
            <a:avLst/>
          </a:prstGeom>
          <a:ln w="11430">
            <a:solidFill>
              <a:srgbClr val="C5CFDC"/>
            </a:solidFill>
            <a:tailEnd type="triangle"/>
          </a:ln>
        </p:spPr>
      </p:cxnSp>
      <p:sp>
        <p:nvSpPr>
          <p:cNvPr id="81" name="Text 81"/>
          <p:cNvSpPr txBox="1"/>
          <p:nvPr/>
        </p:nvSpPr>
        <p:spPr>
          <a:xfrm>
            <a:off x="6236208" y="4946904"/>
            <a:ext cx="1353312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660" b="1" i="0" dirty="0">
                <a:solidFill>
                  <a:srgbClr val="16A34A"/>
                </a:solidFill>
                <a:latin typeface="Yu Gothic"/>
              </a:rPr>
              <a:t>local native client + wrapper</a:t>
            </a:r>
            <a:endParaRPr lang="en-US" sz="660"/>
          </a:p>
        </p:txBody>
      </p:sp>
      <p:sp>
        <p:nvSpPr>
          <p:cNvPr id="82" name="Text 82"/>
          <p:cNvSpPr txBox="1"/>
          <p:nvPr/>
        </p:nvSpPr>
        <p:spPr>
          <a:xfrm>
            <a:off x="7607808" y="4974336"/>
            <a:ext cx="347472" cy="10972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d76575c</a:t>
            </a:r>
            <a:endParaRPr lang="en-US" sz="650"/>
          </a:p>
        </p:txBody>
      </p:sp>
      <p:sp>
        <p:nvSpPr>
          <p:cNvPr id="83" name="Rect 83"/>
          <p:cNvSpPr/>
          <p:nvPr/>
        </p:nvSpPr>
        <p:spPr>
          <a:xfrm>
            <a:off x="4736592" y="5504688"/>
            <a:ext cx="3145536" cy="237744"/>
          </a:xfrm>
          <a:prstGeom prst="roundRect">
            <a:avLst/>
          </a:prstGeom>
          <a:solidFill>
            <a:srgbClr val="F5EFFE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4"/>
          <p:cNvSpPr txBox="1"/>
          <p:nvPr/>
        </p:nvSpPr>
        <p:spPr>
          <a:xfrm>
            <a:off x="4901184" y="5568696"/>
            <a:ext cx="2816352" cy="10972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40" b="1" i="0" dirty="0">
                <a:solidFill>
                  <a:srgbClr val="7C3AED"/>
                </a:solidFill>
                <a:latin typeface="Yu Gothic"/>
              </a:rPr>
              <a:t>成熟 = 追加 + 回復 + 縮小 + 拒否</a:t>
            </a:r>
            <a:endParaRPr lang="en-US" sz="740"/>
          </a:p>
        </p:txBody>
      </p:sp>
      <p:sp>
        <p:nvSpPr>
          <p:cNvPr id="85" name="Rect 85"/>
          <p:cNvSpPr/>
          <p:nvPr/>
        </p:nvSpPr>
        <p:spPr>
          <a:xfrm>
            <a:off x="8348472" y="2724912"/>
            <a:ext cx="3337560" cy="31638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6" name="Rect 86"/>
          <p:cNvSpPr/>
          <p:nvPr/>
        </p:nvSpPr>
        <p:spPr>
          <a:xfrm>
            <a:off x="8586216" y="2926080"/>
            <a:ext cx="1335024" cy="274320"/>
          </a:xfrm>
          <a:prstGeom prst="roundRect">
            <a:avLst/>
          </a:prstGeom>
          <a:solidFill>
            <a:srgbClr val="FDEFD6"/>
          </a:solidFill>
          <a:ln w="12700">
            <a:solidFill>
              <a:srgbClr val="F59E0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7"/>
          <p:cNvSpPr txBox="1"/>
          <p:nvPr/>
        </p:nvSpPr>
        <p:spPr>
          <a:xfrm>
            <a:off x="8641080" y="2990088"/>
            <a:ext cx="1225296" cy="13716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820" b="1" i="0" dirty="0">
                <a:solidFill>
                  <a:srgbClr val="F59E0B"/>
                </a:solidFill>
                <a:latin typeface="Yu Gothic"/>
              </a:rPr>
              <a:t>CURRENT / LIMITS</a:t>
            </a:r>
            <a:endParaRPr lang="en-US" sz="820"/>
          </a:p>
        </p:txBody>
      </p:sp>
      <p:sp>
        <p:nvSpPr>
          <p:cNvPr id="88" name="Rect 88"/>
          <p:cNvSpPr/>
          <p:nvPr/>
        </p:nvSpPr>
        <p:spPr>
          <a:xfrm>
            <a:off x="8613648" y="3383280"/>
            <a:ext cx="1188720" cy="475488"/>
          </a:xfrm>
          <a:prstGeom prst="roundRect">
            <a:avLst/>
          </a:prstGeom>
          <a:solidFill>
            <a:srgbClr val="F5EFFE"/>
          </a:solidFill>
          <a:ln w="12700">
            <a:solidFill>
              <a:srgbClr val="7C3AE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9"/>
          <p:cNvSpPr txBox="1"/>
          <p:nvPr/>
        </p:nvSpPr>
        <p:spPr>
          <a:xfrm>
            <a:off x="8686800" y="3474720"/>
            <a:ext cx="384048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980" b="1" i="0" dirty="0">
                <a:solidFill>
                  <a:srgbClr val="7C3AED"/>
                </a:solidFill>
                <a:latin typeface="Yu Gothic"/>
              </a:rPr>
              <a:t>12</a:t>
            </a:r>
            <a:endParaRPr lang="en-US" sz="980"/>
          </a:p>
        </p:txBody>
      </p:sp>
      <p:sp>
        <p:nvSpPr>
          <p:cNvPr id="90" name="Text 90"/>
          <p:cNvSpPr txBox="1"/>
          <p:nvPr/>
        </p:nvSpPr>
        <p:spPr>
          <a:xfrm>
            <a:off x="9089136" y="3493008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skills</a:t>
            </a:r>
            <a:endParaRPr lang="en-US" sz="650"/>
          </a:p>
        </p:txBody>
      </p:sp>
      <p:sp>
        <p:nvSpPr>
          <p:cNvPr id="91" name="Rect 91"/>
          <p:cNvSpPr/>
          <p:nvPr/>
        </p:nvSpPr>
        <p:spPr>
          <a:xfrm>
            <a:off x="9985248" y="3383280"/>
            <a:ext cx="1188720" cy="475488"/>
          </a:xfrm>
          <a:prstGeom prst="roundRect">
            <a:avLst/>
          </a:prstGeom>
          <a:solidFill>
            <a:srgbClr val="ECF6F5"/>
          </a:solidFill>
          <a:ln w="12700">
            <a:solidFill>
              <a:srgbClr val="0D94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2"/>
          <p:cNvSpPr txBox="1"/>
          <p:nvPr/>
        </p:nvSpPr>
        <p:spPr>
          <a:xfrm>
            <a:off x="10058400" y="3474720"/>
            <a:ext cx="384048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980" b="1" i="0" dirty="0">
                <a:solidFill>
                  <a:srgbClr val="0D9488"/>
                </a:solidFill>
                <a:latin typeface="Yu Gothic"/>
              </a:rPr>
              <a:t>43</a:t>
            </a:r>
            <a:endParaRPr lang="en-US" sz="980"/>
          </a:p>
        </p:txBody>
      </p:sp>
      <p:sp>
        <p:nvSpPr>
          <p:cNvPr id="93" name="Text 93"/>
          <p:cNvSpPr txBox="1"/>
          <p:nvPr/>
        </p:nvSpPr>
        <p:spPr>
          <a:xfrm>
            <a:off x="10460736" y="3493008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commands</a:t>
            </a:r>
            <a:endParaRPr lang="en-US" sz="650"/>
          </a:p>
        </p:txBody>
      </p:sp>
      <p:sp>
        <p:nvSpPr>
          <p:cNvPr id="94" name="Rect 94"/>
          <p:cNvSpPr/>
          <p:nvPr/>
        </p:nvSpPr>
        <p:spPr>
          <a:xfrm>
            <a:off x="8613648" y="3986784"/>
            <a:ext cx="1188720" cy="475488"/>
          </a:xfrm>
          <a:prstGeom prst="roundRect">
            <a:avLst/>
          </a:prstGeom>
          <a:solidFill>
            <a:srgbClr val="ECF8F1"/>
          </a:solidFill>
          <a:ln w="12700">
            <a:solidFill>
              <a:srgbClr val="16A34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5"/>
          <p:cNvSpPr txBox="1"/>
          <p:nvPr/>
        </p:nvSpPr>
        <p:spPr>
          <a:xfrm>
            <a:off x="8686800" y="4078224"/>
            <a:ext cx="384048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980" b="1" i="0" dirty="0">
                <a:solidFill>
                  <a:srgbClr val="16A34A"/>
                </a:solidFill>
                <a:latin typeface="Yu Gothic"/>
              </a:rPr>
              <a:t>57</a:t>
            </a:r>
            <a:endParaRPr lang="en-US" sz="980"/>
          </a:p>
        </p:txBody>
      </p:sp>
      <p:sp>
        <p:nvSpPr>
          <p:cNvPr id="96" name="Text 96"/>
          <p:cNvSpPr txBox="1"/>
          <p:nvPr/>
        </p:nvSpPr>
        <p:spPr>
          <a:xfrm>
            <a:off x="9089136" y="4096512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suites</a:t>
            </a:r>
            <a:endParaRPr lang="en-US" sz="650"/>
          </a:p>
        </p:txBody>
      </p:sp>
      <p:sp>
        <p:nvSpPr>
          <p:cNvPr id="97" name="Rect 97"/>
          <p:cNvSpPr/>
          <p:nvPr/>
        </p:nvSpPr>
        <p:spPr>
          <a:xfrm>
            <a:off x="9985248" y="3986784"/>
            <a:ext cx="1188720" cy="475488"/>
          </a:xfrm>
          <a:prstGeom prst="roundRect">
            <a:avLst/>
          </a:prstGeom>
          <a:solidFill>
            <a:srgbClr val="EBF9FC"/>
          </a:solidFill>
          <a:ln w="12700">
            <a:solidFill>
              <a:srgbClr val="06B6D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8" name="Text 98"/>
          <p:cNvSpPr txBox="1"/>
          <p:nvPr/>
        </p:nvSpPr>
        <p:spPr>
          <a:xfrm>
            <a:off x="10058400" y="4078224"/>
            <a:ext cx="384048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980" b="1" i="0" dirty="0">
                <a:solidFill>
                  <a:srgbClr val="06B6D4"/>
                </a:solidFill>
                <a:latin typeface="Yu Gothic"/>
              </a:rPr>
              <a:t>7</a:t>
            </a:r>
            <a:endParaRPr lang="en-US" sz="980"/>
          </a:p>
        </p:txBody>
      </p:sp>
      <p:sp>
        <p:nvSpPr>
          <p:cNvPr id="99" name="Text 99"/>
          <p:cNvSpPr txBox="1"/>
          <p:nvPr/>
        </p:nvSpPr>
        <p:spPr>
          <a:xfrm>
            <a:off x="10460736" y="4096512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Linux profiles</a:t>
            </a:r>
            <a:endParaRPr lang="en-US" sz="650"/>
          </a:p>
        </p:txBody>
      </p:sp>
      <p:sp>
        <p:nvSpPr>
          <p:cNvPr id="100" name="Text 100"/>
          <p:cNvSpPr txBox="1"/>
          <p:nvPr/>
        </p:nvSpPr>
        <p:spPr>
          <a:xfrm>
            <a:off x="8631936" y="4590288"/>
            <a:ext cx="2761488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650" b="1" i="0" dirty="0">
                <a:solidFill>
                  <a:srgbClr val="14213D"/>
                </a:solidFill>
                <a:latin typeface="Yu Gothic"/>
              </a:rPr>
              <a:t>NEXT: coordination ↓</a:t>
            </a:r>
            <a:endParaRPr lang="en-US" sz="650"/>
          </a:p>
          <a:p>
            <a:pPr algn="ctr"/>
            <a:r>
              <a:rPr lang="en-US" sz="650" b="1" i="0" dirty="0">
                <a:solidFill>
                  <a:srgbClr val="14213D"/>
                </a:solidFill>
                <a:latin typeface="Yu Gothic"/>
              </a:rPr>
              <a:t>authority / provenance / native transparency = keep</a:t>
            </a:r>
            <a:endParaRPr lang="en-US" sz="650"/>
          </a:p>
        </p:txBody>
      </p:sp>
      <p:cxnSp>
        <p:nvCxnSpPr>
          <p:cNvPr id="101" name="Line 101"/>
          <p:cNvCxnSpPr/>
          <p:nvPr/>
        </p:nvCxnSpPr>
        <p:spPr>
          <a:xfrm flipH="false" flipV="false">
            <a:off x="8668512" y="4974336"/>
            <a:ext cx="2706624" cy="0"/>
          </a:xfrm>
          <a:prstGeom prst="line">
            <a:avLst/>
          </a:prstGeom>
          <a:ln w="11430">
            <a:solidFill>
              <a:srgbClr val="D7DFEA"/>
            </a:solidFill>
          </a:ln>
        </p:spPr>
      </p:cxnSp>
      <p:sp>
        <p:nvSpPr>
          <p:cNvPr id="102" name="Text 102"/>
          <p:cNvSpPr txBox="1"/>
          <p:nvPr/>
        </p:nvSpPr>
        <p:spPr>
          <a:xfrm>
            <a:off x="8631936" y="5138928"/>
            <a:ext cx="2761488" cy="146304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20" b="1" i="0" dirty="0">
                <a:solidFill>
                  <a:srgbClr val="DC2626"/>
                </a:solidFill>
                <a:latin typeface="Yu Gothic"/>
              </a:rPr>
              <a:t>NOT CLAIMED</a:t>
            </a:r>
            <a:endParaRPr lang="en-US" sz="720"/>
          </a:p>
        </p:txBody>
      </p:sp>
      <p:sp>
        <p:nvSpPr>
          <p:cNvPr id="103" name="Text 103"/>
          <p:cNvSpPr txBox="1"/>
          <p:nvPr/>
        </p:nvSpPr>
        <p:spPr>
          <a:xfrm>
            <a:off x="8668512" y="5376672"/>
            <a:ext cx="2688336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HPC scaling • universal quality • full forensics</a:t>
            </a:r>
            <a:endParaRPr lang="en-US" sz="650"/>
          </a:p>
          <a:p>
            <a:pPr algn="ctr"/>
            <a:r>
              <a:rPr lang="en-US" sz="650" b="0" i="0" dirty="0">
                <a:solidFill>
                  <a:srgbClr val="56647A"/>
                </a:solidFill>
                <a:latin typeface="Yu Gothic"/>
              </a:rPr>
              <a:t>authorship/honesty • confidentiality • future state</a:t>
            </a:r>
            <a:endParaRPr lang="en-US" sz="650"/>
          </a:p>
        </p:txBody>
      </p:sp>
      <p:sp>
        <p:nvSpPr>
          <p:cNvPr id="104" name="Rect 104"/>
          <p:cNvSpPr/>
          <p:nvPr/>
        </p:nvSpPr>
        <p:spPr>
          <a:xfrm>
            <a:off x="502920" y="6035040"/>
            <a:ext cx="11183112" cy="256032"/>
          </a:xfrm>
          <a:prstGeom prst="roundRect">
            <a:avLst/>
          </a:prstGeom>
          <a:solidFill>
            <a:srgbClr val="08152F"/>
          </a:solidFill>
          <a:ln w="12700">
            <a:solidFill>
              <a:srgbClr val="08152F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 105"/>
          <p:cNvSpPr txBox="1"/>
          <p:nvPr/>
        </p:nvSpPr>
        <p:spPr>
          <a:xfrm>
            <a:off x="749808" y="6099048"/>
            <a:ext cx="10689336" cy="1188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ctr"/>
            <a:r>
              <a:rPr lang="en-US" sz="780" b="1" i="0" dirty="0">
                <a:solidFill>
                  <a:srgbClr val="FFFFFF"/>
                </a:solidFill>
                <a:latin typeface="Yu Gothic"/>
              </a:rPr>
              <a:t>結論：強い自律性は、広い権限ではなく、狭く説明可能で再検証される権限から生まれる。</a:t>
            </a:r>
            <a:endParaRPr lang="en-US" sz="780"/>
          </a:p>
        </p:txBody>
      </p:sp>
      <p:cxnSp>
        <p:nvCxnSpPr>
          <p:cNvPr id="106" name="Line 106"/>
          <p:cNvCxnSpPr/>
          <p:nvPr/>
        </p:nvCxnSpPr>
        <p:spPr>
          <a:xfrm flipH="false" flipV="false">
            <a:off x="621792" y="6473952"/>
            <a:ext cx="10954512" cy="0"/>
          </a:xfrm>
          <a:prstGeom prst="line">
            <a:avLst/>
          </a:prstGeom>
          <a:ln w="10160">
            <a:solidFill>
              <a:srgbClr val="D7DFEA"/>
            </a:solidFill>
          </a:ln>
        </p:spPr>
      </p:cxnSp>
      <p:sp>
        <p:nvSpPr>
          <p:cNvPr id="107" name="Text 107"/>
          <p:cNvSpPr txBox="1"/>
          <p:nvPr/>
        </p:nvSpPr>
        <p:spPr>
          <a:xfrm>
            <a:off x="640080" y="6510528"/>
            <a:ext cx="10469880" cy="1645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l"/>
            <a:r>
              <a:rPr lang="en-US" sz="660" b="0" i="0" dirty="0">
                <a:solidFill>
                  <a:srgbClr val="56647A"/>
                </a:solidFill>
                <a:latin typeface="Yu Gothic"/>
              </a:rPr>
              <a:t>timeline.csv • metrics.csv • audit/evaluation results • reversal commits • 90451d4:TODO.md • evidence limits</a:t>
            </a:r>
            <a:endParaRPr lang="en-US" sz="660"/>
          </a:p>
        </p:txBody>
      </p:sp>
      <p:sp>
        <p:nvSpPr>
          <p:cNvPr id="108" name="Text 108"/>
          <p:cNvSpPr txBox="1"/>
          <p:nvPr/>
        </p:nvSpPr>
        <p:spPr>
          <a:xfrm>
            <a:off x="11201400" y="6492240"/>
            <a:ext cx="329184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0" bIns="0"/>
          <a:lstStyle/>
          <a:p>
            <a:pPr algn="r"/>
            <a:r>
              <a:rPr lang="en-US" sz="750" b="1" i="0" dirty="0">
                <a:solidFill>
                  <a:srgbClr val="56647A"/>
                </a:solidFill>
                <a:latin typeface="Yu Gothic"/>
              </a:rPr>
              <a:t>1</a:t>
            </a:r>
            <a:endParaRPr lang="en-US" sz="7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rness Technical">
  <a:themeElements>
    <a:clrScheme name="Harness">
      <a:dk1>
        <a:srgbClr val="08152F"/>
      </a:dk1>
      <a:lt1>
        <a:srgbClr val="FFFFFF"/>
      </a:lt1>
      <a:dk2>
        <a:srgbClr val="14213D"/>
      </a:dk2>
      <a:lt2>
        <a:srgbClr val="F6F8FC"/>
      </a:lt2>
      <a:accent1>
        <a:srgbClr val="3B82F6"/>
      </a:accent1>
      <a:accent2>
        <a:srgbClr val="06B6D4"/>
      </a:accent2>
      <a:accent3>
        <a:srgbClr val="0D9488"/>
      </a:accent3>
      <a:accent4>
        <a:srgbClr val="F59E0B"/>
      </a:accent4>
      <a:accent5>
        <a:srgbClr val="7C3AED"/>
      </a:accent5>
      <a:accent6>
        <a:srgbClr val="16A34A"/>
      </a:accent6>
      <a:hlink>
        <a:srgbClr val="0563C1"/>
      </a:hlink>
      <a:folHlink>
        <a:srgbClr val="954F72"/>
      </a:folHlink>
    </a:clrScheme>
    <a:fontScheme name="Arial">
      <a:majorFont>
        <a:latin typeface="Yu Gothic"/>
        <a:ea typeface=""/>
        <a:cs typeface=""/>
      </a:majorFont>
      <a:minorFont>
        <a:latin typeface="Yu Gothic"/>
        <a:ea typeface=""/>
        <a:cs typeface=""/>
      </a:minorFont>
    </a:fontScheme>
    <a:fmtScheme name="Harness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</Slides>
  <Notes>1</Notes>
  <HiddenSlides>0</HiddenSlides>
  <ScaleCrop>false</ScaleCrop>
  <HeadingPairs>
    <vt:vector size="2" baseType="variant">
      <vt:variant>
        <vt:lpstr>Slide Titles</vt:lpstr>
      </vt:variant>
      <vt:variant>
        <vt:i4>1</vt:i4>
      </vt:variant>
    </vt:vector>
  </HeadingPairs>
  <TitlesOfParts>
    <vt:vector size="1" baseType="lpstr">
      <vt:lpstr>残りの進化史は「測定・回復・撤回」で現在の境界に収束した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Harness evolution</dc:title>
  <dc:subject>Sourced architecture evolution</dc:subject>
  <dc:creator>OpenAI Codex</dc:creator>
  <cp:lastModifiedBy>OpenAI Codex</cp:lastModifiedBy>
  <dcterms:created xsi:type="dcterms:W3CDTF">2026-07-21T00:00:00Z</dcterms:created>
  <dcterms:modified xsi:type="dcterms:W3CDTF">2026-07-21T00:00:00Z</dcterms:modified>
</cp:coreProperties>
</file>