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png" ContentType="image/png"/>
  <Default Extension="jpg" ContentType="image/jpeg"/>
  <Default Extension="jpeg" ContentType="image/jpe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</Types>
</file>

<file path=_rels/.rels><?xml version="1.0" encoding="UTF-8" standalone="yes"?>
<Relationships xmlns="http://schemas.openxmlformats.org/package/2006/relationships">
<Relationship Id="rId1" Type="http://schemas.openxmlformats.org/officeDocument/2006/relationships/officeDocument" Target="ppt/presentation.xml"/>
<Relationship Id="rId2" Type="http://schemas.openxmlformats.org/package/2006/relationships/metadata/core-properties" Target="docProps/core.xml"/>
<Relationship Id="rId3" Type="http://schemas.openxmlformats.org/officeDocument/2006/relationships/extended-properties" Target="docProps/app.xml"/>
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2"/>
  </p:notesMasterIdLst>
  <p:sldIdLst>
    <p:sldId id="256" r:id="rId3"/>
    <p:sldId id="257" r:id="rId4"/>
    <p:sldId id="258" r:id="rId5"/>
    <p:sldId id="259" r:id="rId6"/>
    <p:sldId id="260" r:id="rId7"/>
  </p:sldIdLst>
  <p:sldSz cx="12192000" cy="6858000" type="screen16x9"/>
  <p:notesSz cx="6858000" cy="9144000"/>
  <p:defaultTextStyle>
    <a:defPPr>
      <a:defRPr lang="en-US"/>
    </a:defPPr>
  </p:defaultTextStyle>
</p:presentation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notesMaster" Target="notesMasters/notesMaster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/Relationships>
</file>

<file path=ppt/notesMasters/_rels/notesMaster1.xml.rels><?xml version="1.0" encoding="UTF-8" standalone="yes"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lt2" folHlink="folHlink" hlink="hlink" tx1="dk1" tx2="dk2"/>
  <p:hf hdr="1" ftr="1" dt="1" sldNum="1"/>
  <p:notesStyle>
    <a:lvl1pPr>
      <a:defRPr sz="1200">
        <a:latin typeface="Yu Gothic"/>
      </a:defRPr>
    </a:lvl1pPr>
  </p:notesStyle>
</p:notesMaster>
</file>

<file path=ppt/notesSlides/_rels/notesSlide1.xml.rels><?xml version="1.0" encoding="UTF-8" standalone="yes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"1.0" encoding="UTF-8" standalone="yes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"1.0" encoding="UTF-8" standalone="yes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"1.0" encoding="UTF-8" standalone="yes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"1.0" encoding="UTF-8" standalone="yes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 txBox="1"/>
          <p:nvPr>
            <p:ph type="body" idx="1"/>
          </p:nvPr>
        </p:nvSpPr>
        <p:spPr>
          <a:xfrm>
            <a:off x="685800" y="4114800"/>
            <a:ext cx="5486400" cy="22860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r>
              <a:rPr lang="en-US" sz="1200">
                <a:latin typeface="Yu Gothic"/>
              </a:rPr>
              <a:t>2026年7月14日のrootは、非機密なworking agreements、rules、skillsを既知のsymlinkでCodexへ届ける18-fileのportable layerだった。翌commitでClaudeも加わったが、machine stateは意図的に外に置かれていた。</a:t>
            </a:r>
            <a:endParaRPr lang="en-US" sz="1200"/>
          </a:p>
          <a:p>
            <a:r>
              <a:rPr lang="en-US" sz="1200">
                <a:latin typeface="Yu Gothic"/>
              </a:rPr>
              <a:t>7月21日のsource HEADでは、観測、比較、transaction、recovery、evaluation、Mac、coworkまでが一つのcontrol grammarでつながる。中心命題は、harnessが「差を消した」のではなく、権限・状態・環境差を明示して扱えるようになった、という点である。543 commitsは完全履歴の範囲を示すだけで品質の尺度ではない。</a:t>
            </a:r>
            <a:endParaRPr lang="en-US" sz="1200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 txBox="1"/>
          <p:nvPr>
            <p:ph type="body" idx="1"/>
          </p:nvPr>
        </p:nvSpPr>
        <p:spPr>
          <a:xfrm>
            <a:off x="685800" y="4114800"/>
            <a:ext cx="5486400" cy="22860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r>
              <a:rPr lang="en-US" sz="1200">
                <a:latin typeface="Yu Gothic"/>
              </a:rPr>
              <a:t>2026年7月15日01:41頃、temporary HOMEを用いたplan commandのcleanupでassignmentが先に失効し、実HOMEに対する rm -rf が起動した。これはharness transactionではなくagent errorと一次記録に明記されている。最初のtool cancellationではchild processが残り、後続auditで発見して明示的に停止した。</a:t>
            </a:r>
            <a:endParaRPr lang="en-US" sz="1200"/>
          </a:p>
          <a:p>
            <a:r>
              <a:rPr lang="en-US" sz="1200">
                <a:latin typeface="Yu Gothic"/>
              </a:rPr>
              <a:t>harnessは検証済みbundleから、websiteのtracked pathsはHEADから復元した。一方、未commitのShellCheck workなどは失われ、一部構成は回復不能として推測復元しなかった。credential contentsは調査していない。</a:t>
            </a:r>
            <a:endParaRPr lang="en-US" sz="1200"/>
          </a:p>
          <a:p>
            <a:r>
              <a:rPr lang="en-US" sz="1200">
                <a:latin typeface="Yu Gothic"/>
              </a:rPr>
              <a:t>238f022はraw recursive rmのpolicy拒否とguarded-deleteを追加した。retained boundary、absolute targets、mode-0600 manifest、token、15-minute freshness、identity/count/size再検証、postcheckが自律性を対象に束縛された短命な権限へ変えた。</a:t>
            </a:r>
            <a:endParaRPr lang="en-US" sz="1200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 txBox="1"/>
          <p:nvPr>
            <p:ph type="body" idx="1"/>
          </p:nvPr>
        </p:nvSpPr>
        <p:spPr>
          <a:xfrm>
            <a:off x="685800" y="4114800"/>
            <a:ext cx="5486400" cy="22860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r>
              <a:rPr lang="en-US" sz="1200">
                <a:latin typeface="Yu Gothic"/>
              </a:rPr>
              <a:t>初期architectureはrepository→installer→known symlinks→client discoveryのlinear chainだった。inventoryもdesired-vs-observed comparisonもmutation verificationもなかった。</a:t>
            </a:r>
            <a:endParaRPr lang="en-US" sz="1200"/>
          </a:p>
          <a:p>
            <a:r>
              <a:rPr lang="en-US" sz="1200">
                <a:latin typeface="Yu Gothic"/>
              </a:rPr>
              <a:t>fb417282でvalue-free inventory/plan/doctorとlogical profilesが入り、07351a40以降でplan/apply/rollbackがtransactionになった。その後、guarded deletion、backup/restore、fleet fast-forward、public/private Mac、agent replacement、symmetric coworkが同じ文法へ拡張された。</a:t>
            </a:r>
            <a:endParaRPr lang="en-US" sz="1200"/>
          </a:p>
          <a:p>
            <a:r>
              <a:rPr lang="en-US" sz="1200">
                <a:latin typeface="Yu Gothic"/>
              </a:rPr>
              <a:t>Slurm/PBS/AGE/modules/uenvなどのnative semantics、credential、site substrate、project runtimes、private Mac intentは外側に残る。標準化したのはmachineではなく、観測・判断・実行・証拠化の手順である。</a:t>
            </a:r>
            <a:endParaRPr lang="en-US" sz="1200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 txBox="1"/>
          <p:nvPr>
            <p:ph type="body" idx="1"/>
          </p:nvPr>
        </p:nvSpPr>
        <p:spPr>
          <a:xfrm>
            <a:off x="685800" y="4114800"/>
            <a:ext cx="5486400" cy="22860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r>
              <a:rPr lang="en-US" sz="1200">
                <a:latin typeface="Yu Gothic"/>
              </a:rPr>
              <a:t>HPC auditはCPU readiness 7/7、accelerator driver/runtime 7/7、CUDA kernel 5、single-node MPI route 5を示す。これはcorrectness/readiness evidenceでありperformance/scalingではない。</a:t>
            </a:r>
            <a:endParaRPr lang="en-US" sz="1200"/>
          </a:p>
          <a:p>
            <a:r>
              <a:rPr lang="en-US" sz="1200">
                <a:latin typeface="Yu Gothic"/>
              </a:rPr>
              <a:t>T-181は70 primary runs中69 deterministic pass、safety failure 0。targeted reviewの70/70 substantive acceptanceとは別の尺度である。Backupは7 primaryと7 independent generationでcheck/restoreを通過。Cowork refinementは単一8-CPU-visible hostのmatched medianで29.69秒から25.35秒、14.62%減。最新HEADでは4台のMacが個別acceptance済み。</a:t>
            </a:r>
            <a:endParaRPr lang="en-US" sz="1200"/>
          </a:p>
          <a:p>
            <a:r>
              <a:rPr lang="en-US" sz="1200">
                <a:latin typeface="Yu Gothic"/>
              </a:rPr>
              <a:t>数字はscopeと限界を伴う。一般的な優越性ではなく、何をどこまで証明したかを示す。</a:t>
            </a:r>
            <a:endParaRPr lang="en-US" sz="1200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 txBox="1"/>
          <p:nvPr>
            <p:ph type="body" idx="1"/>
          </p:nvPr>
        </p:nvSpPr>
        <p:spPr>
          <a:xfrm>
            <a:off x="685800" y="4114800"/>
            <a:ext cx="5486400" cy="22860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r>
              <a:rPr lang="en-US" sz="1200">
                <a:latin typeface="Yu Gothic"/>
              </a:rPr>
              <a:t>current surfaceは12 shared skills、43 user commands、57 focused suites、7 Linux profiles。観測、transaction、recovery、distribution、collaborationをplan-by-defaultとexplicit live gateで扱う。surface countは品質指標ではない。</a:t>
            </a:r>
            <a:endParaRPr lang="en-US" sz="1200"/>
          </a:p>
          <a:p>
            <a:r>
              <a:rPr lang="en-US" sz="1200">
                <a:latin typeface="Yu Gothic"/>
              </a:rPr>
              <a:t>成熟を示すのは追加だけではない。automatic Git hook、website固有ownership、private Bash/tmux duplication、harness-owned native Codexを撤回した。境界を狭める判断がcontrol planeを安全にした。</a:t>
            </a:r>
            <a:endParaRPr lang="en-US" sz="1200"/>
          </a:p>
          <a:p>
            <a:r>
              <a:rPr lang="en-US" sz="1200">
                <a:latin typeface="Yu Gothic"/>
              </a:rPr>
              <a:t>次段階はhuman coordinationを減らすこと。ただしauthority、provenance、native-system transparencyを弱めない。このdeckはHPC scaling、universal agent quality、完全な事故forensics、model authorship/honesty、read confidentiality、retention deletion authority、future external stateを主張しない。</a:t>
            </a:r>
            <a:endParaRPr lang="en-US" sz="1200"/>
          </a:p>
        </p:txBody>
      </p:sp>
    </p:spTree>
  </p:cSld>
  <p:clrMapOvr>
    <a:masterClrMapping/>
  </p:clrMapOvr>
</p:notes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lt2" folHlink="folHlink" hlink="hlink" tx1="dk1" tx2="dk2"/>
  <p:sldLayoutIdLst>
    <p:sldLayoutId id="1" r:id="rId1"/>
  </p:sldLayoutIdLst>
  <p:txStyles>
    <p:titleStyle>
      <a:lvl1pPr algn="l">
        <a:defRPr sz="2800" b="1">
          <a:latin typeface="Yu Gothic"/>
        </a:defRPr>
      </a:lvl1pPr>
    </p:titleStyle>
    <p:bodyStyle>
      <a:lvl1pPr>
        <a:defRPr sz="1600">
          <a:latin typeface="Yu Gothic"/>
        </a:defRPr>
      </a:lvl1pPr>
    </p:bodyStyle>
    <p:otherStyle>
      <a:defPPr>
        <a:defRPr lang="en-US"/>
      </a:defPPr>
    </p:otherStyle>
  </p:txStyles>
</p:sldMaster>
</file>

<file path=ppt/slides/_rels/slide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8152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8152F"/>
          </a:solidFill>
          <a:ln w="12700">
            <a:solidFill>
              <a:srgbClr val="08152F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3"/>
          <p:cNvSpPr txBox="1"/>
          <p:nvPr/>
        </p:nvSpPr>
        <p:spPr>
          <a:xfrm>
            <a:off x="713232" y="530352"/>
            <a:ext cx="6629400" cy="1207008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2800" b="1" i="0" dirty="0">
                <a:solidFill>
                  <a:srgbClr val="FFFFFF"/>
                </a:solidFill>
                <a:latin typeface="Yu Gothic"/>
              </a:rPr>
              <a:t>「設定を配る仕組み」から</a:t>
            </a:r>
            <a:endParaRPr lang="en-US" sz="2800"/>
          </a:p>
          <a:p>
            <a:pPr algn="l"/>
            <a:r>
              <a:rPr lang="en-US" sz="2800" b="1" i="0" dirty="0">
                <a:solidFill>
                  <a:srgbClr val="FFFFFF"/>
                </a:solidFill>
                <a:latin typeface="Yu Gothic"/>
              </a:rPr>
              <a:t>「証拠で制御する仕組み」へ</a:t>
            </a:r>
            <a:endParaRPr lang="en-US" sz="2800"/>
          </a:p>
        </p:txBody>
      </p:sp>
      <p:sp>
        <p:nvSpPr>
          <p:cNvPr id="4" name="Text 4"/>
          <p:cNvSpPr txBox="1"/>
          <p:nvPr/>
        </p:nvSpPr>
        <p:spPr>
          <a:xfrm>
            <a:off x="731520" y="1965960"/>
            <a:ext cx="6263640" cy="896112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1620" b="0" i="0" dirty="0">
                <a:solidFill>
                  <a:srgbClr val="C5CFDC"/>
                </a:solidFill>
                <a:latin typeface="Yu Gothic"/>
              </a:rPr>
              <a:t>権限・状態・環境差を明示し、</a:t>
            </a:r>
            <a:endParaRPr lang="en-US" sz="1620"/>
          </a:p>
          <a:p>
            <a:pPr algn="l"/>
            <a:r>
              <a:rPr lang="en-US" sz="1620" b="0" i="0" dirty="0">
                <a:solidFill>
                  <a:srgbClr val="C5CFDC"/>
                </a:solidFill>
                <a:latin typeface="Yu Gothic"/>
              </a:rPr>
              <a:t>短命な証拠に束縛し、実行前後で再検証する</a:t>
            </a:r>
            <a:endParaRPr lang="en-US" sz="1620"/>
          </a:p>
        </p:txBody>
      </p:sp>
      <p:sp>
        <p:nvSpPr>
          <p:cNvPr id="5" name="Rect 5"/>
          <p:cNvSpPr/>
          <p:nvPr/>
        </p:nvSpPr>
        <p:spPr>
          <a:xfrm>
            <a:off x="7406640" y="621792"/>
            <a:ext cx="4041648" cy="2542032"/>
          </a:xfrm>
          <a:prstGeom prst="roundRect">
            <a:avLst/>
          </a:prstGeom>
          <a:solidFill>
            <a:srgbClr val="102446"/>
          </a:solidFill>
          <a:ln w="12700">
            <a:solidFill>
              <a:srgbClr val="06B6D4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6" name="Rect 6"/>
          <p:cNvSpPr/>
          <p:nvPr/>
        </p:nvSpPr>
        <p:spPr>
          <a:xfrm>
            <a:off x="7662672" y="859536"/>
            <a:ext cx="1051560" cy="274320"/>
          </a:xfrm>
          <a:prstGeom prst="roundRect">
            <a:avLst/>
          </a:prstGeom>
          <a:solidFill>
            <a:srgbClr val="D5F3F8"/>
          </a:solidFill>
          <a:ln w="12700">
            <a:solidFill>
              <a:srgbClr val="06B6D4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7"/>
          <p:cNvSpPr txBox="1"/>
          <p:nvPr/>
        </p:nvSpPr>
        <p:spPr>
          <a:xfrm>
            <a:off x="7717536" y="923544"/>
            <a:ext cx="941832" cy="13716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ctr"/>
            <a:r>
              <a:rPr lang="en-US" sz="820" b="1" i="0" dirty="0">
                <a:solidFill>
                  <a:srgbClr val="06B6D4"/>
                </a:solidFill>
                <a:latin typeface="Yu Gothic"/>
              </a:rPr>
              <a:t>SOURCE HEAD</a:t>
            </a:r>
            <a:endParaRPr lang="en-US" sz="820"/>
          </a:p>
        </p:txBody>
      </p:sp>
      <p:sp>
        <p:nvSpPr>
          <p:cNvPr id="8" name="Text 8"/>
          <p:cNvSpPr txBox="1"/>
          <p:nvPr/>
        </p:nvSpPr>
        <p:spPr>
          <a:xfrm>
            <a:off x="7699248" y="1335024"/>
            <a:ext cx="3474720" cy="50292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ctr"/>
            <a:r>
              <a:rPr lang="en-US" sz="2400" b="1" i="0" dirty="0">
                <a:solidFill>
                  <a:srgbClr val="FFFFFF"/>
                </a:solidFill>
                <a:latin typeface="Yu Gothic"/>
              </a:rPr>
              <a:t>7日間の進化</a:t>
            </a:r>
            <a:endParaRPr lang="en-US" sz="2400"/>
          </a:p>
        </p:txBody>
      </p:sp>
      <p:sp>
        <p:nvSpPr>
          <p:cNvPr id="9" name="Text 9"/>
          <p:cNvSpPr txBox="1"/>
          <p:nvPr/>
        </p:nvSpPr>
        <p:spPr>
          <a:xfrm>
            <a:off x="7699248" y="2011680"/>
            <a:ext cx="3474720" cy="603504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ctr"/>
            <a:r>
              <a:rPr lang="en-US" sz="1160" b="0" i="0" dirty="0">
                <a:solidFill>
                  <a:srgbClr val="C5CFDC"/>
                </a:solidFill>
                <a:latin typeface="Yu Gothic"/>
              </a:rPr>
              <a:t>543 commits = 543 first-parent</a:t>
            </a:r>
            <a:endParaRPr lang="en-US" sz="1160"/>
          </a:p>
          <a:p>
            <a:pPr algn="ctr"/>
            <a:r>
              <a:rPr lang="en-US" sz="1160" b="0" i="0" dirty="0">
                <a:solidFill>
                  <a:srgbClr val="C5CFDC"/>
                </a:solidFill>
                <a:latin typeface="Yu Gothic"/>
              </a:rPr>
              <a:t>0 tags • 0 merge commits</a:t>
            </a:r>
            <a:endParaRPr lang="en-US" sz="1160"/>
          </a:p>
        </p:txBody>
      </p:sp>
      <p:sp>
        <p:nvSpPr>
          <p:cNvPr id="10" name="Text 10"/>
          <p:cNvSpPr txBox="1"/>
          <p:nvPr/>
        </p:nvSpPr>
        <p:spPr>
          <a:xfrm>
            <a:off x="7699248" y="2752344"/>
            <a:ext cx="3474720" cy="164592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ctr"/>
            <a:r>
              <a:rPr lang="en-US" sz="750" b="0" i="0" dirty="0">
                <a:solidFill>
                  <a:srgbClr val="06B6D4"/>
                </a:solidFill>
                <a:latin typeface="Yu Gothic"/>
              </a:rPr>
              <a:t>履歴範囲であり、品質指標ではない</a:t>
            </a:r>
            <a:endParaRPr lang="en-US" sz="750"/>
          </a:p>
        </p:txBody>
      </p:sp>
      <p:cxnSp>
        <p:nvCxnSpPr>
          <p:cNvPr id="11" name="Line 11"/>
          <p:cNvCxnSpPr/>
          <p:nvPr/>
        </p:nvCxnSpPr>
        <p:spPr>
          <a:xfrm flipH="false" flipV="false">
            <a:off x="859536" y="3749040"/>
            <a:ext cx="10387584" cy="0"/>
          </a:xfrm>
          <a:prstGeom prst="line">
            <a:avLst/>
          </a:prstGeom>
          <a:ln w="15240">
            <a:solidFill>
              <a:srgbClr val="C5CFDC"/>
            </a:solidFill>
          </a:ln>
        </p:spPr>
      </p:cxnSp>
      <p:sp>
        <p:nvSpPr>
          <p:cNvPr id="12" name="Ellipse 12"/>
          <p:cNvSpPr/>
          <p:nvPr/>
        </p:nvSpPr>
        <p:spPr>
          <a:xfrm>
            <a:off x="1271016" y="3584448"/>
            <a:ext cx="237744" cy="237744"/>
          </a:xfrm>
          <a:prstGeom prst="ellipse">
            <a:avLst/>
          </a:prstGeom>
          <a:solidFill>
            <a:srgbClr val="3B82F6"/>
          </a:solidFill>
          <a:ln w="12700">
            <a:solidFill>
              <a:srgbClr val="3B82F6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3" name="Rect 13"/>
          <p:cNvSpPr/>
          <p:nvPr/>
        </p:nvSpPr>
        <p:spPr>
          <a:xfrm>
            <a:off x="713232" y="4050792"/>
            <a:ext cx="1353312" cy="841248"/>
          </a:xfrm>
          <a:prstGeom prst="roundRect">
            <a:avLst/>
          </a:prstGeom>
          <a:solidFill>
            <a:srgbClr val="E0EBFE"/>
          </a:solidFill>
          <a:ln w="12700">
            <a:solidFill>
              <a:srgbClr val="3B82F6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4"/>
          <p:cNvSpPr txBox="1"/>
          <p:nvPr/>
        </p:nvSpPr>
        <p:spPr>
          <a:xfrm>
            <a:off x="786384" y="4206240"/>
            <a:ext cx="1207008" cy="219456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ctr"/>
            <a:r>
              <a:rPr lang="en-US" sz="1240" b="1" i="0" dirty="0">
                <a:solidFill>
                  <a:srgbClr val="3B82F6"/>
                </a:solidFill>
                <a:latin typeface="Yu Gothic"/>
              </a:rPr>
              <a:t>守る</a:t>
            </a:r>
            <a:endParaRPr lang="en-US" sz="1240"/>
          </a:p>
        </p:txBody>
      </p:sp>
      <p:sp>
        <p:nvSpPr>
          <p:cNvPr id="15" name="Text 15"/>
          <p:cNvSpPr txBox="1"/>
          <p:nvPr/>
        </p:nvSpPr>
        <p:spPr>
          <a:xfrm>
            <a:off x="786384" y="4553712"/>
            <a:ext cx="1207008" cy="146304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ctr"/>
            <a:r>
              <a:rPr lang="en-US" sz="740" b="0" i="0" dirty="0">
                <a:solidFill>
                  <a:srgbClr val="334155"/>
                </a:solidFill>
                <a:latin typeface="Yu Gothic"/>
              </a:rPr>
              <a:t>Policy</a:t>
            </a:r>
            <a:endParaRPr lang="en-US" sz="740"/>
          </a:p>
        </p:txBody>
      </p:sp>
      <p:sp>
        <p:nvSpPr>
          <p:cNvPr id="16" name="Ellipse 16"/>
          <p:cNvSpPr/>
          <p:nvPr/>
        </p:nvSpPr>
        <p:spPr>
          <a:xfrm>
            <a:off x="2898648" y="3584448"/>
            <a:ext cx="237744" cy="237744"/>
          </a:xfrm>
          <a:prstGeom prst="ellipse">
            <a:avLst/>
          </a:prstGeom>
          <a:solidFill>
            <a:srgbClr val="06B6D4"/>
          </a:solidFill>
          <a:ln w="12700">
            <a:solidFill>
              <a:srgbClr val="06B6D4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7" name="Rect 17"/>
          <p:cNvSpPr/>
          <p:nvPr/>
        </p:nvSpPr>
        <p:spPr>
          <a:xfrm>
            <a:off x="2340864" y="4050792"/>
            <a:ext cx="1353312" cy="841248"/>
          </a:xfrm>
          <a:prstGeom prst="roundRect">
            <a:avLst/>
          </a:prstGeom>
          <a:solidFill>
            <a:srgbClr val="D7F3F8"/>
          </a:solidFill>
          <a:ln w="12700">
            <a:solidFill>
              <a:srgbClr val="06B6D4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8"/>
          <p:cNvSpPr txBox="1"/>
          <p:nvPr/>
        </p:nvSpPr>
        <p:spPr>
          <a:xfrm>
            <a:off x="2414016" y="4206240"/>
            <a:ext cx="1207008" cy="219456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ctr"/>
            <a:r>
              <a:rPr lang="en-US" sz="1240" b="1" i="0" dirty="0">
                <a:solidFill>
                  <a:srgbClr val="06B6D4"/>
                </a:solidFill>
                <a:latin typeface="Yu Gothic"/>
              </a:rPr>
              <a:t>観る</a:t>
            </a:r>
            <a:endParaRPr lang="en-US" sz="1240"/>
          </a:p>
        </p:txBody>
      </p:sp>
      <p:sp>
        <p:nvSpPr>
          <p:cNvPr id="19" name="Text 19"/>
          <p:cNvSpPr txBox="1"/>
          <p:nvPr/>
        </p:nvSpPr>
        <p:spPr>
          <a:xfrm>
            <a:off x="2414016" y="4553712"/>
            <a:ext cx="1207008" cy="146304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ctr"/>
            <a:r>
              <a:rPr lang="en-US" sz="740" b="0" i="0" dirty="0">
                <a:solidFill>
                  <a:srgbClr val="334155"/>
                </a:solidFill>
                <a:latin typeface="Yu Gothic"/>
              </a:rPr>
              <a:t>Inventory</a:t>
            </a:r>
            <a:endParaRPr lang="en-US" sz="740"/>
          </a:p>
        </p:txBody>
      </p:sp>
      <p:sp>
        <p:nvSpPr>
          <p:cNvPr id="20" name="Ellipse 20"/>
          <p:cNvSpPr/>
          <p:nvPr/>
        </p:nvSpPr>
        <p:spPr>
          <a:xfrm>
            <a:off x="4526280" y="3584448"/>
            <a:ext cx="237744" cy="237744"/>
          </a:xfrm>
          <a:prstGeom prst="ellipse">
            <a:avLst/>
          </a:prstGeom>
          <a:solidFill>
            <a:srgbClr val="0D9488"/>
          </a:solidFill>
          <a:ln w="12700">
            <a:solidFill>
              <a:srgbClr val="0D9488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21" name="Rect 21"/>
          <p:cNvSpPr/>
          <p:nvPr/>
        </p:nvSpPr>
        <p:spPr>
          <a:xfrm>
            <a:off x="3968496" y="4050792"/>
            <a:ext cx="1353312" cy="841248"/>
          </a:xfrm>
          <a:prstGeom prst="roundRect">
            <a:avLst/>
          </a:prstGeom>
          <a:solidFill>
            <a:srgbClr val="D8EEEC"/>
          </a:solidFill>
          <a:ln w="12700">
            <a:solidFill>
              <a:srgbClr val="0D9488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22" name="Text 22"/>
          <p:cNvSpPr txBox="1"/>
          <p:nvPr/>
        </p:nvSpPr>
        <p:spPr>
          <a:xfrm>
            <a:off x="4041648" y="4206240"/>
            <a:ext cx="1207008" cy="219456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ctr"/>
            <a:r>
              <a:rPr lang="en-US" sz="1240" b="1" i="0" dirty="0">
                <a:solidFill>
                  <a:srgbClr val="0D9488"/>
                </a:solidFill>
                <a:latin typeface="Yu Gothic"/>
              </a:rPr>
              <a:t>動かす</a:t>
            </a:r>
            <a:endParaRPr lang="en-US" sz="1240"/>
          </a:p>
        </p:txBody>
      </p:sp>
      <p:sp>
        <p:nvSpPr>
          <p:cNvPr id="23" name="Text 23"/>
          <p:cNvSpPr txBox="1"/>
          <p:nvPr/>
        </p:nvSpPr>
        <p:spPr>
          <a:xfrm>
            <a:off x="4041648" y="4553712"/>
            <a:ext cx="1207008" cy="146304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ctr"/>
            <a:r>
              <a:rPr lang="en-US" sz="740" b="0" i="0" dirty="0">
                <a:solidFill>
                  <a:srgbClr val="334155"/>
                </a:solidFill>
                <a:latin typeface="Yu Gothic"/>
              </a:rPr>
              <a:t>Transaction</a:t>
            </a:r>
            <a:endParaRPr lang="en-US" sz="740"/>
          </a:p>
        </p:txBody>
      </p:sp>
      <p:sp>
        <p:nvSpPr>
          <p:cNvPr id="24" name="Ellipse 24"/>
          <p:cNvSpPr/>
          <p:nvPr/>
        </p:nvSpPr>
        <p:spPr>
          <a:xfrm>
            <a:off x="6153912" y="3584448"/>
            <a:ext cx="237744" cy="237744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25" name="Rect 25"/>
          <p:cNvSpPr/>
          <p:nvPr/>
        </p:nvSpPr>
        <p:spPr>
          <a:xfrm>
            <a:off x="5596128" y="4050792"/>
            <a:ext cx="1353312" cy="841248"/>
          </a:xfrm>
          <a:prstGeom prst="roundRect">
            <a:avLst/>
          </a:prstGeom>
          <a:solidFill>
            <a:srgbClr val="FDEFD8"/>
          </a:solidFill>
          <a:ln w="12700">
            <a:solidFill>
              <a:srgbClr val="F59E0B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26" name="Text 26"/>
          <p:cNvSpPr txBox="1"/>
          <p:nvPr/>
        </p:nvSpPr>
        <p:spPr>
          <a:xfrm>
            <a:off x="5669280" y="4206240"/>
            <a:ext cx="1207008" cy="219456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ctr"/>
            <a:r>
              <a:rPr lang="en-US" sz="1240" b="1" i="0" dirty="0">
                <a:solidFill>
                  <a:srgbClr val="F59E0B"/>
                </a:solidFill>
                <a:latin typeface="Yu Gothic"/>
              </a:rPr>
              <a:t>戻す</a:t>
            </a:r>
            <a:endParaRPr lang="en-US" sz="1240"/>
          </a:p>
        </p:txBody>
      </p:sp>
      <p:sp>
        <p:nvSpPr>
          <p:cNvPr id="27" name="Text 27"/>
          <p:cNvSpPr txBox="1"/>
          <p:nvPr/>
        </p:nvSpPr>
        <p:spPr>
          <a:xfrm>
            <a:off x="5669280" y="4553712"/>
            <a:ext cx="1207008" cy="146304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ctr"/>
            <a:r>
              <a:rPr lang="en-US" sz="740" b="0" i="0" dirty="0">
                <a:solidFill>
                  <a:srgbClr val="334155"/>
                </a:solidFill>
                <a:latin typeface="Yu Gothic"/>
              </a:rPr>
              <a:t>Recovery</a:t>
            </a:r>
            <a:endParaRPr lang="en-US" sz="740"/>
          </a:p>
        </p:txBody>
      </p:sp>
      <p:sp>
        <p:nvSpPr>
          <p:cNvPr id="28" name="Ellipse 28"/>
          <p:cNvSpPr/>
          <p:nvPr/>
        </p:nvSpPr>
        <p:spPr>
          <a:xfrm>
            <a:off x="7781544" y="3584448"/>
            <a:ext cx="237744" cy="237744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29" name="Rect 29"/>
          <p:cNvSpPr/>
          <p:nvPr/>
        </p:nvSpPr>
        <p:spPr>
          <a:xfrm>
            <a:off x="7223760" y="4050792"/>
            <a:ext cx="1353312" cy="841248"/>
          </a:xfrm>
          <a:prstGeom prst="roundRect">
            <a:avLst/>
          </a:prstGeom>
          <a:solidFill>
            <a:srgbClr val="EADFFC"/>
          </a:solidFill>
          <a:ln w="12700">
            <a:solidFill>
              <a:srgbClr val="7C3AED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30" name="Text 30"/>
          <p:cNvSpPr txBox="1"/>
          <p:nvPr/>
        </p:nvSpPr>
        <p:spPr>
          <a:xfrm>
            <a:off x="7296912" y="4206240"/>
            <a:ext cx="1207008" cy="219456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ctr"/>
            <a:r>
              <a:rPr lang="en-US" sz="1240" b="1" i="0" dirty="0">
                <a:solidFill>
                  <a:srgbClr val="7C3AED"/>
                </a:solidFill>
                <a:latin typeface="Yu Gothic"/>
              </a:rPr>
              <a:t>測る</a:t>
            </a:r>
            <a:endParaRPr lang="en-US" sz="1240"/>
          </a:p>
        </p:txBody>
      </p:sp>
      <p:sp>
        <p:nvSpPr>
          <p:cNvPr id="31" name="Text 31"/>
          <p:cNvSpPr txBox="1"/>
          <p:nvPr/>
        </p:nvSpPr>
        <p:spPr>
          <a:xfrm>
            <a:off x="7296912" y="4553712"/>
            <a:ext cx="1207008" cy="146304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ctr"/>
            <a:r>
              <a:rPr lang="en-US" sz="740" b="0" i="0" dirty="0">
                <a:solidFill>
                  <a:srgbClr val="334155"/>
                </a:solidFill>
                <a:latin typeface="Yu Gothic"/>
              </a:rPr>
              <a:t>Evidence</a:t>
            </a:r>
            <a:endParaRPr lang="en-US" sz="740"/>
          </a:p>
        </p:txBody>
      </p:sp>
      <p:sp>
        <p:nvSpPr>
          <p:cNvPr id="32" name="Ellipse 32"/>
          <p:cNvSpPr/>
          <p:nvPr/>
        </p:nvSpPr>
        <p:spPr>
          <a:xfrm>
            <a:off x="9409176" y="3584448"/>
            <a:ext cx="237744" cy="237744"/>
          </a:xfrm>
          <a:prstGeom prst="ellipse">
            <a:avLst/>
          </a:prstGeom>
          <a:solidFill>
            <a:srgbClr val="DB2777"/>
          </a:solidFill>
          <a:ln w="12700">
            <a:solidFill>
              <a:srgbClr val="DB2777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33" name="Rect 33"/>
          <p:cNvSpPr/>
          <p:nvPr/>
        </p:nvSpPr>
        <p:spPr>
          <a:xfrm>
            <a:off x="8851392" y="4050792"/>
            <a:ext cx="1353312" cy="841248"/>
          </a:xfrm>
          <a:prstGeom prst="roundRect">
            <a:avLst/>
          </a:prstGeom>
          <a:solidFill>
            <a:srgbClr val="F9DCE9"/>
          </a:solidFill>
          <a:ln w="12700">
            <a:solidFill>
              <a:srgbClr val="DB2777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34" name="Text 34"/>
          <p:cNvSpPr txBox="1"/>
          <p:nvPr/>
        </p:nvSpPr>
        <p:spPr>
          <a:xfrm>
            <a:off x="8924544" y="4206240"/>
            <a:ext cx="1207008" cy="219456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ctr"/>
            <a:r>
              <a:rPr lang="en-US" sz="1240" b="1" i="0" dirty="0">
                <a:solidFill>
                  <a:srgbClr val="DB2777"/>
                </a:solidFill>
                <a:latin typeface="Yu Gothic"/>
              </a:rPr>
              <a:t>広げる</a:t>
            </a:r>
            <a:endParaRPr lang="en-US" sz="1240"/>
          </a:p>
        </p:txBody>
      </p:sp>
      <p:sp>
        <p:nvSpPr>
          <p:cNvPr id="35" name="Text 35"/>
          <p:cNvSpPr txBox="1"/>
          <p:nvPr/>
        </p:nvSpPr>
        <p:spPr>
          <a:xfrm>
            <a:off x="8924544" y="4553712"/>
            <a:ext cx="1207008" cy="146304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ctr"/>
            <a:r>
              <a:rPr lang="en-US" sz="740" b="0" i="0" dirty="0">
                <a:solidFill>
                  <a:srgbClr val="334155"/>
                </a:solidFill>
                <a:latin typeface="Yu Gothic"/>
              </a:rPr>
              <a:t>Mac/Fleet</a:t>
            </a:r>
            <a:endParaRPr lang="en-US" sz="740"/>
          </a:p>
        </p:txBody>
      </p:sp>
      <p:sp>
        <p:nvSpPr>
          <p:cNvPr id="36" name="Ellipse 36"/>
          <p:cNvSpPr/>
          <p:nvPr/>
        </p:nvSpPr>
        <p:spPr>
          <a:xfrm>
            <a:off x="11036808" y="3584448"/>
            <a:ext cx="237744" cy="237744"/>
          </a:xfrm>
          <a:prstGeom prst="ellipse">
            <a:avLst/>
          </a:prstGeom>
          <a:solidFill>
            <a:srgbClr val="16A34A"/>
          </a:solidFill>
          <a:ln w="12700">
            <a:solidFill>
              <a:srgbClr val="16A34A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37" name="Rect 37"/>
          <p:cNvSpPr/>
          <p:nvPr/>
        </p:nvSpPr>
        <p:spPr>
          <a:xfrm>
            <a:off x="10479024" y="4050792"/>
            <a:ext cx="1353312" cy="841248"/>
          </a:xfrm>
          <a:prstGeom prst="roundRect">
            <a:avLst/>
          </a:prstGeom>
          <a:solidFill>
            <a:srgbClr val="DAF0E2"/>
          </a:solidFill>
          <a:ln w="12700">
            <a:solidFill>
              <a:srgbClr val="16A34A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38" name="Text 38"/>
          <p:cNvSpPr txBox="1"/>
          <p:nvPr/>
        </p:nvSpPr>
        <p:spPr>
          <a:xfrm>
            <a:off x="10552176" y="4206240"/>
            <a:ext cx="1207008" cy="219456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ctr"/>
            <a:r>
              <a:rPr lang="en-US" sz="1240" b="1" i="0" dirty="0">
                <a:solidFill>
                  <a:srgbClr val="16A34A"/>
                </a:solidFill>
                <a:latin typeface="Yu Gothic"/>
              </a:rPr>
              <a:t>協働</a:t>
            </a:r>
            <a:endParaRPr lang="en-US" sz="1240"/>
          </a:p>
        </p:txBody>
      </p:sp>
      <p:sp>
        <p:nvSpPr>
          <p:cNvPr id="39" name="Text 39"/>
          <p:cNvSpPr txBox="1"/>
          <p:nvPr/>
        </p:nvSpPr>
        <p:spPr>
          <a:xfrm>
            <a:off x="10552176" y="4553712"/>
            <a:ext cx="1207008" cy="146304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ctr"/>
            <a:r>
              <a:rPr lang="en-US" sz="740" b="0" i="0" dirty="0">
                <a:solidFill>
                  <a:srgbClr val="334155"/>
                </a:solidFill>
                <a:latin typeface="Yu Gothic"/>
              </a:rPr>
              <a:t>Cowork</a:t>
            </a:r>
            <a:endParaRPr lang="en-US" sz="740"/>
          </a:p>
        </p:txBody>
      </p:sp>
      <p:sp>
        <p:nvSpPr>
          <p:cNvPr id="40" name="Rect 40"/>
          <p:cNvSpPr/>
          <p:nvPr/>
        </p:nvSpPr>
        <p:spPr>
          <a:xfrm>
            <a:off x="713232" y="5321808"/>
            <a:ext cx="10863072" cy="658368"/>
          </a:xfrm>
          <a:prstGeom prst="roundRect">
            <a:avLst/>
          </a:prstGeom>
          <a:solidFill>
            <a:srgbClr val="102446"/>
          </a:solidFill>
          <a:ln w="12700">
            <a:solidFill>
              <a:srgbClr val="0D9488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41" name="Text 41"/>
          <p:cNvSpPr txBox="1"/>
          <p:nvPr/>
        </p:nvSpPr>
        <p:spPr>
          <a:xfrm>
            <a:off x="969264" y="5504688"/>
            <a:ext cx="10351008" cy="27432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ctr"/>
            <a:r>
              <a:rPr lang="en-US" sz="1140" b="1" i="0" dirty="0">
                <a:solidFill>
                  <a:srgbClr val="FFFFFF"/>
                </a:solidFill>
                <a:latin typeface="Yu Gothic"/>
              </a:rPr>
              <a:t>中心命題：差を消したのではない。差を説明し、権限を限定し、結果を証拠化できるようにした。</a:t>
            </a:r>
            <a:endParaRPr lang="en-US" sz="1140"/>
          </a:p>
        </p:txBody>
      </p:sp>
      <p:cxnSp>
        <p:nvCxnSpPr>
          <p:cNvPr id="42" name="Line 42"/>
          <p:cNvCxnSpPr/>
          <p:nvPr/>
        </p:nvCxnSpPr>
        <p:spPr>
          <a:xfrm flipH="false" flipV="false">
            <a:off x="621792" y="6473952"/>
            <a:ext cx="10954512" cy="0"/>
          </a:xfrm>
          <a:prstGeom prst="line">
            <a:avLst/>
          </a:prstGeom>
          <a:ln w="10160">
            <a:solidFill>
              <a:srgbClr val="D7DFEA"/>
            </a:solidFill>
          </a:ln>
        </p:spPr>
      </p:cxnSp>
      <p:sp>
        <p:nvSpPr>
          <p:cNvPr id="43" name="Text 43"/>
          <p:cNvSpPr txBox="1"/>
          <p:nvPr/>
        </p:nvSpPr>
        <p:spPr>
          <a:xfrm>
            <a:off x="640080" y="6510528"/>
            <a:ext cx="10469880" cy="164592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660" b="0" i="0" dirty="0">
                <a:solidFill>
                  <a:srgbClr val="56647A"/>
                </a:solidFill>
                <a:latin typeface="Yu Gothic"/>
              </a:rPr>
              <a:t>7f969317 → 7c592af • README.md • bin/harness • complete linear history</a:t>
            </a:r>
            <a:endParaRPr lang="en-US" sz="660"/>
          </a:p>
        </p:txBody>
      </p:sp>
      <p:sp>
        <p:nvSpPr>
          <p:cNvPr id="44" name="Text 44"/>
          <p:cNvSpPr txBox="1"/>
          <p:nvPr/>
        </p:nvSpPr>
        <p:spPr>
          <a:xfrm>
            <a:off x="11201400" y="6492240"/>
            <a:ext cx="329184" cy="18288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r"/>
            <a:r>
              <a:rPr lang="en-US" sz="750" b="1" i="0" dirty="0">
                <a:solidFill>
                  <a:srgbClr val="56647A"/>
                </a:solidFill>
                <a:latin typeface="Yu Gothic"/>
              </a:rPr>
              <a:t>1</a:t>
            </a:r>
            <a:endParaRPr lang="en-US" sz="75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8FC"/>
          </a:solidFill>
          <a:ln w="12700">
            <a:solidFill>
              <a:srgbClr val="F6F8FC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3"/>
          <p:cNvSpPr txBox="1"/>
          <p:nvPr/>
        </p:nvSpPr>
        <p:spPr>
          <a:xfrm>
            <a:off x="621792" y="320040"/>
            <a:ext cx="10972800" cy="585216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2550" b="1" i="0" dirty="0">
                <a:solidFill>
                  <a:srgbClr val="14213D"/>
                </a:solidFill>
                <a:latin typeface="Yu Gothic"/>
              </a:rPr>
              <a:t>rm -rf 事故が「自律性＝再検証可能な権限」へ設計を変えた</a:t>
            </a:r>
            <a:endParaRPr lang="en-US" sz="2550"/>
          </a:p>
        </p:txBody>
      </p:sp>
      <p:sp>
        <p:nvSpPr>
          <p:cNvPr id="4" name="Text 4"/>
          <p:cNvSpPr txBox="1"/>
          <p:nvPr/>
        </p:nvSpPr>
        <p:spPr>
          <a:xfrm>
            <a:off x="640080" y="914400"/>
            <a:ext cx="10881360" cy="27432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1080" b="0" i="0" dirty="0">
                <a:solidFill>
                  <a:srgbClr val="56647A"/>
                </a:solidFill>
                <a:latin typeface="Yu Gothic"/>
              </a:rPr>
              <a:t>事故 → containment → 部分復旧 → architectural response</a:t>
            </a:r>
            <a:endParaRPr lang="en-US" sz="1080"/>
          </a:p>
        </p:txBody>
      </p:sp>
      <p:sp>
        <p:nvSpPr>
          <p:cNvPr id="5" name="Rect 5"/>
          <p:cNvSpPr/>
          <p:nvPr/>
        </p:nvSpPr>
        <p:spPr>
          <a:xfrm>
            <a:off x="594360" y="1353312"/>
            <a:ext cx="2633472" cy="2011680"/>
          </a:xfrm>
          <a:prstGeom prst="roundRect">
            <a:avLst/>
          </a:prstGeom>
          <a:solidFill>
            <a:srgbClr val="FDF2F2"/>
          </a:solidFill>
          <a:ln w="12700">
            <a:solidFill>
              <a:srgbClr val="DC2626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6" name="Rect 6"/>
          <p:cNvSpPr/>
          <p:nvPr/>
        </p:nvSpPr>
        <p:spPr>
          <a:xfrm>
            <a:off x="777240" y="1572768"/>
            <a:ext cx="1225296" cy="274320"/>
          </a:xfrm>
          <a:prstGeom prst="roundRect">
            <a:avLst/>
          </a:prstGeom>
          <a:solidFill>
            <a:srgbClr val="F9DADA"/>
          </a:solidFill>
          <a:ln w="12700">
            <a:solidFill>
              <a:srgbClr val="DC2626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7"/>
          <p:cNvSpPr txBox="1"/>
          <p:nvPr/>
        </p:nvSpPr>
        <p:spPr>
          <a:xfrm>
            <a:off x="832104" y="1636776"/>
            <a:ext cx="1115568" cy="13716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ctr"/>
            <a:r>
              <a:rPr lang="en-US" sz="820" b="1" i="0" dirty="0">
                <a:solidFill>
                  <a:srgbClr val="DC2626"/>
                </a:solidFill>
                <a:latin typeface="Yu Gothic"/>
              </a:rPr>
              <a:t>FACT</a:t>
            </a:r>
            <a:endParaRPr lang="en-US" sz="820"/>
          </a:p>
        </p:txBody>
      </p:sp>
      <p:sp>
        <p:nvSpPr>
          <p:cNvPr id="8" name="Text 8"/>
          <p:cNvSpPr txBox="1"/>
          <p:nvPr/>
        </p:nvSpPr>
        <p:spPr>
          <a:xfrm>
            <a:off x="777240" y="1947672"/>
            <a:ext cx="2267712" cy="301752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ctr"/>
            <a:r>
              <a:rPr lang="en-US" sz="1410" b="1" i="0" dirty="0">
                <a:solidFill>
                  <a:srgbClr val="DC2626"/>
                </a:solidFill>
                <a:latin typeface="Yu Gothic"/>
              </a:rPr>
              <a:t>01:41 原因</a:t>
            </a:r>
            <a:endParaRPr lang="en-US" sz="1410"/>
          </a:p>
        </p:txBody>
      </p:sp>
      <p:sp>
        <p:nvSpPr>
          <p:cNvPr id="9" name="Text 9"/>
          <p:cNvSpPr txBox="1"/>
          <p:nvPr/>
        </p:nvSpPr>
        <p:spPr>
          <a:xfrm>
            <a:off x="777240" y="2468880"/>
            <a:ext cx="2267712" cy="64008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ctr"/>
            <a:r>
              <a:rPr lang="en-US" sz="1050" b="0" i="0" dirty="0">
                <a:solidFill>
                  <a:srgbClr val="14213D"/>
                </a:solidFill>
                <a:latin typeface="Yu Gothic"/>
              </a:rPr>
              <a:t>temporary HOME の</a:t>
            </a:r>
            <a:endParaRPr lang="en-US" sz="1050"/>
          </a:p>
          <a:p>
            <a:pPr algn="ctr"/>
            <a:r>
              <a:rPr lang="en-US" sz="1050" b="0" i="0" dirty="0">
                <a:solidFill>
                  <a:srgbClr val="14213D"/>
                </a:solidFill>
                <a:latin typeface="Yu Gothic"/>
              </a:rPr>
              <a:t>scope終了後に cleanup</a:t>
            </a:r>
            <a:endParaRPr lang="en-US" sz="1050"/>
          </a:p>
          <a:p>
            <a:pPr algn="ctr"/>
            <a:r>
              <a:rPr lang="en-US" sz="1050" b="0" i="0" dirty="0">
                <a:solidFill>
                  <a:srgbClr val="14213D"/>
                </a:solidFill>
                <a:latin typeface="Yu Gothic"/>
              </a:rPr>
              <a:t>→ 実HOMEへ解決</a:t>
            </a:r>
            <a:endParaRPr lang="en-US" sz="1050"/>
          </a:p>
        </p:txBody>
      </p:sp>
      <p:cxnSp>
        <p:nvCxnSpPr>
          <p:cNvPr id="10" name="Line 10"/>
          <p:cNvCxnSpPr/>
          <p:nvPr/>
        </p:nvCxnSpPr>
        <p:spPr>
          <a:xfrm flipH="false" flipV="false">
            <a:off x="3246120" y="2350008"/>
            <a:ext cx="182880" cy="0"/>
          </a:xfrm>
          <a:prstGeom prst="line">
            <a:avLst/>
          </a:prstGeom>
          <a:ln w="16510">
            <a:solidFill>
              <a:srgbClr val="334155"/>
            </a:solidFill>
            <a:tailEnd type="triangle"/>
          </a:ln>
        </p:spPr>
      </p:cxnSp>
      <p:sp>
        <p:nvSpPr>
          <p:cNvPr id="11" name="Rect 11"/>
          <p:cNvSpPr/>
          <p:nvPr/>
        </p:nvSpPr>
        <p:spPr>
          <a:xfrm>
            <a:off x="3465576" y="1353312"/>
            <a:ext cx="2633472" cy="2011680"/>
          </a:xfrm>
          <a:prstGeom prst="roundRect">
            <a:avLst/>
          </a:prstGeom>
          <a:solidFill>
            <a:srgbClr val="FEF9F0"/>
          </a:solidFill>
          <a:ln w="12700">
            <a:solidFill>
              <a:srgbClr val="F59E0B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2" name="Rect 12"/>
          <p:cNvSpPr/>
          <p:nvPr/>
        </p:nvSpPr>
        <p:spPr>
          <a:xfrm>
            <a:off x="3648456" y="1572768"/>
            <a:ext cx="1225296" cy="274320"/>
          </a:xfrm>
          <a:prstGeom prst="roundRect">
            <a:avLst/>
          </a:prstGeom>
          <a:solidFill>
            <a:srgbClr val="FDEFD6"/>
          </a:solidFill>
          <a:ln w="12700">
            <a:solidFill>
              <a:srgbClr val="F59E0B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3"/>
          <p:cNvSpPr txBox="1"/>
          <p:nvPr/>
        </p:nvSpPr>
        <p:spPr>
          <a:xfrm>
            <a:off x="3703320" y="1636776"/>
            <a:ext cx="1115568" cy="13716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ctr"/>
            <a:r>
              <a:rPr lang="en-US" sz="820" b="1" i="0" dirty="0">
                <a:solidFill>
                  <a:srgbClr val="F59E0B"/>
                </a:solidFill>
                <a:latin typeface="Yu Gothic"/>
              </a:rPr>
              <a:t>FACT</a:t>
            </a:r>
            <a:endParaRPr lang="en-US" sz="820"/>
          </a:p>
        </p:txBody>
      </p:sp>
      <p:sp>
        <p:nvSpPr>
          <p:cNvPr id="14" name="Text 14"/>
          <p:cNvSpPr txBox="1"/>
          <p:nvPr/>
        </p:nvSpPr>
        <p:spPr>
          <a:xfrm>
            <a:off x="3648456" y="1947672"/>
            <a:ext cx="2267712" cy="301752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ctr"/>
            <a:r>
              <a:rPr lang="en-US" sz="1410" b="1" i="0" dirty="0">
                <a:solidFill>
                  <a:srgbClr val="F59E0B"/>
                </a:solidFill>
                <a:latin typeface="Yu Gothic"/>
              </a:rPr>
              <a:t>停止の失敗</a:t>
            </a:r>
            <a:endParaRPr lang="en-US" sz="1410"/>
          </a:p>
        </p:txBody>
      </p:sp>
      <p:sp>
        <p:nvSpPr>
          <p:cNvPr id="15" name="Text 15"/>
          <p:cNvSpPr txBox="1"/>
          <p:nvPr/>
        </p:nvSpPr>
        <p:spPr>
          <a:xfrm>
            <a:off x="3648456" y="2468880"/>
            <a:ext cx="2267712" cy="64008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ctr"/>
            <a:r>
              <a:rPr lang="en-US" sz="1050" b="0" i="0" dirty="0">
                <a:solidFill>
                  <a:srgbClr val="14213D"/>
                </a:solidFill>
                <a:latin typeface="Yu Gothic"/>
              </a:rPr>
              <a:t>最初のcancelでは</a:t>
            </a:r>
            <a:endParaRPr lang="en-US" sz="1050"/>
          </a:p>
          <a:p>
            <a:pPr algn="ctr"/>
            <a:r>
              <a:rPr lang="en-US" sz="1050" b="0" i="0" dirty="0">
                <a:solidFill>
                  <a:srgbClr val="14213D"/>
                </a:solidFill>
                <a:latin typeface="Yu Gothic"/>
              </a:rPr>
              <a:t>child processが残存</a:t>
            </a:r>
            <a:endParaRPr lang="en-US" sz="1050"/>
          </a:p>
          <a:p>
            <a:pPr algn="ctr"/>
            <a:r>
              <a:rPr lang="en-US" sz="1050" b="0" i="0" dirty="0">
                <a:solidFill>
                  <a:srgbClr val="14213D"/>
                </a:solidFill>
                <a:latin typeface="Yu Gothic"/>
              </a:rPr>
              <a:t>→ audit後に明示停止</a:t>
            </a:r>
            <a:endParaRPr lang="en-US" sz="1050"/>
          </a:p>
        </p:txBody>
      </p:sp>
      <p:cxnSp>
        <p:nvCxnSpPr>
          <p:cNvPr id="16" name="Line 16"/>
          <p:cNvCxnSpPr/>
          <p:nvPr/>
        </p:nvCxnSpPr>
        <p:spPr>
          <a:xfrm flipH="false" flipV="false">
            <a:off x="6117336" y="2350008"/>
            <a:ext cx="182880" cy="0"/>
          </a:xfrm>
          <a:prstGeom prst="line">
            <a:avLst/>
          </a:prstGeom>
          <a:ln w="16510">
            <a:solidFill>
              <a:srgbClr val="334155"/>
            </a:solidFill>
            <a:tailEnd type="triangle"/>
          </a:ln>
        </p:spPr>
      </p:cxnSp>
      <p:sp>
        <p:nvSpPr>
          <p:cNvPr id="17" name="Rect 17"/>
          <p:cNvSpPr/>
          <p:nvPr/>
        </p:nvSpPr>
        <p:spPr>
          <a:xfrm>
            <a:off x="6336792" y="1353312"/>
            <a:ext cx="2633472" cy="2011680"/>
          </a:xfrm>
          <a:prstGeom prst="roundRect">
            <a:avLst/>
          </a:prstGeom>
          <a:solidFill>
            <a:srgbClr val="F7F3FE"/>
          </a:solidFill>
          <a:ln w="12700">
            <a:solidFill>
              <a:srgbClr val="7C3AED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8" name="Rect 18"/>
          <p:cNvSpPr/>
          <p:nvPr/>
        </p:nvSpPr>
        <p:spPr>
          <a:xfrm>
            <a:off x="6519672" y="1572768"/>
            <a:ext cx="1225296" cy="274320"/>
          </a:xfrm>
          <a:prstGeom prst="roundRect">
            <a:avLst/>
          </a:prstGeom>
          <a:solidFill>
            <a:srgbClr val="E9DEFC"/>
          </a:solidFill>
          <a:ln w="12700">
            <a:solidFill>
              <a:srgbClr val="7C3AED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9"/>
          <p:cNvSpPr txBox="1"/>
          <p:nvPr/>
        </p:nvSpPr>
        <p:spPr>
          <a:xfrm>
            <a:off x="6574536" y="1636776"/>
            <a:ext cx="1115568" cy="13716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ctr"/>
            <a:r>
              <a:rPr lang="en-US" sz="820" b="1" i="0" dirty="0">
                <a:solidFill>
                  <a:srgbClr val="7C3AED"/>
                </a:solidFill>
                <a:latin typeface="Yu Gothic"/>
              </a:rPr>
              <a:t>FACT</a:t>
            </a:r>
            <a:endParaRPr lang="en-US" sz="820"/>
          </a:p>
        </p:txBody>
      </p:sp>
      <p:sp>
        <p:nvSpPr>
          <p:cNvPr id="20" name="Text 20"/>
          <p:cNvSpPr txBox="1"/>
          <p:nvPr/>
        </p:nvSpPr>
        <p:spPr>
          <a:xfrm>
            <a:off x="6519672" y="1947672"/>
            <a:ext cx="2267712" cy="301752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ctr"/>
            <a:r>
              <a:rPr lang="en-US" sz="1410" b="1" i="0" dirty="0">
                <a:solidFill>
                  <a:srgbClr val="7C3AED"/>
                </a:solidFill>
                <a:latin typeface="Yu Gothic"/>
              </a:rPr>
              <a:t>影響と復旧</a:t>
            </a:r>
            <a:endParaRPr lang="en-US" sz="1410"/>
          </a:p>
        </p:txBody>
      </p:sp>
      <p:sp>
        <p:nvSpPr>
          <p:cNvPr id="21" name="Text 21"/>
          <p:cNvSpPr txBox="1"/>
          <p:nvPr/>
        </p:nvSpPr>
        <p:spPr>
          <a:xfrm>
            <a:off x="6519672" y="2468880"/>
            <a:ext cx="2267712" cy="64008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ctr"/>
            <a:r>
              <a:rPr lang="en-US" sz="1050" b="0" i="0" dirty="0">
                <a:solidFill>
                  <a:srgbClr val="14213D"/>
                </a:solidFill>
                <a:latin typeface="Yu Gothic"/>
              </a:rPr>
              <a:t>HOMEを部分喪失</a:t>
            </a:r>
            <a:endParaRPr lang="en-US" sz="1050"/>
          </a:p>
          <a:p>
            <a:pPr algn="ctr"/>
            <a:r>
              <a:rPr lang="en-US" sz="1050" b="0" i="0" dirty="0">
                <a:solidFill>
                  <a:srgbClr val="14213D"/>
                </a:solidFill>
                <a:latin typeface="Yu Gothic"/>
              </a:rPr>
              <a:t>bundle / HEADから復旧</a:t>
            </a:r>
            <a:endParaRPr lang="en-US" sz="1050"/>
          </a:p>
          <a:p>
            <a:pPr algn="ctr"/>
            <a:r>
              <a:rPr lang="en-US" sz="1050" b="0" i="0" dirty="0">
                <a:solidFill>
                  <a:srgbClr val="14213D"/>
                </a:solidFill>
                <a:latin typeface="Yu Gothic"/>
              </a:rPr>
              <a:t>未commit作業は消失</a:t>
            </a:r>
            <a:endParaRPr lang="en-US" sz="1050"/>
          </a:p>
        </p:txBody>
      </p:sp>
      <p:cxnSp>
        <p:nvCxnSpPr>
          <p:cNvPr id="22" name="Line 22"/>
          <p:cNvCxnSpPr/>
          <p:nvPr/>
        </p:nvCxnSpPr>
        <p:spPr>
          <a:xfrm flipH="false" flipV="false">
            <a:off x="8988552" y="2350008"/>
            <a:ext cx="182880" cy="0"/>
          </a:xfrm>
          <a:prstGeom prst="line">
            <a:avLst/>
          </a:prstGeom>
          <a:ln w="16510">
            <a:solidFill>
              <a:srgbClr val="334155"/>
            </a:solidFill>
            <a:tailEnd type="triangle"/>
          </a:ln>
        </p:spPr>
      </p:cxnSp>
      <p:sp>
        <p:nvSpPr>
          <p:cNvPr id="23" name="Rect 23"/>
          <p:cNvSpPr/>
          <p:nvPr/>
        </p:nvSpPr>
        <p:spPr>
          <a:xfrm>
            <a:off x="9208008" y="1353312"/>
            <a:ext cx="2633472" cy="2011680"/>
          </a:xfrm>
          <a:prstGeom prst="roundRect">
            <a:avLst/>
          </a:prstGeom>
          <a:solidFill>
            <a:srgbClr val="F1F9F4"/>
          </a:solidFill>
          <a:ln w="12700">
            <a:solidFill>
              <a:srgbClr val="16A34A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24" name="Rect 24"/>
          <p:cNvSpPr/>
          <p:nvPr/>
        </p:nvSpPr>
        <p:spPr>
          <a:xfrm>
            <a:off x="9390888" y="1572768"/>
            <a:ext cx="1225296" cy="274320"/>
          </a:xfrm>
          <a:prstGeom prst="roundRect">
            <a:avLst/>
          </a:prstGeom>
          <a:solidFill>
            <a:srgbClr val="D7EFE0"/>
          </a:solidFill>
          <a:ln w="12700">
            <a:solidFill>
              <a:srgbClr val="16A34A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25" name="Text 25"/>
          <p:cNvSpPr txBox="1"/>
          <p:nvPr/>
        </p:nvSpPr>
        <p:spPr>
          <a:xfrm>
            <a:off x="9445752" y="1636776"/>
            <a:ext cx="1115568" cy="13716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ctr"/>
            <a:r>
              <a:rPr lang="en-US" sz="820" b="1" i="0" dirty="0">
                <a:solidFill>
                  <a:srgbClr val="16A34A"/>
                </a:solidFill>
                <a:latin typeface="Yu Gothic"/>
              </a:rPr>
              <a:t>FACT</a:t>
            </a:r>
            <a:endParaRPr lang="en-US" sz="820"/>
          </a:p>
        </p:txBody>
      </p:sp>
      <p:sp>
        <p:nvSpPr>
          <p:cNvPr id="26" name="Text 26"/>
          <p:cNvSpPr txBox="1"/>
          <p:nvPr/>
        </p:nvSpPr>
        <p:spPr>
          <a:xfrm>
            <a:off x="9390888" y="1947672"/>
            <a:ext cx="2267712" cy="301752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ctr"/>
            <a:r>
              <a:rPr lang="en-US" sz="1410" b="1" i="0" dirty="0">
                <a:solidFill>
                  <a:srgbClr val="16A34A"/>
                </a:solidFill>
                <a:latin typeface="Yu Gothic"/>
              </a:rPr>
              <a:t>設計応答</a:t>
            </a:r>
            <a:endParaRPr lang="en-US" sz="1410"/>
          </a:p>
        </p:txBody>
      </p:sp>
      <p:sp>
        <p:nvSpPr>
          <p:cNvPr id="27" name="Text 27"/>
          <p:cNvSpPr txBox="1"/>
          <p:nvPr/>
        </p:nvSpPr>
        <p:spPr>
          <a:xfrm>
            <a:off x="9390888" y="2468880"/>
            <a:ext cx="2267712" cy="64008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ctr"/>
            <a:r>
              <a:rPr lang="en-US" sz="1050" b="0" i="0" dirty="0">
                <a:solidFill>
                  <a:srgbClr val="14213D"/>
                </a:solidFill>
                <a:latin typeface="Yu Gothic"/>
              </a:rPr>
              <a:t>raw recursive rmを拒否</a:t>
            </a:r>
            <a:endParaRPr lang="en-US" sz="1050"/>
          </a:p>
          <a:p>
            <a:pPr algn="ctr"/>
            <a:r>
              <a:rPr lang="en-US" sz="1050" b="0" i="0" dirty="0">
                <a:solidFill>
                  <a:srgbClr val="14213D"/>
                </a:solidFill>
                <a:latin typeface="Yu Gothic"/>
              </a:rPr>
              <a:t>guarded plan / apply</a:t>
            </a:r>
            <a:endParaRPr lang="en-US" sz="1050"/>
          </a:p>
          <a:p>
            <a:pPr algn="ctr"/>
            <a:r>
              <a:rPr lang="en-US" sz="1050" b="0" i="0" dirty="0">
                <a:solidFill>
                  <a:srgbClr val="14213D"/>
                </a:solidFill>
                <a:latin typeface="Yu Gothic"/>
              </a:rPr>
              <a:t>境界と証拠を再検証</a:t>
            </a:r>
            <a:endParaRPr lang="en-US" sz="1050"/>
          </a:p>
        </p:txBody>
      </p:sp>
      <p:sp>
        <p:nvSpPr>
          <p:cNvPr id="28" name="Text 28"/>
          <p:cNvSpPr txBox="1"/>
          <p:nvPr/>
        </p:nvSpPr>
        <p:spPr>
          <a:xfrm>
            <a:off x="658368" y="3675888"/>
            <a:ext cx="1828800" cy="256032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1000" b="1" i="0" dirty="0">
                <a:solidFill>
                  <a:srgbClr val="DC2626"/>
                </a:solidFill>
                <a:latin typeface="Yu Gothic"/>
              </a:rPr>
              <a:t>BEFORE</a:t>
            </a:r>
            <a:endParaRPr lang="en-US" sz="1000"/>
          </a:p>
        </p:txBody>
      </p:sp>
      <p:sp>
        <p:nvSpPr>
          <p:cNvPr id="29" name="Rect 29"/>
          <p:cNvSpPr/>
          <p:nvPr/>
        </p:nvSpPr>
        <p:spPr>
          <a:xfrm>
            <a:off x="658368" y="3968496"/>
            <a:ext cx="2011680" cy="1417320"/>
          </a:xfrm>
          <a:prstGeom prst="roundRect">
            <a:avLst/>
          </a:prstGeom>
          <a:solidFill>
            <a:srgbClr val="FDF4F4"/>
          </a:solidFill>
          <a:ln w="12700">
            <a:solidFill>
              <a:srgbClr val="DC2626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30" name="Text 30"/>
          <p:cNvSpPr txBox="1"/>
          <p:nvPr/>
        </p:nvSpPr>
        <p:spPr>
          <a:xfrm>
            <a:off x="822960" y="4261104"/>
            <a:ext cx="1682496" cy="27432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ctr"/>
            <a:r>
              <a:rPr lang="en-US" sz="1300" b="1" i="0" dirty="0">
                <a:solidFill>
                  <a:srgbClr val="DC2626"/>
                </a:solidFill>
                <a:latin typeface="Yu Gothic"/>
              </a:rPr>
              <a:t>path文字列を信頼</a:t>
            </a:r>
            <a:endParaRPr lang="en-US" sz="1300"/>
          </a:p>
        </p:txBody>
      </p:sp>
      <p:sp>
        <p:nvSpPr>
          <p:cNvPr id="31" name="Text 31"/>
          <p:cNvSpPr txBox="1"/>
          <p:nvPr/>
        </p:nvSpPr>
        <p:spPr>
          <a:xfrm>
            <a:off x="822960" y="4736592"/>
            <a:ext cx="1682496" cy="347472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ctr"/>
            <a:r>
              <a:rPr lang="en-US" sz="940" b="0" i="0" dirty="0">
                <a:solidFill>
                  <a:srgbClr val="56647A"/>
                </a:solidFill>
                <a:latin typeface="Yu Gothic"/>
              </a:rPr>
              <a:t>cleanup targetが</a:t>
            </a:r>
            <a:endParaRPr lang="en-US" sz="940"/>
          </a:p>
          <a:p>
            <a:pPr algn="ctr"/>
            <a:r>
              <a:rPr lang="en-US" sz="940" b="0" i="0" dirty="0">
                <a:solidFill>
                  <a:srgbClr val="56647A"/>
                </a:solidFill>
                <a:latin typeface="Yu Gothic"/>
              </a:rPr>
              <a:t>scopeに依存</a:t>
            </a:r>
            <a:endParaRPr lang="en-US" sz="940"/>
          </a:p>
        </p:txBody>
      </p:sp>
      <p:cxnSp>
        <p:nvCxnSpPr>
          <p:cNvPr id="32" name="Line 32"/>
          <p:cNvCxnSpPr/>
          <p:nvPr/>
        </p:nvCxnSpPr>
        <p:spPr>
          <a:xfrm flipH="false" flipV="false">
            <a:off x="2834640" y="4663440"/>
            <a:ext cx="530352" cy="0"/>
          </a:xfrm>
          <a:prstGeom prst="line">
            <a:avLst/>
          </a:prstGeom>
          <a:ln w="22860">
            <a:solidFill>
              <a:srgbClr val="334155"/>
            </a:solidFill>
            <a:tailEnd type="triangle"/>
          </a:ln>
        </p:spPr>
      </p:cxnSp>
      <p:sp>
        <p:nvSpPr>
          <p:cNvPr id="33" name="Rect 33"/>
          <p:cNvSpPr/>
          <p:nvPr/>
        </p:nvSpPr>
        <p:spPr>
          <a:xfrm>
            <a:off x="3493008" y="3968496"/>
            <a:ext cx="1389888" cy="566928"/>
          </a:xfrm>
          <a:prstGeom prst="roundRect">
            <a:avLst/>
          </a:prstGeom>
          <a:solidFill>
            <a:srgbClr val="E7F0FE"/>
          </a:solidFill>
          <a:ln w="12700">
            <a:solidFill>
              <a:srgbClr val="3B82F6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34" name="Text 34"/>
          <p:cNvSpPr txBox="1"/>
          <p:nvPr/>
        </p:nvSpPr>
        <p:spPr>
          <a:xfrm>
            <a:off x="3566160" y="4142232"/>
            <a:ext cx="1243584" cy="164592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ctr"/>
            <a:r>
              <a:rPr lang="en-US" sz="880" b="1" i="0" dirty="0">
                <a:solidFill>
                  <a:srgbClr val="3B82F6"/>
                </a:solidFill>
                <a:latin typeface="Yu Gothic"/>
              </a:rPr>
              <a:t>保持境界</a:t>
            </a:r>
            <a:endParaRPr lang="en-US" sz="880"/>
          </a:p>
        </p:txBody>
      </p:sp>
      <p:sp>
        <p:nvSpPr>
          <p:cNvPr id="35" name="Rect 35"/>
          <p:cNvSpPr/>
          <p:nvPr/>
        </p:nvSpPr>
        <p:spPr>
          <a:xfrm>
            <a:off x="5065776" y="3968496"/>
            <a:ext cx="1389888" cy="566928"/>
          </a:xfrm>
          <a:prstGeom prst="roundRect">
            <a:avLst/>
          </a:prstGeom>
          <a:solidFill>
            <a:srgbClr val="E1F6FA"/>
          </a:solidFill>
          <a:ln w="12700">
            <a:solidFill>
              <a:srgbClr val="06B6D4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36" name="Text 36"/>
          <p:cNvSpPr txBox="1"/>
          <p:nvPr/>
        </p:nvSpPr>
        <p:spPr>
          <a:xfrm>
            <a:off x="5138928" y="4142232"/>
            <a:ext cx="1243584" cy="164592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ctr"/>
            <a:r>
              <a:rPr lang="en-US" sz="880" b="1" i="0" dirty="0">
                <a:solidFill>
                  <a:srgbClr val="06B6D4"/>
                </a:solidFill>
                <a:latin typeface="Yu Gothic"/>
              </a:rPr>
              <a:t>絶対target</a:t>
            </a:r>
            <a:endParaRPr lang="en-US" sz="880"/>
          </a:p>
        </p:txBody>
      </p:sp>
      <p:sp>
        <p:nvSpPr>
          <p:cNvPr id="37" name="Rect 37"/>
          <p:cNvSpPr/>
          <p:nvPr/>
        </p:nvSpPr>
        <p:spPr>
          <a:xfrm>
            <a:off x="6638544" y="3968496"/>
            <a:ext cx="1389888" cy="566928"/>
          </a:xfrm>
          <a:prstGeom prst="roundRect">
            <a:avLst/>
          </a:prstGeom>
          <a:solidFill>
            <a:srgbClr val="E2F2F1"/>
          </a:solidFill>
          <a:ln w="12700">
            <a:solidFill>
              <a:srgbClr val="0D9488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38" name="Text 38"/>
          <p:cNvSpPr txBox="1"/>
          <p:nvPr/>
        </p:nvSpPr>
        <p:spPr>
          <a:xfrm>
            <a:off x="6711696" y="4142232"/>
            <a:ext cx="1243584" cy="164592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ctr"/>
            <a:r>
              <a:rPr lang="en-US" sz="880" b="1" i="0" dirty="0">
                <a:solidFill>
                  <a:srgbClr val="0D9488"/>
                </a:solidFill>
                <a:latin typeface="Yu Gothic"/>
              </a:rPr>
              <a:t>manifest</a:t>
            </a:r>
            <a:endParaRPr lang="en-US" sz="880"/>
          </a:p>
        </p:txBody>
      </p:sp>
      <p:sp>
        <p:nvSpPr>
          <p:cNvPr id="39" name="Rect 39"/>
          <p:cNvSpPr/>
          <p:nvPr/>
        </p:nvSpPr>
        <p:spPr>
          <a:xfrm>
            <a:off x="3493008" y="4718304"/>
            <a:ext cx="1389888" cy="566928"/>
          </a:xfrm>
          <a:prstGeom prst="roundRect">
            <a:avLst/>
          </a:prstGeom>
          <a:solidFill>
            <a:srgbClr val="FEF3E2"/>
          </a:solidFill>
          <a:ln w="12700">
            <a:solidFill>
              <a:srgbClr val="F59E0B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40" name="Text 40"/>
          <p:cNvSpPr txBox="1"/>
          <p:nvPr/>
        </p:nvSpPr>
        <p:spPr>
          <a:xfrm>
            <a:off x="3566160" y="4892040"/>
            <a:ext cx="1243584" cy="164592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ctr"/>
            <a:r>
              <a:rPr lang="en-US" sz="880" b="1" i="0" dirty="0">
                <a:solidFill>
                  <a:srgbClr val="F59E0B"/>
                </a:solidFill>
                <a:latin typeface="Yu Gothic"/>
              </a:rPr>
              <a:t>token + 15分</a:t>
            </a:r>
            <a:endParaRPr lang="en-US" sz="880"/>
          </a:p>
        </p:txBody>
      </p:sp>
      <p:sp>
        <p:nvSpPr>
          <p:cNvPr id="41" name="Rect 41"/>
          <p:cNvSpPr/>
          <p:nvPr/>
        </p:nvSpPr>
        <p:spPr>
          <a:xfrm>
            <a:off x="5065776" y="4718304"/>
            <a:ext cx="1389888" cy="566928"/>
          </a:xfrm>
          <a:prstGeom prst="roundRect">
            <a:avLst/>
          </a:prstGeom>
          <a:solidFill>
            <a:srgbClr val="EFE7FD"/>
          </a:solidFill>
          <a:ln w="12700">
            <a:solidFill>
              <a:srgbClr val="7C3AED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42" name="Text 42"/>
          <p:cNvSpPr txBox="1"/>
          <p:nvPr/>
        </p:nvSpPr>
        <p:spPr>
          <a:xfrm>
            <a:off x="5138928" y="4892040"/>
            <a:ext cx="1243584" cy="164592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ctr"/>
            <a:r>
              <a:rPr lang="en-US" sz="880" b="1" i="0" dirty="0">
                <a:solidFill>
                  <a:srgbClr val="7C3AED"/>
                </a:solidFill>
                <a:latin typeface="Yu Gothic"/>
              </a:rPr>
              <a:t>identity / size</a:t>
            </a:r>
            <a:endParaRPr lang="en-US" sz="880"/>
          </a:p>
        </p:txBody>
      </p:sp>
      <p:sp>
        <p:nvSpPr>
          <p:cNvPr id="43" name="Rect 43"/>
          <p:cNvSpPr/>
          <p:nvPr/>
        </p:nvSpPr>
        <p:spPr>
          <a:xfrm>
            <a:off x="6638544" y="4718304"/>
            <a:ext cx="1389888" cy="566928"/>
          </a:xfrm>
          <a:prstGeom prst="roundRect">
            <a:avLst/>
          </a:prstGeom>
          <a:solidFill>
            <a:srgbClr val="E3F4E9"/>
          </a:solidFill>
          <a:ln w="12700">
            <a:solidFill>
              <a:srgbClr val="16A34A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44" name="Text 44"/>
          <p:cNvSpPr txBox="1"/>
          <p:nvPr/>
        </p:nvSpPr>
        <p:spPr>
          <a:xfrm>
            <a:off x="6711696" y="4892040"/>
            <a:ext cx="1243584" cy="164592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ctr"/>
            <a:r>
              <a:rPr lang="en-US" sz="880" b="1" i="0" dirty="0">
                <a:solidFill>
                  <a:srgbClr val="16A34A"/>
                </a:solidFill>
                <a:latin typeface="Yu Gothic"/>
              </a:rPr>
              <a:t>postcheck</a:t>
            </a:r>
            <a:endParaRPr lang="en-US" sz="880"/>
          </a:p>
        </p:txBody>
      </p:sp>
      <p:sp>
        <p:nvSpPr>
          <p:cNvPr id="45" name="Rect 45"/>
          <p:cNvSpPr/>
          <p:nvPr/>
        </p:nvSpPr>
        <p:spPr>
          <a:xfrm>
            <a:off x="8458200" y="3968496"/>
            <a:ext cx="3090672" cy="1417320"/>
          </a:xfrm>
          <a:prstGeom prst="roundRect">
            <a:avLst/>
          </a:prstGeom>
          <a:solidFill>
            <a:srgbClr val="08152F"/>
          </a:solidFill>
          <a:ln w="12700">
            <a:solidFill>
              <a:srgbClr val="08152F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46" name="Rect 46"/>
          <p:cNvSpPr/>
          <p:nvPr/>
        </p:nvSpPr>
        <p:spPr>
          <a:xfrm>
            <a:off x="8705088" y="4187952"/>
            <a:ext cx="1325880" cy="274320"/>
          </a:xfrm>
          <a:prstGeom prst="roundRect">
            <a:avLst/>
          </a:prstGeom>
          <a:solidFill>
            <a:srgbClr val="E9DEFC"/>
          </a:solidFill>
          <a:ln w="12700">
            <a:solidFill>
              <a:srgbClr val="7C3AED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47" name="Text 47"/>
          <p:cNvSpPr txBox="1"/>
          <p:nvPr/>
        </p:nvSpPr>
        <p:spPr>
          <a:xfrm>
            <a:off x="8759952" y="4251960"/>
            <a:ext cx="1216152" cy="13716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ctr"/>
            <a:r>
              <a:rPr lang="en-US" sz="820" b="1" i="0" dirty="0">
                <a:solidFill>
                  <a:srgbClr val="7C3AED"/>
                </a:solidFill>
                <a:latin typeface="Yu Gothic"/>
              </a:rPr>
              <a:t>INTERPRETATION</a:t>
            </a:r>
            <a:endParaRPr lang="en-US" sz="820"/>
          </a:p>
        </p:txBody>
      </p:sp>
      <p:sp>
        <p:nvSpPr>
          <p:cNvPr id="48" name="Text 48"/>
          <p:cNvSpPr txBox="1"/>
          <p:nvPr/>
        </p:nvSpPr>
        <p:spPr>
          <a:xfrm>
            <a:off x="8705088" y="4663440"/>
            <a:ext cx="2596896" cy="420624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ctr"/>
            <a:r>
              <a:rPr lang="en-US" sz="1020" b="1" i="0" dirty="0">
                <a:solidFill>
                  <a:srgbClr val="FFFFFF"/>
                </a:solidFill>
                <a:latin typeface="Yu Gothic"/>
              </a:rPr>
              <a:t>自律性を「自由な実行」から</a:t>
            </a:r>
            <a:endParaRPr lang="en-US" sz="1020"/>
          </a:p>
          <a:p>
            <a:pPr algn="ctr"/>
            <a:r>
              <a:rPr lang="en-US" sz="1020" b="1" i="0" dirty="0">
                <a:solidFill>
                  <a:srgbClr val="FFFFFF"/>
                </a:solidFill>
                <a:latin typeface="Yu Gothic"/>
              </a:rPr>
              <a:t>対象に束縛された短命な権限へ</a:t>
            </a:r>
            <a:endParaRPr lang="en-US" sz="1020"/>
          </a:p>
        </p:txBody>
      </p:sp>
      <p:sp>
        <p:nvSpPr>
          <p:cNvPr id="49" name="Rect 49"/>
          <p:cNvSpPr/>
          <p:nvPr/>
        </p:nvSpPr>
        <p:spPr>
          <a:xfrm>
            <a:off x="658368" y="5687568"/>
            <a:ext cx="10881360" cy="438912"/>
          </a:xfrm>
          <a:prstGeom prst="roundRect">
            <a:avLst/>
          </a:prstGeom>
          <a:solidFill>
            <a:srgbClr val="E8EDF4"/>
          </a:solidFill>
          <a:ln w="12700">
            <a:solidFill>
              <a:srgbClr val="C5CFDC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50" name="Text 50"/>
          <p:cNvSpPr txBox="1"/>
          <p:nvPr/>
        </p:nvSpPr>
        <p:spPr>
          <a:xfrm>
            <a:off x="859536" y="5806440"/>
            <a:ext cx="10479024" cy="164592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ctr"/>
            <a:r>
              <a:rPr lang="en-US" sz="810" b="0" i="0" dirty="0">
                <a:solidFill>
                  <a:srgbClr val="56647A"/>
                </a:solidFill>
                <a:latin typeface="Yu Gothic"/>
              </a:rPr>
              <a:t>限界：影響一覧は非網羅。credential contentsは未調査。回復不能stateは推測復元しなかった。</a:t>
            </a:r>
            <a:endParaRPr lang="en-US" sz="810"/>
          </a:p>
        </p:txBody>
      </p:sp>
      <p:cxnSp>
        <p:nvCxnSpPr>
          <p:cNvPr id="51" name="Line 51"/>
          <p:cNvCxnSpPr/>
          <p:nvPr/>
        </p:nvCxnSpPr>
        <p:spPr>
          <a:xfrm flipH="false" flipV="false">
            <a:off x="621792" y="6473952"/>
            <a:ext cx="10954512" cy="0"/>
          </a:xfrm>
          <a:prstGeom prst="line">
            <a:avLst/>
          </a:prstGeom>
          <a:ln w="10160">
            <a:solidFill>
              <a:srgbClr val="D7DFEA"/>
            </a:solidFill>
          </a:ln>
        </p:spPr>
      </p:cxnSp>
      <p:sp>
        <p:nvSpPr>
          <p:cNvPr id="52" name="Text 52"/>
          <p:cNvSpPr txBox="1"/>
          <p:nvPr/>
        </p:nvSpPr>
        <p:spPr>
          <a:xfrm>
            <a:off x="640080" y="6510528"/>
            <a:ext cx="10469880" cy="164592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660" b="0" i="0" dirty="0">
                <a:solidFill>
                  <a:srgbClr val="56647A"/>
                </a:solidFill>
                <a:latin typeface="Yu Gothic"/>
              </a:rPr>
              <a:t>e5200fd: historical TODO/T-171 • d726f0d: recovery consolidation • 238f022: guard + tests</a:t>
            </a:r>
            <a:endParaRPr lang="en-US" sz="660"/>
          </a:p>
        </p:txBody>
      </p:sp>
      <p:sp>
        <p:nvSpPr>
          <p:cNvPr id="53" name="Text 53"/>
          <p:cNvSpPr txBox="1"/>
          <p:nvPr/>
        </p:nvSpPr>
        <p:spPr>
          <a:xfrm>
            <a:off x="11201400" y="6492240"/>
            <a:ext cx="329184" cy="18288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r"/>
            <a:r>
              <a:rPr lang="en-US" sz="750" b="1" i="0" dirty="0">
                <a:solidFill>
                  <a:srgbClr val="56647A"/>
                </a:solidFill>
                <a:latin typeface="Yu Gothic"/>
              </a:rPr>
              <a:t>2</a:t>
            </a:r>
            <a:endParaRPr lang="en-US" sz="75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8FC"/>
          </a:solidFill>
          <a:ln w="12700">
            <a:solidFill>
              <a:srgbClr val="F6F8FC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3"/>
          <p:cNvSpPr txBox="1"/>
          <p:nvPr/>
        </p:nvSpPr>
        <p:spPr>
          <a:xfrm>
            <a:off x="621792" y="320040"/>
            <a:ext cx="10972800" cy="585216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2550" b="1" i="0" dirty="0">
                <a:solidFill>
                  <a:srgbClr val="14213D"/>
                </a:solidFill>
                <a:latin typeface="Yu Gothic"/>
              </a:rPr>
              <a:t>transaction loop が異種環境を統一せずに統御可能にした</a:t>
            </a:r>
            <a:endParaRPr lang="en-US" sz="2550"/>
          </a:p>
        </p:txBody>
      </p:sp>
      <p:sp>
        <p:nvSpPr>
          <p:cNvPr id="4" name="Text 4"/>
          <p:cNvSpPr txBox="1"/>
          <p:nvPr/>
        </p:nvSpPr>
        <p:spPr>
          <a:xfrm>
            <a:off x="640080" y="914400"/>
            <a:ext cx="10881360" cy="27432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1080" b="0" i="0" dirty="0">
                <a:solidFill>
                  <a:srgbClr val="56647A"/>
                </a:solidFill>
                <a:latin typeface="Yu Gothic"/>
              </a:rPr>
              <a:t>標準化したのはmachineではなく、観測・判断・実行・証拠化の文法</a:t>
            </a:r>
            <a:endParaRPr lang="en-US" sz="1080"/>
          </a:p>
        </p:txBody>
      </p:sp>
      <p:sp>
        <p:nvSpPr>
          <p:cNvPr id="5" name="Rect 5"/>
          <p:cNvSpPr/>
          <p:nvPr/>
        </p:nvSpPr>
        <p:spPr>
          <a:xfrm>
            <a:off x="566928" y="1298448"/>
            <a:ext cx="2816352" cy="44074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B82F6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6" name="Rect 6"/>
          <p:cNvSpPr/>
          <p:nvPr/>
        </p:nvSpPr>
        <p:spPr>
          <a:xfrm>
            <a:off x="804672" y="1545336"/>
            <a:ext cx="1298448" cy="274320"/>
          </a:xfrm>
          <a:prstGeom prst="roundRect">
            <a:avLst/>
          </a:prstGeom>
          <a:solidFill>
            <a:srgbClr val="DEEAFD"/>
          </a:solidFill>
          <a:ln w="12700">
            <a:solidFill>
              <a:srgbClr val="3B82F6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7"/>
          <p:cNvSpPr txBox="1"/>
          <p:nvPr/>
        </p:nvSpPr>
        <p:spPr>
          <a:xfrm>
            <a:off x="859536" y="1609344"/>
            <a:ext cx="1188720" cy="13716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ctr"/>
            <a:r>
              <a:rPr lang="en-US" sz="820" b="1" i="0" dirty="0">
                <a:solidFill>
                  <a:srgbClr val="3B82F6"/>
                </a:solidFill>
                <a:latin typeface="Yu Gothic"/>
              </a:rPr>
              <a:t>14 JUL 2026</a:t>
            </a:r>
            <a:endParaRPr lang="en-US" sz="820"/>
          </a:p>
        </p:txBody>
      </p:sp>
      <p:sp>
        <p:nvSpPr>
          <p:cNvPr id="8" name="Text 8"/>
          <p:cNvSpPr txBox="1"/>
          <p:nvPr/>
        </p:nvSpPr>
        <p:spPr>
          <a:xfrm>
            <a:off x="804672" y="2029968"/>
            <a:ext cx="2340864" cy="310896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ctr"/>
            <a:r>
              <a:rPr lang="en-US" sz="1700" b="1" i="0" dirty="0">
                <a:solidFill>
                  <a:srgbClr val="14213D"/>
                </a:solidFill>
                <a:latin typeface="Yu Gothic"/>
              </a:rPr>
              <a:t>Portable discovery</a:t>
            </a:r>
            <a:endParaRPr lang="en-US" sz="1700"/>
          </a:p>
        </p:txBody>
      </p:sp>
      <p:sp>
        <p:nvSpPr>
          <p:cNvPr id="9" name="Rect 9"/>
          <p:cNvSpPr/>
          <p:nvPr/>
        </p:nvSpPr>
        <p:spPr>
          <a:xfrm>
            <a:off x="932688" y="2670048"/>
            <a:ext cx="2084832" cy="438912"/>
          </a:xfrm>
          <a:prstGeom prst="roundRect">
            <a:avLst/>
          </a:prstGeom>
          <a:solidFill>
            <a:srgbClr val="E7F0FE"/>
          </a:solidFill>
          <a:ln w="12700">
            <a:solidFill>
              <a:srgbClr val="3B82F6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10"/>
          <p:cNvSpPr txBox="1"/>
          <p:nvPr/>
        </p:nvSpPr>
        <p:spPr>
          <a:xfrm>
            <a:off x="1060704" y="2788920"/>
            <a:ext cx="1828800" cy="164592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ctr"/>
            <a:r>
              <a:rPr lang="en-US" sz="940" b="1" i="0" dirty="0">
                <a:solidFill>
                  <a:srgbClr val="3B82F6"/>
                </a:solidFill>
                <a:latin typeface="Yu Gothic"/>
              </a:rPr>
              <a:t>Repository</a:t>
            </a:r>
            <a:endParaRPr lang="en-US" sz="940"/>
          </a:p>
        </p:txBody>
      </p:sp>
      <p:cxnSp>
        <p:nvCxnSpPr>
          <p:cNvPr id="11" name="Line 11"/>
          <p:cNvCxnSpPr/>
          <p:nvPr/>
        </p:nvCxnSpPr>
        <p:spPr>
          <a:xfrm flipH="false" flipV="false">
            <a:off x="1975104" y="3118104"/>
            <a:ext cx="0" cy="155448"/>
          </a:xfrm>
          <a:prstGeom prst="line">
            <a:avLst/>
          </a:prstGeom>
          <a:ln w="13970">
            <a:solidFill>
              <a:srgbClr val="C5CFDC"/>
            </a:solidFill>
            <a:tailEnd type="triangle"/>
          </a:ln>
        </p:spPr>
      </p:cxnSp>
      <p:sp>
        <p:nvSpPr>
          <p:cNvPr id="12" name="Rect 12"/>
          <p:cNvSpPr/>
          <p:nvPr/>
        </p:nvSpPr>
        <p:spPr>
          <a:xfrm>
            <a:off x="932688" y="3291840"/>
            <a:ext cx="2084832" cy="438912"/>
          </a:xfrm>
          <a:prstGeom prst="roundRect">
            <a:avLst/>
          </a:prstGeom>
          <a:solidFill>
            <a:srgbClr val="E2F2F1"/>
          </a:solidFill>
          <a:ln w="12700">
            <a:solidFill>
              <a:srgbClr val="0D9488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3"/>
          <p:cNvSpPr txBox="1"/>
          <p:nvPr/>
        </p:nvSpPr>
        <p:spPr>
          <a:xfrm>
            <a:off x="1060704" y="3410712"/>
            <a:ext cx="1828800" cy="164592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ctr"/>
            <a:r>
              <a:rPr lang="en-US" sz="940" b="1" i="0" dirty="0">
                <a:solidFill>
                  <a:srgbClr val="0D9488"/>
                </a:solidFill>
                <a:latin typeface="Yu Gothic"/>
              </a:rPr>
              <a:t>Installer</a:t>
            </a:r>
            <a:endParaRPr lang="en-US" sz="940"/>
          </a:p>
        </p:txBody>
      </p:sp>
      <p:cxnSp>
        <p:nvCxnSpPr>
          <p:cNvPr id="14" name="Line 14"/>
          <p:cNvCxnSpPr/>
          <p:nvPr/>
        </p:nvCxnSpPr>
        <p:spPr>
          <a:xfrm flipH="false" flipV="false">
            <a:off x="1975104" y="3739896"/>
            <a:ext cx="0" cy="155448"/>
          </a:xfrm>
          <a:prstGeom prst="line">
            <a:avLst/>
          </a:prstGeom>
          <a:ln w="13970">
            <a:solidFill>
              <a:srgbClr val="C5CFDC"/>
            </a:solidFill>
            <a:tailEnd type="triangle"/>
          </a:ln>
        </p:spPr>
      </p:cxnSp>
      <p:sp>
        <p:nvSpPr>
          <p:cNvPr id="15" name="Rect 15"/>
          <p:cNvSpPr/>
          <p:nvPr/>
        </p:nvSpPr>
        <p:spPr>
          <a:xfrm>
            <a:off x="932688" y="3913632"/>
            <a:ext cx="2084832" cy="438912"/>
          </a:xfrm>
          <a:prstGeom prst="roundRect">
            <a:avLst/>
          </a:prstGeom>
          <a:solidFill>
            <a:srgbClr val="E1F6FA"/>
          </a:solidFill>
          <a:ln w="12700">
            <a:solidFill>
              <a:srgbClr val="06B6D4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6"/>
          <p:cNvSpPr txBox="1"/>
          <p:nvPr/>
        </p:nvSpPr>
        <p:spPr>
          <a:xfrm>
            <a:off x="1060704" y="4032504"/>
            <a:ext cx="1828800" cy="164592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ctr"/>
            <a:r>
              <a:rPr lang="en-US" sz="940" b="1" i="0" dirty="0">
                <a:solidFill>
                  <a:srgbClr val="06B6D4"/>
                </a:solidFill>
                <a:latin typeface="Yu Gothic"/>
              </a:rPr>
              <a:t>Known symlink</a:t>
            </a:r>
            <a:endParaRPr lang="en-US" sz="940"/>
          </a:p>
        </p:txBody>
      </p:sp>
      <p:cxnSp>
        <p:nvCxnSpPr>
          <p:cNvPr id="17" name="Line 17"/>
          <p:cNvCxnSpPr/>
          <p:nvPr/>
        </p:nvCxnSpPr>
        <p:spPr>
          <a:xfrm flipH="false" flipV="false">
            <a:off x="1975104" y="4361688"/>
            <a:ext cx="0" cy="155448"/>
          </a:xfrm>
          <a:prstGeom prst="line">
            <a:avLst/>
          </a:prstGeom>
          <a:ln w="13970">
            <a:solidFill>
              <a:srgbClr val="C5CFDC"/>
            </a:solidFill>
            <a:tailEnd type="triangle"/>
          </a:ln>
        </p:spPr>
      </p:cxnSp>
      <p:sp>
        <p:nvSpPr>
          <p:cNvPr id="18" name="Rect 18"/>
          <p:cNvSpPr/>
          <p:nvPr/>
        </p:nvSpPr>
        <p:spPr>
          <a:xfrm>
            <a:off x="932688" y="4535424"/>
            <a:ext cx="2084832" cy="438912"/>
          </a:xfrm>
          <a:prstGeom prst="roundRect">
            <a:avLst/>
          </a:prstGeom>
          <a:solidFill>
            <a:srgbClr val="EFE7FD"/>
          </a:solidFill>
          <a:ln w="12700">
            <a:solidFill>
              <a:srgbClr val="7C3AED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9"/>
          <p:cNvSpPr txBox="1"/>
          <p:nvPr/>
        </p:nvSpPr>
        <p:spPr>
          <a:xfrm>
            <a:off x="1060704" y="4654296"/>
            <a:ext cx="1828800" cy="164592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ctr"/>
            <a:r>
              <a:rPr lang="en-US" sz="940" b="1" i="0" dirty="0">
                <a:solidFill>
                  <a:srgbClr val="7C3AED"/>
                </a:solidFill>
                <a:latin typeface="Yu Gothic"/>
              </a:rPr>
              <a:t>Client discovery</a:t>
            </a:r>
            <a:endParaRPr lang="en-US" sz="940"/>
          </a:p>
        </p:txBody>
      </p:sp>
      <p:sp>
        <p:nvSpPr>
          <p:cNvPr id="20" name="Text 20"/>
          <p:cNvSpPr txBox="1"/>
          <p:nvPr/>
        </p:nvSpPr>
        <p:spPr>
          <a:xfrm>
            <a:off x="896112" y="5230368"/>
            <a:ext cx="2157984" cy="201168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ctr"/>
            <a:r>
              <a:rPr lang="en-US" sz="750" b="0" i="0" dirty="0">
                <a:solidFill>
                  <a:srgbClr val="56647A"/>
                </a:solidFill>
                <a:latin typeface="Yu Gothic"/>
              </a:rPr>
              <a:t>inventory / comparison / verification なし</a:t>
            </a:r>
            <a:endParaRPr lang="en-US" sz="750"/>
          </a:p>
        </p:txBody>
      </p:sp>
      <p:sp>
        <p:nvSpPr>
          <p:cNvPr id="21" name="Rect 21"/>
          <p:cNvSpPr/>
          <p:nvPr/>
        </p:nvSpPr>
        <p:spPr>
          <a:xfrm>
            <a:off x="3611880" y="1298448"/>
            <a:ext cx="8001000" cy="44074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6A34A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22" name="Rect 22"/>
          <p:cNvSpPr/>
          <p:nvPr/>
        </p:nvSpPr>
        <p:spPr>
          <a:xfrm>
            <a:off x="3858768" y="1545336"/>
            <a:ext cx="1005840" cy="274320"/>
          </a:xfrm>
          <a:prstGeom prst="roundRect">
            <a:avLst/>
          </a:prstGeom>
          <a:solidFill>
            <a:srgbClr val="D7EFE0"/>
          </a:solidFill>
          <a:ln w="12700">
            <a:solidFill>
              <a:srgbClr val="16A34A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23" name="Text 23"/>
          <p:cNvSpPr txBox="1"/>
          <p:nvPr/>
        </p:nvSpPr>
        <p:spPr>
          <a:xfrm>
            <a:off x="3913632" y="1609344"/>
            <a:ext cx="896112" cy="13716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ctr"/>
            <a:r>
              <a:rPr lang="en-US" sz="820" b="1" i="0" dirty="0">
                <a:solidFill>
                  <a:srgbClr val="16A34A"/>
                </a:solidFill>
                <a:latin typeface="Yu Gothic"/>
              </a:rPr>
              <a:t>HEAD</a:t>
            </a:r>
            <a:endParaRPr lang="en-US" sz="820"/>
          </a:p>
        </p:txBody>
      </p:sp>
      <p:sp>
        <p:nvSpPr>
          <p:cNvPr id="24" name="Text 24"/>
          <p:cNvSpPr txBox="1"/>
          <p:nvPr/>
        </p:nvSpPr>
        <p:spPr>
          <a:xfrm>
            <a:off x="3886200" y="1993392"/>
            <a:ext cx="7333488" cy="310896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ctr"/>
            <a:r>
              <a:rPr lang="en-US" sz="1700" b="1" i="0" dirty="0">
                <a:solidFill>
                  <a:srgbClr val="14213D"/>
                </a:solidFill>
                <a:latin typeface="Yu Gothic"/>
              </a:rPr>
              <a:t>Transactional evidence loop</a:t>
            </a:r>
            <a:endParaRPr lang="en-US" sz="1700"/>
          </a:p>
        </p:txBody>
      </p:sp>
      <p:sp>
        <p:nvSpPr>
          <p:cNvPr id="25" name="Rect 25"/>
          <p:cNvSpPr/>
          <p:nvPr/>
        </p:nvSpPr>
        <p:spPr>
          <a:xfrm>
            <a:off x="3931920" y="2578608"/>
            <a:ext cx="1664208" cy="530352"/>
          </a:xfrm>
          <a:prstGeom prst="roundRect">
            <a:avLst/>
          </a:prstGeom>
          <a:solidFill>
            <a:srgbClr val="E7F0FE"/>
          </a:solidFill>
          <a:ln w="12700">
            <a:solidFill>
              <a:srgbClr val="3B82F6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26" name="Text 26"/>
          <p:cNvSpPr txBox="1"/>
          <p:nvPr/>
        </p:nvSpPr>
        <p:spPr>
          <a:xfrm>
            <a:off x="4005072" y="2734056"/>
            <a:ext cx="1517904" cy="164592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ctr"/>
            <a:r>
              <a:rPr lang="en-US" sz="840" b="1" i="0" dirty="0">
                <a:solidFill>
                  <a:srgbClr val="3B82F6"/>
                </a:solidFill>
                <a:latin typeface="Yu Gothic"/>
              </a:rPr>
              <a:t>Policy / Source</a:t>
            </a:r>
            <a:endParaRPr lang="en-US" sz="840"/>
          </a:p>
        </p:txBody>
      </p:sp>
      <p:cxnSp>
        <p:nvCxnSpPr>
          <p:cNvPr id="27" name="Line 27"/>
          <p:cNvCxnSpPr/>
          <p:nvPr/>
        </p:nvCxnSpPr>
        <p:spPr>
          <a:xfrm flipH="false" flipV="false">
            <a:off x="4764024" y="3127248"/>
            <a:ext cx="1911096" cy="320040"/>
          </a:xfrm>
          <a:prstGeom prst="line">
            <a:avLst/>
          </a:prstGeom>
          <a:ln w="10160">
            <a:solidFill>
              <a:srgbClr val="C5CFDC"/>
            </a:solidFill>
          </a:ln>
        </p:spPr>
      </p:cxnSp>
      <p:sp>
        <p:nvSpPr>
          <p:cNvPr id="28" name="Rect 28"/>
          <p:cNvSpPr/>
          <p:nvPr/>
        </p:nvSpPr>
        <p:spPr>
          <a:xfrm>
            <a:off x="5833872" y="2578608"/>
            <a:ext cx="1664208" cy="530352"/>
          </a:xfrm>
          <a:prstGeom prst="roundRect">
            <a:avLst/>
          </a:prstGeom>
          <a:solidFill>
            <a:srgbClr val="E1F6FA"/>
          </a:solidFill>
          <a:ln w="12700">
            <a:solidFill>
              <a:srgbClr val="06B6D4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29" name="Text 29"/>
          <p:cNvSpPr txBox="1"/>
          <p:nvPr/>
        </p:nvSpPr>
        <p:spPr>
          <a:xfrm>
            <a:off x="5907024" y="2734056"/>
            <a:ext cx="1517904" cy="164592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ctr"/>
            <a:r>
              <a:rPr lang="en-US" sz="840" b="1" i="0" dirty="0">
                <a:solidFill>
                  <a:srgbClr val="06B6D4"/>
                </a:solidFill>
                <a:latin typeface="Yu Gothic"/>
              </a:rPr>
              <a:t>Profile / Fact</a:t>
            </a:r>
            <a:endParaRPr lang="en-US" sz="840"/>
          </a:p>
        </p:txBody>
      </p:sp>
      <p:cxnSp>
        <p:nvCxnSpPr>
          <p:cNvPr id="30" name="Line 30"/>
          <p:cNvCxnSpPr/>
          <p:nvPr/>
        </p:nvCxnSpPr>
        <p:spPr>
          <a:xfrm flipH="false" flipV="false">
            <a:off x="6665976" y="3127248"/>
            <a:ext cx="9144" cy="320040"/>
          </a:xfrm>
          <a:prstGeom prst="line">
            <a:avLst/>
          </a:prstGeom>
          <a:ln w="10160">
            <a:solidFill>
              <a:srgbClr val="C5CFDC"/>
            </a:solidFill>
          </a:ln>
        </p:spPr>
      </p:cxnSp>
      <p:sp>
        <p:nvSpPr>
          <p:cNvPr id="31" name="Rect 31"/>
          <p:cNvSpPr/>
          <p:nvPr/>
        </p:nvSpPr>
        <p:spPr>
          <a:xfrm>
            <a:off x="7735824" y="2578608"/>
            <a:ext cx="1664208" cy="530352"/>
          </a:xfrm>
          <a:prstGeom prst="roundRect">
            <a:avLst/>
          </a:prstGeom>
          <a:solidFill>
            <a:srgbClr val="E2F2F1"/>
          </a:solidFill>
          <a:ln w="12700">
            <a:solidFill>
              <a:srgbClr val="0D9488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32" name="Text 32"/>
          <p:cNvSpPr txBox="1"/>
          <p:nvPr/>
        </p:nvSpPr>
        <p:spPr>
          <a:xfrm>
            <a:off x="7808976" y="2734056"/>
            <a:ext cx="1517904" cy="164592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ctr"/>
            <a:r>
              <a:rPr lang="en-US" sz="840" b="1" i="0" dirty="0">
                <a:solidFill>
                  <a:srgbClr val="0D9488"/>
                </a:solidFill>
                <a:latin typeface="Yu Gothic"/>
              </a:rPr>
              <a:t>Manifest / Receipt</a:t>
            </a:r>
            <a:endParaRPr lang="en-US" sz="840"/>
          </a:p>
        </p:txBody>
      </p:sp>
      <p:cxnSp>
        <p:nvCxnSpPr>
          <p:cNvPr id="33" name="Line 33"/>
          <p:cNvCxnSpPr/>
          <p:nvPr/>
        </p:nvCxnSpPr>
        <p:spPr>
          <a:xfrm flipH="true" flipV="false">
            <a:off x="6675120" y="3127248"/>
            <a:ext cx="1892808" cy="320040"/>
          </a:xfrm>
          <a:prstGeom prst="line">
            <a:avLst/>
          </a:prstGeom>
          <a:ln w="10160">
            <a:solidFill>
              <a:srgbClr val="C5CFDC"/>
            </a:solidFill>
          </a:ln>
        </p:spPr>
      </p:cxnSp>
      <p:sp>
        <p:nvSpPr>
          <p:cNvPr id="34" name="Ellipse 34"/>
          <p:cNvSpPr/>
          <p:nvPr/>
        </p:nvSpPr>
        <p:spPr>
          <a:xfrm>
            <a:off x="5559552" y="3291840"/>
            <a:ext cx="2267712" cy="932688"/>
          </a:xfrm>
          <a:prstGeom prst="ellipse">
            <a:avLst/>
          </a:prstGeom>
          <a:solidFill>
            <a:srgbClr val="08152F"/>
          </a:solidFill>
          <a:ln w="12700">
            <a:solidFill>
              <a:srgbClr val="08152F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35" name="Text 35"/>
          <p:cNvSpPr txBox="1"/>
          <p:nvPr/>
        </p:nvSpPr>
        <p:spPr>
          <a:xfrm>
            <a:off x="5769864" y="3602736"/>
            <a:ext cx="1847088" cy="18288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ctr"/>
            <a:r>
              <a:rPr lang="en-US" sz="840" b="1" i="0" dirty="0">
                <a:solidFill>
                  <a:srgbClr val="FFFFFF"/>
                </a:solidFill>
                <a:latin typeface="Yu Gothic"/>
              </a:rPr>
              <a:t>OBSERVE • PLAN • APPLY • VERIFY</a:t>
            </a:r>
            <a:endParaRPr lang="en-US" sz="840"/>
          </a:p>
        </p:txBody>
      </p:sp>
      <p:sp>
        <p:nvSpPr>
          <p:cNvPr id="36" name="Rect 36"/>
          <p:cNvSpPr/>
          <p:nvPr/>
        </p:nvSpPr>
        <p:spPr>
          <a:xfrm>
            <a:off x="3840480" y="4572000"/>
            <a:ext cx="1627632" cy="512064"/>
          </a:xfrm>
          <a:prstGeom prst="roundRect">
            <a:avLst/>
          </a:prstGeom>
          <a:solidFill>
            <a:srgbClr val="EFE7FD"/>
          </a:solidFill>
          <a:ln w="12700">
            <a:solidFill>
              <a:srgbClr val="7C3AED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37" name="Text 37"/>
          <p:cNvSpPr txBox="1"/>
          <p:nvPr/>
        </p:nvSpPr>
        <p:spPr>
          <a:xfrm>
            <a:off x="3913632" y="4718304"/>
            <a:ext cx="1481328" cy="164592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ctr"/>
            <a:r>
              <a:rPr lang="en-US" sz="820" b="1" i="0" dirty="0">
                <a:solidFill>
                  <a:srgbClr val="7C3AED"/>
                </a:solidFill>
                <a:latin typeface="Yu Gothic"/>
              </a:rPr>
              <a:t>Linux / HPC</a:t>
            </a:r>
            <a:endParaRPr lang="en-US" sz="820"/>
          </a:p>
        </p:txBody>
      </p:sp>
      <p:cxnSp>
        <p:nvCxnSpPr>
          <p:cNvPr id="38" name="Line 38"/>
          <p:cNvCxnSpPr/>
          <p:nvPr/>
        </p:nvCxnSpPr>
        <p:spPr>
          <a:xfrm flipH="true" flipV="false">
            <a:off x="4654296" y="4242816"/>
            <a:ext cx="2029968" cy="310896"/>
          </a:xfrm>
          <a:prstGeom prst="line">
            <a:avLst/>
          </a:prstGeom>
          <a:ln w="10160">
            <a:solidFill>
              <a:srgbClr val="C5CFDC"/>
            </a:solidFill>
            <a:tailEnd type="triangle"/>
          </a:ln>
        </p:spPr>
      </p:cxnSp>
      <p:sp>
        <p:nvSpPr>
          <p:cNvPr id="39" name="Rect 39"/>
          <p:cNvSpPr/>
          <p:nvPr/>
        </p:nvSpPr>
        <p:spPr>
          <a:xfrm>
            <a:off x="5705856" y="4572000"/>
            <a:ext cx="1627632" cy="512064"/>
          </a:xfrm>
          <a:prstGeom prst="roundRect">
            <a:avLst/>
          </a:prstGeom>
          <a:solidFill>
            <a:srgbClr val="FBE5EF"/>
          </a:solidFill>
          <a:ln w="12700">
            <a:solidFill>
              <a:srgbClr val="DB2777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40" name="Text 40"/>
          <p:cNvSpPr txBox="1"/>
          <p:nvPr/>
        </p:nvSpPr>
        <p:spPr>
          <a:xfrm>
            <a:off x="5779008" y="4718304"/>
            <a:ext cx="1481328" cy="164592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ctr"/>
            <a:r>
              <a:rPr lang="en-US" sz="820" b="1" i="0" dirty="0">
                <a:solidFill>
                  <a:srgbClr val="DB2777"/>
                </a:solidFill>
                <a:latin typeface="Yu Gothic"/>
              </a:rPr>
              <a:t>Mac + private</a:t>
            </a:r>
            <a:endParaRPr lang="en-US" sz="820"/>
          </a:p>
        </p:txBody>
      </p:sp>
      <p:cxnSp>
        <p:nvCxnSpPr>
          <p:cNvPr id="41" name="Line 41"/>
          <p:cNvCxnSpPr/>
          <p:nvPr/>
        </p:nvCxnSpPr>
        <p:spPr>
          <a:xfrm flipH="true" flipV="false">
            <a:off x="6519672" y="4242816"/>
            <a:ext cx="164592" cy="310896"/>
          </a:xfrm>
          <a:prstGeom prst="line">
            <a:avLst/>
          </a:prstGeom>
          <a:ln w="10160">
            <a:solidFill>
              <a:srgbClr val="C5CFDC"/>
            </a:solidFill>
            <a:tailEnd type="triangle"/>
          </a:ln>
        </p:spPr>
      </p:cxnSp>
      <p:sp>
        <p:nvSpPr>
          <p:cNvPr id="42" name="Rect 42"/>
          <p:cNvSpPr/>
          <p:nvPr/>
        </p:nvSpPr>
        <p:spPr>
          <a:xfrm>
            <a:off x="7571232" y="4572000"/>
            <a:ext cx="1627632" cy="512064"/>
          </a:xfrm>
          <a:prstGeom prst="roundRect">
            <a:avLst/>
          </a:prstGeom>
          <a:solidFill>
            <a:srgbClr val="FEF3E2"/>
          </a:solidFill>
          <a:ln w="12700">
            <a:solidFill>
              <a:srgbClr val="F59E0B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43" name="Text 43"/>
          <p:cNvSpPr txBox="1"/>
          <p:nvPr/>
        </p:nvSpPr>
        <p:spPr>
          <a:xfrm>
            <a:off x="7644384" y="4718304"/>
            <a:ext cx="1481328" cy="164592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ctr"/>
            <a:r>
              <a:rPr lang="en-US" sz="820" b="1" i="0" dirty="0">
                <a:solidFill>
                  <a:srgbClr val="F59E0B"/>
                </a:solidFill>
                <a:latin typeface="Yu Gothic"/>
              </a:rPr>
              <a:t>Backup / Fleet</a:t>
            </a:r>
            <a:endParaRPr lang="en-US" sz="820"/>
          </a:p>
        </p:txBody>
      </p:sp>
      <p:cxnSp>
        <p:nvCxnSpPr>
          <p:cNvPr id="44" name="Line 44"/>
          <p:cNvCxnSpPr/>
          <p:nvPr/>
        </p:nvCxnSpPr>
        <p:spPr>
          <a:xfrm flipH="false" flipV="false">
            <a:off x="6684264" y="4242816"/>
            <a:ext cx="1700784" cy="310896"/>
          </a:xfrm>
          <a:prstGeom prst="line">
            <a:avLst/>
          </a:prstGeom>
          <a:ln w="10160">
            <a:solidFill>
              <a:srgbClr val="C5CFDC"/>
            </a:solidFill>
            <a:tailEnd type="triangle"/>
          </a:ln>
        </p:spPr>
      </p:cxnSp>
      <p:sp>
        <p:nvSpPr>
          <p:cNvPr id="45" name="Rect 45"/>
          <p:cNvSpPr/>
          <p:nvPr/>
        </p:nvSpPr>
        <p:spPr>
          <a:xfrm>
            <a:off x="9436608" y="4572000"/>
            <a:ext cx="1627632" cy="512064"/>
          </a:xfrm>
          <a:prstGeom prst="roundRect">
            <a:avLst/>
          </a:prstGeom>
          <a:solidFill>
            <a:srgbClr val="E3F4E9"/>
          </a:solidFill>
          <a:ln w="12700">
            <a:solidFill>
              <a:srgbClr val="16A34A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46" name="Text 46"/>
          <p:cNvSpPr txBox="1"/>
          <p:nvPr/>
        </p:nvSpPr>
        <p:spPr>
          <a:xfrm>
            <a:off x="9509760" y="4718304"/>
            <a:ext cx="1481328" cy="164592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ctr"/>
            <a:r>
              <a:rPr lang="en-US" sz="820" b="1" i="0" dirty="0">
                <a:solidFill>
                  <a:srgbClr val="16A34A"/>
                </a:solidFill>
                <a:latin typeface="Yu Gothic"/>
              </a:rPr>
              <a:t>Clients / Cowork</a:t>
            </a:r>
            <a:endParaRPr lang="en-US" sz="820"/>
          </a:p>
        </p:txBody>
      </p:sp>
      <p:cxnSp>
        <p:nvCxnSpPr>
          <p:cNvPr id="47" name="Line 47"/>
          <p:cNvCxnSpPr/>
          <p:nvPr/>
        </p:nvCxnSpPr>
        <p:spPr>
          <a:xfrm flipH="false" flipV="false">
            <a:off x="6684264" y="4242816"/>
            <a:ext cx="3566160" cy="310896"/>
          </a:xfrm>
          <a:prstGeom prst="line">
            <a:avLst/>
          </a:prstGeom>
          <a:ln w="10160">
            <a:solidFill>
              <a:srgbClr val="C5CFDC"/>
            </a:solidFill>
            <a:tailEnd type="triangle"/>
          </a:ln>
        </p:spPr>
      </p:cxnSp>
      <p:sp>
        <p:nvSpPr>
          <p:cNvPr id="48" name="Rect 48"/>
          <p:cNvSpPr/>
          <p:nvPr/>
        </p:nvSpPr>
        <p:spPr>
          <a:xfrm>
            <a:off x="3858768" y="5285232"/>
            <a:ext cx="7424928" cy="246888"/>
          </a:xfrm>
          <a:prstGeom prst="roundRect">
            <a:avLst/>
          </a:prstGeom>
          <a:solidFill>
            <a:srgbClr val="E8EDF4"/>
          </a:solidFill>
          <a:ln w="12700">
            <a:solidFill>
              <a:srgbClr val="C5CFDC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49" name="Text 49"/>
          <p:cNvSpPr txBox="1"/>
          <p:nvPr/>
        </p:nvSpPr>
        <p:spPr>
          <a:xfrm>
            <a:off x="4023360" y="5349240"/>
            <a:ext cx="7095744" cy="128016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ctr"/>
            <a:r>
              <a:rPr lang="en-US" sz="740" b="0" i="0" dirty="0">
                <a:solidFill>
                  <a:srgbClr val="56647A"/>
                </a:solidFill>
                <a:latin typeface="Yu Gothic"/>
              </a:rPr>
              <a:t>外側：credentials • site substrate • project runtimes • private intent</a:t>
            </a:r>
            <a:endParaRPr lang="en-US" sz="740"/>
          </a:p>
        </p:txBody>
      </p:sp>
      <p:sp>
        <p:nvSpPr>
          <p:cNvPr id="50" name="Ellipse 50"/>
          <p:cNvSpPr/>
          <p:nvPr/>
        </p:nvSpPr>
        <p:spPr>
          <a:xfrm>
            <a:off x="1152144" y="5925312"/>
            <a:ext cx="310896" cy="310896"/>
          </a:xfrm>
          <a:prstGeom prst="ellipse">
            <a:avLst/>
          </a:prstGeom>
          <a:solidFill>
            <a:srgbClr val="3B82F6"/>
          </a:solidFill>
          <a:ln w="12700">
            <a:solidFill>
              <a:srgbClr val="3B82F6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51" name="Text 51"/>
          <p:cNvSpPr txBox="1"/>
          <p:nvPr/>
        </p:nvSpPr>
        <p:spPr>
          <a:xfrm>
            <a:off x="1170432" y="6007608"/>
            <a:ext cx="274320" cy="118872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ctr"/>
            <a:r>
              <a:rPr lang="en-US" sz="720" b="1" i="0" dirty="0">
                <a:solidFill>
                  <a:srgbClr val="FFFFFF"/>
                </a:solidFill>
                <a:latin typeface="Yu Gothic"/>
              </a:rPr>
              <a:t>守</a:t>
            </a:r>
            <a:endParaRPr lang="en-US" sz="720"/>
          </a:p>
        </p:txBody>
      </p:sp>
      <p:cxnSp>
        <p:nvCxnSpPr>
          <p:cNvPr id="52" name="Line 52"/>
          <p:cNvCxnSpPr/>
          <p:nvPr/>
        </p:nvCxnSpPr>
        <p:spPr>
          <a:xfrm flipH="false" flipV="false">
            <a:off x="1472184" y="6080760"/>
            <a:ext cx="1106424" cy="0"/>
          </a:xfrm>
          <a:prstGeom prst="line">
            <a:avLst/>
          </a:prstGeom>
          <a:ln w="10160">
            <a:solidFill>
              <a:srgbClr val="C5CFDC"/>
            </a:solidFill>
          </a:ln>
        </p:spPr>
      </p:cxnSp>
      <p:sp>
        <p:nvSpPr>
          <p:cNvPr id="53" name="Ellipse 53"/>
          <p:cNvSpPr/>
          <p:nvPr/>
        </p:nvSpPr>
        <p:spPr>
          <a:xfrm>
            <a:off x="2633472" y="5925312"/>
            <a:ext cx="310896" cy="310896"/>
          </a:xfrm>
          <a:prstGeom prst="ellipse">
            <a:avLst/>
          </a:prstGeom>
          <a:solidFill>
            <a:srgbClr val="06B6D4"/>
          </a:solidFill>
          <a:ln w="12700">
            <a:solidFill>
              <a:srgbClr val="06B6D4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54" name="Text 54"/>
          <p:cNvSpPr txBox="1"/>
          <p:nvPr/>
        </p:nvSpPr>
        <p:spPr>
          <a:xfrm>
            <a:off x="2651760" y="6007608"/>
            <a:ext cx="274320" cy="118872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ctr"/>
            <a:r>
              <a:rPr lang="en-US" sz="720" b="1" i="0" dirty="0">
                <a:solidFill>
                  <a:srgbClr val="FFFFFF"/>
                </a:solidFill>
                <a:latin typeface="Yu Gothic"/>
              </a:rPr>
              <a:t>観</a:t>
            </a:r>
            <a:endParaRPr lang="en-US" sz="720"/>
          </a:p>
        </p:txBody>
      </p:sp>
      <p:cxnSp>
        <p:nvCxnSpPr>
          <p:cNvPr id="55" name="Line 55"/>
          <p:cNvCxnSpPr/>
          <p:nvPr/>
        </p:nvCxnSpPr>
        <p:spPr>
          <a:xfrm flipH="false" flipV="false">
            <a:off x="2953512" y="6080760"/>
            <a:ext cx="1106424" cy="0"/>
          </a:xfrm>
          <a:prstGeom prst="line">
            <a:avLst/>
          </a:prstGeom>
          <a:ln w="10160">
            <a:solidFill>
              <a:srgbClr val="C5CFDC"/>
            </a:solidFill>
          </a:ln>
        </p:spPr>
      </p:cxnSp>
      <p:sp>
        <p:nvSpPr>
          <p:cNvPr id="56" name="Ellipse 56"/>
          <p:cNvSpPr/>
          <p:nvPr/>
        </p:nvSpPr>
        <p:spPr>
          <a:xfrm>
            <a:off x="4114800" y="5925312"/>
            <a:ext cx="310896" cy="310896"/>
          </a:xfrm>
          <a:prstGeom prst="ellipse">
            <a:avLst/>
          </a:prstGeom>
          <a:solidFill>
            <a:srgbClr val="0D9488"/>
          </a:solidFill>
          <a:ln w="12700">
            <a:solidFill>
              <a:srgbClr val="0D9488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57" name="Text 57"/>
          <p:cNvSpPr txBox="1"/>
          <p:nvPr/>
        </p:nvSpPr>
        <p:spPr>
          <a:xfrm>
            <a:off x="4133088" y="6007608"/>
            <a:ext cx="274320" cy="118872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ctr"/>
            <a:r>
              <a:rPr lang="en-US" sz="720" b="1" i="0" dirty="0">
                <a:solidFill>
                  <a:srgbClr val="FFFFFF"/>
                </a:solidFill>
                <a:latin typeface="Yu Gothic"/>
              </a:rPr>
              <a:t>動</a:t>
            </a:r>
            <a:endParaRPr lang="en-US" sz="720"/>
          </a:p>
        </p:txBody>
      </p:sp>
      <p:cxnSp>
        <p:nvCxnSpPr>
          <p:cNvPr id="58" name="Line 58"/>
          <p:cNvCxnSpPr/>
          <p:nvPr/>
        </p:nvCxnSpPr>
        <p:spPr>
          <a:xfrm flipH="false" flipV="false">
            <a:off x="4434840" y="6080760"/>
            <a:ext cx="1106424" cy="0"/>
          </a:xfrm>
          <a:prstGeom prst="line">
            <a:avLst/>
          </a:prstGeom>
          <a:ln w="10160">
            <a:solidFill>
              <a:srgbClr val="C5CFDC"/>
            </a:solidFill>
          </a:ln>
        </p:spPr>
      </p:cxnSp>
      <p:sp>
        <p:nvSpPr>
          <p:cNvPr id="59" name="Ellipse 59"/>
          <p:cNvSpPr/>
          <p:nvPr/>
        </p:nvSpPr>
        <p:spPr>
          <a:xfrm>
            <a:off x="5596128" y="5925312"/>
            <a:ext cx="310896" cy="310896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60" name="Text 60"/>
          <p:cNvSpPr txBox="1"/>
          <p:nvPr/>
        </p:nvSpPr>
        <p:spPr>
          <a:xfrm>
            <a:off x="5614416" y="6007608"/>
            <a:ext cx="274320" cy="118872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ctr"/>
            <a:r>
              <a:rPr lang="en-US" sz="720" b="1" i="0" dirty="0">
                <a:solidFill>
                  <a:srgbClr val="FFFFFF"/>
                </a:solidFill>
                <a:latin typeface="Yu Gothic"/>
              </a:rPr>
              <a:t>復</a:t>
            </a:r>
            <a:endParaRPr lang="en-US" sz="720"/>
          </a:p>
        </p:txBody>
      </p:sp>
      <p:cxnSp>
        <p:nvCxnSpPr>
          <p:cNvPr id="61" name="Line 61"/>
          <p:cNvCxnSpPr/>
          <p:nvPr/>
        </p:nvCxnSpPr>
        <p:spPr>
          <a:xfrm flipH="false" flipV="false">
            <a:off x="5916168" y="6080760"/>
            <a:ext cx="1106424" cy="0"/>
          </a:xfrm>
          <a:prstGeom prst="line">
            <a:avLst/>
          </a:prstGeom>
          <a:ln w="10160">
            <a:solidFill>
              <a:srgbClr val="C5CFDC"/>
            </a:solidFill>
          </a:ln>
        </p:spPr>
      </p:cxnSp>
      <p:sp>
        <p:nvSpPr>
          <p:cNvPr id="62" name="Ellipse 62"/>
          <p:cNvSpPr/>
          <p:nvPr/>
        </p:nvSpPr>
        <p:spPr>
          <a:xfrm>
            <a:off x="7077456" y="5925312"/>
            <a:ext cx="310896" cy="310896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63" name="Text 63"/>
          <p:cNvSpPr txBox="1"/>
          <p:nvPr/>
        </p:nvSpPr>
        <p:spPr>
          <a:xfrm>
            <a:off x="7095744" y="6007608"/>
            <a:ext cx="274320" cy="118872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ctr"/>
            <a:r>
              <a:rPr lang="en-US" sz="720" b="1" i="0" dirty="0">
                <a:solidFill>
                  <a:srgbClr val="FFFFFF"/>
                </a:solidFill>
                <a:latin typeface="Yu Gothic"/>
              </a:rPr>
              <a:t>測</a:t>
            </a:r>
            <a:endParaRPr lang="en-US" sz="720"/>
          </a:p>
        </p:txBody>
      </p:sp>
      <p:cxnSp>
        <p:nvCxnSpPr>
          <p:cNvPr id="64" name="Line 64"/>
          <p:cNvCxnSpPr/>
          <p:nvPr/>
        </p:nvCxnSpPr>
        <p:spPr>
          <a:xfrm flipH="false" flipV="false">
            <a:off x="7397496" y="6080760"/>
            <a:ext cx="1106424" cy="0"/>
          </a:xfrm>
          <a:prstGeom prst="line">
            <a:avLst/>
          </a:prstGeom>
          <a:ln w="10160">
            <a:solidFill>
              <a:srgbClr val="C5CFDC"/>
            </a:solidFill>
          </a:ln>
        </p:spPr>
      </p:cxnSp>
      <p:sp>
        <p:nvSpPr>
          <p:cNvPr id="65" name="Ellipse 65"/>
          <p:cNvSpPr/>
          <p:nvPr/>
        </p:nvSpPr>
        <p:spPr>
          <a:xfrm>
            <a:off x="8558784" y="5925312"/>
            <a:ext cx="310896" cy="310896"/>
          </a:xfrm>
          <a:prstGeom prst="ellipse">
            <a:avLst/>
          </a:prstGeom>
          <a:solidFill>
            <a:srgbClr val="DB2777"/>
          </a:solidFill>
          <a:ln w="12700">
            <a:solidFill>
              <a:srgbClr val="DB2777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66" name="Text 66"/>
          <p:cNvSpPr txBox="1"/>
          <p:nvPr/>
        </p:nvSpPr>
        <p:spPr>
          <a:xfrm>
            <a:off x="8577072" y="6007608"/>
            <a:ext cx="274320" cy="118872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ctr"/>
            <a:r>
              <a:rPr lang="en-US" sz="720" b="1" i="0" dirty="0">
                <a:solidFill>
                  <a:srgbClr val="FFFFFF"/>
                </a:solidFill>
                <a:latin typeface="Yu Gothic"/>
              </a:rPr>
              <a:t>拡</a:t>
            </a:r>
            <a:endParaRPr lang="en-US" sz="720"/>
          </a:p>
        </p:txBody>
      </p:sp>
      <p:cxnSp>
        <p:nvCxnSpPr>
          <p:cNvPr id="67" name="Line 67"/>
          <p:cNvCxnSpPr/>
          <p:nvPr/>
        </p:nvCxnSpPr>
        <p:spPr>
          <a:xfrm flipH="false" flipV="false">
            <a:off x="8878824" y="6080760"/>
            <a:ext cx="1106424" cy="0"/>
          </a:xfrm>
          <a:prstGeom prst="line">
            <a:avLst/>
          </a:prstGeom>
          <a:ln w="10160">
            <a:solidFill>
              <a:srgbClr val="C5CFDC"/>
            </a:solidFill>
          </a:ln>
        </p:spPr>
      </p:cxnSp>
      <p:sp>
        <p:nvSpPr>
          <p:cNvPr id="68" name="Ellipse 68"/>
          <p:cNvSpPr/>
          <p:nvPr/>
        </p:nvSpPr>
        <p:spPr>
          <a:xfrm>
            <a:off x="10040112" y="5925312"/>
            <a:ext cx="310896" cy="310896"/>
          </a:xfrm>
          <a:prstGeom prst="ellipse">
            <a:avLst/>
          </a:prstGeom>
          <a:solidFill>
            <a:srgbClr val="16A34A"/>
          </a:solidFill>
          <a:ln w="12700">
            <a:solidFill>
              <a:srgbClr val="16A34A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69" name="Text 69"/>
          <p:cNvSpPr txBox="1"/>
          <p:nvPr/>
        </p:nvSpPr>
        <p:spPr>
          <a:xfrm>
            <a:off x="10058400" y="6007608"/>
            <a:ext cx="274320" cy="118872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ctr"/>
            <a:r>
              <a:rPr lang="en-US" sz="720" b="1" i="0" dirty="0">
                <a:solidFill>
                  <a:srgbClr val="FFFFFF"/>
                </a:solidFill>
                <a:latin typeface="Yu Gothic"/>
              </a:rPr>
              <a:t>協</a:t>
            </a:r>
            <a:endParaRPr lang="en-US" sz="720"/>
          </a:p>
        </p:txBody>
      </p:sp>
      <p:cxnSp>
        <p:nvCxnSpPr>
          <p:cNvPr id="70" name="Line 70"/>
          <p:cNvCxnSpPr/>
          <p:nvPr/>
        </p:nvCxnSpPr>
        <p:spPr>
          <a:xfrm flipH="false" flipV="false">
            <a:off x="621792" y="6473952"/>
            <a:ext cx="10954512" cy="0"/>
          </a:xfrm>
          <a:prstGeom prst="line">
            <a:avLst/>
          </a:prstGeom>
          <a:ln w="10160">
            <a:solidFill>
              <a:srgbClr val="D7DFEA"/>
            </a:solidFill>
          </a:ln>
        </p:spPr>
      </p:cxnSp>
      <p:sp>
        <p:nvSpPr>
          <p:cNvPr id="71" name="Text 71"/>
          <p:cNvSpPr txBox="1"/>
          <p:nvPr/>
        </p:nvSpPr>
        <p:spPr>
          <a:xfrm>
            <a:off x="640080" y="6510528"/>
            <a:ext cx="10469880" cy="164592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660" b="0" i="0" dirty="0">
                <a:solidFill>
                  <a:srgbClr val="56647A"/>
                </a:solidFill>
                <a:latin typeface="Yu Gothic"/>
              </a:rPr>
              <a:t>7f969317 • fb417282 • 07351a40 • docs/environment-portability.md • current dispatcher</a:t>
            </a:r>
            <a:endParaRPr lang="en-US" sz="660"/>
          </a:p>
        </p:txBody>
      </p:sp>
      <p:sp>
        <p:nvSpPr>
          <p:cNvPr id="72" name="Text 72"/>
          <p:cNvSpPr txBox="1"/>
          <p:nvPr/>
        </p:nvSpPr>
        <p:spPr>
          <a:xfrm>
            <a:off x="11201400" y="6492240"/>
            <a:ext cx="329184" cy="18288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r"/>
            <a:r>
              <a:rPr lang="en-US" sz="750" b="1" i="0" dirty="0">
                <a:solidFill>
                  <a:srgbClr val="56647A"/>
                </a:solidFill>
                <a:latin typeface="Yu Gothic"/>
              </a:rPr>
              <a:t>3</a:t>
            </a:r>
            <a:endParaRPr lang="en-US" sz="75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8FC"/>
          </a:solidFill>
          <a:ln w="12700">
            <a:solidFill>
              <a:srgbClr val="F6F8FC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3"/>
          <p:cNvSpPr txBox="1"/>
          <p:nvPr/>
        </p:nvSpPr>
        <p:spPr>
          <a:xfrm>
            <a:off x="621792" y="320040"/>
            <a:ext cx="10972800" cy="585216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2550" b="1" i="0" dirty="0">
                <a:solidFill>
                  <a:srgbClr val="14213D"/>
                </a:solidFill>
                <a:latin typeface="Yu Gothic"/>
              </a:rPr>
              <a:t>評価・readiness・restore が「改善」を測定可能な主張に限定した</a:t>
            </a:r>
            <a:endParaRPr lang="en-US" sz="2550"/>
          </a:p>
        </p:txBody>
      </p:sp>
      <p:sp>
        <p:nvSpPr>
          <p:cNvPr id="4" name="Text 4"/>
          <p:cNvSpPr txBox="1"/>
          <p:nvPr/>
        </p:nvSpPr>
        <p:spPr>
          <a:xfrm>
            <a:off x="640080" y="914400"/>
            <a:ext cx="10881360" cy="27432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1080" b="0" i="0" dirty="0">
                <a:solidFill>
                  <a:srgbClr val="56647A"/>
                </a:solidFill>
                <a:latin typeface="Yu Gothic"/>
              </a:rPr>
              <a:t>checked-in evidence のscoreboard — 一般化できない範囲も同時に表示</a:t>
            </a:r>
            <a:endParaRPr lang="en-US" sz="1080"/>
          </a:p>
        </p:txBody>
      </p:sp>
      <p:sp>
        <p:nvSpPr>
          <p:cNvPr id="5" name="Rect 5"/>
          <p:cNvSpPr/>
          <p:nvPr/>
        </p:nvSpPr>
        <p:spPr>
          <a:xfrm>
            <a:off x="566928" y="1353312"/>
            <a:ext cx="2057400" cy="1353312"/>
          </a:xfrm>
          <a:prstGeom prst="roundRect">
            <a:avLst/>
          </a:prstGeom>
          <a:solidFill>
            <a:srgbClr val="EEFAFC"/>
          </a:solidFill>
          <a:ln w="12700">
            <a:solidFill>
              <a:srgbClr val="06B6D4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6"/>
          <p:cNvSpPr txBox="1"/>
          <p:nvPr/>
        </p:nvSpPr>
        <p:spPr>
          <a:xfrm>
            <a:off x="676656" y="1517904"/>
            <a:ext cx="1837944" cy="41148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ctr"/>
            <a:r>
              <a:rPr lang="en-US" sz="2300" b="1" i="0" dirty="0">
                <a:solidFill>
                  <a:srgbClr val="06B6D4"/>
                </a:solidFill>
                <a:latin typeface="Yu Gothic"/>
              </a:rPr>
              <a:t>7 / 7</a:t>
            </a:r>
            <a:endParaRPr lang="en-US" sz="2300"/>
          </a:p>
        </p:txBody>
      </p:sp>
      <p:sp>
        <p:nvSpPr>
          <p:cNvPr id="7" name="Text 7"/>
          <p:cNvSpPr txBox="1"/>
          <p:nvPr/>
        </p:nvSpPr>
        <p:spPr>
          <a:xfrm>
            <a:off x="694944" y="2048256"/>
            <a:ext cx="1801368" cy="310896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ctr"/>
            <a:r>
              <a:rPr lang="en-US" sz="1010" b="1" i="0" dirty="0">
                <a:solidFill>
                  <a:srgbClr val="14213D"/>
                </a:solidFill>
                <a:latin typeface="Yu Gothic"/>
              </a:rPr>
              <a:t>CPU readiness</a:t>
            </a:r>
            <a:endParaRPr lang="en-US" sz="1010"/>
          </a:p>
        </p:txBody>
      </p:sp>
      <p:sp>
        <p:nvSpPr>
          <p:cNvPr id="8" name="Text 8"/>
          <p:cNvSpPr txBox="1"/>
          <p:nvPr/>
        </p:nvSpPr>
        <p:spPr>
          <a:xfrm>
            <a:off x="694944" y="2432304"/>
            <a:ext cx="1801368" cy="146304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ctr"/>
            <a:r>
              <a:rPr lang="en-US" sz="700" b="0" i="0" dirty="0">
                <a:solidFill>
                  <a:srgbClr val="56647A"/>
                </a:solidFill>
                <a:latin typeface="Yu Gothic"/>
              </a:rPr>
              <a:t>7 Linux nodes</a:t>
            </a:r>
            <a:endParaRPr lang="en-US" sz="700"/>
          </a:p>
        </p:txBody>
      </p:sp>
      <p:sp>
        <p:nvSpPr>
          <p:cNvPr id="9" name="Rect 9"/>
          <p:cNvSpPr/>
          <p:nvPr/>
        </p:nvSpPr>
        <p:spPr>
          <a:xfrm>
            <a:off x="2761488" y="1353312"/>
            <a:ext cx="2057400" cy="1353312"/>
          </a:xfrm>
          <a:prstGeom prst="roundRect">
            <a:avLst/>
          </a:prstGeom>
          <a:solidFill>
            <a:srgbClr val="EEF8F7"/>
          </a:solidFill>
          <a:ln w="12700">
            <a:solidFill>
              <a:srgbClr val="0D9488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10"/>
          <p:cNvSpPr txBox="1"/>
          <p:nvPr/>
        </p:nvSpPr>
        <p:spPr>
          <a:xfrm>
            <a:off x="2871216" y="1517904"/>
            <a:ext cx="1837944" cy="41148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ctr"/>
            <a:r>
              <a:rPr lang="en-US" sz="2300" b="1" i="0" dirty="0">
                <a:solidFill>
                  <a:srgbClr val="0D9488"/>
                </a:solidFill>
                <a:latin typeface="Yu Gothic"/>
              </a:rPr>
              <a:t>7 / 7</a:t>
            </a:r>
            <a:endParaRPr lang="en-US" sz="2300"/>
          </a:p>
        </p:txBody>
      </p:sp>
      <p:sp>
        <p:nvSpPr>
          <p:cNvPr id="11" name="Text 11"/>
          <p:cNvSpPr txBox="1"/>
          <p:nvPr/>
        </p:nvSpPr>
        <p:spPr>
          <a:xfrm>
            <a:off x="2889504" y="2048256"/>
            <a:ext cx="1801368" cy="310896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ctr"/>
            <a:r>
              <a:rPr lang="en-US" sz="1010" b="1" i="0" dirty="0">
                <a:solidFill>
                  <a:srgbClr val="14213D"/>
                </a:solidFill>
                <a:latin typeface="Yu Gothic"/>
              </a:rPr>
              <a:t>accelerator driver/runtime</a:t>
            </a:r>
            <a:endParaRPr lang="en-US" sz="1010"/>
          </a:p>
        </p:txBody>
      </p:sp>
      <p:sp>
        <p:nvSpPr>
          <p:cNvPr id="12" name="Text 12"/>
          <p:cNvSpPr txBox="1"/>
          <p:nvPr/>
        </p:nvSpPr>
        <p:spPr>
          <a:xfrm>
            <a:off x="2889504" y="2432304"/>
            <a:ext cx="1801368" cy="146304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ctr"/>
            <a:r>
              <a:rPr lang="en-US" sz="700" b="0" i="0" dirty="0">
                <a:solidFill>
                  <a:srgbClr val="56647A"/>
                </a:solidFill>
                <a:latin typeface="Yu Gothic"/>
              </a:rPr>
              <a:t>readiness only</a:t>
            </a:r>
            <a:endParaRPr lang="en-US" sz="700"/>
          </a:p>
        </p:txBody>
      </p:sp>
      <p:sp>
        <p:nvSpPr>
          <p:cNvPr id="13" name="Rect 13"/>
          <p:cNvSpPr/>
          <p:nvPr/>
        </p:nvSpPr>
        <p:spPr>
          <a:xfrm>
            <a:off x="4956048" y="1353312"/>
            <a:ext cx="2057400" cy="1353312"/>
          </a:xfrm>
          <a:prstGeom prst="roundRect">
            <a:avLst/>
          </a:prstGeom>
          <a:solidFill>
            <a:srgbClr val="F6F1FE"/>
          </a:solidFill>
          <a:ln w="12700">
            <a:solidFill>
              <a:srgbClr val="7C3AED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4"/>
          <p:cNvSpPr txBox="1"/>
          <p:nvPr/>
        </p:nvSpPr>
        <p:spPr>
          <a:xfrm>
            <a:off x="5065776" y="1517904"/>
            <a:ext cx="1837944" cy="41148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ctr"/>
            <a:r>
              <a:rPr lang="en-US" sz="2300" b="1" i="0" dirty="0">
                <a:solidFill>
                  <a:srgbClr val="7C3AED"/>
                </a:solidFill>
                <a:latin typeface="Yu Gothic"/>
              </a:rPr>
              <a:t>5</a:t>
            </a:r>
            <a:endParaRPr lang="en-US" sz="2300"/>
          </a:p>
        </p:txBody>
      </p:sp>
      <p:sp>
        <p:nvSpPr>
          <p:cNvPr id="15" name="Text 15"/>
          <p:cNvSpPr txBox="1"/>
          <p:nvPr/>
        </p:nvSpPr>
        <p:spPr>
          <a:xfrm>
            <a:off x="5084064" y="2048256"/>
            <a:ext cx="1801368" cy="310896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ctr"/>
            <a:r>
              <a:rPr lang="en-US" sz="1010" b="1" i="0" dirty="0">
                <a:solidFill>
                  <a:srgbClr val="14213D"/>
                </a:solidFill>
                <a:latin typeface="Yu Gothic"/>
              </a:rPr>
              <a:t>CUDA kernel pass</a:t>
            </a:r>
            <a:endParaRPr lang="en-US" sz="1010"/>
          </a:p>
        </p:txBody>
      </p:sp>
      <p:sp>
        <p:nvSpPr>
          <p:cNvPr id="16" name="Text 16"/>
          <p:cNvSpPr txBox="1"/>
          <p:nvPr/>
        </p:nvSpPr>
        <p:spPr>
          <a:xfrm>
            <a:off x="5084064" y="2432304"/>
            <a:ext cx="1801368" cy="146304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ctr"/>
            <a:r>
              <a:rPr lang="en-US" sz="700" b="0" i="0" dirty="0">
                <a:solidFill>
                  <a:srgbClr val="56647A"/>
                </a:solidFill>
                <a:latin typeface="Yu Gothic"/>
              </a:rPr>
              <a:t>2 toolkit skips</a:t>
            </a:r>
            <a:endParaRPr lang="en-US" sz="700"/>
          </a:p>
        </p:txBody>
      </p:sp>
      <p:sp>
        <p:nvSpPr>
          <p:cNvPr id="17" name="Rect 17"/>
          <p:cNvSpPr/>
          <p:nvPr/>
        </p:nvSpPr>
        <p:spPr>
          <a:xfrm>
            <a:off x="7150608" y="1353312"/>
            <a:ext cx="2057400" cy="1353312"/>
          </a:xfrm>
          <a:prstGeom prst="roundRect">
            <a:avLst/>
          </a:prstGeom>
          <a:solidFill>
            <a:srgbClr val="FEF8EE"/>
          </a:solidFill>
          <a:ln w="12700">
            <a:solidFill>
              <a:srgbClr val="F59E0B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8"/>
          <p:cNvSpPr txBox="1"/>
          <p:nvPr/>
        </p:nvSpPr>
        <p:spPr>
          <a:xfrm>
            <a:off x="7260336" y="1517904"/>
            <a:ext cx="1837944" cy="41148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ctr"/>
            <a:r>
              <a:rPr lang="en-US" sz="2300" b="1" i="0" dirty="0">
                <a:solidFill>
                  <a:srgbClr val="F59E0B"/>
                </a:solidFill>
                <a:latin typeface="Yu Gothic"/>
              </a:rPr>
              <a:t>5</a:t>
            </a:r>
            <a:endParaRPr lang="en-US" sz="2300"/>
          </a:p>
        </p:txBody>
      </p:sp>
      <p:sp>
        <p:nvSpPr>
          <p:cNvPr id="19" name="Text 19"/>
          <p:cNvSpPr txBox="1"/>
          <p:nvPr/>
        </p:nvSpPr>
        <p:spPr>
          <a:xfrm>
            <a:off x="7278624" y="2048256"/>
            <a:ext cx="1801368" cy="310896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ctr"/>
            <a:r>
              <a:rPr lang="en-US" sz="1010" b="1" i="0" dirty="0">
                <a:solidFill>
                  <a:srgbClr val="14213D"/>
                </a:solidFill>
                <a:latin typeface="Yu Gothic"/>
              </a:rPr>
              <a:t>single-node MPI routes</a:t>
            </a:r>
            <a:endParaRPr lang="en-US" sz="1010"/>
          </a:p>
        </p:txBody>
      </p:sp>
      <p:sp>
        <p:nvSpPr>
          <p:cNvPr id="20" name="Text 20"/>
          <p:cNvSpPr txBox="1"/>
          <p:nvPr/>
        </p:nvSpPr>
        <p:spPr>
          <a:xfrm>
            <a:off x="7278624" y="2432304"/>
            <a:ext cx="1801368" cy="146304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ctr"/>
            <a:r>
              <a:rPr lang="en-US" sz="700" b="0" i="0" dirty="0">
                <a:solidFill>
                  <a:srgbClr val="56647A"/>
                </a:solidFill>
                <a:latin typeface="Yu Gothic"/>
              </a:rPr>
              <a:t>2 no-route nodes</a:t>
            </a:r>
            <a:endParaRPr lang="en-US" sz="700"/>
          </a:p>
        </p:txBody>
      </p:sp>
      <p:sp>
        <p:nvSpPr>
          <p:cNvPr id="21" name="Rect 21"/>
          <p:cNvSpPr/>
          <p:nvPr/>
        </p:nvSpPr>
        <p:spPr>
          <a:xfrm>
            <a:off x="9345168" y="1353312"/>
            <a:ext cx="2057400" cy="1353312"/>
          </a:xfrm>
          <a:prstGeom prst="roundRect">
            <a:avLst/>
          </a:prstGeom>
          <a:solidFill>
            <a:srgbClr val="FCF0F5"/>
          </a:solidFill>
          <a:ln w="12700">
            <a:solidFill>
              <a:srgbClr val="DB2777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22" name="Text 22"/>
          <p:cNvSpPr txBox="1"/>
          <p:nvPr/>
        </p:nvSpPr>
        <p:spPr>
          <a:xfrm>
            <a:off x="9454896" y="1517904"/>
            <a:ext cx="1837944" cy="41148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ctr"/>
            <a:r>
              <a:rPr lang="en-US" sz="2300" b="1" i="0" dirty="0">
                <a:solidFill>
                  <a:srgbClr val="DB2777"/>
                </a:solidFill>
                <a:latin typeface="Yu Gothic"/>
              </a:rPr>
              <a:t>4 / 4</a:t>
            </a:r>
            <a:endParaRPr lang="en-US" sz="2300"/>
          </a:p>
        </p:txBody>
      </p:sp>
      <p:sp>
        <p:nvSpPr>
          <p:cNvPr id="23" name="Text 23"/>
          <p:cNvSpPr txBox="1"/>
          <p:nvPr/>
        </p:nvSpPr>
        <p:spPr>
          <a:xfrm>
            <a:off x="9473184" y="2048256"/>
            <a:ext cx="1801368" cy="310896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ctr"/>
            <a:r>
              <a:rPr lang="en-US" sz="1010" b="1" i="0" dirty="0">
                <a:solidFill>
                  <a:srgbClr val="14213D"/>
                </a:solidFill>
                <a:latin typeface="Yu Gothic"/>
              </a:rPr>
              <a:t>personal Mac accepted</a:t>
            </a:r>
            <a:endParaRPr lang="en-US" sz="1010"/>
          </a:p>
        </p:txBody>
      </p:sp>
      <p:sp>
        <p:nvSpPr>
          <p:cNvPr id="24" name="Text 24"/>
          <p:cNvSpPr txBox="1"/>
          <p:nvPr/>
        </p:nvSpPr>
        <p:spPr>
          <a:xfrm>
            <a:off x="9473184" y="2432304"/>
            <a:ext cx="1801368" cy="146304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ctr"/>
            <a:r>
              <a:rPr lang="en-US" sz="700" b="0" i="0" dirty="0">
                <a:solidFill>
                  <a:srgbClr val="56647A"/>
                </a:solidFill>
                <a:latin typeface="Yu Gothic"/>
              </a:rPr>
              <a:t>snapshot: 7c592af</a:t>
            </a:r>
            <a:endParaRPr lang="en-US" sz="700"/>
          </a:p>
        </p:txBody>
      </p:sp>
      <p:sp>
        <p:nvSpPr>
          <p:cNvPr id="25" name="Rect 25"/>
          <p:cNvSpPr/>
          <p:nvPr/>
        </p:nvSpPr>
        <p:spPr>
          <a:xfrm>
            <a:off x="566928" y="2962656"/>
            <a:ext cx="3703320" cy="1847088"/>
          </a:xfrm>
          <a:prstGeom prst="roundRect">
            <a:avLst/>
          </a:prstGeom>
          <a:solidFill>
            <a:srgbClr val="F7F3FE"/>
          </a:solidFill>
          <a:ln w="12700">
            <a:solidFill>
              <a:srgbClr val="7C3AED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26" name="Rect 26"/>
          <p:cNvSpPr/>
          <p:nvPr/>
        </p:nvSpPr>
        <p:spPr>
          <a:xfrm>
            <a:off x="804672" y="3191256"/>
            <a:ext cx="1097280" cy="274320"/>
          </a:xfrm>
          <a:prstGeom prst="roundRect">
            <a:avLst/>
          </a:prstGeom>
          <a:solidFill>
            <a:srgbClr val="E9DEFC"/>
          </a:solidFill>
          <a:ln w="12700">
            <a:solidFill>
              <a:srgbClr val="7C3AED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27" name="Text 27"/>
          <p:cNvSpPr txBox="1"/>
          <p:nvPr/>
        </p:nvSpPr>
        <p:spPr>
          <a:xfrm>
            <a:off x="859536" y="3255264"/>
            <a:ext cx="987552" cy="13716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ctr"/>
            <a:r>
              <a:rPr lang="en-US" sz="820" b="1" i="0" dirty="0">
                <a:solidFill>
                  <a:srgbClr val="7C3AED"/>
                </a:solidFill>
                <a:latin typeface="Yu Gothic"/>
              </a:rPr>
              <a:t>T-181</a:t>
            </a:r>
            <a:endParaRPr lang="en-US" sz="820"/>
          </a:p>
        </p:txBody>
      </p:sp>
      <p:sp>
        <p:nvSpPr>
          <p:cNvPr id="28" name="Text 28"/>
          <p:cNvSpPr txBox="1"/>
          <p:nvPr/>
        </p:nvSpPr>
        <p:spPr>
          <a:xfrm>
            <a:off x="841248" y="3584448"/>
            <a:ext cx="1517904" cy="493776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ctr"/>
            <a:r>
              <a:rPr lang="en-US" sz="2500" b="1" i="0" dirty="0">
                <a:solidFill>
                  <a:srgbClr val="7C3AED"/>
                </a:solidFill>
                <a:latin typeface="Yu Gothic"/>
              </a:rPr>
              <a:t>69 / 70</a:t>
            </a:r>
            <a:endParaRPr lang="en-US" sz="2500"/>
          </a:p>
        </p:txBody>
      </p:sp>
      <p:sp>
        <p:nvSpPr>
          <p:cNvPr id="29" name="Text 29"/>
          <p:cNvSpPr txBox="1"/>
          <p:nvPr/>
        </p:nvSpPr>
        <p:spPr>
          <a:xfrm>
            <a:off x="2340864" y="3566160"/>
            <a:ext cx="1600200" cy="420624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ctr"/>
            <a:r>
              <a:rPr lang="en-US" sz="1030" b="1" i="0" dirty="0">
                <a:solidFill>
                  <a:srgbClr val="14213D"/>
                </a:solidFill>
                <a:latin typeface="Yu Gothic"/>
              </a:rPr>
              <a:t>deterministic pass</a:t>
            </a:r>
            <a:endParaRPr lang="en-US" sz="1030"/>
          </a:p>
          <a:p>
            <a:pPr algn="ctr"/>
            <a:r>
              <a:rPr lang="en-US" sz="1030" b="1" i="0" dirty="0">
                <a:solidFill>
                  <a:srgbClr val="14213D"/>
                </a:solidFill>
                <a:latin typeface="Yu Gothic"/>
              </a:rPr>
              <a:t>0 safety failures</a:t>
            </a:r>
            <a:endParaRPr lang="en-US" sz="1030"/>
          </a:p>
        </p:txBody>
      </p:sp>
      <p:sp>
        <p:nvSpPr>
          <p:cNvPr id="30" name="Text 30"/>
          <p:cNvSpPr txBox="1"/>
          <p:nvPr/>
        </p:nvSpPr>
        <p:spPr>
          <a:xfrm>
            <a:off x="841248" y="4315968"/>
            <a:ext cx="3108960" cy="18288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ctr"/>
            <a:r>
              <a:rPr lang="en-US" sz="740" b="0" i="0" dirty="0">
                <a:solidFill>
                  <a:srgbClr val="56647A"/>
                </a:solidFill>
                <a:latin typeface="Yu Gothic"/>
              </a:rPr>
              <a:t>targeted review 70/70 は別尺度 • candidate不採用</a:t>
            </a:r>
            <a:endParaRPr lang="en-US" sz="740"/>
          </a:p>
        </p:txBody>
      </p:sp>
      <p:sp>
        <p:nvSpPr>
          <p:cNvPr id="31" name="Rect 31"/>
          <p:cNvSpPr/>
          <p:nvPr/>
        </p:nvSpPr>
        <p:spPr>
          <a:xfrm>
            <a:off x="4462272" y="2962656"/>
            <a:ext cx="2926080" cy="1847088"/>
          </a:xfrm>
          <a:prstGeom prst="roundRect">
            <a:avLst/>
          </a:prstGeom>
          <a:solidFill>
            <a:srgbClr val="F1F9F4"/>
          </a:solidFill>
          <a:ln w="12700">
            <a:solidFill>
              <a:srgbClr val="16A34A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32" name="Rect 32"/>
          <p:cNvSpPr/>
          <p:nvPr/>
        </p:nvSpPr>
        <p:spPr>
          <a:xfrm>
            <a:off x="4700016" y="3191256"/>
            <a:ext cx="1152144" cy="274320"/>
          </a:xfrm>
          <a:prstGeom prst="roundRect">
            <a:avLst/>
          </a:prstGeom>
          <a:solidFill>
            <a:srgbClr val="D7EFE0"/>
          </a:solidFill>
          <a:ln w="12700">
            <a:solidFill>
              <a:srgbClr val="16A34A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33" name="Text 33"/>
          <p:cNvSpPr txBox="1"/>
          <p:nvPr/>
        </p:nvSpPr>
        <p:spPr>
          <a:xfrm>
            <a:off x="4754880" y="3255264"/>
            <a:ext cx="1042416" cy="13716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ctr"/>
            <a:r>
              <a:rPr lang="en-US" sz="820" b="1" i="0" dirty="0">
                <a:solidFill>
                  <a:srgbClr val="16A34A"/>
                </a:solidFill>
                <a:latin typeface="Yu Gothic"/>
              </a:rPr>
              <a:t>RECOVERY</a:t>
            </a:r>
            <a:endParaRPr lang="en-US" sz="820"/>
          </a:p>
        </p:txBody>
      </p:sp>
      <p:sp>
        <p:nvSpPr>
          <p:cNvPr id="34" name="Text 34"/>
          <p:cNvSpPr txBox="1"/>
          <p:nvPr/>
        </p:nvSpPr>
        <p:spPr>
          <a:xfrm>
            <a:off x="4791456" y="3602736"/>
            <a:ext cx="2267712" cy="420624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ctr"/>
            <a:r>
              <a:rPr lang="en-US" sz="2500" b="1" i="0" dirty="0">
                <a:solidFill>
                  <a:srgbClr val="16A34A"/>
                </a:solidFill>
                <a:latin typeface="Yu Gothic"/>
              </a:rPr>
              <a:t>7 + 7</a:t>
            </a:r>
            <a:endParaRPr lang="en-US" sz="2500"/>
          </a:p>
        </p:txBody>
      </p:sp>
      <p:sp>
        <p:nvSpPr>
          <p:cNvPr id="35" name="Text 35"/>
          <p:cNvSpPr txBox="1"/>
          <p:nvPr/>
        </p:nvSpPr>
        <p:spPr>
          <a:xfrm>
            <a:off x="4791456" y="4151376"/>
            <a:ext cx="2267712" cy="36576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ctr"/>
            <a:r>
              <a:rPr lang="en-US" sz="860" b="0" i="0" dirty="0">
                <a:solidFill>
                  <a:srgbClr val="14213D"/>
                </a:solidFill>
                <a:latin typeface="Yu Gothic"/>
              </a:rPr>
              <a:t>primary + independent generation</a:t>
            </a:r>
            <a:endParaRPr lang="en-US" sz="860"/>
          </a:p>
          <a:p>
            <a:pPr algn="ctr"/>
            <a:r>
              <a:rPr lang="en-US" sz="860" b="0" i="0" dirty="0">
                <a:solidFill>
                  <a:srgbClr val="14213D"/>
                </a:solidFill>
                <a:latin typeface="Yu Gothic"/>
              </a:rPr>
              <a:t>full check / verified restore</a:t>
            </a:r>
            <a:endParaRPr lang="en-US" sz="860"/>
          </a:p>
        </p:txBody>
      </p:sp>
      <p:sp>
        <p:nvSpPr>
          <p:cNvPr id="36" name="Rect 36"/>
          <p:cNvSpPr/>
          <p:nvPr/>
        </p:nvSpPr>
        <p:spPr>
          <a:xfrm>
            <a:off x="7589520" y="2962656"/>
            <a:ext cx="3822192" cy="184708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B82F6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37" name="Rect 37"/>
          <p:cNvSpPr/>
          <p:nvPr/>
        </p:nvSpPr>
        <p:spPr>
          <a:xfrm>
            <a:off x="7827264" y="3191256"/>
            <a:ext cx="1371600" cy="274320"/>
          </a:xfrm>
          <a:prstGeom prst="roundRect">
            <a:avLst/>
          </a:prstGeom>
          <a:solidFill>
            <a:srgbClr val="DEEAFD"/>
          </a:solidFill>
          <a:ln w="12700">
            <a:solidFill>
              <a:srgbClr val="3B82F6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38" name="Text 38"/>
          <p:cNvSpPr txBox="1"/>
          <p:nvPr/>
        </p:nvSpPr>
        <p:spPr>
          <a:xfrm>
            <a:off x="7882128" y="3255264"/>
            <a:ext cx="1261872" cy="13716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ctr"/>
            <a:r>
              <a:rPr lang="en-US" sz="820" b="1" i="0" dirty="0">
                <a:solidFill>
                  <a:srgbClr val="3B82F6"/>
                </a:solidFill>
                <a:latin typeface="Yu Gothic"/>
              </a:rPr>
              <a:t>HOST-SPECIFIC</a:t>
            </a:r>
            <a:endParaRPr lang="en-US" sz="820"/>
          </a:p>
        </p:txBody>
      </p:sp>
      <p:sp>
        <p:nvSpPr>
          <p:cNvPr id="39" name="Text 39"/>
          <p:cNvSpPr txBox="1"/>
          <p:nvPr/>
        </p:nvSpPr>
        <p:spPr>
          <a:xfrm>
            <a:off x="7882128" y="3621024"/>
            <a:ext cx="932688" cy="27432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r"/>
            <a:r>
              <a:rPr lang="en-US" sz="1320" b="1" i="0" dirty="0">
                <a:solidFill>
                  <a:srgbClr val="56647A"/>
                </a:solidFill>
                <a:latin typeface="Yu Gothic"/>
              </a:rPr>
              <a:t>29.69s</a:t>
            </a:r>
            <a:endParaRPr lang="en-US" sz="1320"/>
          </a:p>
        </p:txBody>
      </p:sp>
      <p:sp>
        <p:nvSpPr>
          <p:cNvPr id="40" name="Rect 40"/>
          <p:cNvSpPr/>
          <p:nvPr/>
        </p:nvSpPr>
        <p:spPr>
          <a:xfrm>
            <a:off x="8942832" y="3675888"/>
            <a:ext cx="1938528" cy="182880"/>
          </a:xfrm>
          <a:prstGeom prst="roundRect">
            <a:avLst/>
          </a:prstGeom>
          <a:solidFill>
            <a:srgbClr val="C5CFDC"/>
          </a:solidFill>
          <a:ln w="12700">
            <a:solidFill>
              <a:srgbClr val="C5CFDC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41" name="Text 41"/>
          <p:cNvSpPr txBox="1"/>
          <p:nvPr/>
        </p:nvSpPr>
        <p:spPr>
          <a:xfrm>
            <a:off x="7882128" y="4096512"/>
            <a:ext cx="932688" cy="27432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r"/>
            <a:r>
              <a:rPr lang="en-US" sz="1320" b="1" i="0" dirty="0">
                <a:solidFill>
                  <a:srgbClr val="3B82F6"/>
                </a:solidFill>
                <a:latin typeface="Yu Gothic"/>
              </a:rPr>
              <a:t>25.35s</a:t>
            </a:r>
            <a:endParaRPr lang="en-US" sz="1320"/>
          </a:p>
        </p:txBody>
      </p:sp>
      <p:sp>
        <p:nvSpPr>
          <p:cNvPr id="42" name="Rect 42"/>
          <p:cNvSpPr/>
          <p:nvPr/>
        </p:nvSpPr>
        <p:spPr>
          <a:xfrm>
            <a:off x="8942832" y="4151376"/>
            <a:ext cx="1655064" cy="182880"/>
          </a:xfrm>
          <a:prstGeom prst="roundRect">
            <a:avLst/>
          </a:prstGeom>
          <a:solidFill>
            <a:srgbClr val="3B82F6"/>
          </a:solidFill>
          <a:ln w="12700">
            <a:solidFill>
              <a:srgbClr val="3B82F6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43" name="Text 43"/>
          <p:cNvSpPr txBox="1"/>
          <p:nvPr/>
        </p:nvSpPr>
        <p:spPr>
          <a:xfrm>
            <a:off x="10607040" y="4041648"/>
            <a:ext cx="640080" cy="310896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ctr"/>
            <a:r>
              <a:rPr lang="en-US" sz="820" b="1" i="0" dirty="0">
                <a:solidFill>
                  <a:srgbClr val="3B82F6"/>
                </a:solidFill>
                <a:latin typeface="Yu Gothic"/>
              </a:rPr>
              <a:t>−14.62%</a:t>
            </a:r>
            <a:endParaRPr lang="en-US" sz="820"/>
          </a:p>
        </p:txBody>
      </p:sp>
      <p:sp>
        <p:nvSpPr>
          <p:cNvPr id="44" name="Text 44"/>
          <p:cNvSpPr txBox="1"/>
          <p:nvPr/>
        </p:nvSpPr>
        <p:spPr>
          <a:xfrm>
            <a:off x="7882128" y="4535424"/>
            <a:ext cx="3236976" cy="146304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ctr"/>
            <a:r>
              <a:rPr lang="en-US" sz="710" b="0" i="0" dirty="0">
                <a:solidFill>
                  <a:srgbClr val="56647A"/>
                </a:solidFill>
                <a:latin typeface="Yu Gothic"/>
              </a:rPr>
              <a:t>cowork focused suite • one 8-CPU-visible host</a:t>
            </a:r>
            <a:endParaRPr lang="en-US" sz="710"/>
          </a:p>
        </p:txBody>
      </p:sp>
      <p:sp>
        <p:nvSpPr>
          <p:cNvPr id="45" name="Rect 45"/>
          <p:cNvSpPr/>
          <p:nvPr/>
        </p:nvSpPr>
        <p:spPr>
          <a:xfrm>
            <a:off x="566928" y="5138928"/>
            <a:ext cx="10844784" cy="877824"/>
          </a:xfrm>
          <a:prstGeom prst="roundRect">
            <a:avLst/>
          </a:prstGeom>
          <a:solidFill>
            <a:srgbClr val="08152F"/>
          </a:solidFill>
          <a:ln w="12700">
            <a:solidFill>
              <a:srgbClr val="08152F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46" name="Text 46"/>
          <p:cNvSpPr txBox="1"/>
          <p:nvPr/>
        </p:nvSpPr>
        <p:spPr>
          <a:xfrm>
            <a:off x="804672" y="5330952"/>
            <a:ext cx="566928" cy="164592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ctr"/>
            <a:r>
              <a:rPr lang="en-US" sz="750" b="1" i="0" dirty="0">
                <a:solidFill>
                  <a:srgbClr val="06B6D4"/>
                </a:solidFill>
                <a:latin typeface="Yu Gothic"/>
              </a:rPr>
              <a:t>支持</a:t>
            </a:r>
            <a:endParaRPr lang="en-US" sz="750"/>
          </a:p>
        </p:txBody>
      </p:sp>
      <p:sp>
        <p:nvSpPr>
          <p:cNvPr id="47" name="Text 47"/>
          <p:cNvSpPr txBox="1"/>
          <p:nvPr/>
        </p:nvSpPr>
        <p:spPr>
          <a:xfrm>
            <a:off x="1389888" y="5330952"/>
            <a:ext cx="1261872" cy="164592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770" b="0" i="0" dirty="0">
                <a:solidFill>
                  <a:srgbClr val="FFFFFF"/>
                </a:solidFill>
                <a:latin typeface="Yu Gothic"/>
              </a:rPr>
              <a:t>readiness</a:t>
            </a:r>
            <a:endParaRPr lang="en-US" sz="770"/>
          </a:p>
        </p:txBody>
      </p:sp>
      <p:sp>
        <p:nvSpPr>
          <p:cNvPr id="48" name="Text 48"/>
          <p:cNvSpPr txBox="1"/>
          <p:nvPr/>
        </p:nvSpPr>
        <p:spPr>
          <a:xfrm>
            <a:off x="2907792" y="5330952"/>
            <a:ext cx="566928" cy="164592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ctr"/>
            <a:r>
              <a:rPr lang="en-US" sz="750" b="1" i="0" dirty="0">
                <a:solidFill>
                  <a:srgbClr val="7C3AED"/>
                </a:solidFill>
                <a:latin typeface="Yu Gothic"/>
              </a:rPr>
              <a:t>支持</a:t>
            </a:r>
            <a:endParaRPr lang="en-US" sz="750"/>
          </a:p>
        </p:txBody>
      </p:sp>
      <p:sp>
        <p:nvSpPr>
          <p:cNvPr id="49" name="Text 49"/>
          <p:cNvSpPr txBox="1"/>
          <p:nvPr/>
        </p:nvSpPr>
        <p:spPr>
          <a:xfrm>
            <a:off x="3493008" y="5330952"/>
            <a:ext cx="1261872" cy="164592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770" b="0" i="0" dirty="0">
                <a:solidFill>
                  <a:srgbClr val="FFFFFF"/>
                </a:solidFill>
                <a:latin typeface="Yu Gothic"/>
              </a:rPr>
              <a:t>corpus score</a:t>
            </a:r>
            <a:endParaRPr lang="en-US" sz="770"/>
          </a:p>
        </p:txBody>
      </p:sp>
      <p:sp>
        <p:nvSpPr>
          <p:cNvPr id="50" name="Text 50"/>
          <p:cNvSpPr txBox="1"/>
          <p:nvPr/>
        </p:nvSpPr>
        <p:spPr>
          <a:xfrm>
            <a:off x="5010912" y="5330952"/>
            <a:ext cx="566928" cy="164592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ctr"/>
            <a:r>
              <a:rPr lang="en-US" sz="750" b="1" i="0" dirty="0">
                <a:solidFill>
                  <a:srgbClr val="16A34A"/>
                </a:solidFill>
                <a:latin typeface="Yu Gothic"/>
              </a:rPr>
              <a:t>支持</a:t>
            </a:r>
            <a:endParaRPr lang="en-US" sz="750"/>
          </a:p>
        </p:txBody>
      </p:sp>
      <p:sp>
        <p:nvSpPr>
          <p:cNvPr id="51" name="Text 51"/>
          <p:cNvSpPr txBox="1"/>
          <p:nvPr/>
        </p:nvSpPr>
        <p:spPr>
          <a:xfrm>
            <a:off x="5596128" y="5330952"/>
            <a:ext cx="1261872" cy="164592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770" b="0" i="0" dirty="0">
                <a:solidFill>
                  <a:srgbClr val="FFFFFF"/>
                </a:solidFill>
                <a:latin typeface="Yu Gothic"/>
              </a:rPr>
              <a:t>restore</a:t>
            </a:r>
            <a:endParaRPr lang="en-US" sz="770"/>
          </a:p>
        </p:txBody>
      </p:sp>
      <p:sp>
        <p:nvSpPr>
          <p:cNvPr id="52" name="Text 52"/>
          <p:cNvSpPr txBox="1"/>
          <p:nvPr/>
        </p:nvSpPr>
        <p:spPr>
          <a:xfrm>
            <a:off x="7114032" y="5330952"/>
            <a:ext cx="566928" cy="164592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ctr"/>
            <a:r>
              <a:rPr lang="en-US" sz="750" b="1" i="0" dirty="0">
                <a:solidFill>
                  <a:srgbClr val="DC2626"/>
                </a:solidFill>
                <a:latin typeface="Yu Gothic"/>
              </a:rPr>
              <a:t>未主張</a:t>
            </a:r>
            <a:endParaRPr lang="en-US" sz="750"/>
          </a:p>
        </p:txBody>
      </p:sp>
      <p:sp>
        <p:nvSpPr>
          <p:cNvPr id="53" name="Text 53"/>
          <p:cNvSpPr txBox="1"/>
          <p:nvPr/>
        </p:nvSpPr>
        <p:spPr>
          <a:xfrm>
            <a:off x="7699248" y="5330952"/>
            <a:ext cx="1261872" cy="164592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770" b="0" i="0" dirty="0">
                <a:solidFill>
                  <a:srgbClr val="FFFFFF"/>
                </a:solidFill>
                <a:latin typeface="Yu Gothic"/>
              </a:rPr>
              <a:t>performance / scaling</a:t>
            </a:r>
            <a:endParaRPr lang="en-US" sz="770"/>
          </a:p>
        </p:txBody>
      </p:sp>
      <p:sp>
        <p:nvSpPr>
          <p:cNvPr id="54" name="Text 54"/>
          <p:cNvSpPr txBox="1"/>
          <p:nvPr/>
        </p:nvSpPr>
        <p:spPr>
          <a:xfrm>
            <a:off x="9217152" y="5330952"/>
            <a:ext cx="566928" cy="164592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ctr"/>
            <a:r>
              <a:rPr lang="en-US" sz="750" b="1" i="0" dirty="0">
                <a:solidFill>
                  <a:srgbClr val="DC2626"/>
                </a:solidFill>
                <a:latin typeface="Yu Gothic"/>
              </a:rPr>
              <a:t>未主張</a:t>
            </a:r>
            <a:endParaRPr lang="en-US" sz="750"/>
          </a:p>
        </p:txBody>
      </p:sp>
      <p:sp>
        <p:nvSpPr>
          <p:cNvPr id="55" name="Text 55"/>
          <p:cNvSpPr txBox="1"/>
          <p:nvPr/>
        </p:nvSpPr>
        <p:spPr>
          <a:xfrm>
            <a:off x="9802368" y="5330952"/>
            <a:ext cx="1261872" cy="164592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770" b="0" i="0" dirty="0">
                <a:solidFill>
                  <a:srgbClr val="FFFFFF"/>
                </a:solidFill>
                <a:latin typeface="Yu Gothic"/>
              </a:rPr>
              <a:t>universal agent quality</a:t>
            </a:r>
            <a:endParaRPr lang="en-US" sz="770"/>
          </a:p>
        </p:txBody>
      </p:sp>
      <p:sp>
        <p:nvSpPr>
          <p:cNvPr id="56" name="Text 56"/>
          <p:cNvSpPr txBox="1"/>
          <p:nvPr/>
        </p:nvSpPr>
        <p:spPr>
          <a:xfrm>
            <a:off x="877824" y="5705856"/>
            <a:ext cx="10222992" cy="146304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ctr"/>
            <a:r>
              <a:rPr lang="en-US" sz="830" b="1" i="0" dirty="0">
                <a:solidFill>
                  <a:srgbClr val="FFFFFF"/>
                </a:solidFill>
                <a:latin typeface="Yu Gothic"/>
              </a:rPr>
              <a:t>改善の意味は「数字が大きい」ではなく、主張・scope・反証条件を追跡できること。</a:t>
            </a:r>
            <a:endParaRPr lang="en-US" sz="830"/>
          </a:p>
        </p:txBody>
      </p:sp>
      <p:cxnSp>
        <p:nvCxnSpPr>
          <p:cNvPr id="57" name="Line 57"/>
          <p:cNvCxnSpPr/>
          <p:nvPr/>
        </p:nvCxnSpPr>
        <p:spPr>
          <a:xfrm flipH="false" flipV="false">
            <a:off x="621792" y="6473952"/>
            <a:ext cx="10954512" cy="0"/>
          </a:xfrm>
          <a:prstGeom prst="line">
            <a:avLst/>
          </a:prstGeom>
          <a:ln w="10160">
            <a:solidFill>
              <a:srgbClr val="D7DFEA"/>
            </a:solidFill>
          </a:ln>
        </p:spPr>
      </p:cxnSp>
      <p:sp>
        <p:nvSpPr>
          <p:cNvPr id="58" name="Text 58"/>
          <p:cNvSpPr txBox="1"/>
          <p:nvPr/>
        </p:nvSpPr>
        <p:spPr>
          <a:xfrm>
            <a:off x="640080" y="6510528"/>
            <a:ext cx="10469880" cy="164592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660" b="0" i="0" dirty="0">
                <a:solidFill>
                  <a:srgbClr val="56647A"/>
                </a:solidFill>
                <a:latin typeface="Yu Gothic"/>
              </a:rPr>
              <a:t>HPC audit JSON • T-181 results/review • backup acceptance • T-284 matched samples • 7c592af:TODO.md</a:t>
            </a:r>
            <a:endParaRPr lang="en-US" sz="660"/>
          </a:p>
        </p:txBody>
      </p:sp>
      <p:sp>
        <p:nvSpPr>
          <p:cNvPr id="59" name="Text 59"/>
          <p:cNvSpPr txBox="1"/>
          <p:nvPr/>
        </p:nvSpPr>
        <p:spPr>
          <a:xfrm>
            <a:off x="11201400" y="6492240"/>
            <a:ext cx="329184" cy="18288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r"/>
            <a:r>
              <a:rPr lang="en-US" sz="750" b="1" i="0" dirty="0">
                <a:solidFill>
                  <a:srgbClr val="56647A"/>
                </a:solidFill>
                <a:latin typeface="Yu Gothic"/>
              </a:rPr>
              <a:t>4</a:t>
            </a:r>
            <a:endParaRPr lang="en-US" sz="75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8FC"/>
          </a:solidFill>
          <a:ln w="12700">
            <a:solidFill>
              <a:srgbClr val="F6F8FC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3"/>
          <p:cNvSpPr txBox="1"/>
          <p:nvPr/>
        </p:nvSpPr>
        <p:spPr>
          <a:xfrm>
            <a:off x="621792" y="320040"/>
            <a:ext cx="10972800" cy="585216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2550" b="1" i="0" dirty="0">
                <a:solidFill>
                  <a:srgbClr val="14213D"/>
                </a:solidFill>
                <a:latin typeface="Yu Gothic"/>
              </a:rPr>
              <a:t>現在の広さより、境界を縮め続ける能力が次の成熟を決める</a:t>
            </a:r>
            <a:endParaRPr lang="en-US" sz="2550"/>
          </a:p>
        </p:txBody>
      </p:sp>
      <p:sp>
        <p:nvSpPr>
          <p:cNvPr id="4" name="Text 4"/>
          <p:cNvSpPr txBox="1"/>
          <p:nvPr/>
        </p:nvSpPr>
        <p:spPr>
          <a:xfrm>
            <a:off x="640080" y="914400"/>
            <a:ext cx="10881360" cy="27432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1080" b="0" i="0" dirty="0">
                <a:solidFill>
                  <a:srgbClr val="56647A"/>
                </a:solidFill>
                <a:latin typeface="Yu Gothic"/>
              </a:rPr>
              <a:t>機能追加だけでなく、誤ったownershipを撤回できるcontrol plane</a:t>
            </a:r>
            <a:endParaRPr lang="en-US" sz="1080"/>
          </a:p>
        </p:txBody>
      </p:sp>
      <p:sp>
        <p:nvSpPr>
          <p:cNvPr id="5" name="Rect 5"/>
          <p:cNvSpPr/>
          <p:nvPr/>
        </p:nvSpPr>
        <p:spPr>
          <a:xfrm>
            <a:off x="566928" y="1298448"/>
            <a:ext cx="2816352" cy="44988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D9488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6" name="Rect 6"/>
          <p:cNvSpPr/>
          <p:nvPr/>
        </p:nvSpPr>
        <p:spPr>
          <a:xfrm>
            <a:off x="804672" y="1536192"/>
            <a:ext cx="1298448" cy="274320"/>
          </a:xfrm>
          <a:prstGeom prst="roundRect">
            <a:avLst/>
          </a:prstGeom>
          <a:solidFill>
            <a:srgbClr val="D6EDEB"/>
          </a:solidFill>
          <a:ln w="12700">
            <a:solidFill>
              <a:srgbClr val="0D9488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7"/>
          <p:cNvSpPr txBox="1"/>
          <p:nvPr/>
        </p:nvSpPr>
        <p:spPr>
          <a:xfrm>
            <a:off x="859536" y="1600200"/>
            <a:ext cx="1188720" cy="13716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ctr"/>
            <a:r>
              <a:rPr lang="en-US" sz="820" b="1" i="0" dirty="0">
                <a:solidFill>
                  <a:srgbClr val="0D9488"/>
                </a:solidFill>
                <a:latin typeface="Yu Gothic"/>
              </a:rPr>
              <a:t>CURRENT GRAMMAR</a:t>
            </a:r>
            <a:endParaRPr lang="en-US" sz="820"/>
          </a:p>
        </p:txBody>
      </p:sp>
      <p:sp>
        <p:nvSpPr>
          <p:cNvPr id="8" name="Rect 8"/>
          <p:cNvSpPr/>
          <p:nvPr/>
        </p:nvSpPr>
        <p:spPr>
          <a:xfrm>
            <a:off x="859536" y="2029968"/>
            <a:ext cx="2212848" cy="521208"/>
          </a:xfrm>
          <a:prstGeom prst="roundRect">
            <a:avLst/>
          </a:prstGeom>
          <a:solidFill>
            <a:srgbClr val="E9F5F4"/>
          </a:solidFill>
          <a:ln w="12700">
            <a:solidFill>
              <a:srgbClr val="0D9488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9"/>
          <p:cNvSpPr txBox="1"/>
          <p:nvPr/>
        </p:nvSpPr>
        <p:spPr>
          <a:xfrm>
            <a:off x="969264" y="2121408"/>
            <a:ext cx="713232" cy="164592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860" b="1" i="0" dirty="0">
                <a:solidFill>
                  <a:srgbClr val="0D9488"/>
                </a:solidFill>
                <a:latin typeface="Yu Gothic"/>
              </a:rPr>
              <a:t>OBSERVE</a:t>
            </a:r>
            <a:endParaRPr lang="en-US" sz="860"/>
          </a:p>
        </p:txBody>
      </p:sp>
      <p:sp>
        <p:nvSpPr>
          <p:cNvPr id="10" name="Text 10"/>
          <p:cNvSpPr txBox="1"/>
          <p:nvPr/>
        </p:nvSpPr>
        <p:spPr>
          <a:xfrm>
            <a:off x="1682496" y="2121408"/>
            <a:ext cx="1280160" cy="256032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700" b="0" i="0" dirty="0">
                <a:solidFill>
                  <a:srgbClr val="56647A"/>
                </a:solidFill>
                <a:latin typeface="Yu Gothic"/>
              </a:rPr>
              <a:t>inventory • status • doctor</a:t>
            </a:r>
            <a:endParaRPr lang="en-US" sz="700"/>
          </a:p>
        </p:txBody>
      </p:sp>
      <p:cxnSp>
        <p:nvCxnSpPr>
          <p:cNvPr id="11" name="Line 11"/>
          <p:cNvCxnSpPr/>
          <p:nvPr/>
        </p:nvCxnSpPr>
        <p:spPr>
          <a:xfrm flipH="false" flipV="false">
            <a:off x="1965960" y="2560320"/>
            <a:ext cx="0" cy="164592"/>
          </a:xfrm>
          <a:prstGeom prst="line">
            <a:avLst/>
          </a:prstGeom>
          <a:ln w="12700">
            <a:solidFill>
              <a:srgbClr val="C5CFDC"/>
            </a:solidFill>
            <a:tailEnd type="triangle"/>
          </a:ln>
        </p:spPr>
      </p:cxnSp>
      <p:sp>
        <p:nvSpPr>
          <p:cNvPr id="12" name="Rect 12"/>
          <p:cNvSpPr/>
          <p:nvPr/>
        </p:nvSpPr>
        <p:spPr>
          <a:xfrm>
            <a:off x="859536" y="2743200"/>
            <a:ext cx="2212848" cy="521208"/>
          </a:xfrm>
          <a:prstGeom prst="roundRect">
            <a:avLst/>
          </a:prstGeom>
          <a:solidFill>
            <a:srgbClr val="E9F5F4"/>
          </a:solidFill>
          <a:ln w="12700">
            <a:solidFill>
              <a:srgbClr val="0D9488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3"/>
          <p:cNvSpPr txBox="1"/>
          <p:nvPr/>
        </p:nvSpPr>
        <p:spPr>
          <a:xfrm>
            <a:off x="969264" y="2834640"/>
            <a:ext cx="713232" cy="164592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860" b="1" i="0" dirty="0">
                <a:solidFill>
                  <a:srgbClr val="0D9488"/>
                </a:solidFill>
                <a:latin typeface="Yu Gothic"/>
              </a:rPr>
              <a:t>PLAN</a:t>
            </a:r>
            <a:endParaRPr lang="en-US" sz="860"/>
          </a:p>
        </p:txBody>
      </p:sp>
      <p:sp>
        <p:nvSpPr>
          <p:cNvPr id="14" name="Text 14"/>
          <p:cNvSpPr txBox="1"/>
          <p:nvPr/>
        </p:nvSpPr>
        <p:spPr>
          <a:xfrm>
            <a:off x="1682496" y="2834640"/>
            <a:ext cx="1280160" cy="256032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700" b="0" i="0" dirty="0">
                <a:solidFill>
                  <a:srgbClr val="56647A"/>
                </a:solidFill>
                <a:latin typeface="Yu Gothic"/>
              </a:rPr>
              <a:t>diff • preflight • explicit scope</a:t>
            </a:r>
            <a:endParaRPr lang="en-US" sz="700"/>
          </a:p>
        </p:txBody>
      </p:sp>
      <p:cxnSp>
        <p:nvCxnSpPr>
          <p:cNvPr id="15" name="Line 15"/>
          <p:cNvCxnSpPr/>
          <p:nvPr/>
        </p:nvCxnSpPr>
        <p:spPr>
          <a:xfrm flipH="false" flipV="false">
            <a:off x="1965960" y="3273552"/>
            <a:ext cx="0" cy="164592"/>
          </a:xfrm>
          <a:prstGeom prst="line">
            <a:avLst/>
          </a:prstGeom>
          <a:ln w="12700">
            <a:solidFill>
              <a:srgbClr val="C5CFDC"/>
            </a:solidFill>
            <a:tailEnd type="triangle"/>
          </a:ln>
        </p:spPr>
      </p:cxnSp>
      <p:sp>
        <p:nvSpPr>
          <p:cNvPr id="16" name="Rect 16"/>
          <p:cNvSpPr/>
          <p:nvPr/>
        </p:nvSpPr>
        <p:spPr>
          <a:xfrm>
            <a:off x="859536" y="3456432"/>
            <a:ext cx="2212848" cy="521208"/>
          </a:xfrm>
          <a:prstGeom prst="roundRect">
            <a:avLst/>
          </a:prstGeom>
          <a:solidFill>
            <a:srgbClr val="E9F5F4"/>
          </a:solidFill>
          <a:ln w="12700">
            <a:solidFill>
              <a:srgbClr val="0D9488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7"/>
          <p:cNvSpPr txBox="1"/>
          <p:nvPr/>
        </p:nvSpPr>
        <p:spPr>
          <a:xfrm>
            <a:off x="969264" y="3547872"/>
            <a:ext cx="713232" cy="164592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860" b="1" i="0" dirty="0">
                <a:solidFill>
                  <a:srgbClr val="0D9488"/>
                </a:solidFill>
                <a:latin typeface="Yu Gothic"/>
              </a:rPr>
              <a:t>APPLY</a:t>
            </a:r>
            <a:endParaRPr lang="en-US" sz="860"/>
          </a:p>
        </p:txBody>
      </p:sp>
      <p:sp>
        <p:nvSpPr>
          <p:cNvPr id="18" name="Text 18"/>
          <p:cNvSpPr txBox="1"/>
          <p:nvPr/>
        </p:nvSpPr>
        <p:spPr>
          <a:xfrm>
            <a:off x="1682496" y="3547872"/>
            <a:ext cx="1280160" cy="256032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700" b="0" i="0" dirty="0">
                <a:solidFill>
                  <a:srgbClr val="56647A"/>
                </a:solidFill>
                <a:latin typeface="Yu Gothic"/>
              </a:rPr>
              <a:t>transaction • live gate</a:t>
            </a:r>
            <a:endParaRPr lang="en-US" sz="700"/>
          </a:p>
        </p:txBody>
      </p:sp>
      <p:cxnSp>
        <p:nvCxnSpPr>
          <p:cNvPr id="19" name="Line 19"/>
          <p:cNvCxnSpPr/>
          <p:nvPr/>
        </p:nvCxnSpPr>
        <p:spPr>
          <a:xfrm flipH="false" flipV="false">
            <a:off x="1965960" y="3986784"/>
            <a:ext cx="0" cy="164592"/>
          </a:xfrm>
          <a:prstGeom prst="line">
            <a:avLst/>
          </a:prstGeom>
          <a:ln w="12700">
            <a:solidFill>
              <a:srgbClr val="C5CFDC"/>
            </a:solidFill>
            <a:tailEnd type="triangle"/>
          </a:ln>
        </p:spPr>
      </p:cxnSp>
      <p:sp>
        <p:nvSpPr>
          <p:cNvPr id="20" name="Rect 20"/>
          <p:cNvSpPr/>
          <p:nvPr/>
        </p:nvSpPr>
        <p:spPr>
          <a:xfrm>
            <a:off x="859536" y="4169664"/>
            <a:ext cx="2212848" cy="521208"/>
          </a:xfrm>
          <a:prstGeom prst="roundRect">
            <a:avLst/>
          </a:prstGeom>
          <a:solidFill>
            <a:srgbClr val="E9F5F4"/>
          </a:solidFill>
          <a:ln w="12700">
            <a:solidFill>
              <a:srgbClr val="0D9488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21"/>
          <p:cNvSpPr txBox="1"/>
          <p:nvPr/>
        </p:nvSpPr>
        <p:spPr>
          <a:xfrm>
            <a:off x="969264" y="4261104"/>
            <a:ext cx="713232" cy="164592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860" b="1" i="0" dirty="0">
                <a:solidFill>
                  <a:srgbClr val="0D9488"/>
                </a:solidFill>
                <a:latin typeface="Yu Gothic"/>
              </a:rPr>
              <a:t>VERIFY</a:t>
            </a:r>
            <a:endParaRPr lang="en-US" sz="860"/>
          </a:p>
        </p:txBody>
      </p:sp>
      <p:sp>
        <p:nvSpPr>
          <p:cNvPr id="22" name="Text 22"/>
          <p:cNvSpPr txBox="1"/>
          <p:nvPr/>
        </p:nvSpPr>
        <p:spPr>
          <a:xfrm>
            <a:off x="1682496" y="4261104"/>
            <a:ext cx="1280160" cy="256032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700" b="0" i="0" dirty="0">
                <a:solidFill>
                  <a:srgbClr val="56647A"/>
                </a:solidFill>
                <a:latin typeface="Yu Gothic"/>
              </a:rPr>
              <a:t>receipt • rollback • acceptance</a:t>
            </a:r>
            <a:endParaRPr lang="en-US" sz="700"/>
          </a:p>
        </p:txBody>
      </p:sp>
      <p:sp>
        <p:nvSpPr>
          <p:cNvPr id="23" name="Text 23"/>
          <p:cNvSpPr txBox="1"/>
          <p:nvPr/>
        </p:nvSpPr>
        <p:spPr>
          <a:xfrm>
            <a:off x="877824" y="5065776"/>
            <a:ext cx="2176272" cy="292608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ctr"/>
            <a:r>
              <a:rPr lang="en-US" sz="970" b="1" i="0" dirty="0">
                <a:solidFill>
                  <a:srgbClr val="14213D"/>
                </a:solidFill>
                <a:latin typeface="Yu Gothic"/>
              </a:rPr>
              <a:t>12 skills • 43 commands</a:t>
            </a:r>
            <a:endParaRPr lang="en-US" sz="970"/>
          </a:p>
          <a:p>
            <a:pPr algn="ctr"/>
            <a:r>
              <a:rPr lang="en-US" sz="970" b="1" i="0" dirty="0">
                <a:solidFill>
                  <a:srgbClr val="14213D"/>
                </a:solidFill>
                <a:latin typeface="Yu Gothic"/>
              </a:rPr>
              <a:t>57 suites • 7 Linux profiles</a:t>
            </a:r>
            <a:endParaRPr lang="en-US" sz="970"/>
          </a:p>
        </p:txBody>
      </p:sp>
      <p:sp>
        <p:nvSpPr>
          <p:cNvPr id="24" name="Text 24"/>
          <p:cNvSpPr txBox="1"/>
          <p:nvPr/>
        </p:nvSpPr>
        <p:spPr>
          <a:xfrm>
            <a:off x="877824" y="5504688"/>
            <a:ext cx="2176272" cy="146304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ctr"/>
            <a:r>
              <a:rPr lang="en-US" sz="740" b="0" i="0" dirty="0">
                <a:solidFill>
                  <a:srgbClr val="56647A"/>
                </a:solidFill>
                <a:latin typeface="Yu Gothic"/>
              </a:rPr>
              <a:t>breadth ≠ quality</a:t>
            </a:r>
            <a:endParaRPr lang="en-US" sz="740"/>
          </a:p>
        </p:txBody>
      </p:sp>
      <p:sp>
        <p:nvSpPr>
          <p:cNvPr id="25" name="Rect 25"/>
          <p:cNvSpPr/>
          <p:nvPr/>
        </p:nvSpPr>
        <p:spPr>
          <a:xfrm>
            <a:off x="3611880" y="1298448"/>
            <a:ext cx="4425696" cy="44988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7C3AED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26" name="Rect 26"/>
          <p:cNvSpPr/>
          <p:nvPr/>
        </p:nvSpPr>
        <p:spPr>
          <a:xfrm>
            <a:off x="3849624" y="1536192"/>
            <a:ext cx="1280160" cy="274320"/>
          </a:xfrm>
          <a:prstGeom prst="roundRect">
            <a:avLst/>
          </a:prstGeom>
          <a:solidFill>
            <a:srgbClr val="E9DEFC"/>
          </a:solidFill>
          <a:ln w="12700">
            <a:solidFill>
              <a:srgbClr val="7C3AED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27" name="Text 27"/>
          <p:cNvSpPr txBox="1"/>
          <p:nvPr/>
        </p:nvSpPr>
        <p:spPr>
          <a:xfrm>
            <a:off x="3904488" y="1600200"/>
            <a:ext cx="1170432" cy="13716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ctr"/>
            <a:r>
              <a:rPr lang="en-US" sz="820" b="1" i="0" dirty="0">
                <a:solidFill>
                  <a:srgbClr val="7C3AED"/>
                </a:solidFill>
                <a:latin typeface="Yu Gothic"/>
              </a:rPr>
              <a:t>REVERSALS</a:t>
            </a:r>
            <a:endParaRPr lang="en-US" sz="820"/>
          </a:p>
        </p:txBody>
      </p:sp>
      <p:sp>
        <p:nvSpPr>
          <p:cNvPr id="28" name="Text 28"/>
          <p:cNvSpPr txBox="1"/>
          <p:nvPr/>
        </p:nvSpPr>
        <p:spPr>
          <a:xfrm>
            <a:off x="3858768" y="2011680"/>
            <a:ext cx="1591056" cy="265176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r"/>
            <a:r>
              <a:rPr lang="en-US" sz="770" b="1" i="0" dirty="0">
                <a:solidFill>
                  <a:srgbClr val="DC2626"/>
                </a:solidFill>
                <a:latin typeface="Yu Gothic"/>
              </a:rPr>
              <a:t>login fetch / exit publish</a:t>
            </a:r>
            <a:endParaRPr lang="en-US" sz="770"/>
          </a:p>
        </p:txBody>
      </p:sp>
      <p:cxnSp>
        <p:nvCxnSpPr>
          <p:cNvPr id="29" name="Line 29"/>
          <p:cNvCxnSpPr/>
          <p:nvPr/>
        </p:nvCxnSpPr>
        <p:spPr>
          <a:xfrm flipH="false" flipV="false">
            <a:off x="5559552" y="2148840"/>
            <a:ext cx="365760" cy="0"/>
          </a:xfrm>
          <a:prstGeom prst="line">
            <a:avLst/>
          </a:prstGeom>
          <a:ln w="13970">
            <a:solidFill>
              <a:srgbClr val="C5CFDC"/>
            </a:solidFill>
            <a:tailEnd type="triangle"/>
          </a:ln>
        </p:spPr>
      </p:cxnSp>
      <p:sp>
        <p:nvSpPr>
          <p:cNvPr id="30" name="Text 30"/>
          <p:cNvSpPr txBox="1"/>
          <p:nvPr/>
        </p:nvSpPr>
        <p:spPr>
          <a:xfrm>
            <a:off x="6053328" y="2011680"/>
            <a:ext cx="1426464" cy="265176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770" b="1" i="0" dirty="0">
                <a:solidFill>
                  <a:srgbClr val="16A34A"/>
                </a:solidFill>
                <a:latin typeface="Yu Gothic"/>
              </a:rPr>
              <a:t>explicit Git operations</a:t>
            </a:r>
            <a:endParaRPr lang="en-US" sz="770"/>
          </a:p>
        </p:txBody>
      </p:sp>
      <p:sp>
        <p:nvSpPr>
          <p:cNvPr id="31" name="Text 31"/>
          <p:cNvSpPr txBox="1"/>
          <p:nvPr/>
        </p:nvSpPr>
        <p:spPr>
          <a:xfrm>
            <a:off x="7498080" y="2048256"/>
            <a:ext cx="438912" cy="128016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r"/>
            <a:r>
              <a:rPr lang="en-US" sz="650" b="0" i="0" dirty="0">
                <a:solidFill>
                  <a:srgbClr val="56647A"/>
                </a:solidFill>
                <a:latin typeface="Yu Gothic"/>
              </a:rPr>
              <a:t>e52a3d0</a:t>
            </a:r>
            <a:endParaRPr lang="en-US" sz="650"/>
          </a:p>
        </p:txBody>
      </p:sp>
      <p:sp>
        <p:nvSpPr>
          <p:cNvPr id="32" name="Text 32"/>
          <p:cNvSpPr txBox="1"/>
          <p:nvPr/>
        </p:nvSpPr>
        <p:spPr>
          <a:xfrm>
            <a:off x="3858768" y="2770632"/>
            <a:ext cx="1591056" cy="265176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r"/>
            <a:r>
              <a:rPr lang="en-US" sz="770" b="1" i="0" dirty="0">
                <a:solidFill>
                  <a:srgbClr val="DC2626"/>
                </a:solidFill>
                <a:latin typeface="Yu Gothic"/>
              </a:rPr>
              <a:t>website ownership</a:t>
            </a:r>
            <a:endParaRPr lang="en-US" sz="770"/>
          </a:p>
        </p:txBody>
      </p:sp>
      <p:cxnSp>
        <p:nvCxnSpPr>
          <p:cNvPr id="33" name="Line 33"/>
          <p:cNvCxnSpPr/>
          <p:nvPr/>
        </p:nvCxnSpPr>
        <p:spPr>
          <a:xfrm flipH="false" flipV="false">
            <a:off x="5559552" y="2907792"/>
            <a:ext cx="365760" cy="0"/>
          </a:xfrm>
          <a:prstGeom prst="line">
            <a:avLst/>
          </a:prstGeom>
          <a:ln w="13970">
            <a:solidFill>
              <a:srgbClr val="C5CFDC"/>
            </a:solidFill>
            <a:tailEnd type="triangle"/>
          </a:ln>
        </p:spPr>
      </p:cxnSp>
      <p:sp>
        <p:nvSpPr>
          <p:cNvPr id="34" name="Text 34"/>
          <p:cNvSpPr txBox="1"/>
          <p:nvPr/>
        </p:nvSpPr>
        <p:spPr>
          <a:xfrm>
            <a:off x="6053328" y="2770632"/>
            <a:ext cx="1426464" cy="265176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770" b="1" i="0" dirty="0">
                <a:solidFill>
                  <a:srgbClr val="16A34A"/>
                </a:solidFill>
                <a:latin typeface="Yu Gothic"/>
              </a:rPr>
              <a:t>repository independence</a:t>
            </a:r>
            <a:endParaRPr lang="en-US" sz="770"/>
          </a:p>
        </p:txBody>
      </p:sp>
      <p:sp>
        <p:nvSpPr>
          <p:cNvPr id="35" name="Text 35"/>
          <p:cNvSpPr txBox="1"/>
          <p:nvPr/>
        </p:nvSpPr>
        <p:spPr>
          <a:xfrm>
            <a:off x="7498080" y="2807208"/>
            <a:ext cx="438912" cy="128016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r"/>
            <a:r>
              <a:rPr lang="en-US" sz="650" b="0" i="0" dirty="0">
                <a:solidFill>
                  <a:srgbClr val="56647A"/>
                </a:solidFill>
                <a:latin typeface="Yu Gothic"/>
              </a:rPr>
              <a:t>f1b095c</a:t>
            </a:r>
            <a:endParaRPr lang="en-US" sz="650"/>
          </a:p>
        </p:txBody>
      </p:sp>
      <p:sp>
        <p:nvSpPr>
          <p:cNvPr id="36" name="Text 36"/>
          <p:cNvSpPr txBox="1"/>
          <p:nvPr/>
        </p:nvSpPr>
        <p:spPr>
          <a:xfrm>
            <a:off x="3858768" y="3529584"/>
            <a:ext cx="1591056" cy="265176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r"/>
            <a:r>
              <a:rPr lang="en-US" sz="770" b="1" i="0" dirty="0">
                <a:solidFill>
                  <a:srgbClr val="DC2626"/>
                </a:solidFill>
                <a:latin typeface="Yu Gothic"/>
              </a:rPr>
              <a:t>private Bash / tmux</a:t>
            </a:r>
            <a:endParaRPr lang="en-US" sz="770"/>
          </a:p>
        </p:txBody>
      </p:sp>
      <p:cxnSp>
        <p:nvCxnSpPr>
          <p:cNvPr id="37" name="Line 37"/>
          <p:cNvCxnSpPr/>
          <p:nvPr/>
        </p:nvCxnSpPr>
        <p:spPr>
          <a:xfrm flipH="false" flipV="false">
            <a:off x="5559552" y="3666744"/>
            <a:ext cx="365760" cy="0"/>
          </a:xfrm>
          <a:prstGeom prst="line">
            <a:avLst/>
          </a:prstGeom>
          <a:ln w="13970">
            <a:solidFill>
              <a:srgbClr val="C5CFDC"/>
            </a:solidFill>
            <a:tailEnd type="triangle"/>
          </a:ln>
        </p:spPr>
      </p:cxnSp>
      <p:sp>
        <p:nvSpPr>
          <p:cNvPr id="38" name="Text 38"/>
          <p:cNvSpPr txBox="1"/>
          <p:nvPr/>
        </p:nvSpPr>
        <p:spPr>
          <a:xfrm>
            <a:off x="6053328" y="3529584"/>
            <a:ext cx="1426464" cy="265176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770" b="1" i="0" dirty="0">
                <a:solidFill>
                  <a:srgbClr val="16A34A"/>
                </a:solidFill>
                <a:latin typeface="Yu Gothic"/>
              </a:rPr>
              <a:t>public engine + private SSH</a:t>
            </a:r>
            <a:endParaRPr lang="en-US" sz="770"/>
          </a:p>
        </p:txBody>
      </p:sp>
      <p:sp>
        <p:nvSpPr>
          <p:cNvPr id="39" name="Text 39"/>
          <p:cNvSpPr txBox="1"/>
          <p:nvPr/>
        </p:nvSpPr>
        <p:spPr>
          <a:xfrm>
            <a:off x="7498080" y="3566160"/>
            <a:ext cx="438912" cy="128016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r"/>
            <a:r>
              <a:rPr lang="en-US" sz="650" b="0" i="0" dirty="0">
                <a:solidFill>
                  <a:srgbClr val="56647A"/>
                </a:solidFill>
                <a:latin typeface="Yu Gothic"/>
              </a:rPr>
              <a:t>4209ee8</a:t>
            </a:r>
            <a:endParaRPr lang="en-US" sz="650"/>
          </a:p>
        </p:txBody>
      </p:sp>
      <p:sp>
        <p:nvSpPr>
          <p:cNvPr id="40" name="Text 40"/>
          <p:cNvSpPr txBox="1"/>
          <p:nvPr/>
        </p:nvSpPr>
        <p:spPr>
          <a:xfrm>
            <a:off x="3858768" y="4288536"/>
            <a:ext cx="1591056" cy="265176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r"/>
            <a:r>
              <a:rPr lang="en-US" sz="770" b="1" i="0" dirty="0">
                <a:solidFill>
                  <a:srgbClr val="DC2626"/>
                </a:solidFill>
                <a:latin typeface="Yu Gothic"/>
              </a:rPr>
              <a:t>harness-owned Codex</a:t>
            </a:r>
            <a:endParaRPr lang="en-US" sz="770"/>
          </a:p>
        </p:txBody>
      </p:sp>
      <p:cxnSp>
        <p:nvCxnSpPr>
          <p:cNvPr id="41" name="Line 41"/>
          <p:cNvCxnSpPr/>
          <p:nvPr/>
        </p:nvCxnSpPr>
        <p:spPr>
          <a:xfrm flipH="false" flipV="false">
            <a:off x="5559552" y="4425696"/>
            <a:ext cx="365760" cy="0"/>
          </a:xfrm>
          <a:prstGeom prst="line">
            <a:avLst/>
          </a:prstGeom>
          <a:ln w="13970">
            <a:solidFill>
              <a:srgbClr val="C5CFDC"/>
            </a:solidFill>
            <a:tailEnd type="triangle"/>
          </a:ln>
        </p:spPr>
      </p:cxnSp>
      <p:sp>
        <p:nvSpPr>
          <p:cNvPr id="42" name="Text 42"/>
          <p:cNvSpPr txBox="1"/>
          <p:nvPr/>
        </p:nvSpPr>
        <p:spPr>
          <a:xfrm>
            <a:off x="6053328" y="4288536"/>
            <a:ext cx="1426464" cy="265176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770" b="1" i="0" dirty="0">
                <a:solidFill>
                  <a:srgbClr val="16A34A"/>
                </a:solidFill>
                <a:latin typeface="Yu Gothic"/>
              </a:rPr>
              <a:t>local native client + wrapper</a:t>
            </a:r>
            <a:endParaRPr lang="en-US" sz="770"/>
          </a:p>
        </p:txBody>
      </p:sp>
      <p:sp>
        <p:nvSpPr>
          <p:cNvPr id="43" name="Text 43"/>
          <p:cNvSpPr txBox="1"/>
          <p:nvPr/>
        </p:nvSpPr>
        <p:spPr>
          <a:xfrm>
            <a:off x="7498080" y="4325112"/>
            <a:ext cx="438912" cy="128016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r"/>
            <a:r>
              <a:rPr lang="en-US" sz="650" b="0" i="0" dirty="0">
                <a:solidFill>
                  <a:srgbClr val="56647A"/>
                </a:solidFill>
                <a:latin typeface="Yu Gothic"/>
              </a:rPr>
              <a:t>d76575c</a:t>
            </a:r>
            <a:endParaRPr lang="en-US" sz="650"/>
          </a:p>
        </p:txBody>
      </p:sp>
      <p:sp>
        <p:nvSpPr>
          <p:cNvPr id="44" name="Rect 44"/>
          <p:cNvSpPr/>
          <p:nvPr/>
        </p:nvSpPr>
        <p:spPr>
          <a:xfrm>
            <a:off x="3895344" y="5230368"/>
            <a:ext cx="3840480" cy="365760"/>
          </a:xfrm>
          <a:prstGeom prst="roundRect">
            <a:avLst/>
          </a:prstGeom>
          <a:solidFill>
            <a:srgbClr val="F5EFFE"/>
          </a:solidFill>
          <a:ln w="12700">
            <a:solidFill>
              <a:srgbClr val="7C3AED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45" name="Text 45"/>
          <p:cNvSpPr txBox="1"/>
          <p:nvPr/>
        </p:nvSpPr>
        <p:spPr>
          <a:xfrm>
            <a:off x="4078224" y="5330952"/>
            <a:ext cx="3474720" cy="146304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ctr"/>
            <a:r>
              <a:rPr lang="en-US" sz="940" b="1" i="0" dirty="0">
                <a:solidFill>
                  <a:srgbClr val="7C3AED"/>
                </a:solidFill>
                <a:latin typeface="Yu Gothic"/>
              </a:rPr>
              <a:t>成熟 = 追加 + 縮小 + 拒否</a:t>
            </a:r>
            <a:endParaRPr lang="en-US" sz="940"/>
          </a:p>
        </p:txBody>
      </p:sp>
      <p:sp>
        <p:nvSpPr>
          <p:cNvPr id="46" name="Rect 46"/>
          <p:cNvSpPr/>
          <p:nvPr/>
        </p:nvSpPr>
        <p:spPr>
          <a:xfrm>
            <a:off x="8266176" y="1298448"/>
            <a:ext cx="3346704" cy="44988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59E0B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47" name="Rect 47"/>
          <p:cNvSpPr/>
          <p:nvPr/>
        </p:nvSpPr>
        <p:spPr>
          <a:xfrm>
            <a:off x="8503920" y="1536192"/>
            <a:ext cx="1280160" cy="274320"/>
          </a:xfrm>
          <a:prstGeom prst="roundRect">
            <a:avLst/>
          </a:prstGeom>
          <a:solidFill>
            <a:srgbClr val="FDEFD6"/>
          </a:solidFill>
          <a:ln w="12700">
            <a:solidFill>
              <a:srgbClr val="F59E0B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48" name="Text 48"/>
          <p:cNvSpPr txBox="1"/>
          <p:nvPr/>
        </p:nvSpPr>
        <p:spPr>
          <a:xfrm>
            <a:off x="8558784" y="1600200"/>
            <a:ext cx="1170432" cy="13716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ctr"/>
            <a:r>
              <a:rPr lang="en-US" sz="820" b="1" i="0" dirty="0">
                <a:solidFill>
                  <a:srgbClr val="F59E0B"/>
                </a:solidFill>
                <a:latin typeface="Yu Gothic"/>
              </a:rPr>
              <a:t>NEXT / LIMITS</a:t>
            </a:r>
            <a:endParaRPr lang="en-US" sz="820"/>
          </a:p>
        </p:txBody>
      </p:sp>
      <p:sp>
        <p:nvSpPr>
          <p:cNvPr id="49" name="Text 49"/>
          <p:cNvSpPr txBox="1"/>
          <p:nvPr/>
        </p:nvSpPr>
        <p:spPr>
          <a:xfrm>
            <a:off x="8549640" y="2029968"/>
            <a:ext cx="2761488" cy="420624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ctr"/>
            <a:r>
              <a:rPr lang="en-US" sz="1140" b="1" i="0" dirty="0">
                <a:solidFill>
                  <a:srgbClr val="14213D"/>
                </a:solidFill>
                <a:latin typeface="Yu Gothic"/>
              </a:rPr>
              <a:t>次段階</a:t>
            </a:r>
            <a:endParaRPr lang="en-US" sz="1140"/>
          </a:p>
        </p:txBody>
      </p:sp>
      <p:sp>
        <p:nvSpPr>
          <p:cNvPr id="50" name="Text 50"/>
          <p:cNvSpPr txBox="1"/>
          <p:nvPr/>
        </p:nvSpPr>
        <p:spPr>
          <a:xfrm>
            <a:off x="8549640" y="2542032"/>
            <a:ext cx="2761488" cy="566928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ctr"/>
            <a:r>
              <a:rPr lang="en-US" sz="880" b="0" i="0" dirty="0">
                <a:solidFill>
                  <a:srgbClr val="14213D"/>
                </a:solidFill>
                <a:latin typeface="Yu Gothic"/>
              </a:rPr>
              <a:t>human coordinationを減らす</a:t>
            </a:r>
            <a:endParaRPr lang="en-US" sz="880"/>
          </a:p>
          <a:p>
            <a:pPr algn="ctr"/>
            <a:r>
              <a:rPr lang="en-US" sz="880" b="0" i="0" dirty="0">
                <a:solidFill>
                  <a:srgbClr val="14213D"/>
                </a:solidFill>
                <a:latin typeface="Yu Gothic"/>
              </a:rPr>
              <a:t>authority / provenance / native transparencyは維持</a:t>
            </a:r>
            <a:endParaRPr lang="en-US" sz="880"/>
          </a:p>
        </p:txBody>
      </p:sp>
      <p:cxnSp>
        <p:nvCxnSpPr>
          <p:cNvPr id="51" name="Line 51"/>
          <p:cNvCxnSpPr/>
          <p:nvPr/>
        </p:nvCxnSpPr>
        <p:spPr>
          <a:xfrm flipH="false" flipV="false">
            <a:off x="8613648" y="3291840"/>
            <a:ext cx="2633472" cy="0"/>
          </a:xfrm>
          <a:prstGeom prst="line">
            <a:avLst/>
          </a:prstGeom>
          <a:ln w="12700">
            <a:solidFill>
              <a:srgbClr val="D7DFEA"/>
            </a:solidFill>
          </a:ln>
        </p:spPr>
      </p:cxnSp>
      <p:sp>
        <p:nvSpPr>
          <p:cNvPr id="52" name="Text 52"/>
          <p:cNvSpPr txBox="1"/>
          <p:nvPr/>
        </p:nvSpPr>
        <p:spPr>
          <a:xfrm>
            <a:off x="8549640" y="3493008"/>
            <a:ext cx="2761488" cy="27432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ctr"/>
            <a:r>
              <a:rPr lang="en-US" sz="1000" b="1" i="0" dirty="0">
                <a:solidFill>
                  <a:srgbClr val="DC2626"/>
                </a:solidFill>
                <a:latin typeface="Yu Gothic"/>
              </a:rPr>
              <a:t>このdeckが主張しないこと</a:t>
            </a:r>
            <a:endParaRPr lang="en-US" sz="1000"/>
          </a:p>
        </p:txBody>
      </p:sp>
      <p:sp>
        <p:nvSpPr>
          <p:cNvPr id="53" name="Text 53"/>
          <p:cNvSpPr txBox="1"/>
          <p:nvPr/>
        </p:nvSpPr>
        <p:spPr>
          <a:xfrm>
            <a:off x="8705088" y="3931920"/>
            <a:ext cx="2450592" cy="128016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ctr"/>
            <a:r>
              <a:rPr lang="en-US" sz="800" b="0" i="0" dirty="0">
                <a:solidFill>
                  <a:srgbClr val="56647A"/>
                </a:solidFill>
                <a:latin typeface="Yu Gothic"/>
              </a:rPr>
              <a:t>HPC performance / scaling</a:t>
            </a:r>
            <a:endParaRPr lang="en-US" sz="800"/>
          </a:p>
          <a:p>
            <a:pPr algn="ctr"/>
            <a:r>
              <a:rPr lang="en-US" sz="800" b="0" i="0" dirty="0">
                <a:solidFill>
                  <a:srgbClr val="56647A"/>
                </a:solidFill>
                <a:latin typeface="Yu Gothic"/>
              </a:rPr>
              <a:t>universal agent quality</a:t>
            </a:r>
            <a:endParaRPr lang="en-US" sz="800"/>
          </a:p>
          <a:p>
            <a:pPr algn="ctr"/>
            <a:r>
              <a:rPr lang="en-US" sz="800" b="0" i="0" dirty="0">
                <a:solidFill>
                  <a:srgbClr val="56647A"/>
                </a:solidFill>
                <a:latin typeface="Yu Gothic"/>
              </a:rPr>
              <a:t>完全な事故forensics</a:t>
            </a:r>
            <a:endParaRPr lang="en-US" sz="800"/>
          </a:p>
          <a:p>
            <a:pPr algn="ctr"/>
            <a:r>
              <a:rPr lang="en-US" sz="800" b="0" i="0" dirty="0">
                <a:solidFill>
                  <a:srgbClr val="56647A"/>
                </a:solidFill>
                <a:latin typeface="Yu Gothic"/>
              </a:rPr>
              <a:t>model authorship / honesty</a:t>
            </a:r>
            <a:endParaRPr lang="en-US" sz="800"/>
          </a:p>
          <a:p>
            <a:pPr algn="ctr"/>
            <a:r>
              <a:rPr lang="en-US" sz="800" b="0" i="0" dirty="0">
                <a:solidFill>
                  <a:srgbClr val="56647A"/>
                </a:solidFill>
                <a:latin typeface="Yu Gothic"/>
              </a:rPr>
              <a:t>read confidentiality</a:t>
            </a:r>
            <a:endParaRPr lang="en-US" sz="800"/>
          </a:p>
          <a:p>
            <a:pPr algn="ctr"/>
            <a:r>
              <a:rPr lang="en-US" sz="800" b="0" i="0" dirty="0">
                <a:solidFill>
                  <a:srgbClr val="56647A"/>
                </a:solidFill>
                <a:latin typeface="Yu Gothic"/>
              </a:rPr>
              <a:t>retention deletion authority</a:t>
            </a:r>
            <a:endParaRPr lang="en-US" sz="800"/>
          </a:p>
          <a:p>
            <a:pPr algn="ctr"/>
            <a:r>
              <a:rPr lang="en-US" sz="800" b="0" i="0" dirty="0">
                <a:solidFill>
                  <a:srgbClr val="56647A"/>
                </a:solidFill>
                <a:latin typeface="Yu Gothic"/>
              </a:rPr>
              <a:t>future external state</a:t>
            </a:r>
            <a:endParaRPr lang="en-US" sz="800"/>
          </a:p>
        </p:txBody>
      </p:sp>
      <p:sp>
        <p:nvSpPr>
          <p:cNvPr id="54" name="Rect 54"/>
          <p:cNvSpPr/>
          <p:nvPr/>
        </p:nvSpPr>
        <p:spPr>
          <a:xfrm>
            <a:off x="566928" y="5971032"/>
            <a:ext cx="11045952" cy="338328"/>
          </a:xfrm>
          <a:prstGeom prst="roundRect">
            <a:avLst/>
          </a:prstGeom>
          <a:solidFill>
            <a:srgbClr val="08152F"/>
          </a:solidFill>
          <a:ln w="12700">
            <a:solidFill>
              <a:srgbClr val="08152F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55" name="Text 55"/>
          <p:cNvSpPr txBox="1"/>
          <p:nvPr/>
        </p:nvSpPr>
        <p:spPr>
          <a:xfrm>
            <a:off x="804672" y="6062472"/>
            <a:ext cx="10570464" cy="146304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ctr"/>
            <a:r>
              <a:rPr lang="en-US" sz="920" b="1" i="0" dirty="0">
                <a:solidFill>
                  <a:srgbClr val="FFFFFF"/>
                </a:solidFill>
                <a:latin typeface="Yu Gothic"/>
              </a:rPr>
              <a:t>結論：強い自律性は、広い権限ではなく、狭く説明可能で再検証される権限から生まれる。</a:t>
            </a:r>
            <a:endParaRPr lang="en-US" sz="920"/>
          </a:p>
        </p:txBody>
      </p:sp>
      <p:cxnSp>
        <p:nvCxnSpPr>
          <p:cNvPr id="56" name="Line 56"/>
          <p:cNvCxnSpPr/>
          <p:nvPr/>
        </p:nvCxnSpPr>
        <p:spPr>
          <a:xfrm flipH="false" flipV="false">
            <a:off x="621792" y="6473952"/>
            <a:ext cx="10954512" cy="0"/>
          </a:xfrm>
          <a:prstGeom prst="line">
            <a:avLst/>
          </a:prstGeom>
          <a:ln w="10160">
            <a:solidFill>
              <a:srgbClr val="D7DFEA"/>
            </a:solidFill>
          </a:ln>
        </p:spPr>
      </p:cxnSp>
      <p:sp>
        <p:nvSpPr>
          <p:cNvPr id="57" name="Text 57"/>
          <p:cNvSpPr txBox="1"/>
          <p:nvPr/>
        </p:nvSpPr>
        <p:spPr>
          <a:xfrm>
            <a:off x="640080" y="6510528"/>
            <a:ext cx="10469880" cy="164592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660" b="0" i="0" dirty="0">
                <a:solidFill>
                  <a:srgbClr val="56647A"/>
                </a:solidFill>
                <a:latin typeface="Yu Gothic"/>
              </a:rPr>
              <a:t>7c592af current surface • reversal commits • source-map-ja-5slides.md • evidence limitations</a:t>
            </a:r>
            <a:endParaRPr lang="en-US" sz="660"/>
          </a:p>
        </p:txBody>
      </p:sp>
      <p:sp>
        <p:nvSpPr>
          <p:cNvPr id="58" name="Text 58"/>
          <p:cNvSpPr txBox="1"/>
          <p:nvPr/>
        </p:nvSpPr>
        <p:spPr>
          <a:xfrm>
            <a:off x="11201400" y="6492240"/>
            <a:ext cx="329184" cy="18288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r"/>
            <a:r>
              <a:rPr lang="en-US" sz="750" b="1" i="0" dirty="0">
                <a:solidFill>
                  <a:srgbClr val="56647A"/>
                </a:solidFill>
                <a:latin typeface="Yu Gothic"/>
              </a:rPr>
              <a:t>5</a:t>
            </a:r>
            <a:endParaRPr lang="en-US" sz="75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Harness Technical">
  <a:themeElements>
    <a:clrScheme name="Harness">
      <a:dk1>
        <a:srgbClr val="08152F"/>
      </a:dk1>
      <a:lt1>
        <a:srgbClr val="FFFFFF"/>
      </a:lt1>
      <a:dk2>
        <a:srgbClr val="14213D"/>
      </a:dk2>
      <a:lt2>
        <a:srgbClr val="F6F8FC"/>
      </a:lt2>
      <a:accent1>
        <a:srgbClr val="3B82F6"/>
      </a:accent1>
      <a:accent2>
        <a:srgbClr val="06B6D4"/>
      </a:accent2>
      <a:accent3>
        <a:srgbClr val="0D9488"/>
      </a:accent3>
      <a:accent4>
        <a:srgbClr val="F59E0B"/>
      </a:accent4>
      <a:accent5>
        <a:srgbClr val="7C3AED"/>
      </a:accent5>
      <a:accent6>
        <a:srgbClr val="16A34A"/>
      </a:accent6>
      <a:hlink>
        <a:srgbClr val="0563C1"/>
      </a:hlink>
      <a:folHlink>
        <a:srgbClr val="954F72"/>
      </a:folHlink>
    </a:clrScheme>
    <a:fontScheme name="Arial">
      <a:majorFont>
        <a:latin typeface="Yu Gothic"/>
        <a:ea typeface=""/>
        <a:cs typeface=""/>
      </a:majorFont>
      <a:minorFont>
        <a:latin typeface="Yu Gothic"/>
        <a:ea typeface=""/>
        <a:cs typeface=""/>
      </a:minorFont>
    </a:fontScheme>
    <a:fmtScheme name="Harness">
      <a:fillStyleLst>
        <a:solidFill>
          <a:schemeClr val="phClr"/>
        </a:solidFill>
      </a:fillStyleLst>
      <a:lnStyleLst>
        <a:ln w="9525">
          <a:solidFill>
            <a:schemeClr val="phClr"/>
          </a:solidFill>
        </a:ln>
      </a:lnStyleLst>
      <a:effectStyleLst>
        <a:effectStyle>
          <a:effectLst/>
        </a:effectStyle>
      </a:effectStyleLst>
      <a:bgFillStyleLst>
        <a:solidFill>
          <a:schemeClr val="phClr"/>
        </a:soli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Application>Microsoft Office PowerPoint</Application>
  <PresentationFormat>Widescreen</PresentationFormat>
  <Slides>5</Slides>
  <Notes>5</Notes>
  <HiddenSlides>0</HiddenSlides>
  <ScaleCrop>false</ScaleCrop>
  <HeadingPairs>
    <vt:vector size="2" baseType="variant">
      <vt:variant>
        <vt:lpstr>Slide Titles</vt:lpstr>
      </vt:variant>
      <vt:variant>
        <vt:i4>5</vt:i4>
      </vt:variant>
    </vt:vector>
  </HeadingPairs>
  <TitlesOfParts>
    <vt:vector size="5" baseType="lpstr">
      <vt:lpstr>「設定を配る仕組み」から「証拠で制御する仕組み」へ</vt:lpstr>
      <vt:lpstr>rm -rf 事故が「自律性＝再検証可能な権限」へ設計を変えた</vt:lpstr>
      <vt:lpstr>transaction loop が異種環境を統一せずに統御可能にした</vt:lpstr>
      <vt:lpstr>評価・readiness・restore が「改善」を測定可能な主張に限定した</vt:lpstr>
      <vt:lpstr>現在の広さより、境界を縮め続ける能力が次の成熟を決める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Harness evolution</dc:title>
  <dc:subject>Sourced architecture evolution</dc:subject>
  <dc:creator>OpenAI Codex</dc:creator>
  <cp:lastModifiedBy>OpenAI Codex</cp:lastModifiedBy>
  <dcterms:created xsi:type="dcterms:W3CDTF">2026-07-21T00:00:00Z</dcterms:created>
  <dcterms:modified xsi:type="dcterms:W3CDTF">2026-07-21T00:00:00Z</dcterms:modified>
</cp:coreProperties>
</file>