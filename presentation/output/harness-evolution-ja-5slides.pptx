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hf hdr="1" ftr="1" dt="1" sldNum="1"/>
  <p:notesStyle>
    <a:lvl1pPr>
      <a:defRPr sz="1200">
        <a:latin typeface="Yu Gothic"/>
      </a:defRPr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4114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latin typeface="Yu Gothic"/>
              </a:rPr>
              <a:t>managed Linux environmentはlocal, ab, ab2, ri, al, rc, t4の7つ。abci_loginはab/ab2へのtransport、alps_loginはalへのtransportであり、managed nodeとして数えない。4台のpersonal Macは個別acceptance済みだが、logical identityとprivate desired stateはpublic repositoryに置かない。</a:t>
            </a:r>
            <a:endParaRPr lang="en-US" sz="1200"/>
          </a:p>
          <a:p>
            <a:r>
              <a:rPr lang="en-US" sz="1200">
                <a:latin typeface="Yu Gothic"/>
              </a:rPr>
              <a:t>repositoryは.codexのpolicy/rules、bin/harness dispatcher、libexec engines、host/Mac profiles、12 shared skills、57 focused suites、docs/audits/evaluationに分かれる。install.shは全skill directoryにSKILL.mdがあることと全destination collisionを先に検査し、同じsource skillをCodex、shared-agent、Claudeの3 discovery surfaceへlinkする。</a:t>
            </a:r>
            <a:endParaRPr lang="en-US" sz="1200"/>
          </a:p>
          <a:p>
            <a:r>
              <a:rPr lang="en-US" sz="1200">
                <a:latin typeface="Yu Gothic"/>
              </a:rPr>
              <a:t>invocationはtaskから始まる。clientはmatching skillを選び、SKILL.mdを完全に読み、必要なreferenceだけを追加で読み、harness dispatcherまたは明示されたnative commandへ降りる。skillsはnodeを隠すruntime abstractionではなく、agentのworking methodを規定する。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4114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latin typeface="Yu Gothic"/>
              </a:rPr>
              <a:t>2026年7月15日01:41頃、temporary HOMEを用いたplan commandのcleanupでassignmentが先に失効し、実HOMEに対する rm -rf が起動した。これはharness transactionではなくagent errorと一次記録に明記されている。最初のtool cancellationではchild processが残り、後続auditで発見して明示的に停止した。</a:t>
            </a:r>
            <a:endParaRPr lang="en-US" sz="1200"/>
          </a:p>
          <a:p>
            <a:r>
              <a:rPr lang="en-US" sz="1200">
                <a:latin typeface="Yu Gothic"/>
              </a:rPr>
              <a:t>harnessは検証済みbundleから、websiteのtracked pathsはHEADから復元した。一方、未commitのShellCheck workなどは失われ、一部構成は回復不能として推測復元しなかった。credential contentsは調査していない。</a:t>
            </a:r>
            <a:endParaRPr lang="en-US" sz="1200"/>
          </a:p>
          <a:p>
            <a:r>
              <a:rPr lang="en-US" sz="1200">
                <a:latin typeface="Yu Gothic"/>
              </a:rPr>
              <a:t>238f022はraw recursive rmのpolicy拒否とguarded-deleteを追加した。retained boundary、absolute targets、mode-0600 manifest、token、15-minute freshness、identity/count/size再検証、postcheckが自律性を対象に束縛された短命な権限へ変えた。</a:t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4114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latin typeface="Yu Gothic"/>
              </a:rPr>
              <a:t>実行経路はauthority/policyから始まり、value-free observationとread-only plan、explicit apply gate、target/state revalidation、native execution、doctor/receipt/unchanged-only rollbackへ進む。collision、scope drift、identity mismatch、unsupported environmentがあればSTOPし、evidenceを保持してre-planへ戻る。approval promptに依存して安全を作るのではない。</a:t>
            </a:r>
            <a:endParaRPr lang="en-US" sz="1200"/>
          </a:p>
          <a:p>
            <a:r>
              <a:rPr lang="en-US" sz="1200">
                <a:latin typeface="Yu Gothic"/>
              </a:rPr>
              <a:t>guarded-deleteはcanonical boundary、absolute targets、manifest/token/freshness、identity/count/size、postcheckをapply直前と直後に検証する。transaction enginesもpreimageとmanaged bytesを記録し、対象が後から編集されていればrollbackを拒否する。</a:t>
            </a:r>
            <a:endParaRPr lang="en-US" sz="1200"/>
          </a:p>
          <a:p>
            <a:r>
              <a:rPr lang="en-US" sz="1200">
                <a:latin typeface="Yu Gothic"/>
              </a:rPr>
              <a:t>57 focused suitesはmanifestからisolated subprocessとして実行され、各suiteに個別logとstatus/timeを帰属させる。visible CPUに応じて4または8 workersを使う。test-phase1.shがsyntax、focused suites、portable contracts、guarded cleanupを束ね、protected CIはcredentialをpersistしないUbuntu runnerでaffinity contractと完全gateを実行する。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4114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latin typeface="Yu Gothic"/>
              </a:rPr>
              <a:t>owner requestを受けたclientがdriver、他方がco-pilotになるrole-neutral protocolであり、Codex/Claudeのどちらも固定の上位役ではない。state machineはplanning→discussing→ready-for-execution→executing→validating→completeの前進のみ。</a:t>
            </a:r>
            <a:endParaRPr lang="en-US" sz="1200"/>
          </a:p>
          <a:p>
            <a:r>
              <a:rPr lang="en-US" sz="1200">
                <a:latin typeface="Yu Gothic"/>
              </a:rPr>
              <a:t>charter.mdがscope/authority/baseline、plan.mdがinitial plan、driver-evidence.mdとcopilot-evidence.mdがindependent experiment、reconciliation.mdがaccepted/rejected evidenceとfrozen plan、execution.mdとvalidation.mdがdriver-only target workとacceptanceを保持する。raw logsはbounded artifactsへ置く。</a:t>
            </a:r>
            <a:endParaRPr lang="en-US" sz="1200"/>
          </a:p>
          <a:p>
            <a:r>
              <a:rPr lang="en-US" sz="1200">
                <a:latin typeface="Yu Gothic"/>
              </a:rPr>
              <a:t>co-pilotにはlive sessionではなくpath-free projected state、charter、plan、sealed promptを含むstageだけを渡す。candidateはexternal seal、freshness、structureを検証してimportし、receipt chainへbindする。独立passの後にreciprocal critiqueを行い、driverがreconciliationを凍結してからowner goのもとtargetを一人だけが変更する。</a:t>
            </a:r>
            <a:endParaRPr lang="en-US" sz="1200"/>
          </a:p>
          <a:p>
            <a:r>
              <a:rPr lang="en-US" sz="1200">
                <a:latin typeface="Yu Gothic"/>
              </a:rPr>
              <a:t>同じroleのprocess recoveryはdisk上のstateとMarkdownを再読して最初の未検証actionから再開する。cross-product takeoverは新sessionをplanningから開始し、predecessor digestだけを引き継ぐ。hash/receiptはbyte relationshipであり、authorshipやmodel honestyを証明しない。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4114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latin typeface="Yu Gothic"/>
              </a:rPr>
              <a:t>complete historyは544 total / 544 first-parent commits、tag 0、merge commit 0。意味のある変化はProtect、Observe、Transact、Recover、Measure、Expand、Collaborateの7段階に圧縮できる。current surfaceは12 skills、43 commands、57 focused suites、7 Linux profilesだが、countは品質指標ではない。</a:t>
            </a:r>
            <a:endParaRPr lang="en-US" sz="1200"/>
          </a:p>
          <a:p>
            <a:r>
              <a:rPr lang="en-US" sz="1200">
                <a:latin typeface="Yu Gothic"/>
              </a:rPr>
              <a:t>checked-in evidenceはCPU readiness 7/7、accelerator driver/runtime 7/7、CUDA kernel 5、single-node MPI routes 5、T-181 deterministic 69/70かつsafety failure 0、backup/restore 7 primary + 7 independent generation、cowork matched median 29.69s→25.35sを示す。readinessはperformanceではなく、corpus/host-specific limitsを伴う。</a:t>
            </a:r>
            <a:endParaRPr lang="en-US" sz="1200"/>
          </a:p>
          <a:p>
            <a:r>
              <a:rPr lang="en-US" sz="1200">
                <a:latin typeface="Yu Gothic"/>
              </a:rPr>
              <a:t>成熟を示すのは追加だけではない。automatic login Git、website ownership、private Bash/tmux duplication、harness-owned native Codexを撤回した。次段階はhuman coordinationを減らすことだが、authority、provenance、native transparencyを維持する。このdeckはHPC scaling、universal agent quality、完全な事故forensics、authorship/honesty、read confidentiality、retention deletion authority、future external stateを主張しない。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 algn="l">
        <a:defRPr sz="2800" b="1">
          <a:latin typeface="Yu Gothic"/>
        </a:defRPr>
      </a:lvl1pPr>
    </p:titleStyle>
    <p:bodyStyle>
      <a:lvl1pPr>
        <a:defRPr sz="1600">
          <a:latin typeface="Yu Gothic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21792" y="320040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550" b="1" i="0" dirty="0">
                <a:solidFill>
                  <a:srgbClr val="14213D"/>
                </a:solidFill>
                <a:latin typeface="Yu Gothic"/>
              </a:rPr>
              <a:t>1つのrepositoryが7 Linux・4 Mac・2 clientsを明示的に統御する</a:t>
            </a:r>
            <a:endParaRPr lang="en-US" sz="2550"/>
          </a:p>
        </p:txBody>
      </p:sp>
      <p:sp>
        <p:nvSpPr>
          <p:cNvPr id="4" name="Text 4"/>
          <p:cNvSpPr txBox="1"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80" b="0" i="0" dirty="0">
                <a:solidFill>
                  <a:srgbClr val="56647A"/>
                </a:solidFill>
                <a:latin typeface="Yu Gothic"/>
              </a:rPr>
              <a:t>node topology × repository tree × skill invocation</a:t>
            </a:r>
            <a:endParaRPr lang="en-US" sz="1080"/>
          </a:p>
        </p:txBody>
      </p:sp>
      <p:sp>
        <p:nvSpPr>
          <p:cNvPr id="5" name="Rect 5"/>
          <p:cNvSpPr/>
          <p:nvPr/>
        </p:nvSpPr>
        <p:spPr>
          <a:xfrm>
            <a:off x="475488" y="1261872"/>
            <a:ext cx="5532120" cy="3593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6"/>
          <p:cNvSpPr/>
          <p:nvPr/>
        </p:nvSpPr>
        <p:spPr>
          <a:xfrm>
            <a:off x="713232" y="1481328"/>
            <a:ext cx="1481328" cy="274320"/>
          </a:xfrm>
          <a:prstGeom prst="roundRect">
            <a:avLst/>
          </a:prstGeom>
          <a:solidFill>
            <a:srgbClr val="DEEAFD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68096" y="1545336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3B82F6"/>
                </a:solidFill>
                <a:latin typeface="Yu Gothic"/>
              </a:rPr>
              <a:t>MANAGED TOPOLOGY</a:t>
            </a:r>
            <a:endParaRPr lang="en-US" sz="820"/>
          </a:p>
        </p:txBody>
      </p:sp>
      <p:sp>
        <p:nvSpPr>
          <p:cNvPr id="8" name="Ellipse 8"/>
          <p:cNvSpPr/>
          <p:nvPr/>
        </p:nvSpPr>
        <p:spPr>
          <a:xfrm>
            <a:off x="2560320" y="1847088"/>
            <a:ext cx="1261872" cy="694944"/>
          </a:xfrm>
          <a:prstGeom prst="ellipse">
            <a:avLst/>
          </a:prstGeom>
          <a:solidFill>
            <a:srgbClr val="08152F"/>
          </a:solidFill>
          <a:ln w="12700">
            <a:solidFill>
              <a:srgbClr val="08152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2688336" y="2048256"/>
            <a:ext cx="1005840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Yu Gothic"/>
              </a:rPr>
              <a:t>local</a:t>
            </a:r>
            <a:endParaRPr lang="en-US" sz="1150"/>
          </a:p>
        </p:txBody>
      </p:sp>
      <p:sp>
        <p:nvSpPr>
          <p:cNvPr id="10" name="Text 10"/>
          <p:cNvSpPr txBox="1"/>
          <p:nvPr/>
        </p:nvSpPr>
        <p:spPr>
          <a:xfrm>
            <a:off x="2688336" y="2267712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70" b="0" i="0" dirty="0">
                <a:solidFill>
                  <a:srgbClr val="C5CFDC"/>
                </a:solidFill>
                <a:latin typeface="Yu Gothic"/>
              </a:rPr>
              <a:t>controller + node</a:t>
            </a:r>
            <a:endParaRPr lang="en-US" sz="670"/>
          </a:p>
        </p:txBody>
      </p:sp>
      <p:sp>
        <p:nvSpPr>
          <p:cNvPr id="11" name="Rect 11"/>
          <p:cNvSpPr/>
          <p:nvPr/>
        </p:nvSpPr>
        <p:spPr>
          <a:xfrm>
            <a:off x="713232" y="1920240"/>
            <a:ext cx="1481328" cy="749808"/>
          </a:xfrm>
          <a:prstGeom prst="roundRect">
            <a:avLst/>
          </a:prstGeom>
          <a:solidFill>
            <a:srgbClr val="EBF2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804672" y="2039112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3B82F6"/>
                </a:solidFill>
                <a:latin typeface="Yu Gothic"/>
              </a:rPr>
              <a:t>ABCI</a:t>
            </a:r>
            <a:endParaRPr lang="en-US" sz="920"/>
          </a:p>
        </p:txBody>
      </p:sp>
      <p:sp>
        <p:nvSpPr>
          <p:cNvPr id="13" name="Text 13"/>
          <p:cNvSpPr txBox="1"/>
          <p:nvPr/>
        </p:nvSpPr>
        <p:spPr>
          <a:xfrm>
            <a:off x="804672" y="2313432"/>
            <a:ext cx="12984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0" i="0" dirty="0">
                <a:solidFill>
                  <a:srgbClr val="14213D"/>
                </a:solidFill>
                <a:latin typeface="Yu Gothic"/>
              </a:rPr>
              <a:t>ab • ab2</a:t>
            </a:r>
            <a:endParaRPr lang="en-US" sz="840"/>
          </a:p>
        </p:txBody>
      </p:sp>
      <p:cxnSp>
        <p:nvCxnSpPr>
          <p:cNvPr id="14" name="Line 14"/>
          <p:cNvCxnSpPr/>
          <p:nvPr/>
        </p:nvCxnSpPr>
        <p:spPr>
          <a:xfrm flipH="true" flipV="false">
            <a:off x="1453896" y="2560320"/>
            <a:ext cx="1737360" cy="137160"/>
          </a:xfrm>
          <a:prstGeom prst="line">
            <a:avLst/>
          </a:prstGeom>
          <a:ln w="10160">
            <a:solidFill>
              <a:srgbClr val="C5CFDC"/>
            </a:solidFill>
          </a:ln>
        </p:spPr>
      </p:cxnSp>
      <p:sp>
        <p:nvSpPr>
          <p:cNvPr id="15" name="Rect 15"/>
          <p:cNvSpPr/>
          <p:nvPr/>
        </p:nvSpPr>
        <p:spPr>
          <a:xfrm>
            <a:off x="713232" y="2907792"/>
            <a:ext cx="1481328" cy="658368"/>
          </a:xfrm>
          <a:prstGeom prst="roundRect">
            <a:avLst/>
          </a:prstGeom>
          <a:solidFill>
            <a:srgbClr val="E6F8FB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804672" y="3026664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06B6D4"/>
                </a:solidFill>
                <a:latin typeface="Yu Gothic"/>
              </a:rPr>
              <a:t>RIKEN</a:t>
            </a:r>
            <a:endParaRPr lang="en-US" sz="920"/>
          </a:p>
        </p:txBody>
      </p:sp>
      <p:sp>
        <p:nvSpPr>
          <p:cNvPr id="17" name="Text 17"/>
          <p:cNvSpPr txBox="1"/>
          <p:nvPr/>
        </p:nvSpPr>
        <p:spPr>
          <a:xfrm>
            <a:off x="804672" y="3300984"/>
            <a:ext cx="12984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0" i="0" dirty="0">
                <a:solidFill>
                  <a:srgbClr val="14213D"/>
                </a:solidFill>
                <a:latin typeface="Yu Gothic"/>
              </a:rPr>
              <a:t>ri</a:t>
            </a:r>
            <a:endParaRPr lang="en-US" sz="840"/>
          </a:p>
        </p:txBody>
      </p:sp>
      <p:cxnSp>
        <p:nvCxnSpPr>
          <p:cNvPr id="18" name="Line 18"/>
          <p:cNvCxnSpPr/>
          <p:nvPr/>
        </p:nvCxnSpPr>
        <p:spPr>
          <a:xfrm flipH="true" flipV="false">
            <a:off x="1453896" y="2560320"/>
            <a:ext cx="1737360" cy="320040"/>
          </a:xfrm>
          <a:prstGeom prst="line">
            <a:avLst/>
          </a:prstGeom>
          <a:ln w="10160">
            <a:solidFill>
              <a:srgbClr val="C5CFDC"/>
            </a:solidFill>
          </a:ln>
        </p:spPr>
      </p:cxnSp>
      <p:sp>
        <p:nvSpPr>
          <p:cNvPr id="19" name="Rect 19"/>
          <p:cNvSpPr/>
          <p:nvPr/>
        </p:nvSpPr>
        <p:spPr>
          <a:xfrm>
            <a:off x="2432304" y="2907792"/>
            <a:ext cx="1481328" cy="658368"/>
          </a:xfrm>
          <a:prstGeom prst="roundRect">
            <a:avLst/>
          </a:prstGeom>
          <a:solidFill>
            <a:srgbClr val="E7F4F3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2523744" y="3026664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0D9488"/>
                </a:solidFill>
                <a:latin typeface="Yu Gothic"/>
              </a:rPr>
              <a:t>CSCS</a:t>
            </a:r>
            <a:endParaRPr lang="en-US" sz="920"/>
          </a:p>
        </p:txBody>
      </p:sp>
      <p:sp>
        <p:nvSpPr>
          <p:cNvPr id="21" name="Text 21"/>
          <p:cNvSpPr txBox="1"/>
          <p:nvPr/>
        </p:nvSpPr>
        <p:spPr>
          <a:xfrm>
            <a:off x="2523744" y="3300984"/>
            <a:ext cx="12984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0" i="0" dirty="0">
                <a:solidFill>
                  <a:srgbClr val="14213D"/>
                </a:solidFill>
                <a:latin typeface="Yu Gothic"/>
              </a:rPr>
              <a:t>al</a:t>
            </a:r>
            <a:endParaRPr lang="en-US" sz="840"/>
          </a:p>
        </p:txBody>
      </p:sp>
      <p:cxnSp>
        <p:nvCxnSpPr>
          <p:cNvPr id="22" name="Line 22"/>
          <p:cNvCxnSpPr/>
          <p:nvPr/>
        </p:nvCxnSpPr>
        <p:spPr>
          <a:xfrm flipH="true" flipV="false">
            <a:off x="3172968" y="2560320"/>
            <a:ext cx="18288" cy="320040"/>
          </a:xfrm>
          <a:prstGeom prst="line">
            <a:avLst/>
          </a:prstGeom>
          <a:ln w="10160">
            <a:solidFill>
              <a:srgbClr val="C5CFDC"/>
            </a:solidFill>
          </a:ln>
        </p:spPr>
      </p:cxnSp>
      <p:sp>
        <p:nvSpPr>
          <p:cNvPr id="23" name="Rect 23"/>
          <p:cNvSpPr/>
          <p:nvPr/>
        </p:nvSpPr>
        <p:spPr>
          <a:xfrm>
            <a:off x="4151376" y="1920240"/>
            <a:ext cx="1481328" cy="749808"/>
          </a:xfrm>
          <a:prstGeom prst="roundRect">
            <a:avLst/>
          </a:prstGeom>
          <a:solidFill>
            <a:srgbClr val="F2EBF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4242816" y="2039112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7C3AED"/>
                </a:solidFill>
                <a:latin typeface="Yu Gothic"/>
              </a:rPr>
              <a:t>R-CCS</a:t>
            </a:r>
            <a:endParaRPr lang="en-US" sz="920"/>
          </a:p>
        </p:txBody>
      </p:sp>
      <p:sp>
        <p:nvSpPr>
          <p:cNvPr id="25" name="Text 25"/>
          <p:cNvSpPr txBox="1"/>
          <p:nvPr/>
        </p:nvSpPr>
        <p:spPr>
          <a:xfrm>
            <a:off x="4242816" y="2313432"/>
            <a:ext cx="12984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0" i="0" dirty="0">
                <a:solidFill>
                  <a:srgbClr val="14213D"/>
                </a:solidFill>
                <a:latin typeface="Yu Gothic"/>
              </a:rPr>
              <a:t>rc</a:t>
            </a:r>
            <a:endParaRPr lang="en-US" sz="840"/>
          </a:p>
        </p:txBody>
      </p:sp>
      <p:cxnSp>
        <p:nvCxnSpPr>
          <p:cNvPr id="26" name="Line 26"/>
          <p:cNvCxnSpPr/>
          <p:nvPr/>
        </p:nvCxnSpPr>
        <p:spPr>
          <a:xfrm flipH="false" flipV="false">
            <a:off x="3191256" y="2560320"/>
            <a:ext cx="1700784" cy="137160"/>
          </a:xfrm>
          <a:prstGeom prst="line">
            <a:avLst/>
          </a:prstGeom>
          <a:ln w="10160">
            <a:solidFill>
              <a:srgbClr val="C5CFDC"/>
            </a:solidFill>
          </a:ln>
        </p:spPr>
      </p:cxnSp>
      <p:sp>
        <p:nvSpPr>
          <p:cNvPr id="27" name="Rect 27"/>
          <p:cNvSpPr/>
          <p:nvPr/>
        </p:nvSpPr>
        <p:spPr>
          <a:xfrm>
            <a:off x="4151376" y="2907792"/>
            <a:ext cx="1481328" cy="658368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 txBox="1"/>
          <p:nvPr/>
        </p:nvSpPr>
        <p:spPr>
          <a:xfrm>
            <a:off x="4242816" y="3026664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F59E0B"/>
                </a:solidFill>
                <a:latin typeface="Yu Gothic"/>
              </a:rPr>
              <a:t>T4</a:t>
            </a:r>
            <a:endParaRPr lang="en-US" sz="920"/>
          </a:p>
        </p:txBody>
      </p:sp>
      <p:sp>
        <p:nvSpPr>
          <p:cNvPr id="29" name="Text 29"/>
          <p:cNvSpPr txBox="1"/>
          <p:nvPr/>
        </p:nvSpPr>
        <p:spPr>
          <a:xfrm>
            <a:off x="4242816" y="3300984"/>
            <a:ext cx="12984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0" i="0" dirty="0">
                <a:solidFill>
                  <a:srgbClr val="14213D"/>
                </a:solidFill>
                <a:latin typeface="Yu Gothic"/>
              </a:rPr>
              <a:t>t4</a:t>
            </a:r>
            <a:endParaRPr lang="en-US" sz="840"/>
          </a:p>
        </p:txBody>
      </p:sp>
      <p:cxnSp>
        <p:nvCxnSpPr>
          <p:cNvPr id="30" name="Line 30"/>
          <p:cNvCxnSpPr/>
          <p:nvPr/>
        </p:nvCxnSpPr>
        <p:spPr>
          <a:xfrm flipH="false" flipV="false">
            <a:off x="3191256" y="2560320"/>
            <a:ext cx="1700784" cy="320040"/>
          </a:xfrm>
          <a:prstGeom prst="line">
            <a:avLst/>
          </a:prstGeom>
          <a:ln w="10160">
            <a:solidFill>
              <a:srgbClr val="C5CFDC"/>
            </a:solidFill>
          </a:ln>
        </p:spPr>
      </p:cxnSp>
      <p:sp>
        <p:nvSpPr>
          <p:cNvPr id="31" name="Text 31"/>
          <p:cNvSpPr txBox="1"/>
          <p:nvPr/>
        </p:nvSpPr>
        <p:spPr>
          <a:xfrm>
            <a:off x="795528" y="2633472"/>
            <a:ext cx="1316736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via abci_login (transport)</a:t>
            </a:r>
            <a:endParaRPr lang="en-US" sz="650"/>
          </a:p>
        </p:txBody>
      </p:sp>
      <p:sp>
        <p:nvSpPr>
          <p:cNvPr id="32" name="Text 32"/>
          <p:cNvSpPr txBox="1"/>
          <p:nvPr/>
        </p:nvSpPr>
        <p:spPr>
          <a:xfrm>
            <a:off x="2505456" y="3611880"/>
            <a:ext cx="133502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via alps_login (transport)</a:t>
            </a:r>
            <a:endParaRPr lang="en-US" sz="650"/>
          </a:p>
        </p:txBody>
      </p:sp>
      <p:sp>
        <p:nvSpPr>
          <p:cNvPr id="33" name="Rect 33"/>
          <p:cNvSpPr/>
          <p:nvPr/>
        </p:nvSpPr>
        <p:spPr>
          <a:xfrm>
            <a:off x="1243584" y="3904488"/>
            <a:ext cx="3950208" cy="640080"/>
          </a:xfrm>
          <a:prstGeom prst="roundRect">
            <a:avLst/>
          </a:prstGeom>
          <a:solidFill>
            <a:srgbClr val="FCECF3"/>
          </a:solidFill>
          <a:ln w="12700">
            <a:solidFill>
              <a:srgbClr val="DB27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1426464" y="4050792"/>
            <a:ext cx="3584448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40" b="1" i="0" dirty="0">
                <a:solidFill>
                  <a:srgbClr val="DB2777"/>
                </a:solidFill>
                <a:latin typeface="Yu Gothic"/>
              </a:rPr>
              <a:t>Personal Mac × 4 — individually accepted</a:t>
            </a:r>
            <a:endParaRPr lang="en-US" sz="940"/>
          </a:p>
        </p:txBody>
      </p:sp>
      <p:sp>
        <p:nvSpPr>
          <p:cNvPr id="35" name="Text 35"/>
          <p:cNvSpPr txBox="1"/>
          <p:nvPr/>
        </p:nvSpPr>
        <p:spPr>
          <a:xfrm>
            <a:off x="1426464" y="4315968"/>
            <a:ext cx="3584448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opaque identity • private intent outside public Git</a:t>
            </a:r>
            <a:endParaRPr lang="en-US" sz="660"/>
          </a:p>
        </p:txBody>
      </p:sp>
      <p:sp>
        <p:nvSpPr>
          <p:cNvPr id="36" name="Rect 36"/>
          <p:cNvSpPr/>
          <p:nvPr/>
        </p:nvSpPr>
        <p:spPr>
          <a:xfrm>
            <a:off x="6199632" y="1261872"/>
            <a:ext cx="5513832" cy="3593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37"/>
          <p:cNvSpPr/>
          <p:nvPr/>
        </p:nvSpPr>
        <p:spPr>
          <a:xfrm>
            <a:off x="6437376" y="1481328"/>
            <a:ext cx="1408176" cy="274320"/>
          </a:xfrm>
          <a:prstGeom prst="roundRect">
            <a:avLst/>
          </a:prstGeom>
          <a:solidFill>
            <a:srgbClr val="D6EDEB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6492240" y="1545336"/>
            <a:ext cx="129844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0D9488"/>
                </a:solidFill>
                <a:latin typeface="Yu Gothic"/>
              </a:rPr>
              <a:t>REPOSITORY TREE</a:t>
            </a:r>
            <a:endParaRPr lang="en-US" sz="820"/>
          </a:p>
        </p:txBody>
      </p:sp>
      <p:sp>
        <p:nvSpPr>
          <p:cNvPr id="39" name="Text 39"/>
          <p:cNvSpPr txBox="1"/>
          <p:nvPr/>
        </p:nvSpPr>
        <p:spPr>
          <a:xfrm>
            <a:off x="6455664" y="18745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 i="0" dirty="0">
                <a:solidFill>
                  <a:srgbClr val="14213D"/>
                </a:solidFill>
                <a:latin typeface="Yu Gothic"/>
              </a:rPr>
              <a:t>harness/</a:t>
            </a:r>
            <a:endParaRPr lang="en-US" sz="1250"/>
          </a:p>
        </p:txBody>
      </p:sp>
      <p:cxnSp>
        <p:nvCxnSpPr>
          <p:cNvPr id="40" name="Line 40"/>
          <p:cNvCxnSpPr/>
          <p:nvPr/>
        </p:nvCxnSpPr>
        <p:spPr>
          <a:xfrm flipH="false" flipV="false">
            <a:off x="6547104" y="2286000"/>
            <a:ext cx="265176" cy="0"/>
          </a:xfrm>
          <a:prstGeom prst="line">
            <a:avLst/>
          </a:prstGeom>
          <a:ln w="11430">
            <a:solidFill>
              <a:srgbClr val="C5CFDC"/>
            </a:solidFill>
          </a:ln>
        </p:spPr>
      </p:cxnSp>
      <p:sp>
        <p:nvSpPr>
          <p:cNvPr id="41" name="Text 41"/>
          <p:cNvSpPr txBox="1"/>
          <p:nvPr/>
        </p:nvSpPr>
        <p:spPr>
          <a:xfrm>
            <a:off x="6894576" y="2194560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60" b="1" i="0" dirty="0">
                <a:solidFill>
                  <a:srgbClr val="3B82F6"/>
                </a:solidFill>
                <a:latin typeface="Yu Gothic"/>
              </a:rPr>
              <a:t>.codex/</a:t>
            </a:r>
            <a:endParaRPr lang="en-US" sz="860"/>
          </a:p>
        </p:txBody>
      </p:sp>
      <p:sp>
        <p:nvSpPr>
          <p:cNvPr id="42" name="Text 42"/>
          <p:cNvSpPr txBox="1"/>
          <p:nvPr/>
        </p:nvSpPr>
        <p:spPr>
          <a:xfrm>
            <a:off x="8942832" y="2194560"/>
            <a:ext cx="24323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770" b="0" i="0" dirty="0">
                <a:solidFill>
                  <a:srgbClr val="56647A"/>
                </a:solidFill>
                <a:latin typeface="Yu Gothic"/>
              </a:rPr>
              <a:t>policy • rules</a:t>
            </a:r>
            <a:endParaRPr lang="en-US" sz="770"/>
          </a:p>
        </p:txBody>
      </p:sp>
      <p:cxnSp>
        <p:nvCxnSpPr>
          <p:cNvPr id="43" name="Line 43"/>
          <p:cNvCxnSpPr/>
          <p:nvPr/>
        </p:nvCxnSpPr>
        <p:spPr>
          <a:xfrm flipH="false" flipV="false">
            <a:off x="6547104" y="2679192"/>
            <a:ext cx="265176" cy="0"/>
          </a:xfrm>
          <a:prstGeom prst="line">
            <a:avLst/>
          </a:prstGeom>
          <a:ln w="11430">
            <a:solidFill>
              <a:srgbClr val="C5CFDC"/>
            </a:solidFill>
          </a:ln>
        </p:spPr>
      </p:cxnSp>
      <p:sp>
        <p:nvSpPr>
          <p:cNvPr id="44" name="Text 44"/>
          <p:cNvSpPr txBox="1"/>
          <p:nvPr/>
        </p:nvSpPr>
        <p:spPr>
          <a:xfrm>
            <a:off x="6894576" y="25877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60" b="1" i="0" dirty="0">
                <a:solidFill>
                  <a:srgbClr val="0D9488"/>
                </a:solidFill>
                <a:latin typeface="Yu Gothic"/>
              </a:rPr>
              <a:t>bin/ → libexec/</a:t>
            </a:r>
            <a:endParaRPr lang="en-US" sz="860"/>
          </a:p>
        </p:txBody>
      </p:sp>
      <p:sp>
        <p:nvSpPr>
          <p:cNvPr id="45" name="Text 45"/>
          <p:cNvSpPr txBox="1"/>
          <p:nvPr/>
        </p:nvSpPr>
        <p:spPr>
          <a:xfrm>
            <a:off x="8942832" y="2587752"/>
            <a:ext cx="24323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770" b="0" i="0" dirty="0">
                <a:solidFill>
                  <a:srgbClr val="56647A"/>
                </a:solidFill>
                <a:latin typeface="Yu Gothic"/>
              </a:rPr>
              <a:t>dispatcher • engines</a:t>
            </a:r>
            <a:endParaRPr lang="en-US" sz="770"/>
          </a:p>
        </p:txBody>
      </p:sp>
      <p:cxnSp>
        <p:nvCxnSpPr>
          <p:cNvPr id="46" name="Line 46"/>
          <p:cNvCxnSpPr/>
          <p:nvPr/>
        </p:nvCxnSpPr>
        <p:spPr>
          <a:xfrm flipH="false" flipV="false">
            <a:off x="6547104" y="3072384"/>
            <a:ext cx="265176" cy="0"/>
          </a:xfrm>
          <a:prstGeom prst="line">
            <a:avLst/>
          </a:prstGeom>
          <a:ln w="11430">
            <a:solidFill>
              <a:srgbClr val="C5CFDC"/>
            </a:solidFill>
          </a:ln>
        </p:spPr>
      </p:cxnSp>
      <p:sp>
        <p:nvSpPr>
          <p:cNvPr id="47" name="Text 47"/>
          <p:cNvSpPr txBox="1"/>
          <p:nvPr/>
        </p:nvSpPr>
        <p:spPr>
          <a:xfrm>
            <a:off x="6894576" y="2980944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60" b="1" i="0" dirty="0">
                <a:solidFill>
                  <a:srgbClr val="06B6D4"/>
                </a:solidFill>
                <a:latin typeface="Yu Gothic"/>
              </a:rPr>
              <a:t>profiles/</a:t>
            </a:r>
            <a:endParaRPr lang="en-US" sz="860"/>
          </a:p>
        </p:txBody>
      </p:sp>
      <p:sp>
        <p:nvSpPr>
          <p:cNvPr id="48" name="Text 48"/>
          <p:cNvSpPr txBox="1"/>
          <p:nvPr/>
        </p:nvSpPr>
        <p:spPr>
          <a:xfrm>
            <a:off x="8942832" y="2980944"/>
            <a:ext cx="24323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770" b="0" i="0" dirty="0">
                <a:solidFill>
                  <a:srgbClr val="56647A"/>
                </a:solidFill>
                <a:latin typeface="Yu Gothic"/>
              </a:rPr>
              <a:t>7 Linux • public Mac schema</a:t>
            </a:r>
            <a:endParaRPr lang="en-US" sz="770"/>
          </a:p>
        </p:txBody>
      </p:sp>
      <p:cxnSp>
        <p:nvCxnSpPr>
          <p:cNvPr id="49" name="Line 49"/>
          <p:cNvCxnSpPr/>
          <p:nvPr/>
        </p:nvCxnSpPr>
        <p:spPr>
          <a:xfrm flipH="false" flipV="false">
            <a:off x="6547104" y="3465576"/>
            <a:ext cx="265176" cy="0"/>
          </a:xfrm>
          <a:prstGeom prst="line">
            <a:avLst/>
          </a:prstGeom>
          <a:ln w="11430">
            <a:solidFill>
              <a:srgbClr val="C5CFDC"/>
            </a:solidFill>
          </a:ln>
        </p:spPr>
      </p:cxnSp>
      <p:sp>
        <p:nvSpPr>
          <p:cNvPr id="50" name="Text 50"/>
          <p:cNvSpPr txBox="1"/>
          <p:nvPr/>
        </p:nvSpPr>
        <p:spPr>
          <a:xfrm>
            <a:off x="6894576" y="337413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60" b="1" i="0" dirty="0">
                <a:solidFill>
                  <a:srgbClr val="7C3AED"/>
                </a:solidFill>
                <a:latin typeface="Yu Gothic"/>
              </a:rPr>
              <a:t>shared/skills/</a:t>
            </a:r>
            <a:endParaRPr lang="en-US" sz="860"/>
          </a:p>
        </p:txBody>
      </p:sp>
      <p:sp>
        <p:nvSpPr>
          <p:cNvPr id="51" name="Text 51"/>
          <p:cNvSpPr txBox="1"/>
          <p:nvPr/>
        </p:nvSpPr>
        <p:spPr>
          <a:xfrm>
            <a:off x="8942832" y="3374136"/>
            <a:ext cx="24323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770" b="0" i="0" dirty="0">
                <a:solidFill>
                  <a:srgbClr val="56647A"/>
                </a:solidFill>
                <a:latin typeface="Yu Gothic"/>
              </a:rPr>
              <a:t>12 × SKILL.md + refs/scripts</a:t>
            </a:r>
            <a:endParaRPr lang="en-US" sz="770"/>
          </a:p>
        </p:txBody>
      </p:sp>
      <p:cxnSp>
        <p:nvCxnSpPr>
          <p:cNvPr id="52" name="Line 52"/>
          <p:cNvCxnSpPr/>
          <p:nvPr/>
        </p:nvCxnSpPr>
        <p:spPr>
          <a:xfrm flipH="false" flipV="false">
            <a:off x="6547104" y="3858768"/>
            <a:ext cx="265176" cy="0"/>
          </a:xfrm>
          <a:prstGeom prst="line">
            <a:avLst/>
          </a:prstGeom>
          <a:ln w="11430">
            <a:solidFill>
              <a:srgbClr val="C5CFDC"/>
            </a:solidFill>
          </a:ln>
        </p:spPr>
      </p:cxnSp>
      <p:sp>
        <p:nvSpPr>
          <p:cNvPr id="53" name="Text 53"/>
          <p:cNvSpPr txBox="1"/>
          <p:nvPr/>
        </p:nvSpPr>
        <p:spPr>
          <a:xfrm>
            <a:off x="6894576" y="376732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60" b="1" i="0" dirty="0">
                <a:solidFill>
                  <a:srgbClr val="16A34A"/>
                </a:solidFill>
                <a:latin typeface="Yu Gothic"/>
              </a:rPr>
              <a:t>tests/</a:t>
            </a:r>
            <a:endParaRPr lang="en-US" sz="860"/>
          </a:p>
        </p:txBody>
      </p:sp>
      <p:sp>
        <p:nvSpPr>
          <p:cNvPr id="54" name="Text 54"/>
          <p:cNvSpPr txBox="1"/>
          <p:nvPr/>
        </p:nvSpPr>
        <p:spPr>
          <a:xfrm>
            <a:off x="8942832" y="3767328"/>
            <a:ext cx="24323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770" b="0" i="0" dirty="0">
                <a:solidFill>
                  <a:srgbClr val="56647A"/>
                </a:solidFill>
                <a:latin typeface="Yu Gothic"/>
              </a:rPr>
              <a:t>57 focused • phase1 • CI</a:t>
            </a:r>
            <a:endParaRPr lang="en-US" sz="770"/>
          </a:p>
        </p:txBody>
      </p:sp>
      <p:cxnSp>
        <p:nvCxnSpPr>
          <p:cNvPr id="55" name="Line 55"/>
          <p:cNvCxnSpPr/>
          <p:nvPr/>
        </p:nvCxnSpPr>
        <p:spPr>
          <a:xfrm flipH="false" flipV="false">
            <a:off x="6547104" y="4251960"/>
            <a:ext cx="265176" cy="0"/>
          </a:xfrm>
          <a:prstGeom prst="line">
            <a:avLst/>
          </a:prstGeom>
          <a:ln w="11430">
            <a:solidFill>
              <a:srgbClr val="C5CFDC"/>
            </a:solidFill>
          </a:ln>
        </p:spPr>
      </p:cxnSp>
      <p:sp>
        <p:nvSpPr>
          <p:cNvPr id="56" name="Text 56"/>
          <p:cNvSpPr txBox="1"/>
          <p:nvPr/>
        </p:nvSpPr>
        <p:spPr>
          <a:xfrm>
            <a:off x="6894576" y="4160520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60" b="1" i="0" dirty="0">
                <a:solidFill>
                  <a:srgbClr val="F59E0B"/>
                </a:solidFill>
                <a:latin typeface="Yu Gothic"/>
              </a:rPr>
              <a:t>docs/audits + evaluation/</a:t>
            </a:r>
            <a:endParaRPr lang="en-US" sz="860"/>
          </a:p>
        </p:txBody>
      </p:sp>
      <p:sp>
        <p:nvSpPr>
          <p:cNvPr id="57" name="Text 57"/>
          <p:cNvSpPr txBox="1"/>
          <p:nvPr/>
        </p:nvSpPr>
        <p:spPr>
          <a:xfrm>
            <a:off x="8942832" y="4160520"/>
            <a:ext cx="24323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770" b="0" i="0" dirty="0">
                <a:solidFill>
                  <a:srgbClr val="56647A"/>
                </a:solidFill>
                <a:latin typeface="Yu Gothic"/>
              </a:rPr>
              <a:t>evidence • results • limits</a:t>
            </a:r>
            <a:endParaRPr lang="en-US" sz="770"/>
          </a:p>
        </p:txBody>
      </p:sp>
      <p:sp>
        <p:nvSpPr>
          <p:cNvPr id="58" name="Rect 58"/>
          <p:cNvSpPr/>
          <p:nvPr/>
        </p:nvSpPr>
        <p:spPr>
          <a:xfrm>
            <a:off x="6473952" y="4553712"/>
            <a:ext cx="4928616" cy="182880"/>
          </a:xfrm>
          <a:prstGeom prst="roundRect">
            <a:avLst/>
          </a:prstGeom>
          <a:solidFill>
            <a:srgbClr val="E8EDF4"/>
          </a:solidFill>
          <a:ln w="12700">
            <a:solidFill>
              <a:srgbClr val="C5CFD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9"/>
          <p:cNvSpPr txBox="1"/>
          <p:nvPr/>
        </p:nvSpPr>
        <p:spPr>
          <a:xfrm>
            <a:off x="6620256" y="4590288"/>
            <a:ext cx="4636008" cy="1005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secrets • live state • site substrate are not repository payload</a:t>
            </a:r>
            <a:endParaRPr lang="en-US" sz="650"/>
          </a:p>
        </p:txBody>
      </p:sp>
      <p:sp>
        <p:nvSpPr>
          <p:cNvPr id="60" name="Rect 60"/>
          <p:cNvSpPr/>
          <p:nvPr/>
        </p:nvSpPr>
        <p:spPr>
          <a:xfrm>
            <a:off x="530352" y="5093208"/>
            <a:ext cx="1225296" cy="274320"/>
          </a:xfrm>
          <a:prstGeom prst="roundRect">
            <a:avLst/>
          </a:prstGeom>
          <a:solidFill>
            <a:srgbClr val="E9DEFC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61"/>
          <p:cNvSpPr txBox="1"/>
          <p:nvPr/>
        </p:nvSpPr>
        <p:spPr>
          <a:xfrm>
            <a:off x="585216" y="5157216"/>
            <a:ext cx="111556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7C3AED"/>
                </a:solidFill>
                <a:latin typeface="Yu Gothic"/>
              </a:rPr>
              <a:t>SKILL INVOCATION</a:t>
            </a:r>
            <a:endParaRPr lang="en-US" sz="820"/>
          </a:p>
        </p:txBody>
      </p:sp>
      <p:sp>
        <p:nvSpPr>
          <p:cNvPr id="62" name="Rect 62"/>
          <p:cNvSpPr/>
          <p:nvPr/>
        </p:nvSpPr>
        <p:spPr>
          <a:xfrm>
            <a:off x="530352" y="5486400"/>
            <a:ext cx="1581912" cy="512064"/>
          </a:xfrm>
          <a:prstGeom prst="roundRect">
            <a:avLst/>
          </a:prstGeom>
          <a:solidFill>
            <a:srgbClr val="E9F1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3"/>
          <p:cNvSpPr txBox="1"/>
          <p:nvPr/>
        </p:nvSpPr>
        <p:spPr>
          <a:xfrm>
            <a:off x="603504" y="5614416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00" b="1" i="0" dirty="0">
                <a:solidFill>
                  <a:srgbClr val="3B82F6"/>
                </a:solidFill>
                <a:latin typeface="Yu Gothic"/>
              </a:rPr>
              <a:t>Owner task</a:t>
            </a:r>
            <a:endParaRPr lang="en-US" sz="800"/>
          </a:p>
        </p:txBody>
      </p:sp>
      <p:cxnSp>
        <p:nvCxnSpPr>
          <p:cNvPr id="64" name="Line 64"/>
          <p:cNvCxnSpPr/>
          <p:nvPr/>
        </p:nvCxnSpPr>
        <p:spPr>
          <a:xfrm flipH="false" flipV="false">
            <a:off x="2130552" y="5742432"/>
            <a:ext cx="256032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65" name="Rect 65"/>
          <p:cNvSpPr/>
          <p:nvPr/>
        </p:nvSpPr>
        <p:spPr>
          <a:xfrm>
            <a:off x="2432304" y="5486400"/>
            <a:ext cx="1581912" cy="512064"/>
          </a:xfrm>
          <a:prstGeom prst="roundRect">
            <a:avLst/>
          </a:prstGeom>
          <a:solidFill>
            <a:srgbClr val="E4F7FA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6"/>
          <p:cNvSpPr txBox="1"/>
          <p:nvPr/>
        </p:nvSpPr>
        <p:spPr>
          <a:xfrm>
            <a:off x="2505456" y="5614416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00" b="1" i="0" dirty="0">
                <a:solidFill>
                  <a:srgbClr val="06B6D4"/>
                </a:solidFill>
                <a:latin typeface="Yu Gothic"/>
              </a:rPr>
              <a:t>Codex / Claude</a:t>
            </a:r>
            <a:endParaRPr lang="en-US" sz="800"/>
          </a:p>
        </p:txBody>
      </p:sp>
      <p:cxnSp>
        <p:nvCxnSpPr>
          <p:cNvPr id="67" name="Line 67"/>
          <p:cNvCxnSpPr/>
          <p:nvPr/>
        </p:nvCxnSpPr>
        <p:spPr>
          <a:xfrm flipH="false" flipV="false">
            <a:off x="4032504" y="5742432"/>
            <a:ext cx="256032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68" name="Rect 68"/>
          <p:cNvSpPr/>
          <p:nvPr/>
        </p:nvSpPr>
        <p:spPr>
          <a:xfrm>
            <a:off x="4334256" y="5486400"/>
            <a:ext cx="1581912" cy="512064"/>
          </a:xfrm>
          <a:prstGeom prst="roundRect">
            <a:avLst/>
          </a:prstGeom>
          <a:solidFill>
            <a:srgbClr val="E4F3F2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9"/>
          <p:cNvSpPr txBox="1"/>
          <p:nvPr/>
        </p:nvSpPr>
        <p:spPr>
          <a:xfrm>
            <a:off x="4407408" y="5614416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00" b="1" i="0" dirty="0">
                <a:solidFill>
                  <a:srgbClr val="0D9488"/>
                </a:solidFill>
                <a:latin typeface="Yu Gothic"/>
              </a:rPr>
              <a:t>discovery links</a:t>
            </a:r>
            <a:endParaRPr lang="en-US" sz="800"/>
          </a:p>
        </p:txBody>
      </p:sp>
      <p:cxnSp>
        <p:nvCxnSpPr>
          <p:cNvPr id="70" name="Line 70"/>
          <p:cNvCxnSpPr/>
          <p:nvPr/>
        </p:nvCxnSpPr>
        <p:spPr>
          <a:xfrm flipH="false" flipV="false">
            <a:off x="5934456" y="5742432"/>
            <a:ext cx="256032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71" name="Rect 71"/>
          <p:cNvSpPr/>
          <p:nvPr/>
        </p:nvSpPr>
        <p:spPr>
          <a:xfrm>
            <a:off x="6236208" y="5486400"/>
            <a:ext cx="1581912" cy="512064"/>
          </a:xfrm>
          <a:prstGeom prst="roundRect">
            <a:avLst/>
          </a:prstGeom>
          <a:solidFill>
            <a:srgbClr val="F1E9F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2"/>
          <p:cNvSpPr txBox="1"/>
          <p:nvPr/>
        </p:nvSpPr>
        <p:spPr>
          <a:xfrm>
            <a:off x="6309360" y="5614416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00" b="1" i="0" dirty="0">
                <a:solidFill>
                  <a:srgbClr val="7C3AED"/>
                </a:solidFill>
                <a:latin typeface="Yu Gothic"/>
              </a:rPr>
              <a:t>match + read</a:t>
            </a:r>
            <a:endParaRPr lang="en-US" sz="700"/>
          </a:p>
          <a:p>
            <a:pPr algn="ctr"/>
            <a:r>
              <a:rPr lang="en-US" sz="700" b="1" i="0" dirty="0">
                <a:solidFill>
                  <a:srgbClr val="7C3AED"/>
                </a:solidFill>
                <a:latin typeface="Yu Gothic"/>
              </a:rPr>
              <a:t>SKILL.md / refs</a:t>
            </a:r>
            <a:endParaRPr lang="en-US" sz="700"/>
          </a:p>
        </p:txBody>
      </p:sp>
      <p:cxnSp>
        <p:nvCxnSpPr>
          <p:cNvPr id="73" name="Line 73"/>
          <p:cNvCxnSpPr/>
          <p:nvPr/>
        </p:nvCxnSpPr>
        <p:spPr>
          <a:xfrm flipH="false" flipV="false">
            <a:off x="7836408" y="5742432"/>
            <a:ext cx="256032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74" name="Rect 74"/>
          <p:cNvSpPr/>
          <p:nvPr/>
        </p:nvSpPr>
        <p:spPr>
          <a:xfrm>
            <a:off x="8138160" y="5486400"/>
            <a:ext cx="1581912" cy="512064"/>
          </a:xfrm>
          <a:prstGeom prst="roundRect">
            <a:avLst/>
          </a:prstGeom>
          <a:solidFill>
            <a:srgbClr val="FEF4E4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5"/>
          <p:cNvSpPr txBox="1"/>
          <p:nvPr/>
        </p:nvSpPr>
        <p:spPr>
          <a:xfrm>
            <a:off x="8211312" y="5614416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00" b="1" i="0" dirty="0">
                <a:solidFill>
                  <a:srgbClr val="F59E0B"/>
                </a:solidFill>
                <a:latin typeface="Yu Gothic"/>
              </a:rPr>
              <a:t>harness /</a:t>
            </a:r>
            <a:endParaRPr lang="en-US" sz="700"/>
          </a:p>
          <a:p>
            <a:pPr algn="ctr"/>
            <a:r>
              <a:rPr lang="en-US" sz="700" b="1" i="0" dirty="0">
                <a:solidFill>
                  <a:srgbClr val="F59E0B"/>
                </a:solidFill>
                <a:latin typeface="Yu Gothic"/>
              </a:rPr>
              <a:t>native command</a:t>
            </a:r>
            <a:endParaRPr lang="en-US" sz="700"/>
          </a:p>
        </p:txBody>
      </p:sp>
      <p:cxnSp>
        <p:nvCxnSpPr>
          <p:cNvPr id="76" name="Line 76"/>
          <p:cNvCxnSpPr/>
          <p:nvPr/>
        </p:nvCxnSpPr>
        <p:spPr>
          <a:xfrm flipH="false" flipV="false">
            <a:off x="9738360" y="5742432"/>
            <a:ext cx="256032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77" name="Rect 77"/>
          <p:cNvSpPr/>
          <p:nvPr/>
        </p:nvSpPr>
        <p:spPr>
          <a:xfrm>
            <a:off x="10040112" y="5486400"/>
            <a:ext cx="1581912" cy="512064"/>
          </a:xfrm>
          <a:prstGeom prst="roundRect">
            <a:avLst/>
          </a:prstGeom>
          <a:solidFill>
            <a:srgbClr val="E5F5EB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8"/>
          <p:cNvSpPr txBox="1"/>
          <p:nvPr/>
        </p:nvSpPr>
        <p:spPr>
          <a:xfrm>
            <a:off x="10113264" y="5614416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00" b="1" i="0" dirty="0">
                <a:solidFill>
                  <a:srgbClr val="16A34A"/>
                </a:solidFill>
                <a:latin typeface="Yu Gothic"/>
              </a:rPr>
              <a:t>exact node</a:t>
            </a:r>
            <a:endParaRPr lang="en-US" sz="800"/>
          </a:p>
        </p:txBody>
      </p:sp>
      <p:sp>
        <p:nvSpPr>
          <p:cNvPr id="79" name="Text 79"/>
          <p:cNvSpPr txBox="1"/>
          <p:nvPr/>
        </p:nvSpPr>
        <p:spPr>
          <a:xfrm>
            <a:off x="2779776" y="6126480"/>
            <a:ext cx="6620256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10" b="0" i="0" dirty="0">
                <a:solidFill>
                  <a:srgbClr val="56647A"/>
                </a:solidFill>
                <a:latin typeface="Yu Gothic"/>
              </a:rPr>
              <a:t>install.sh: preflight all collisions → link each skill to .codex / .agents / .claude</a:t>
            </a:r>
            <a:endParaRPr lang="en-US" sz="710"/>
          </a:p>
        </p:txBody>
      </p:sp>
      <p:cxnSp>
        <p:nvCxnSpPr>
          <p:cNvPr id="80" name="Line 80"/>
          <p:cNvCxnSpPr/>
          <p:nvPr/>
        </p:nvCxnSpPr>
        <p:spPr>
          <a:xfrm flipH="false" flipV="false">
            <a:off x="621792" y="6473952"/>
            <a:ext cx="10954512" cy="0"/>
          </a:xfrm>
          <a:prstGeom prst="line">
            <a:avLst/>
          </a:prstGeom>
          <a:ln w="10160">
            <a:solidFill>
              <a:srgbClr val="D7DFEA"/>
            </a:solidFill>
          </a:ln>
        </p:spPr>
      </p:cxnSp>
      <p:sp>
        <p:nvSpPr>
          <p:cNvPr id="81" name="Text 81"/>
          <p:cNvSpPr txBox="1"/>
          <p:nvPr/>
        </p:nvSpPr>
        <p:spPr>
          <a:xfrm>
            <a:off x="640080" y="6510528"/>
            <a:ext cx="10469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90451d4:TODO.md • profiles/hosts • install.sh • .codex/AGENTS.md • shared/skills • focused-suites.tsv</a:t>
            </a:r>
            <a:endParaRPr lang="en-US" sz="660"/>
          </a:p>
        </p:txBody>
      </p:sp>
      <p:sp>
        <p:nvSpPr>
          <p:cNvPr id="82" name="Text 82"/>
          <p:cNvSpPr txBox="1"/>
          <p:nvPr/>
        </p:nvSpPr>
        <p:spPr>
          <a:xfrm>
            <a:off x="11201400" y="649224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750" b="1" i="0" dirty="0">
                <a:solidFill>
                  <a:srgbClr val="56647A"/>
                </a:solidFill>
                <a:latin typeface="Yu Gothic"/>
              </a:rPr>
              <a:t>1</a:t>
            </a:r>
            <a:endParaRPr lang="en-US" sz="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21792" y="320040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550" b="1" i="0" dirty="0">
                <a:solidFill>
                  <a:srgbClr val="14213D"/>
                </a:solidFill>
                <a:latin typeface="Yu Gothic"/>
              </a:rPr>
              <a:t>rm -rf 事故が「自律性＝再検証可能な権限」へ設計を変えた</a:t>
            </a:r>
            <a:endParaRPr lang="en-US" sz="2550"/>
          </a:p>
        </p:txBody>
      </p:sp>
      <p:sp>
        <p:nvSpPr>
          <p:cNvPr id="4" name="Text 4"/>
          <p:cNvSpPr txBox="1"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80" b="0" i="0" dirty="0">
                <a:solidFill>
                  <a:srgbClr val="56647A"/>
                </a:solidFill>
                <a:latin typeface="Yu Gothic"/>
              </a:rPr>
              <a:t>事故 → containment → 部分復旧 → architectural response</a:t>
            </a:r>
            <a:endParaRPr lang="en-US" sz="1080"/>
          </a:p>
        </p:txBody>
      </p:sp>
      <p:sp>
        <p:nvSpPr>
          <p:cNvPr id="5" name="Rect 5"/>
          <p:cNvSpPr/>
          <p:nvPr/>
        </p:nvSpPr>
        <p:spPr>
          <a:xfrm>
            <a:off x="594360" y="1353312"/>
            <a:ext cx="2633472" cy="201168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6"/>
          <p:cNvSpPr/>
          <p:nvPr/>
        </p:nvSpPr>
        <p:spPr>
          <a:xfrm>
            <a:off x="777240" y="1572768"/>
            <a:ext cx="1225296" cy="274320"/>
          </a:xfrm>
          <a:prstGeom prst="roundRect">
            <a:avLst/>
          </a:prstGeom>
          <a:solidFill>
            <a:srgbClr val="F9DADA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832104" y="1636776"/>
            <a:ext cx="111556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DC2626"/>
                </a:solidFill>
                <a:latin typeface="Yu Gothic"/>
              </a:rPr>
              <a:t>FACT</a:t>
            </a:r>
            <a:endParaRPr lang="en-US" sz="820"/>
          </a:p>
        </p:txBody>
      </p:sp>
      <p:sp>
        <p:nvSpPr>
          <p:cNvPr id="8" name="Text 8"/>
          <p:cNvSpPr txBox="1"/>
          <p:nvPr/>
        </p:nvSpPr>
        <p:spPr>
          <a:xfrm>
            <a:off x="777240" y="1947672"/>
            <a:ext cx="226771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410" b="1" i="0" dirty="0">
                <a:solidFill>
                  <a:srgbClr val="DC2626"/>
                </a:solidFill>
                <a:latin typeface="Yu Gothic"/>
              </a:rPr>
              <a:t>01:41 原因</a:t>
            </a:r>
            <a:endParaRPr lang="en-US" sz="1410"/>
          </a:p>
        </p:txBody>
      </p:sp>
      <p:sp>
        <p:nvSpPr>
          <p:cNvPr id="9" name="Text 9"/>
          <p:cNvSpPr txBox="1"/>
          <p:nvPr/>
        </p:nvSpPr>
        <p:spPr>
          <a:xfrm>
            <a:off x="777240" y="2468880"/>
            <a:ext cx="226771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temporary HOME の</a:t>
            </a:r>
            <a:endParaRPr lang="en-US" sz="1050"/>
          </a:p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scope終了後に cleanup</a:t>
            </a:r>
            <a:endParaRPr lang="en-US" sz="1050"/>
          </a:p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→ 実HOMEへ解決</a:t>
            </a:r>
            <a:endParaRPr lang="en-US" sz="1050"/>
          </a:p>
        </p:txBody>
      </p:sp>
      <p:cxnSp>
        <p:nvCxnSpPr>
          <p:cNvPr id="10" name="Line 10"/>
          <p:cNvCxnSpPr/>
          <p:nvPr/>
        </p:nvCxnSpPr>
        <p:spPr>
          <a:xfrm flipH="false" flipV="false">
            <a:off x="3246120" y="2350008"/>
            <a:ext cx="182880" cy="0"/>
          </a:xfrm>
          <a:prstGeom prst="line">
            <a:avLst/>
          </a:prstGeom>
          <a:ln w="16510">
            <a:solidFill>
              <a:srgbClr val="334155"/>
            </a:solidFill>
            <a:tailEnd type="triangle"/>
          </a:ln>
        </p:spPr>
      </p:cxnSp>
      <p:sp>
        <p:nvSpPr>
          <p:cNvPr id="11" name="Rect 11"/>
          <p:cNvSpPr/>
          <p:nvPr/>
        </p:nvSpPr>
        <p:spPr>
          <a:xfrm>
            <a:off x="3465576" y="1353312"/>
            <a:ext cx="2633472" cy="2011680"/>
          </a:xfrm>
          <a:prstGeom prst="roundRect">
            <a:avLst/>
          </a:prstGeom>
          <a:solidFill>
            <a:srgbClr val="FEF9F0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12"/>
          <p:cNvSpPr/>
          <p:nvPr/>
        </p:nvSpPr>
        <p:spPr>
          <a:xfrm>
            <a:off x="3648456" y="1572768"/>
            <a:ext cx="1225296" cy="274320"/>
          </a:xfrm>
          <a:prstGeom prst="roundRect">
            <a:avLst/>
          </a:prstGeom>
          <a:solidFill>
            <a:srgbClr val="FDEFD6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3703320" y="1636776"/>
            <a:ext cx="111556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F59E0B"/>
                </a:solidFill>
                <a:latin typeface="Yu Gothic"/>
              </a:rPr>
              <a:t>FACT</a:t>
            </a:r>
            <a:endParaRPr lang="en-US" sz="820"/>
          </a:p>
        </p:txBody>
      </p:sp>
      <p:sp>
        <p:nvSpPr>
          <p:cNvPr id="14" name="Text 14"/>
          <p:cNvSpPr txBox="1"/>
          <p:nvPr/>
        </p:nvSpPr>
        <p:spPr>
          <a:xfrm>
            <a:off x="3648456" y="1947672"/>
            <a:ext cx="226771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410" b="1" i="0" dirty="0">
                <a:solidFill>
                  <a:srgbClr val="F59E0B"/>
                </a:solidFill>
                <a:latin typeface="Yu Gothic"/>
              </a:rPr>
              <a:t>停止の失敗</a:t>
            </a:r>
            <a:endParaRPr lang="en-US" sz="1410"/>
          </a:p>
        </p:txBody>
      </p:sp>
      <p:sp>
        <p:nvSpPr>
          <p:cNvPr id="15" name="Text 15"/>
          <p:cNvSpPr txBox="1"/>
          <p:nvPr/>
        </p:nvSpPr>
        <p:spPr>
          <a:xfrm>
            <a:off x="3648456" y="2468880"/>
            <a:ext cx="226771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最初のcancelでは</a:t>
            </a:r>
            <a:endParaRPr lang="en-US" sz="1050"/>
          </a:p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child processが残存</a:t>
            </a:r>
            <a:endParaRPr lang="en-US" sz="1050"/>
          </a:p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→ audit後に明示停止</a:t>
            </a:r>
            <a:endParaRPr lang="en-US" sz="1050"/>
          </a:p>
        </p:txBody>
      </p:sp>
      <p:cxnSp>
        <p:nvCxnSpPr>
          <p:cNvPr id="16" name="Line 16"/>
          <p:cNvCxnSpPr/>
          <p:nvPr/>
        </p:nvCxnSpPr>
        <p:spPr>
          <a:xfrm flipH="false" flipV="false">
            <a:off x="6117336" y="2350008"/>
            <a:ext cx="182880" cy="0"/>
          </a:xfrm>
          <a:prstGeom prst="line">
            <a:avLst/>
          </a:prstGeom>
          <a:ln w="16510">
            <a:solidFill>
              <a:srgbClr val="334155"/>
            </a:solidFill>
            <a:tailEnd type="triangle"/>
          </a:ln>
        </p:spPr>
      </p:cxnSp>
      <p:sp>
        <p:nvSpPr>
          <p:cNvPr id="17" name="Rect 17"/>
          <p:cNvSpPr/>
          <p:nvPr/>
        </p:nvSpPr>
        <p:spPr>
          <a:xfrm>
            <a:off x="6336792" y="1353312"/>
            <a:ext cx="2633472" cy="2011680"/>
          </a:xfrm>
          <a:prstGeom prst="roundRect">
            <a:avLst/>
          </a:prstGeom>
          <a:solidFill>
            <a:srgbClr val="F7F3FE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8"/>
          <p:cNvSpPr/>
          <p:nvPr/>
        </p:nvSpPr>
        <p:spPr>
          <a:xfrm>
            <a:off x="6519672" y="1572768"/>
            <a:ext cx="1225296" cy="274320"/>
          </a:xfrm>
          <a:prstGeom prst="roundRect">
            <a:avLst/>
          </a:prstGeom>
          <a:solidFill>
            <a:srgbClr val="E9DEFC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6574536" y="1636776"/>
            <a:ext cx="111556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7C3AED"/>
                </a:solidFill>
                <a:latin typeface="Yu Gothic"/>
              </a:rPr>
              <a:t>FACT</a:t>
            </a:r>
            <a:endParaRPr lang="en-US" sz="820"/>
          </a:p>
        </p:txBody>
      </p:sp>
      <p:sp>
        <p:nvSpPr>
          <p:cNvPr id="20" name="Text 20"/>
          <p:cNvSpPr txBox="1"/>
          <p:nvPr/>
        </p:nvSpPr>
        <p:spPr>
          <a:xfrm>
            <a:off x="6519672" y="1947672"/>
            <a:ext cx="226771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410" b="1" i="0" dirty="0">
                <a:solidFill>
                  <a:srgbClr val="7C3AED"/>
                </a:solidFill>
                <a:latin typeface="Yu Gothic"/>
              </a:rPr>
              <a:t>影響と復旧</a:t>
            </a:r>
            <a:endParaRPr lang="en-US" sz="1410"/>
          </a:p>
        </p:txBody>
      </p:sp>
      <p:sp>
        <p:nvSpPr>
          <p:cNvPr id="21" name="Text 21"/>
          <p:cNvSpPr txBox="1"/>
          <p:nvPr/>
        </p:nvSpPr>
        <p:spPr>
          <a:xfrm>
            <a:off x="6519672" y="2468880"/>
            <a:ext cx="226771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HOMEを部分喪失</a:t>
            </a:r>
            <a:endParaRPr lang="en-US" sz="1050"/>
          </a:p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bundle / HEADから復旧</a:t>
            </a:r>
            <a:endParaRPr lang="en-US" sz="1050"/>
          </a:p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未commit作業は消失</a:t>
            </a:r>
            <a:endParaRPr lang="en-US" sz="1050"/>
          </a:p>
        </p:txBody>
      </p:sp>
      <p:cxnSp>
        <p:nvCxnSpPr>
          <p:cNvPr id="22" name="Line 22"/>
          <p:cNvCxnSpPr/>
          <p:nvPr/>
        </p:nvCxnSpPr>
        <p:spPr>
          <a:xfrm flipH="false" flipV="false">
            <a:off x="8988552" y="2350008"/>
            <a:ext cx="182880" cy="0"/>
          </a:xfrm>
          <a:prstGeom prst="line">
            <a:avLst/>
          </a:prstGeom>
          <a:ln w="16510">
            <a:solidFill>
              <a:srgbClr val="334155"/>
            </a:solidFill>
            <a:tailEnd type="triangle"/>
          </a:ln>
        </p:spPr>
      </p:cxnSp>
      <p:sp>
        <p:nvSpPr>
          <p:cNvPr id="23" name="Rect 23"/>
          <p:cNvSpPr/>
          <p:nvPr/>
        </p:nvSpPr>
        <p:spPr>
          <a:xfrm>
            <a:off x="9208008" y="1353312"/>
            <a:ext cx="2633472" cy="2011680"/>
          </a:xfrm>
          <a:prstGeom prst="roundRect">
            <a:avLst/>
          </a:prstGeom>
          <a:solidFill>
            <a:srgbClr val="F1F9F4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24"/>
          <p:cNvSpPr/>
          <p:nvPr/>
        </p:nvSpPr>
        <p:spPr>
          <a:xfrm>
            <a:off x="9390888" y="1572768"/>
            <a:ext cx="1225296" cy="274320"/>
          </a:xfrm>
          <a:prstGeom prst="roundRect">
            <a:avLst/>
          </a:prstGeom>
          <a:solidFill>
            <a:srgbClr val="D7EFE0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 txBox="1"/>
          <p:nvPr/>
        </p:nvSpPr>
        <p:spPr>
          <a:xfrm>
            <a:off x="9445752" y="1636776"/>
            <a:ext cx="111556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16A34A"/>
                </a:solidFill>
                <a:latin typeface="Yu Gothic"/>
              </a:rPr>
              <a:t>FACT</a:t>
            </a:r>
            <a:endParaRPr lang="en-US" sz="820"/>
          </a:p>
        </p:txBody>
      </p:sp>
      <p:sp>
        <p:nvSpPr>
          <p:cNvPr id="26" name="Text 26"/>
          <p:cNvSpPr txBox="1"/>
          <p:nvPr/>
        </p:nvSpPr>
        <p:spPr>
          <a:xfrm>
            <a:off x="9390888" y="1947672"/>
            <a:ext cx="226771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410" b="1" i="0" dirty="0">
                <a:solidFill>
                  <a:srgbClr val="16A34A"/>
                </a:solidFill>
                <a:latin typeface="Yu Gothic"/>
              </a:rPr>
              <a:t>設計応答</a:t>
            </a:r>
            <a:endParaRPr lang="en-US" sz="1410"/>
          </a:p>
        </p:txBody>
      </p:sp>
      <p:sp>
        <p:nvSpPr>
          <p:cNvPr id="27" name="Text 27"/>
          <p:cNvSpPr txBox="1"/>
          <p:nvPr/>
        </p:nvSpPr>
        <p:spPr>
          <a:xfrm>
            <a:off x="9390888" y="2468880"/>
            <a:ext cx="226771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raw recursive rmを拒否</a:t>
            </a:r>
            <a:endParaRPr lang="en-US" sz="1050"/>
          </a:p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guarded plan / apply</a:t>
            </a:r>
            <a:endParaRPr lang="en-US" sz="1050"/>
          </a:p>
          <a:p>
            <a:pPr algn="ctr"/>
            <a:r>
              <a:rPr lang="en-US" sz="1050" b="0" i="0" dirty="0">
                <a:solidFill>
                  <a:srgbClr val="14213D"/>
                </a:solidFill>
                <a:latin typeface="Yu Gothic"/>
              </a:rPr>
              <a:t>境界と証拠を再検証</a:t>
            </a:r>
            <a:endParaRPr lang="en-US" sz="1050"/>
          </a:p>
        </p:txBody>
      </p:sp>
      <p:sp>
        <p:nvSpPr>
          <p:cNvPr id="28" name="Text 28"/>
          <p:cNvSpPr txBox="1"/>
          <p:nvPr/>
        </p:nvSpPr>
        <p:spPr>
          <a:xfrm>
            <a:off x="658368" y="36758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00" b="1" i="0" dirty="0">
                <a:solidFill>
                  <a:srgbClr val="DC2626"/>
                </a:solidFill>
                <a:latin typeface="Yu Gothic"/>
              </a:rPr>
              <a:t>BEFORE</a:t>
            </a:r>
            <a:endParaRPr lang="en-US" sz="1000"/>
          </a:p>
        </p:txBody>
      </p:sp>
      <p:sp>
        <p:nvSpPr>
          <p:cNvPr id="29" name="Rect 29"/>
          <p:cNvSpPr/>
          <p:nvPr/>
        </p:nvSpPr>
        <p:spPr>
          <a:xfrm>
            <a:off x="658368" y="3968496"/>
            <a:ext cx="2011680" cy="1417320"/>
          </a:xfrm>
          <a:prstGeom prst="roundRect">
            <a:avLst/>
          </a:prstGeom>
          <a:solidFill>
            <a:srgbClr val="FDF4F4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822960" y="4261104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300" b="1" i="0" dirty="0">
                <a:solidFill>
                  <a:srgbClr val="DC2626"/>
                </a:solidFill>
                <a:latin typeface="Yu Gothic"/>
              </a:rPr>
              <a:t>path文字列を信頼</a:t>
            </a:r>
            <a:endParaRPr lang="en-US" sz="1300"/>
          </a:p>
        </p:txBody>
      </p:sp>
      <p:sp>
        <p:nvSpPr>
          <p:cNvPr id="31" name="Text 31"/>
          <p:cNvSpPr txBox="1"/>
          <p:nvPr/>
        </p:nvSpPr>
        <p:spPr>
          <a:xfrm>
            <a:off x="822960" y="4736592"/>
            <a:ext cx="168249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40" b="0" i="0" dirty="0">
                <a:solidFill>
                  <a:srgbClr val="56647A"/>
                </a:solidFill>
                <a:latin typeface="Yu Gothic"/>
              </a:rPr>
              <a:t>cleanup targetが</a:t>
            </a:r>
            <a:endParaRPr lang="en-US" sz="940"/>
          </a:p>
          <a:p>
            <a:pPr algn="ctr"/>
            <a:r>
              <a:rPr lang="en-US" sz="940" b="0" i="0" dirty="0">
                <a:solidFill>
                  <a:srgbClr val="56647A"/>
                </a:solidFill>
                <a:latin typeface="Yu Gothic"/>
              </a:rPr>
              <a:t>scopeに依存</a:t>
            </a:r>
            <a:endParaRPr lang="en-US" sz="940"/>
          </a:p>
        </p:txBody>
      </p:sp>
      <p:cxnSp>
        <p:nvCxnSpPr>
          <p:cNvPr id="32" name="Line 32"/>
          <p:cNvCxnSpPr/>
          <p:nvPr/>
        </p:nvCxnSpPr>
        <p:spPr>
          <a:xfrm flipH="false" flipV="false">
            <a:off x="2834640" y="4663440"/>
            <a:ext cx="530352" cy="0"/>
          </a:xfrm>
          <a:prstGeom prst="line">
            <a:avLst/>
          </a:prstGeom>
          <a:ln w="22860">
            <a:solidFill>
              <a:srgbClr val="334155"/>
            </a:solidFill>
            <a:tailEnd type="triangle"/>
          </a:ln>
        </p:spPr>
      </p:cxnSp>
      <p:sp>
        <p:nvSpPr>
          <p:cNvPr id="33" name="Rect 33"/>
          <p:cNvSpPr/>
          <p:nvPr/>
        </p:nvSpPr>
        <p:spPr>
          <a:xfrm>
            <a:off x="3493008" y="3968496"/>
            <a:ext cx="1389888" cy="566928"/>
          </a:xfrm>
          <a:prstGeom prst="roundRect">
            <a:avLst/>
          </a:prstGeom>
          <a:solidFill>
            <a:srgbClr val="E7F0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3566160" y="4142232"/>
            <a:ext cx="124358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3B82F6"/>
                </a:solidFill>
                <a:latin typeface="Yu Gothic"/>
              </a:rPr>
              <a:t>保持境界</a:t>
            </a:r>
            <a:endParaRPr lang="en-US" sz="880"/>
          </a:p>
        </p:txBody>
      </p:sp>
      <p:sp>
        <p:nvSpPr>
          <p:cNvPr id="35" name="Rect 35"/>
          <p:cNvSpPr/>
          <p:nvPr/>
        </p:nvSpPr>
        <p:spPr>
          <a:xfrm>
            <a:off x="5065776" y="3968496"/>
            <a:ext cx="1389888" cy="566928"/>
          </a:xfrm>
          <a:prstGeom prst="roundRect">
            <a:avLst/>
          </a:prstGeom>
          <a:solidFill>
            <a:srgbClr val="E1F6FA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/>
          <p:cNvSpPr txBox="1"/>
          <p:nvPr/>
        </p:nvSpPr>
        <p:spPr>
          <a:xfrm>
            <a:off x="5138928" y="4142232"/>
            <a:ext cx="124358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06B6D4"/>
                </a:solidFill>
                <a:latin typeface="Yu Gothic"/>
              </a:rPr>
              <a:t>絶対target</a:t>
            </a:r>
            <a:endParaRPr lang="en-US" sz="880"/>
          </a:p>
        </p:txBody>
      </p:sp>
      <p:sp>
        <p:nvSpPr>
          <p:cNvPr id="37" name="Rect 37"/>
          <p:cNvSpPr/>
          <p:nvPr/>
        </p:nvSpPr>
        <p:spPr>
          <a:xfrm>
            <a:off x="6638544" y="3968496"/>
            <a:ext cx="1389888" cy="566928"/>
          </a:xfrm>
          <a:prstGeom prst="roundRect">
            <a:avLst/>
          </a:prstGeom>
          <a:solidFill>
            <a:srgbClr val="E2F2F1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6711696" y="4142232"/>
            <a:ext cx="124358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0D9488"/>
                </a:solidFill>
                <a:latin typeface="Yu Gothic"/>
              </a:rPr>
              <a:t>manifest</a:t>
            </a:r>
            <a:endParaRPr lang="en-US" sz="880"/>
          </a:p>
        </p:txBody>
      </p:sp>
      <p:sp>
        <p:nvSpPr>
          <p:cNvPr id="39" name="Rect 39"/>
          <p:cNvSpPr/>
          <p:nvPr/>
        </p:nvSpPr>
        <p:spPr>
          <a:xfrm>
            <a:off x="3493008" y="4718304"/>
            <a:ext cx="1389888" cy="566928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0"/>
          <p:cNvSpPr txBox="1"/>
          <p:nvPr/>
        </p:nvSpPr>
        <p:spPr>
          <a:xfrm>
            <a:off x="3566160" y="4892040"/>
            <a:ext cx="124358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F59E0B"/>
                </a:solidFill>
                <a:latin typeface="Yu Gothic"/>
              </a:rPr>
              <a:t>token + 15分</a:t>
            </a:r>
            <a:endParaRPr lang="en-US" sz="880"/>
          </a:p>
        </p:txBody>
      </p:sp>
      <p:sp>
        <p:nvSpPr>
          <p:cNvPr id="41" name="Rect 41"/>
          <p:cNvSpPr/>
          <p:nvPr/>
        </p:nvSpPr>
        <p:spPr>
          <a:xfrm>
            <a:off x="5065776" y="4718304"/>
            <a:ext cx="1389888" cy="566928"/>
          </a:xfrm>
          <a:prstGeom prst="roundRect">
            <a:avLst/>
          </a:prstGeom>
          <a:solidFill>
            <a:srgbClr val="EFE7F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2"/>
          <p:cNvSpPr txBox="1"/>
          <p:nvPr/>
        </p:nvSpPr>
        <p:spPr>
          <a:xfrm>
            <a:off x="5138928" y="4892040"/>
            <a:ext cx="124358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7C3AED"/>
                </a:solidFill>
                <a:latin typeface="Yu Gothic"/>
              </a:rPr>
              <a:t>identity / size</a:t>
            </a:r>
            <a:endParaRPr lang="en-US" sz="880"/>
          </a:p>
        </p:txBody>
      </p:sp>
      <p:sp>
        <p:nvSpPr>
          <p:cNvPr id="43" name="Rect 43"/>
          <p:cNvSpPr/>
          <p:nvPr/>
        </p:nvSpPr>
        <p:spPr>
          <a:xfrm>
            <a:off x="6638544" y="4718304"/>
            <a:ext cx="1389888" cy="566928"/>
          </a:xfrm>
          <a:prstGeom prst="roundRect">
            <a:avLst/>
          </a:prstGeom>
          <a:solidFill>
            <a:srgbClr val="E3F4E9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4"/>
          <p:cNvSpPr txBox="1"/>
          <p:nvPr/>
        </p:nvSpPr>
        <p:spPr>
          <a:xfrm>
            <a:off x="6711696" y="4892040"/>
            <a:ext cx="124358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16A34A"/>
                </a:solidFill>
                <a:latin typeface="Yu Gothic"/>
              </a:rPr>
              <a:t>postcheck</a:t>
            </a:r>
            <a:endParaRPr lang="en-US" sz="880"/>
          </a:p>
        </p:txBody>
      </p:sp>
      <p:sp>
        <p:nvSpPr>
          <p:cNvPr id="45" name="Rect 45"/>
          <p:cNvSpPr/>
          <p:nvPr/>
        </p:nvSpPr>
        <p:spPr>
          <a:xfrm>
            <a:off x="8458200" y="3968496"/>
            <a:ext cx="3090672" cy="1417320"/>
          </a:xfrm>
          <a:prstGeom prst="roundRect">
            <a:avLst/>
          </a:prstGeom>
          <a:solidFill>
            <a:srgbClr val="08152F"/>
          </a:solidFill>
          <a:ln w="12700">
            <a:solidFill>
              <a:srgbClr val="08152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 46"/>
          <p:cNvSpPr/>
          <p:nvPr/>
        </p:nvSpPr>
        <p:spPr>
          <a:xfrm>
            <a:off x="8705088" y="4187952"/>
            <a:ext cx="1325880" cy="274320"/>
          </a:xfrm>
          <a:prstGeom prst="roundRect">
            <a:avLst/>
          </a:prstGeom>
          <a:solidFill>
            <a:srgbClr val="E9DEFC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7"/>
          <p:cNvSpPr txBox="1"/>
          <p:nvPr/>
        </p:nvSpPr>
        <p:spPr>
          <a:xfrm>
            <a:off x="8759952" y="4251960"/>
            <a:ext cx="1216152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7C3AED"/>
                </a:solidFill>
                <a:latin typeface="Yu Gothic"/>
              </a:rPr>
              <a:t>INTERPRETATION</a:t>
            </a:r>
            <a:endParaRPr lang="en-US" sz="820"/>
          </a:p>
        </p:txBody>
      </p:sp>
      <p:sp>
        <p:nvSpPr>
          <p:cNvPr id="48" name="Text 48"/>
          <p:cNvSpPr txBox="1"/>
          <p:nvPr/>
        </p:nvSpPr>
        <p:spPr>
          <a:xfrm>
            <a:off x="8705088" y="4663440"/>
            <a:ext cx="2596896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020" b="1" i="0" dirty="0">
                <a:solidFill>
                  <a:srgbClr val="FFFFFF"/>
                </a:solidFill>
                <a:latin typeface="Yu Gothic"/>
              </a:rPr>
              <a:t>自律性を「自由な実行」から</a:t>
            </a:r>
            <a:endParaRPr lang="en-US" sz="1020"/>
          </a:p>
          <a:p>
            <a:pPr algn="ctr"/>
            <a:r>
              <a:rPr lang="en-US" sz="1020" b="1" i="0" dirty="0">
                <a:solidFill>
                  <a:srgbClr val="FFFFFF"/>
                </a:solidFill>
                <a:latin typeface="Yu Gothic"/>
              </a:rPr>
              <a:t>対象に束縛された短命な権限へ</a:t>
            </a:r>
            <a:endParaRPr lang="en-US" sz="1020"/>
          </a:p>
        </p:txBody>
      </p:sp>
      <p:sp>
        <p:nvSpPr>
          <p:cNvPr id="49" name="Rect 49"/>
          <p:cNvSpPr/>
          <p:nvPr/>
        </p:nvSpPr>
        <p:spPr>
          <a:xfrm>
            <a:off x="658368" y="5687568"/>
            <a:ext cx="10881360" cy="438912"/>
          </a:xfrm>
          <a:prstGeom prst="roundRect">
            <a:avLst/>
          </a:prstGeom>
          <a:solidFill>
            <a:srgbClr val="E8EDF4"/>
          </a:solidFill>
          <a:ln w="12700">
            <a:solidFill>
              <a:srgbClr val="C5CFD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50"/>
          <p:cNvSpPr txBox="1"/>
          <p:nvPr/>
        </p:nvSpPr>
        <p:spPr>
          <a:xfrm>
            <a:off x="859536" y="5806440"/>
            <a:ext cx="1047902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10" b="0" i="0" dirty="0">
                <a:solidFill>
                  <a:srgbClr val="56647A"/>
                </a:solidFill>
                <a:latin typeface="Yu Gothic"/>
              </a:rPr>
              <a:t>限界：影響一覧は非網羅。credential contentsは未調査。回復不能stateは推測復元しなかった。</a:t>
            </a:r>
            <a:endParaRPr lang="en-US" sz="810"/>
          </a:p>
        </p:txBody>
      </p:sp>
      <p:cxnSp>
        <p:nvCxnSpPr>
          <p:cNvPr id="51" name="Line 51"/>
          <p:cNvCxnSpPr/>
          <p:nvPr/>
        </p:nvCxnSpPr>
        <p:spPr>
          <a:xfrm flipH="false" flipV="false">
            <a:off x="621792" y="6473952"/>
            <a:ext cx="10954512" cy="0"/>
          </a:xfrm>
          <a:prstGeom prst="line">
            <a:avLst/>
          </a:prstGeom>
          <a:ln w="10160">
            <a:solidFill>
              <a:srgbClr val="D7DFEA"/>
            </a:solidFill>
          </a:ln>
        </p:spPr>
      </p:cxnSp>
      <p:sp>
        <p:nvSpPr>
          <p:cNvPr id="52" name="Text 52"/>
          <p:cNvSpPr txBox="1"/>
          <p:nvPr/>
        </p:nvSpPr>
        <p:spPr>
          <a:xfrm>
            <a:off x="640080" y="6510528"/>
            <a:ext cx="10469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e5200fd: historical TODO/T-171 • d726f0d: recovery consolidation • 238f022: guard + tests</a:t>
            </a:r>
            <a:endParaRPr lang="en-US" sz="660"/>
          </a:p>
        </p:txBody>
      </p:sp>
      <p:sp>
        <p:nvSpPr>
          <p:cNvPr id="53" name="Text 53"/>
          <p:cNvSpPr txBox="1"/>
          <p:nvPr/>
        </p:nvSpPr>
        <p:spPr>
          <a:xfrm>
            <a:off x="11201400" y="649224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750" b="1" i="0" dirty="0">
                <a:solidFill>
                  <a:srgbClr val="56647A"/>
                </a:solidFill>
                <a:latin typeface="Yu Gothic"/>
              </a:rPr>
              <a:t>2</a:t>
            </a:r>
            <a:endParaRPr lang="en-US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21792" y="320040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550" b="1" i="0" dirty="0">
                <a:solidFill>
                  <a:srgbClr val="14213D"/>
                </a:solidFill>
                <a:latin typeface="Yu Gothic"/>
              </a:rPr>
              <a:t>safeguardと57 focused suitesが実行をfail closedにする</a:t>
            </a:r>
            <a:endParaRPr lang="en-US" sz="2550"/>
          </a:p>
        </p:txBody>
      </p:sp>
      <p:sp>
        <p:nvSpPr>
          <p:cNvPr id="4" name="Text 4"/>
          <p:cNvSpPr txBox="1"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80" b="0" i="0" dirty="0">
                <a:solidFill>
                  <a:srgbClr val="56647A"/>
                </a:solidFill>
                <a:latin typeface="Yu Gothic"/>
              </a:rPr>
              <a:t>failureはSTOPし、evidenceを残し、同じscopeをre-planする</a:t>
            </a:r>
            <a:endParaRPr lang="en-US" sz="1080"/>
          </a:p>
        </p:txBody>
      </p:sp>
      <p:sp>
        <p:nvSpPr>
          <p:cNvPr id="5" name="Rect 5"/>
          <p:cNvSpPr/>
          <p:nvPr/>
        </p:nvSpPr>
        <p:spPr>
          <a:xfrm>
            <a:off x="566928" y="1298448"/>
            <a:ext cx="7626096" cy="566928"/>
          </a:xfrm>
          <a:prstGeom prst="roundRect">
            <a:avLst/>
          </a:prstGeom>
          <a:solidFill>
            <a:srgbClr val="08152F"/>
          </a:solidFill>
          <a:ln w="12700">
            <a:solidFill>
              <a:srgbClr val="08152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6"/>
          <p:cNvSpPr/>
          <p:nvPr/>
        </p:nvSpPr>
        <p:spPr>
          <a:xfrm>
            <a:off x="768096" y="1444752"/>
            <a:ext cx="1078992" cy="274320"/>
          </a:xfrm>
          <a:prstGeom prst="roundRect">
            <a:avLst/>
          </a:prstGeom>
          <a:solidFill>
            <a:srgbClr val="DEEAFD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822960" y="1508760"/>
            <a:ext cx="96926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3B82F6"/>
                </a:solidFill>
                <a:latin typeface="Yu Gothic"/>
              </a:rPr>
              <a:t>POLICY</a:t>
            </a:r>
            <a:endParaRPr lang="en-US" sz="820"/>
          </a:p>
        </p:txBody>
      </p:sp>
      <p:sp>
        <p:nvSpPr>
          <p:cNvPr id="8" name="Text 8"/>
          <p:cNvSpPr txBox="1"/>
          <p:nvPr/>
        </p:nvSpPr>
        <p:spPr>
          <a:xfrm>
            <a:off x="2011680" y="1481328"/>
            <a:ext cx="590702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60" b="1" i="0" dirty="0">
                <a:solidFill>
                  <a:srgbClr val="FFFFFF"/>
                </a:solidFill>
                <a:latin typeface="Yu Gothic"/>
              </a:rPr>
              <a:t>AGENTS authority • exec rules • skill-specific boundaries • no silent fallback</a:t>
            </a:r>
            <a:endParaRPr lang="en-US" sz="860"/>
          </a:p>
        </p:txBody>
      </p:sp>
      <p:sp>
        <p:nvSpPr>
          <p:cNvPr id="9" name="Rect 9"/>
          <p:cNvSpPr/>
          <p:nvPr/>
        </p:nvSpPr>
        <p:spPr>
          <a:xfrm>
            <a:off x="566928" y="2157984"/>
            <a:ext cx="1353312" cy="969264"/>
          </a:xfrm>
          <a:prstGeom prst="roundRect">
            <a:avLst/>
          </a:prstGeom>
          <a:solidFill>
            <a:srgbClr val="EBF2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640080" y="2350008"/>
            <a:ext cx="12070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3B82F6"/>
                </a:solidFill>
                <a:latin typeface="Yu Gothic"/>
              </a:rPr>
              <a:t>AUTHORITY</a:t>
            </a:r>
            <a:endParaRPr lang="en-US" sz="840"/>
          </a:p>
        </p:txBody>
      </p:sp>
      <p:sp>
        <p:nvSpPr>
          <p:cNvPr id="11" name="Text 11"/>
          <p:cNvSpPr txBox="1"/>
          <p:nvPr/>
        </p:nvSpPr>
        <p:spPr>
          <a:xfrm>
            <a:off x="640080" y="2688336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56647A"/>
                </a:solidFill>
                <a:latin typeface="Yu Gothic"/>
              </a:rPr>
              <a:t>scope / owner go</a:t>
            </a:r>
            <a:endParaRPr lang="en-US" sz="680"/>
          </a:p>
        </p:txBody>
      </p:sp>
      <p:cxnSp>
        <p:nvCxnSpPr>
          <p:cNvPr id="12" name="Line 12"/>
          <p:cNvCxnSpPr/>
          <p:nvPr/>
        </p:nvCxnSpPr>
        <p:spPr>
          <a:xfrm flipH="false" flipV="false">
            <a:off x="1938528" y="2642616"/>
            <a:ext cx="173736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13" name="Rect 13"/>
          <p:cNvSpPr/>
          <p:nvPr/>
        </p:nvSpPr>
        <p:spPr>
          <a:xfrm>
            <a:off x="2148840" y="2157984"/>
            <a:ext cx="1353312" cy="969264"/>
          </a:xfrm>
          <a:prstGeom prst="roundRect">
            <a:avLst/>
          </a:prstGeom>
          <a:solidFill>
            <a:srgbClr val="E6F8FB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2221992" y="2350008"/>
            <a:ext cx="12070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06B6D4"/>
                </a:solidFill>
                <a:latin typeface="Yu Gothic"/>
              </a:rPr>
              <a:t>OBSERVE + PLAN</a:t>
            </a:r>
            <a:endParaRPr lang="en-US" sz="840"/>
          </a:p>
        </p:txBody>
      </p:sp>
      <p:sp>
        <p:nvSpPr>
          <p:cNvPr id="15" name="Text 15"/>
          <p:cNvSpPr txBox="1"/>
          <p:nvPr/>
        </p:nvSpPr>
        <p:spPr>
          <a:xfrm>
            <a:off x="2221992" y="2688336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56647A"/>
                </a:solidFill>
                <a:latin typeface="Yu Gothic"/>
              </a:rPr>
              <a:t>value-free / no write</a:t>
            </a:r>
            <a:endParaRPr lang="en-US" sz="680"/>
          </a:p>
        </p:txBody>
      </p:sp>
      <p:cxnSp>
        <p:nvCxnSpPr>
          <p:cNvPr id="16" name="Line 16"/>
          <p:cNvCxnSpPr/>
          <p:nvPr/>
        </p:nvCxnSpPr>
        <p:spPr>
          <a:xfrm flipH="false" flipV="false">
            <a:off x="3520440" y="2642616"/>
            <a:ext cx="173736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17" name="Rect 17"/>
          <p:cNvSpPr/>
          <p:nvPr/>
        </p:nvSpPr>
        <p:spPr>
          <a:xfrm>
            <a:off x="3730752" y="2157984"/>
            <a:ext cx="1353312" cy="969264"/>
          </a:xfrm>
          <a:prstGeom prst="roundRect">
            <a:avLst/>
          </a:prstGeom>
          <a:solidFill>
            <a:srgbClr val="E7F4F3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3803904" y="2350008"/>
            <a:ext cx="12070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0D9488"/>
                </a:solidFill>
                <a:latin typeface="Yu Gothic"/>
              </a:rPr>
              <a:t>APPLY</a:t>
            </a:r>
            <a:endParaRPr lang="en-US" sz="840"/>
          </a:p>
        </p:txBody>
      </p:sp>
      <p:sp>
        <p:nvSpPr>
          <p:cNvPr id="19" name="Text 19"/>
          <p:cNvSpPr txBox="1"/>
          <p:nvPr/>
        </p:nvSpPr>
        <p:spPr>
          <a:xfrm>
            <a:off x="3803904" y="2688336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56647A"/>
                </a:solidFill>
                <a:latin typeface="Yu Gothic"/>
              </a:rPr>
              <a:t>explicit live gate</a:t>
            </a:r>
            <a:endParaRPr lang="en-US" sz="680"/>
          </a:p>
        </p:txBody>
      </p:sp>
      <p:cxnSp>
        <p:nvCxnSpPr>
          <p:cNvPr id="20" name="Line 20"/>
          <p:cNvCxnSpPr/>
          <p:nvPr/>
        </p:nvCxnSpPr>
        <p:spPr>
          <a:xfrm flipH="false" flipV="false">
            <a:off x="5102352" y="2642616"/>
            <a:ext cx="173736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21" name="Rect 21"/>
          <p:cNvSpPr/>
          <p:nvPr/>
        </p:nvSpPr>
        <p:spPr>
          <a:xfrm>
            <a:off x="5312664" y="2157984"/>
            <a:ext cx="1353312" cy="969264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5385816" y="2350008"/>
            <a:ext cx="12070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F59E0B"/>
                </a:solidFill>
                <a:latin typeface="Yu Gothic"/>
              </a:rPr>
              <a:t>REVALIDATE</a:t>
            </a:r>
            <a:endParaRPr lang="en-US" sz="840"/>
          </a:p>
        </p:txBody>
      </p:sp>
      <p:sp>
        <p:nvSpPr>
          <p:cNvPr id="23" name="Text 23"/>
          <p:cNvSpPr txBox="1"/>
          <p:nvPr/>
        </p:nvSpPr>
        <p:spPr>
          <a:xfrm>
            <a:off x="5385816" y="2688336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56647A"/>
                </a:solidFill>
                <a:latin typeface="Yu Gothic"/>
              </a:rPr>
              <a:t>identity / bytes / drift</a:t>
            </a:r>
            <a:endParaRPr lang="en-US" sz="680"/>
          </a:p>
        </p:txBody>
      </p:sp>
      <p:cxnSp>
        <p:nvCxnSpPr>
          <p:cNvPr id="24" name="Line 24"/>
          <p:cNvCxnSpPr/>
          <p:nvPr/>
        </p:nvCxnSpPr>
        <p:spPr>
          <a:xfrm flipH="false" flipV="false">
            <a:off x="6684264" y="2642616"/>
            <a:ext cx="173736" cy="0"/>
          </a:xfrm>
          <a:prstGeom prst="line">
            <a:avLst/>
          </a:prstGeom>
          <a:ln w="13970">
            <a:solidFill>
              <a:srgbClr val="334155"/>
            </a:solidFill>
            <a:tailEnd type="triangle"/>
          </a:ln>
        </p:spPr>
      </p:cxnSp>
      <p:sp>
        <p:nvSpPr>
          <p:cNvPr id="25" name="Rect 25"/>
          <p:cNvSpPr/>
          <p:nvPr/>
        </p:nvSpPr>
        <p:spPr>
          <a:xfrm>
            <a:off x="6894576" y="2157984"/>
            <a:ext cx="1353312" cy="969264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6967728" y="2350008"/>
            <a:ext cx="120700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16A34A"/>
                </a:solidFill>
                <a:latin typeface="Yu Gothic"/>
              </a:rPr>
              <a:t>VERIFY</a:t>
            </a:r>
            <a:endParaRPr lang="en-US" sz="840"/>
          </a:p>
        </p:txBody>
      </p:sp>
      <p:sp>
        <p:nvSpPr>
          <p:cNvPr id="27" name="Text 27"/>
          <p:cNvSpPr txBox="1"/>
          <p:nvPr/>
        </p:nvSpPr>
        <p:spPr>
          <a:xfrm>
            <a:off x="6967728" y="2688336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56647A"/>
                </a:solidFill>
                <a:latin typeface="Yu Gothic"/>
              </a:rPr>
              <a:t>doctor / receipt / rollback</a:t>
            </a:r>
            <a:endParaRPr lang="en-US" sz="680"/>
          </a:p>
        </p:txBody>
      </p:sp>
      <p:sp>
        <p:nvSpPr>
          <p:cNvPr id="28" name="Rect 28"/>
          <p:cNvSpPr/>
          <p:nvPr/>
        </p:nvSpPr>
        <p:spPr>
          <a:xfrm>
            <a:off x="713232" y="3383280"/>
            <a:ext cx="1609344" cy="438912"/>
          </a:xfrm>
          <a:prstGeom prst="roundRect">
            <a:avLst/>
          </a:prstGeom>
          <a:solidFill>
            <a:srgbClr val="EDF4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786384" y="3502152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3B82F6"/>
                </a:solidFill>
                <a:latin typeface="Yu Gothic"/>
              </a:rPr>
              <a:t>collision refusal</a:t>
            </a:r>
            <a:endParaRPr lang="en-US" sz="740"/>
          </a:p>
        </p:txBody>
      </p:sp>
      <p:sp>
        <p:nvSpPr>
          <p:cNvPr id="30" name="Rect 30"/>
          <p:cNvSpPr/>
          <p:nvPr/>
        </p:nvSpPr>
        <p:spPr>
          <a:xfrm>
            <a:off x="2560320" y="3383280"/>
            <a:ext cx="1609344" cy="438912"/>
          </a:xfrm>
          <a:prstGeom prst="roundRect">
            <a:avLst/>
          </a:prstGeom>
          <a:solidFill>
            <a:srgbClr val="E9F5F4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2633472" y="3502152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0D9488"/>
                </a:solidFill>
                <a:latin typeface="Yu Gothic"/>
              </a:rPr>
              <a:t>preimage + checksum</a:t>
            </a:r>
            <a:endParaRPr lang="en-US" sz="740"/>
          </a:p>
        </p:txBody>
      </p:sp>
      <p:sp>
        <p:nvSpPr>
          <p:cNvPr id="32" name="Rect 32"/>
          <p:cNvSpPr/>
          <p:nvPr/>
        </p:nvSpPr>
        <p:spPr>
          <a:xfrm>
            <a:off x="4407408" y="3383280"/>
            <a:ext cx="1609344" cy="438912"/>
          </a:xfrm>
          <a:prstGeom prst="roundRect">
            <a:avLst/>
          </a:prstGeom>
          <a:solidFill>
            <a:srgbClr val="FEF6E9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3"/>
          <p:cNvSpPr txBox="1"/>
          <p:nvPr/>
        </p:nvSpPr>
        <p:spPr>
          <a:xfrm>
            <a:off x="4480560" y="3502152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F59E0B"/>
                </a:solidFill>
                <a:latin typeface="Yu Gothic"/>
              </a:rPr>
              <a:t>manifest + token</a:t>
            </a:r>
            <a:endParaRPr lang="en-US" sz="740"/>
          </a:p>
        </p:txBody>
      </p:sp>
      <p:sp>
        <p:nvSpPr>
          <p:cNvPr id="34" name="Rect 34"/>
          <p:cNvSpPr/>
          <p:nvPr/>
        </p:nvSpPr>
        <p:spPr>
          <a:xfrm>
            <a:off x="6254496" y="3383280"/>
            <a:ext cx="1609344" cy="438912"/>
          </a:xfrm>
          <a:prstGeom prst="roundRect">
            <a:avLst/>
          </a:prstGeom>
          <a:solidFill>
            <a:srgbClr val="F3EDF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5"/>
          <p:cNvSpPr txBox="1"/>
          <p:nvPr/>
        </p:nvSpPr>
        <p:spPr>
          <a:xfrm>
            <a:off x="6327648" y="3502152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7C3AED"/>
                </a:solidFill>
                <a:latin typeface="Yu Gothic"/>
              </a:rPr>
              <a:t>unchanged-only rollback</a:t>
            </a:r>
            <a:endParaRPr lang="en-US" sz="740"/>
          </a:p>
        </p:txBody>
      </p:sp>
      <p:sp>
        <p:nvSpPr>
          <p:cNvPr id="36" name="Rect 36"/>
          <p:cNvSpPr/>
          <p:nvPr/>
        </p:nvSpPr>
        <p:spPr>
          <a:xfrm>
            <a:off x="566928" y="4133088"/>
            <a:ext cx="7626096" cy="804672"/>
          </a:xfrm>
          <a:prstGeom prst="roundRect">
            <a:avLst/>
          </a:prstGeom>
          <a:solidFill>
            <a:srgbClr val="FDF4F4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37"/>
          <p:cNvSpPr/>
          <p:nvPr/>
        </p:nvSpPr>
        <p:spPr>
          <a:xfrm>
            <a:off x="786384" y="4379976"/>
            <a:ext cx="859536" cy="274320"/>
          </a:xfrm>
          <a:prstGeom prst="roundRect">
            <a:avLst/>
          </a:prstGeom>
          <a:solidFill>
            <a:srgbClr val="F9DADA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841248" y="4443984"/>
            <a:ext cx="74980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DC2626"/>
                </a:solidFill>
                <a:latin typeface="Yu Gothic"/>
              </a:rPr>
              <a:t>FAIL</a:t>
            </a:r>
            <a:endParaRPr lang="en-US" sz="820"/>
          </a:p>
        </p:txBody>
      </p:sp>
      <p:sp>
        <p:nvSpPr>
          <p:cNvPr id="39" name="Text 39"/>
          <p:cNvSpPr txBox="1"/>
          <p:nvPr/>
        </p:nvSpPr>
        <p:spPr>
          <a:xfrm>
            <a:off x="1828800" y="4325112"/>
            <a:ext cx="598017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50" b="1" i="0" dirty="0">
                <a:solidFill>
                  <a:srgbClr val="DC2626"/>
                </a:solidFill>
                <a:latin typeface="Yu Gothic"/>
              </a:rPr>
              <a:t>STOP • preserve exact error/log/state • classify retry safety • re-plan</a:t>
            </a:r>
            <a:endParaRPr lang="en-US" sz="950"/>
          </a:p>
        </p:txBody>
      </p:sp>
      <p:cxnSp>
        <p:nvCxnSpPr>
          <p:cNvPr id="40" name="Line 40"/>
          <p:cNvCxnSpPr/>
          <p:nvPr/>
        </p:nvCxnSpPr>
        <p:spPr>
          <a:xfrm flipH="false" flipV="true">
            <a:off x="4407408" y="3840480"/>
            <a:ext cx="0" cy="274320"/>
          </a:xfrm>
          <a:prstGeom prst="line">
            <a:avLst/>
          </a:prstGeom>
          <a:ln w="15240">
            <a:solidFill>
              <a:srgbClr val="DC2626"/>
            </a:solidFill>
            <a:tailEnd type="triangle"/>
          </a:ln>
        </p:spPr>
      </p:cxnSp>
      <p:sp>
        <p:nvSpPr>
          <p:cNvPr id="41" name="Rect 41"/>
          <p:cNvSpPr/>
          <p:nvPr/>
        </p:nvSpPr>
        <p:spPr>
          <a:xfrm>
            <a:off x="566928" y="5230368"/>
            <a:ext cx="7626096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2"/>
          <p:cNvSpPr txBox="1"/>
          <p:nvPr/>
        </p:nvSpPr>
        <p:spPr>
          <a:xfrm>
            <a:off x="804672" y="5394960"/>
            <a:ext cx="715060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70" b="0" i="0" dirty="0">
                <a:solidFill>
                  <a:srgbClr val="7C3AED"/>
                </a:solidFill>
                <a:latin typeface="Yu Gothic"/>
              </a:rPr>
              <a:t>Adversarial cases: protected root • symlink/hardlink • token mismatch • target drift • partial inventory • source leakage</a:t>
            </a:r>
            <a:endParaRPr lang="en-US" sz="770"/>
          </a:p>
        </p:txBody>
      </p:sp>
      <p:sp>
        <p:nvSpPr>
          <p:cNvPr id="43" name="Text 43"/>
          <p:cNvSpPr txBox="1"/>
          <p:nvPr/>
        </p:nvSpPr>
        <p:spPr>
          <a:xfrm>
            <a:off x="804672" y="5669280"/>
            <a:ext cx="7150608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tests use isolated temporary state and guarded cleanup; a failure is attributable to one suite log</a:t>
            </a:r>
            <a:endParaRPr lang="en-US" sz="660"/>
          </a:p>
        </p:txBody>
      </p:sp>
      <p:sp>
        <p:nvSpPr>
          <p:cNvPr id="44" name="Rect 44"/>
          <p:cNvSpPr/>
          <p:nvPr/>
        </p:nvSpPr>
        <p:spPr>
          <a:xfrm>
            <a:off x="8449056" y="1298448"/>
            <a:ext cx="3182112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 45"/>
          <p:cNvSpPr/>
          <p:nvPr/>
        </p:nvSpPr>
        <p:spPr>
          <a:xfrm>
            <a:off x="8686800" y="1536192"/>
            <a:ext cx="1115568" cy="274320"/>
          </a:xfrm>
          <a:prstGeom prst="roundRect">
            <a:avLst/>
          </a:prstGeom>
          <a:solidFill>
            <a:srgbClr val="D7EFE0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6"/>
          <p:cNvSpPr txBox="1"/>
          <p:nvPr/>
        </p:nvSpPr>
        <p:spPr>
          <a:xfrm>
            <a:off x="8741664" y="160020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16A34A"/>
                </a:solidFill>
                <a:latin typeface="Yu Gothic"/>
              </a:rPr>
              <a:t>TEST PATH</a:t>
            </a:r>
            <a:endParaRPr lang="en-US" sz="820"/>
          </a:p>
        </p:txBody>
      </p:sp>
      <p:sp>
        <p:nvSpPr>
          <p:cNvPr id="47" name="Rect 47"/>
          <p:cNvSpPr/>
          <p:nvPr/>
        </p:nvSpPr>
        <p:spPr>
          <a:xfrm>
            <a:off x="8705088" y="2057400"/>
            <a:ext cx="2670048" cy="621792"/>
          </a:xfrm>
          <a:prstGeom prst="roundRect">
            <a:avLst/>
          </a:prstGeom>
          <a:solidFill>
            <a:srgbClr val="E6F8FB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8"/>
          <p:cNvSpPr txBox="1"/>
          <p:nvPr/>
        </p:nvSpPr>
        <p:spPr>
          <a:xfrm>
            <a:off x="8778240" y="2167128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06B6D4"/>
                </a:solidFill>
                <a:latin typeface="Yu Gothic"/>
              </a:rPr>
              <a:t>57 focused suites</a:t>
            </a:r>
            <a:endParaRPr lang="en-US" sz="880"/>
          </a:p>
        </p:txBody>
      </p:sp>
      <p:sp>
        <p:nvSpPr>
          <p:cNvPr id="49" name="Text 49"/>
          <p:cNvSpPr txBox="1"/>
          <p:nvPr/>
        </p:nvSpPr>
        <p:spPr>
          <a:xfrm>
            <a:off x="8778240" y="2414016"/>
            <a:ext cx="25237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isolated subprocess + log</a:t>
            </a:r>
            <a:endParaRPr lang="en-US" sz="650"/>
          </a:p>
        </p:txBody>
      </p:sp>
      <p:cxnSp>
        <p:nvCxnSpPr>
          <p:cNvPr id="50" name="Line 50"/>
          <p:cNvCxnSpPr/>
          <p:nvPr/>
        </p:nvCxnSpPr>
        <p:spPr>
          <a:xfrm flipH="false" flipV="false">
            <a:off x="10040112" y="2688336"/>
            <a:ext cx="0" cy="228600"/>
          </a:xfrm>
          <a:prstGeom prst="line">
            <a:avLst/>
          </a:prstGeom>
          <a:ln w="12700">
            <a:solidFill>
              <a:srgbClr val="C5CFDC"/>
            </a:solidFill>
            <a:tailEnd type="triangle"/>
          </a:ln>
        </p:spPr>
      </p:cxnSp>
      <p:sp>
        <p:nvSpPr>
          <p:cNvPr id="51" name="Rect 51"/>
          <p:cNvSpPr/>
          <p:nvPr/>
        </p:nvSpPr>
        <p:spPr>
          <a:xfrm>
            <a:off x="8842248" y="2935224"/>
            <a:ext cx="2395728" cy="621792"/>
          </a:xfrm>
          <a:prstGeom prst="roundRect">
            <a:avLst/>
          </a:prstGeom>
          <a:solidFill>
            <a:srgbClr val="E7F4F3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2"/>
          <p:cNvSpPr txBox="1"/>
          <p:nvPr/>
        </p:nvSpPr>
        <p:spPr>
          <a:xfrm>
            <a:off x="8915400" y="3044952"/>
            <a:ext cx="224942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0D9488"/>
                </a:solidFill>
                <a:latin typeface="Yu Gothic"/>
              </a:rPr>
              <a:t>parallel runner</a:t>
            </a:r>
            <a:endParaRPr lang="en-US" sz="880"/>
          </a:p>
        </p:txBody>
      </p:sp>
      <p:sp>
        <p:nvSpPr>
          <p:cNvPr id="53" name="Text 53"/>
          <p:cNvSpPr txBox="1"/>
          <p:nvPr/>
        </p:nvSpPr>
        <p:spPr>
          <a:xfrm>
            <a:off x="8915400" y="3291840"/>
            <a:ext cx="224942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4 / 8 workers by visible CPU</a:t>
            </a:r>
            <a:endParaRPr lang="en-US" sz="650"/>
          </a:p>
        </p:txBody>
      </p:sp>
      <p:cxnSp>
        <p:nvCxnSpPr>
          <p:cNvPr id="54" name="Line 54"/>
          <p:cNvCxnSpPr/>
          <p:nvPr/>
        </p:nvCxnSpPr>
        <p:spPr>
          <a:xfrm flipH="false" flipV="false">
            <a:off x="10040112" y="3566160"/>
            <a:ext cx="0" cy="228600"/>
          </a:xfrm>
          <a:prstGeom prst="line">
            <a:avLst/>
          </a:prstGeom>
          <a:ln w="12700">
            <a:solidFill>
              <a:srgbClr val="C5CFDC"/>
            </a:solidFill>
            <a:tailEnd type="triangle"/>
          </a:ln>
        </p:spPr>
      </p:cxnSp>
      <p:sp>
        <p:nvSpPr>
          <p:cNvPr id="55" name="Rect 55"/>
          <p:cNvSpPr/>
          <p:nvPr/>
        </p:nvSpPr>
        <p:spPr>
          <a:xfrm>
            <a:off x="8979408" y="3813048"/>
            <a:ext cx="2121408" cy="621792"/>
          </a:xfrm>
          <a:prstGeom prst="roundRect">
            <a:avLst/>
          </a:prstGeom>
          <a:solidFill>
            <a:srgbClr val="F2EBF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6"/>
          <p:cNvSpPr txBox="1"/>
          <p:nvPr/>
        </p:nvSpPr>
        <p:spPr>
          <a:xfrm>
            <a:off x="9052560" y="3922776"/>
            <a:ext cx="19751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7C3AED"/>
                </a:solidFill>
                <a:latin typeface="Yu Gothic"/>
              </a:rPr>
              <a:t>test-phase1.sh</a:t>
            </a:r>
            <a:endParaRPr lang="en-US" sz="880"/>
          </a:p>
        </p:txBody>
      </p:sp>
      <p:sp>
        <p:nvSpPr>
          <p:cNvPr id="57" name="Text 57"/>
          <p:cNvSpPr txBox="1"/>
          <p:nvPr/>
        </p:nvSpPr>
        <p:spPr>
          <a:xfrm>
            <a:off x="9052560" y="4169664"/>
            <a:ext cx="197510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syntax + focused + portable + cleanup</a:t>
            </a:r>
            <a:endParaRPr lang="en-US" sz="650"/>
          </a:p>
        </p:txBody>
      </p:sp>
      <p:cxnSp>
        <p:nvCxnSpPr>
          <p:cNvPr id="58" name="Line 58"/>
          <p:cNvCxnSpPr/>
          <p:nvPr/>
        </p:nvCxnSpPr>
        <p:spPr>
          <a:xfrm flipH="false" flipV="false">
            <a:off x="10040112" y="4443984"/>
            <a:ext cx="0" cy="228600"/>
          </a:xfrm>
          <a:prstGeom prst="line">
            <a:avLst/>
          </a:prstGeom>
          <a:ln w="12700">
            <a:solidFill>
              <a:srgbClr val="C5CFDC"/>
            </a:solidFill>
            <a:tailEnd type="triangle"/>
          </a:ln>
        </p:spPr>
      </p:cxnSp>
      <p:sp>
        <p:nvSpPr>
          <p:cNvPr id="59" name="Rect 59"/>
          <p:cNvSpPr/>
          <p:nvPr/>
        </p:nvSpPr>
        <p:spPr>
          <a:xfrm>
            <a:off x="9116568" y="4690872"/>
            <a:ext cx="1847088" cy="621792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60"/>
          <p:cNvSpPr txBox="1"/>
          <p:nvPr/>
        </p:nvSpPr>
        <p:spPr>
          <a:xfrm>
            <a:off x="9189720" y="4800600"/>
            <a:ext cx="170078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80" b="1" i="0" dirty="0">
                <a:solidFill>
                  <a:srgbClr val="16A34A"/>
                </a:solidFill>
                <a:latin typeface="Yu Gothic"/>
              </a:rPr>
              <a:t>protected CI</a:t>
            </a:r>
            <a:endParaRPr lang="en-US" sz="880"/>
          </a:p>
        </p:txBody>
      </p:sp>
      <p:sp>
        <p:nvSpPr>
          <p:cNvPr id="61" name="Text 61"/>
          <p:cNvSpPr txBox="1"/>
          <p:nvPr/>
        </p:nvSpPr>
        <p:spPr>
          <a:xfrm>
            <a:off x="9189720" y="5047488"/>
            <a:ext cx="170078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Ubuntu • no persisted credentials</a:t>
            </a:r>
            <a:endParaRPr lang="en-US" sz="650"/>
          </a:p>
        </p:txBody>
      </p:sp>
      <p:sp>
        <p:nvSpPr>
          <p:cNvPr id="62" name="Text 62"/>
          <p:cNvSpPr txBox="1"/>
          <p:nvPr/>
        </p:nvSpPr>
        <p:spPr>
          <a:xfrm>
            <a:off x="8814816" y="5522976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16A34A"/>
                </a:solidFill>
                <a:latin typeface="Yu Gothic"/>
              </a:rPr>
              <a:t>PASS = same contract at every layer</a:t>
            </a:r>
            <a:endParaRPr lang="en-US" sz="740"/>
          </a:p>
        </p:txBody>
      </p:sp>
      <p:cxnSp>
        <p:nvCxnSpPr>
          <p:cNvPr id="63" name="Line 63"/>
          <p:cNvCxnSpPr/>
          <p:nvPr/>
        </p:nvCxnSpPr>
        <p:spPr>
          <a:xfrm flipH="false" flipV="false">
            <a:off x="621792" y="6473952"/>
            <a:ext cx="10954512" cy="0"/>
          </a:xfrm>
          <a:prstGeom prst="line">
            <a:avLst/>
          </a:prstGeom>
          <a:ln w="10160">
            <a:solidFill>
              <a:srgbClr val="D7DFEA"/>
            </a:solidFill>
          </a:ln>
        </p:spPr>
      </p:cxnSp>
      <p:sp>
        <p:nvSpPr>
          <p:cNvPr id="64" name="Text 64"/>
          <p:cNvSpPr txBox="1"/>
          <p:nvPr/>
        </p:nvSpPr>
        <p:spPr>
          <a:xfrm>
            <a:off x="640080" y="6510528"/>
            <a:ext cx="10469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.codex/AGENTS.md • default.rules • transaction/guard tests • focused-suites.tsv • run-focused-tests.py • phase1 • ci.yml</a:t>
            </a:r>
            <a:endParaRPr lang="en-US" sz="660"/>
          </a:p>
        </p:txBody>
      </p:sp>
      <p:sp>
        <p:nvSpPr>
          <p:cNvPr id="65" name="Text 65"/>
          <p:cNvSpPr txBox="1"/>
          <p:nvPr/>
        </p:nvSpPr>
        <p:spPr>
          <a:xfrm>
            <a:off x="11201400" y="649224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750" b="1" i="0" dirty="0">
                <a:solidFill>
                  <a:srgbClr val="56647A"/>
                </a:solidFill>
                <a:latin typeface="Yu Gothic"/>
              </a:rPr>
              <a:t>3</a:t>
            </a:r>
            <a:endParaRPr lang="en-US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21792" y="320040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550" b="1" i="0" dirty="0">
                <a:solidFill>
                  <a:srgbClr val="14213D"/>
                </a:solidFill>
                <a:latin typeface="Yu Gothic"/>
              </a:rPr>
              <a:t>durable `.md` protocol がCodex–Claude協働をchat contextから分離する</a:t>
            </a:r>
            <a:endParaRPr lang="en-US" sz="2550"/>
          </a:p>
        </p:txBody>
      </p:sp>
      <p:sp>
        <p:nvSpPr>
          <p:cNvPr id="4" name="Text 4"/>
          <p:cNvSpPr txBox="1"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80" b="0" i="0" dirty="0">
                <a:solidFill>
                  <a:srgbClr val="56647A"/>
                </a:solidFill>
                <a:latin typeface="Yu Gothic"/>
              </a:rPr>
              <a:t>会話はtransport、Markdownとstateがdurable source of truth</a:t>
            </a:r>
            <a:endParaRPr lang="en-US" sz="1080"/>
          </a:p>
        </p:txBody>
      </p:sp>
      <p:sp>
        <p:nvSpPr>
          <p:cNvPr id="5" name="Rect 5"/>
          <p:cNvSpPr/>
          <p:nvPr/>
        </p:nvSpPr>
        <p:spPr>
          <a:xfrm>
            <a:off x="502920" y="1298448"/>
            <a:ext cx="2139696" cy="4325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6"/>
          <p:cNvSpPr/>
          <p:nvPr/>
        </p:nvSpPr>
        <p:spPr>
          <a:xfrm>
            <a:off x="731520" y="1536192"/>
            <a:ext cx="1170432" cy="274320"/>
          </a:xfrm>
          <a:prstGeom prst="roundRect">
            <a:avLst/>
          </a:prstGeom>
          <a:solidFill>
            <a:srgbClr val="DEEAFD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86384" y="1600200"/>
            <a:ext cx="106070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3B82F6"/>
                </a:solidFill>
                <a:latin typeface="Yu Gothic"/>
              </a:rPr>
              <a:t>SYMMETRIC</a:t>
            </a:r>
            <a:endParaRPr lang="en-US" sz="820"/>
          </a:p>
        </p:txBody>
      </p:sp>
      <p:sp>
        <p:nvSpPr>
          <p:cNvPr id="8" name="Rect 8"/>
          <p:cNvSpPr/>
          <p:nvPr/>
        </p:nvSpPr>
        <p:spPr>
          <a:xfrm>
            <a:off x="768096" y="2011680"/>
            <a:ext cx="1609344" cy="749808"/>
          </a:xfrm>
          <a:prstGeom prst="roundRect">
            <a:avLst/>
          </a:prstGeom>
          <a:solidFill>
            <a:srgbClr val="E7F0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96112" y="219456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320" b="1" i="0" dirty="0">
                <a:solidFill>
                  <a:srgbClr val="3B82F6"/>
                </a:solidFill>
                <a:latin typeface="Yu Gothic"/>
              </a:rPr>
              <a:t>Codex</a:t>
            </a:r>
            <a:endParaRPr lang="en-US" sz="1320"/>
          </a:p>
        </p:txBody>
      </p:sp>
      <p:sp>
        <p:nvSpPr>
          <p:cNvPr id="10" name="Text 10"/>
          <p:cNvSpPr txBox="1"/>
          <p:nvPr/>
        </p:nvSpPr>
        <p:spPr>
          <a:xfrm>
            <a:off x="896112" y="2468880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56647A"/>
                </a:solidFill>
                <a:latin typeface="Yu Gothic"/>
              </a:rPr>
              <a:t>driver ↔ co-pilot</a:t>
            </a:r>
            <a:endParaRPr lang="en-US" sz="680"/>
          </a:p>
        </p:txBody>
      </p:sp>
      <p:cxnSp>
        <p:nvCxnSpPr>
          <p:cNvPr id="11" name="Line 11"/>
          <p:cNvCxnSpPr/>
          <p:nvPr/>
        </p:nvCxnSpPr>
        <p:spPr>
          <a:xfrm flipH="false" flipV="false">
            <a:off x="1572768" y="2798064"/>
            <a:ext cx="0" cy="265176"/>
          </a:xfrm>
          <a:prstGeom prst="line">
            <a:avLst/>
          </a:prstGeom>
          <a:ln w="13970">
            <a:solidFill>
              <a:srgbClr val="334155"/>
            </a:solidFill>
            <a:headEnd type="triangle"/>
            <a:tailEnd type="triangle"/>
          </a:ln>
        </p:spPr>
      </p:cxnSp>
      <p:sp>
        <p:nvSpPr>
          <p:cNvPr id="12" name="Rect 12"/>
          <p:cNvSpPr/>
          <p:nvPr/>
        </p:nvSpPr>
        <p:spPr>
          <a:xfrm>
            <a:off x="768096" y="3099816"/>
            <a:ext cx="1609344" cy="749808"/>
          </a:xfrm>
          <a:prstGeom prst="roundRect">
            <a:avLst/>
          </a:prstGeom>
          <a:solidFill>
            <a:srgbClr val="EFE7F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896112" y="328269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320" b="1" i="0" dirty="0">
                <a:solidFill>
                  <a:srgbClr val="7C3AED"/>
                </a:solidFill>
                <a:latin typeface="Yu Gothic"/>
              </a:rPr>
              <a:t>Claude</a:t>
            </a:r>
            <a:endParaRPr lang="en-US" sz="1320"/>
          </a:p>
        </p:txBody>
      </p:sp>
      <p:sp>
        <p:nvSpPr>
          <p:cNvPr id="14" name="Text 14"/>
          <p:cNvSpPr txBox="1"/>
          <p:nvPr/>
        </p:nvSpPr>
        <p:spPr>
          <a:xfrm>
            <a:off x="896112" y="3557016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56647A"/>
                </a:solidFill>
                <a:latin typeface="Yu Gothic"/>
              </a:rPr>
              <a:t>co-pilot ↔ driver</a:t>
            </a:r>
            <a:endParaRPr lang="en-US" sz="680"/>
          </a:p>
        </p:txBody>
      </p:sp>
      <p:sp>
        <p:nvSpPr>
          <p:cNvPr id="15" name="Text 15"/>
          <p:cNvSpPr txBox="1"/>
          <p:nvPr/>
        </p:nvSpPr>
        <p:spPr>
          <a:xfrm>
            <a:off x="749808" y="425196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00" b="0" i="0" dirty="0">
                <a:solidFill>
                  <a:srgbClr val="14213D"/>
                </a:solidFill>
                <a:latin typeface="Yu Gothic"/>
              </a:rPr>
              <a:t>同一baseline</a:t>
            </a:r>
            <a:endParaRPr lang="en-US" sz="800"/>
          </a:p>
          <a:p>
            <a:pPr algn="ctr"/>
            <a:r>
              <a:rPr lang="en-US" sz="800" b="0" i="0" dirty="0">
                <a:solidFill>
                  <a:srgbClr val="14213D"/>
                </a:solidFill>
                <a:latin typeface="Yu Gothic"/>
              </a:rPr>
              <a:t>別sandbox</a:t>
            </a:r>
            <a:endParaRPr lang="en-US" sz="800"/>
          </a:p>
          <a:p>
            <a:pPr algn="ctr"/>
            <a:r>
              <a:rPr lang="en-US" sz="800" b="0" i="0" dirty="0">
                <a:solidFill>
                  <a:srgbClr val="14213D"/>
                </a:solidFill>
                <a:latin typeface="Yu Gothic"/>
              </a:rPr>
              <a:t>独立passは相互blind</a:t>
            </a:r>
            <a:endParaRPr lang="en-US" sz="800"/>
          </a:p>
        </p:txBody>
      </p:sp>
      <p:sp>
        <p:nvSpPr>
          <p:cNvPr id="16" name="Rect 16"/>
          <p:cNvSpPr/>
          <p:nvPr/>
        </p:nvSpPr>
        <p:spPr>
          <a:xfrm>
            <a:off x="749808" y="4937760"/>
            <a:ext cx="1645920" cy="402336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841248" y="5056632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00" b="1" i="0" dirty="0">
                <a:solidFill>
                  <a:srgbClr val="DC2626"/>
                </a:solidFill>
                <a:latin typeface="Yu Gothic"/>
              </a:rPr>
              <a:t>target write = driver only</a:t>
            </a:r>
            <a:endParaRPr lang="en-US" sz="700"/>
          </a:p>
        </p:txBody>
      </p:sp>
      <p:sp>
        <p:nvSpPr>
          <p:cNvPr id="18" name="Rect 18"/>
          <p:cNvSpPr/>
          <p:nvPr/>
        </p:nvSpPr>
        <p:spPr>
          <a:xfrm>
            <a:off x="2834640" y="1298448"/>
            <a:ext cx="5175504" cy="4325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9"/>
          <p:cNvSpPr/>
          <p:nvPr/>
        </p:nvSpPr>
        <p:spPr>
          <a:xfrm>
            <a:off x="3072384" y="1536192"/>
            <a:ext cx="1426464" cy="274320"/>
          </a:xfrm>
          <a:prstGeom prst="roundRect">
            <a:avLst/>
          </a:prstGeom>
          <a:solidFill>
            <a:srgbClr val="D6EDEB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3127248" y="1600200"/>
            <a:ext cx="1316736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0D9488"/>
                </a:solidFill>
                <a:latin typeface="Yu Gothic"/>
              </a:rPr>
              <a:t>DURABLE SESSION</a:t>
            </a:r>
            <a:endParaRPr lang="en-US" sz="820"/>
          </a:p>
        </p:txBody>
      </p:sp>
      <p:sp>
        <p:nvSpPr>
          <p:cNvPr id="21" name="Rect 21"/>
          <p:cNvSpPr/>
          <p:nvPr/>
        </p:nvSpPr>
        <p:spPr>
          <a:xfrm>
            <a:off x="6565392" y="1527048"/>
            <a:ext cx="1133856" cy="310896"/>
          </a:xfrm>
          <a:prstGeom prst="roundRect">
            <a:avLst/>
          </a:prstGeom>
          <a:solidFill>
            <a:srgbClr val="E2F2F1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6638544" y="1609344"/>
            <a:ext cx="98755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30" b="1" i="0" dirty="0">
                <a:solidFill>
                  <a:srgbClr val="0D9488"/>
                </a:solidFill>
                <a:latin typeface="Yu Gothic"/>
              </a:rPr>
              <a:t>state.json</a:t>
            </a:r>
            <a:endParaRPr lang="en-US" sz="730"/>
          </a:p>
        </p:txBody>
      </p:sp>
      <p:sp>
        <p:nvSpPr>
          <p:cNvPr id="23" name="Rect 23"/>
          <p:cNvSpPr/>
          <p:nvPr/>
        </p:nvSpPr>
        <p:spPr>
          <a:xfrm>
            <a:off x="3090672" y="1993392"/>
            <a:ext cx="969264" cy="438912"/>
          </a:xfrm>
          <a:prstGeom prst="roundRect">
            <a:avLst/>
          </a:prstGeom>
          <a:solidFill>
            <a:srgbClr val="E4EE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3163824" y="2121408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3B82F6"/>
                </a:solidFill>
                <a:latin typeface="Yu Gothic"/>
              </a:rPr>
              <a:t>PLAN</a:t>
            </a:r>
            <a:endParaRPr lang="en-US" sz="740"/>
          </a:p>
        </p:txBody>
      </p:sp>
      <p:sp>
        <p:nvSpPr>
          <p:cNvPr id="25" name="Rect 25"/>
          <p:cNvSpPr/>
          <p:nvPr/>
        </p:nvSpPr>
        <p:spPr>
          <a:xfrm>
            <a:off x="4251960" y="1993392"/>
            <a:ext cx="1600200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4325112" y="2121408"/>
            <a:ext cx="14538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20" b="1" i="0" dirty="0">
                <a:solidFill>
                  <a:srgbClr val="14213D"/>
                </a:solidFill>
                <a:latin typeface="Yu Gothic"/>
              </a:rPr>
              <a:t>charter.md</a:t>
            </a:r>
            <a:endParaRPr lang="en-US" sz="720"/>
          </a:p>
        </p:txBody>
      </p:sp>
      <p:sp>
        <p:nvSpPr>
          <p:cNvPr id="27" name="Rect 27"/>
          <p:cNvSpPr/>
          <p:nvPr/>
        </p:nvSpPr>
        <p:spPr>
          <a:xfrm>
            <a:off x="6044184" y="1993392"/>
            <a:ext cx="1673352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5CF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 txBox="1"/>
          <p:nvPr/>
        </p:nvSpPr>
        <p:spPr>
          <a:xfrm>
            <a:off x="6117336" y="2093976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plan.md</a:t>
            </a:r>
            <a:endParaRPr lang="en-US" sz="660"/>
          </a:p>
        </p:txBody>
      </p:sp>
      <p:cxnSp>
        <p:nvCxnSpPr>
          <p:cNvPr id="29" name="Line 29"/>
          <p:cNvCxnSpPr/>
          <p:nvPr/>
        </p:nvCxnSpPr>
        <p:spPr>
          <a:xfrm flipH="false" flipV="false">
            <a:off x="3575304" y="2441448"/>
            <a:ext cx="0" cy="173736"/>
          </a:xfrm>
          <a:prstGeom prst="line">
            <a:avLst/>
          </a:prstGeom>
          <a:ln w="11430">
            <a:solidFill>
              <a:srgbClr val="C5CFDC"/>
            </a:solidFill>
            <a:tailEnd type="triangle"/>
          </a:ln>
        </p:spPr>
      </p:cxnSp>
      <p:sp>
        <p:nvSpPr>
          <p:cNvPr id="30" name="Rect 30"/>
          <p:cNvSpPr/>
          <p:nvPr/>
        </p:nvSpPr>
        <p:spPr>
          <a:xfrm>
            <a:off x="3090672" y="2633472"/>
            <a:ext cx="969264" cy="438912"/>
          </a:xfrm>
          <a:prstGeom prst="roundRect">
            <a:avLst/>
          </a:prstGeom>
          <a:solidFill>
            <a:srgbClr val="EDE3FC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3163824" y="2761488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7C3AED"/>
                </a:solidFill>
                <a:latin typeface="Yu Gothic"/>
              </a:rPr>
              <a:t>DISCUSS</a:t>
            </a:r>
            <a:endParaRPr lang="en-US" sz="740"/>
          </a:p>
        </p:txBody>
      </p:sp>
      <p:sp>
        <p:nvSpPr>
          <p:cNvPr id="32" name="Rect 32"/>
          <p:cNvSpPr/>
          <p:nvPr/>
        </p:nvSpPr>
        <p:spPr>
          <a:xfrm>
            <a:off x="4251960" y="2633472"/>
            <a:ext cx="1600200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3"/>
          <p:cNvSpPr txBox="1"/>
          <p:nvPr/>
        </p:nvSpPr>
        <p:spPr>
          <a:xfrm>
            <a:off x="4325112" y="2761488"/>
            <a:ext cx="14538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20" b="1" i="0" dirty="0">
                <a:solidFill>
                  <a:srgbClr val="14213D"/>
                </a:solidFill>
                <a:latin typeface="Yu Gothic"/>
              </a:rPr>
              <a:t>driver-evidence.md</a:t>
            </a:r>
            <a:endParaRPr lang="en-US" sz="720"/>
          </a:p>
        </p:txBody>
      </p:sp>
      <p:sp>
        <p:nvSpPr>
          <p:cNvPr id="34" name="Rect 34"/>
          <p:cNvSpPr/>
          <p:nvPr/>
        </p:nvSpPr>
        <p:spPr>
          <a:xfrm>
            <a:off x="6044184" y="2633472"/>
            <a:ext cx="1673352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5CF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5"/>
          <p:cNvSpPr txBox="1"/>
          <p:nvPr/>
        </p:nvSpPr>
        <p:spPr>
          <a:xfrm>
            <a:off x="6117336" y="2734056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copilot-evidence.md</a:t>
            </a:r>
            <a:endParaRPr lang="en-US" sz="660"/>
          </a:p>
        </p:txBody>
      </p:sp>
      <p:cxnSp>
        <p:nvCxnSpPr>
          <p:cNvPr id="36" name="Line 36"/>
          <p:cNvCxnSpPr/>
          <p:nvPr/>
        </p:nvCxnSpPr>
        <p:spPr>
          <a:xfrm flipH="false" flipV="false">
            <a:off x="3575304" y="3081528"/>
            <a:ext cx="0" cy="173736"/>
          </a:xfrm>
          <a:prstGeom prst="line">
            <a:avLst/>
          </a:prstGeom>
          <a:ln w="11430">
            <a:solidFill>
              <a:srgbClr val="C5CFDC"/>
            </a:solidFill>
            <a:tailEnd type="triangle"/>
          </a:ln>
        </p:spPr>
      </p:cxnSp>
      <p:sp>
        <p:nvSpPr>
          <p:cNvPr id="37" name="Rect 37"/>
          <p:cNvSpPr/>
          <p:nvPr/>
        </p:nvSpPr>
        <p:spPr>
          <a:xfrm>
            <a:off x="3090672" y="3273552"/>
            <a:ext cx="969264" cy="438912"/>
          </a:xfrm>
          <a:prstGeom prst="roundRect">
            <a:avLst/>
          </a:prstGeom>
          <a:solidFill>
            <a:srgbClr val="DDF0EE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3163824" y="3401568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0D9488"/>
                </a:solidFill>
                <a:latin typeface="Yu Gothic"/>
              </a:rPr>
              <a:t>FREEZE</a:t>
            </a:r>
            <a:endParaRPr lang="en-US" sz="740"/>
          </a:p>
        </p:txBody>
      </p:sp>
      <p:sp>
        <p:nvSpPr>
          <p:cNvPr id="39" name="Rect 39"/>
          <p:cNvSpPr/>
          <p:nvPr/>
        </p:nvSpPr>
        <p:spPr>
          <a:xfrm>
            <a:off x="4251960" y="3273552"/>
            <a:ext cx="1600200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0"/>
          <p:cNvSpPr txBox="1"/>
          <p:nvPr/>
        </p:nvSpPr>
        <p:spPr>
          <a:xfrm>
            <a:off x="4325112" y="3401568"/>
            <a:ext cx="14538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20" b="1" i="0" dirty="0">
                <a:solidFill>
                  <a:srgbClr val="14213D"/>
                </a:solidFill>
                <a:latin typeface="Yu Gothic"/>
              </a:rPr>
              <a:t>reconciliation.md</a:t>
            </a:r>
            <a:endParaRPr lang="en-US" sz="720"/>
          </a:p>
        </p:txBody>
      </p:sp>
      <p:sp>
        <p:nvSpPr>
          <p:cNvPr id="41" name="Rect 41"/>
          <p:cNvSpPr/>
          <p:nvPr/>
        </p:nvSpPr>
        <p:spPr>
          <a:xfrm>
            <a:off x="6044184" y="3273552"/>
            <a:ext cx="1673352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5CF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2"/>
          <p:cNvSpPr txBox="1"/>
          <p:nvPr/>
        </p:nvSpPr>
        <p:spPr>
          <a:xfrm>
            <a:off x="6117336" y="3374136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accepted / rejected + gates</a:t>
            </a:r>
            <a:endParaRPr lang="en-US" sz="660"/>
          </a:p>
        </p:txBody>
      </p:sp>
      <p:cxnSp>
        <p:nvCxnSpPr>
          <p:cNvPr id="43" name="Line 43"/>
          <p:cNvCxnSpPr/>
          <p:nvPr/>
        </p:nvCxnSpPr>
        <p:spPr>
          <a:xfrm flipH="false" flipV="false">
            <a:off x="3575304" y="3721608"/>
            <a:ext cx="0" cy="173736"/>
          </a:xfrm>
          <a:prstGeom prst="line">
            <a:avLst/>
          </a:prstGeom>
          <a:ln w="11430">
            <a:solidFill>
              <a:srgbClr val="C5CFDC"/>
            </a:solidFill>
            <a:tailEnd type="triangle"/>
          </a:ln>
        </p:spPr>
      </p:cxnSp>
      <p:sp>
        <p:nvSpPr>
          <p:cNvPr id="44" name="Rect 44"/>
          <p:cNvSpPr/>
          <p:nvPr/>
        </p:nvSpPr>
        <p:spPr>
          <a:xfrm>
            <a:off x="3090672" y="3913632"/>
            <a:ext cx="969264" cy="438912"/>
          </a:xfrm>
          <a:prstGeom prst="roundRect">
            <a:avLst/>
          </a:prstGeom>
          <a:solidFill>
            <a:srgbClr val="FEF1DD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5"/>
          <p:cNvSpPr txBox="1"/>
          <p:nvPr/>
        </p:nvSpPr>
        <p:spPr>
          <a:xfrm>
            <a:off x="3163824" y="4041648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F59E0B"/>
                </a:solidFill>
                <a:latin typeface="Yu Gothic"/>
              </a:rPr>
              <a:t>EXECUTE</a:t>
            </a:r>
            <a:endParaRPr lang="en-US" sz="740"/>
          </a:p>
        </p:txBody>
      </p:sp>
      <p:sp>
        <p:nvSpPr>
          <p:cNvPr id="46" name="Rect 46"/>
          <p:cNvSpPr/>
          <p:nvPr/>
        </p:nvSpPr>
        <p:spPr>
          <a:xfrm>
            <a:off x="4251960" y="3913632"/>
            <a:ext cx="1600200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7"/>
          <p:cNvSpPr txBox="1"/>
          <p:nvPr/>
        </p:nvSpPr>
        <p:spPr>
          <a:xfrm>
            <a:off x="4325112" y="4041648"/>
            <a:ext cx="14538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20" b="1" i="0" dirty="0">
                <a:solidFill>
                  <a:srgbClr val="14213D"/>
                </a:solidFill>
                <a:latin typeface="Yu Gothic"/>
              </a:rPr>
              <a:t>execution.md</a:t>
            </a:r>
            <a:endParaRPr lang="en-US" sz="720"/>
          </a:p>
        </p:txBody>
      </p:sp>
      <p:sp>
        <p:nvSpPr>
          <p:cNvPr id="48" name="Rect 48"/>
          <p:cNvSpPr/>
          <p:nvPr/>
        </p:nvSpPr>
        <p:spPr>
          <a:xfrm>
            <a:off x="6044184" y="3913632"/>
            <a:ext cx="1673352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5CF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9"/>
          <p:cNvSpPr txBox="1"/>
          <p:nvPr/>
        </p:nvSpPr>
        <p:spPr>
          <a:xfrm>
            <a:off x="6117336" y="4014216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driver-only target steps</a:t>
            </a:r>
            <a:endParaRPr lang="en-US" sz="660"/>
          </a:p>
        </p:txBody>
      </p:sp>
      <p:cxnSp>
        <p:nvCxnSpPr>
          <p:cNvPr id="50" name="Line 50"/>
          <p:cNvCxnSpPr/>
          <p:nvPr/>
        </p:nvCxnSpPr>
        <p:spPr>
          <a:xfrm flipH="false" flipV="false">
            <a:off x="3575304" y="4361688"/>
            <a:ext cx="0" cy="173736"/>
          </a:xfrm>
          <a:prstGeom prst="line">
            <a:avLst/>
          </a:prstGeom>
          <a:ln w="11430">
            <a:solidFill>
              <a:srgbClr val="C5CFDC"/>
            </a:solidFill>
            <a:tailEnd type="triangle"/>
          </a:ln>
        </p:spPr>
      </p:cxnSp>
      <p:sp>
        <p:nvSpPr>
          <p:cNvPr id="51" name="Rect 51"/>
          <p:cNvSpPr/>
          <p:nvPr/>
        </p:nvSpPr>
        <p:spPr>
          <a:xfrm>
            <a:off x="3090672" y="4553712"/>
            <a:ext cx="969264" cy="438912"/>
          </a:xfrm>
          <a:prstGeom prst="roundRect">
            <a:avLst/>
          </a:prstGeom>
          <a:solidFill>
            <a:srgbClr val="DEF2E6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2"/>
          <p:cNvSpPr txBox="1"/>
          <p:nvPr/>
        </p:nvSpPr>
        <p:spPr>
          <a:xfrm>
            <a:off x="3163824" y="4681728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16A34A"/>
                </a:solidFill>
                <a:latin typeface="Yu Gothic"/>
              </a:rPr>
              <a:t>VALIDATE</a:t>
            </a:r>
            <a:endParaRPr lang="en-US" sz="740"/>
          </a:p>
        </p:txBody>
      </p:sp>
      <p:sp>
        <p:nvSpPr>
          <p:cNvPr id="53" name="Rect 53"/>
          <p:cNvSpPr/>
          <p:nvPr/>
        </p:nvSpPr>
        <p:spPr>
          <a:xfrm>
            <a:off x="4251960" y="4553712"/>
            <a:ext cx="1600200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4"/>
          <p:cNvSpPr txBox="1"/>
          <p:nvPr/>
        </p:nvSpPr>
        <p:spPr>
          <a:xfrm>
            <a:off x="4325112" y="4681728"/>
            <a:ext cx="14538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20" b="1" i="0" dirty="0">
                <a:solidFill>
                  <a:srgbClr val="14213D"/>
                </a:solidFill>
                <a:latin typeface="Yu Gothic"/>
              </a:rPr>
              <a:t>validation.md</a:t>
            </a:r>
            <a:endParaRPr lang="en-US" sz="720"/>
          </a:p>
        </p:txBody>
      </p:sp>
      <p:sp>
        <p:nvSpPr>
          <p:cNvPr id="55" name="Rect 55"/>
          <p:cNvSpPr/>
          <p:nvPr/>
        </p:nvSpPr>
        <p:spPr>
          <a:xfrm>
            <a:off x="6044184" y="4553712"/>
            <a:ext cx="1673352" cy="4389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5CF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6"/>
          <p:cNvSpPr txBox="1"/>
          <p:nvPr/>
        </p:nvSpPr>
        <p:spPr>
          <a:xfrm>
            <a:off x="6117336" y="4654296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outcome + residual risks</a:t>
            </a:r>
            <a:endParaRPr lang="en-US" sz="660"/>
          </a:p>
        </p:txBody>
      </p:sp>
      <p:sp>
        <p:nvSpPr>
          <p:cNvPr id="57" name="Text 57"/>
          <p:cNvSpPr txBox="1"/>
          <p:nvPr/>
        </p:nvSpPr>
        <p:spPr>
          <a:xfrm>
            <a:off x="3163824" y="5312664"/>
            <a:ext cx="44256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56647A"/>
                </a:solidFill>
                <a:latin typeface="Yu Gothic"/>
              </a:rPr>
              <a:t>raw bulky logs → bounded artifacts/ • decisions stay concise in Markdown</a:t>
            </a:r>
            <a:endParaRPr lang="en-US" sz="680"/>
          </a:p>
        </p:txBody>
      </p:sp>
      <p:sp>
        <p:nvSpPr>
          <p:cNvPr id="58" name="Rect 58"/>
          <p:cNvSpPr/>
          <p:nvPr/>
        </p:nvSpPr>
        <p:spPr>
          <a:xfrm>
            <a:off x="8211312" y="1298448"/>
            <a:ext cx="3474720" cy="4325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27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 59"/>
          <p:cNvSpPr/>
          <p:nvPr/>
        </p:nvSpPr>
        <p:spPr>
          <a:xfrm>
            <a:off x="8449056" y="1536192"/>
            <a:ext cx="1298448" cy="274320"/>
          </a:xfrm>
          <a:prstGeom prst="roundRect">
            <a:avLst/>
          </a:prstGeom>
          <a:solidFill>
            <a:srgbClr val="F9DAE8"/>
          </a:solidFill>
          <a:ln w="12700">
            <a:solidFill>
              <a:srgbClr val="DB27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60"/>
          <p:cNvSpPr txBox="1"/>
          <p:nvPr/>
        </p:nvSpPr>
        <p:spPr>
          <a:xfrm>
            <a:off x="8503920" y="1600200"/>
            <a:ext cx="118872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DB2777"/>
                </a:solidFill>
                <a:latin typeface="Yu Gothic"/>
              </a:rPr>
              <a:t>STAGED EXCHANGE</a:t>
            </a:r>
            <a:endParaRPr lang="en-US" sz="820"/>
          </a:p>
        </p:txBody>
      </p:sp>
      <p:sp>
        <p:nvSpPr>
          <p:cNvPr id="61" name="Rect 61"/>
          <p:cNvSpPr/>
          <p:nvPr/>
        </p:nvSpPr>
        <p:spPr>
          <a:xfrm>
            <a:off x="8650224" y="1975104"/>
            <a:ext cx="2578608" cy="365760"/>
          </a:xfrm>
          <a:prstGeom prst="roundRect">
            <a:avLst/>
          </a:prstGeom>
          <a:solidFill>
            <a:srgbClr val="EBF2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2"/>
          <p:cNvSpPr txBox="1"/>
          <p:nvPr/>
        </p:nvSpPr>
        <p:spPr>
          <a:xfrm>
            <a:off x="8741664" y="2075688"/>
            <a:ext cx="239572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30" b="1" i="0" dirty="0">
                <a:solidFill>
                  <a:srgbClr val="3B82F6"/>
                </a:solidFill>
                <a:latin typeface="Yu Gothic"/>
              </a:rPr>
              <a:t>driver-only prompt</a:t>
            </a:r>
            <a:endParaRPr lang="en-US" sz="730"/>
          </a:p>
        </p:txBody>
      </p:sp>
      <p:cxnSp>
        <p:nvCxnSpPr>
          <p:cNvPr id="63" name="Line 63"/>
          <p:cNvCxnSpPr/>
          <p:nvPr/>
        </p:nvCxnSpPr>
        <p:spPr>
          <a:xfrm flipH="false" flipV="false">
            <a:off x="9939528" y="2350008"/>
            <a:ext cx="0" cy="128016"/>
          </a:xfrm>
          <a:prstGeom prst="line">
            <a:avLst/>
          </a:prstGeom>
          <a:ln w="10160">
            <a:solidFill>
              <a:srgbClr val="C5CFDC"/>
            </a:solidFill>
            <a:tailEnd type="triangle"/>
          </a:ln>
        </p:spPr>
      </p:cxnSp>
      <p:sp>
        <p:nvSpPr>
          <p:cNvPr id="64" name="Rect 64"/>
          <p:cNvSpPr/>
          <p:nvPr/>
        </p:nvSpPr>
        <p:spPr>
          <a:xfrm>
            <a:off x="8650224" y="2496312"/>
            <a:ext cx="2578608" cy="365760"/>
          </a:xfrm>
          <a:prstGeom prst="roundRect">
            <a:avLst/>
          </a:prstGeom>
          <a:solidFill>
            <a:srgbClr val="E6F8FB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5"/>
          <p:cNvSpPr txBox="1"/>
          <p:nvPr/>
        </p:nvSpPr>
        <p:spPr>
          <a:xfrm>
            <a:off x="8741664" y="2596896"/>
            <a:ext cx="239572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30" b="1" i="0" dirty="0">
                <a:solidFill>
                  <a:srgbClr val="06B6D4"/>
                </a:solidFill>
                <a:latin typeface="Yu Gothic"/>
              </a:rPr>
              <a:t>path-free state + inputs</a:t>
            </a:r>
            <a:endParaRPr lang="en-US" sz="730"/>
          </a:p>
        </p:txBody>
      </p:sp>
      <p:cxnSp>
        <p:nvCxnSpPr>
          <p:cNvPr id="66" name="Line 66"/>
          <p:cNvCxnSpPr/>
          <p:nvPr/>
        </p:nvCxnSpPr>
        <p:spPr>
          <a:xfrm flipH="false" flipV="false">
            <a:off x="9939528" y="2871216"/>
            <a:ext cx="0" cy="128016"/>
          </a:xfrm>
          <a:prstGeom prst="line">
            <a:avLst/>
          </a:prstGeom>
          <a:ln w="10160">
            <a:solidFill>
              <a:srgbClr val="C5CFDC"/>
            </a:solidFill>
            <a:tailEnd type="triangle"/>
          </a:ln>
        </p:spPr>
      </p:cxnSp>
      <p:sp>
        <p:nvSpPr>
          <p:cNvPr id="67" name="Rect 67"/>
          <p:cNvSpPr/>
          <p:nvPr/>
        </p:nvSpPr>
        <p:spPr>
          <a:xfrm>
            <a:off x="8650224" y="3017520"/>
            <a:ext cx="2578608" cy="36576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8"/>
          <p:cNvSpPr txBox="1"/>
          <p:nvPr/>
        </p:nvSpPr>
        <p:spPr>
          <a:xfrm>
            <a:off x="8741664" y="3118104"/>
            <a:ext cx="239572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30" b="1" i="0" dirty="0">
                <a:solidFill>
                  <a:srgbClr val="F59E0B"/>
                </a:solidFill>
                <a:latin typeface="Yu Gothic"/>
              </a:rPr>
              <a:t>external seal</a:t>
            </a:r>
            <a:endParaRPr lang="en-US" sz="730"/>
          </a:p>
        </p:txBody>
      </p:sp>
      <p:cxnSp>
        <p:nvCxnSpPr>
          <p:cNvPr id="69" name="Line 69"/>
          <p:cNvCxnSpPr/>
          <p:nvPr/>
        </p:nvCxnSpPr>
        <p:spPr>
          <a:xfrm flipH="false" flipV="false">
            <a:off x="9939528" y="3392424"/>
            <a:ext cx="0" cy="128016"/>
          </a:xfrm>
          <a:prstGeom prst="line">
            <a:avLst/>
          </a:prstGeom>
          <a:ln w="10160">
            <a:solidFill>
              <a:srgbClr val="C5CFDC"/>
            </a:solidFill>
            <a:tailEnd type="triangle"/>
          </a:ln>
        </p:spPr>
      </p:cxnSp>
      <p:sp>
        <p:nvSpPr>
          <p:cNvPr id="70" name="Rect 70"/>
          <p:cNvSpPr/>
          <p:nvPr/>
        </p:nvSpPr>
        <p:spPr>
          <a:xfrm>
            <a:off x="8650224" y="3538728"/>
            <a:ext cx="2578608" cy="365760"/>
          </a:xfrm>
          <a:prstGeom prst="roundRect">
            <a:avLst/>
          </a:prstGeom>
          <a:solidFill>
            <a:srgbClr val="F2EBF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71"/>
          <p:cNvSpPr txBox="1"/>
          <p:nvPr/>
        </p:nvSpPr>
        <p:spPr>
          <a:xfrm>
            <a:off x="8741664" y="3639312"/>
            <a:ext cx="239572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30" b="1" i="0" dirty="0">
                <a:solidFill>
                  <a:srgbClr val="7C3AED"/>
                </a:solidFill>
                <a:latin typeface="Yu Gothic"/>
              </a:rPr>
              <a:t>candidate evidence</a:t>
            </a:r>
            <a:endParaRPr lang="en-US" sz="730"/>
          </a:p>
        </p:txBody>
      </p:sp>
      <p:cxnSp>
        <p:nvCxnSpPr>
          <p:cNvPr id="72" name="Line 72"/>
          <p:cNvCxnSpPr/>
          <p:nvPr/>
        </p:nvCxnSpPr>
        <p:spPr>
          <a:xfrm flipH="false" flipV="false">
            <a:off x="9939528" y="3913632"/>
            <a:ext cx="0" cy="128016"/>
          </a:xfrm>
          <a:prstGeom prst="line">
            <a:avLst/>
          </a:prstGeom>
          <a:ln w="10160">
            <a:solidFill>
              <a:srgbClr val="C5CFDC"/>
            </a:solidFill>
            <a:tailEnd type="triangle"/>
          </a:ln>
        </p:spPr>
      </p:cxnSp>
      <p:sp>
        <p:nvSpPr>
          <p:cNvPr id="73" name="Rect 73"/>
          <p:cNvSpPr/>
          <p:nvPr/>
        </p:nvSpPr>
        <p:spPr>
          <a:xfrm>
            <a:off x="8650224" y="4059936"/>
            <a:ext cx="2578608" cy="365760"/>
          </a:xfrm>
          <a:prstGeom prst="roundRect">
            <a:avLst/>
          </a:prstGeom>
          <a:solidFill>
            <a:srgbClr val="E7F4F3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4"/>
          <p:cNvSpPr txBox="1"/>
          <p:nvPr/>
        </p:nvSpPr>
        <p:spPr>
          <a:xfrm>
            <a:off x="8741664" y="4160520"/>
            <a:ext cx="239572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30" b="1" i="0" dirty="0">
                <a:solidFill>
                  <a:srgbClr val="0D9488"/>
                </a:solidFill>
                <a:latin typeface="Yu Gothic"/>
              </a:rPr>
              <a:t>validate + import</a:t>
            </a:r>
            <a:endParaRPr lang="en-US" sz="730"/>
          </a:p>
        </p:txBody>
      </p:sp>
      <p:cxnSp>
        <p:nvCxnSpPr>
          <p:cNvPr id="75" name="Line 75"/>
          <p:cNvCxnSpPr/>
          <p:nvPr/>
        </p:nvCxnSpPr>
        <p:spPr>
          <a:xfrm flipH="false" flipV="false">
            <a:off x="9939528" y="4434840"/>
            <a:ext cx="0" cy="128016"/>
          </a:xfrm>
          <a:prstGeom prst="line">
            <a:avLst/>
          </a:prstGeom>
          <a:ln w="10160">
            <a:solidFill>
              <a:srgbClr val="C5CFDC"/>
            </a:solidFill>
            <a:tailEnd type="triangle"/>
          </a:ln>
        </p:spPr>
      </p:cxnSp>
      <p:sp>
        <p:nvSpPr>
          <p:cNvPr id="76" name="Rect 76"/>
          <p:cNvSpPr/>
          <p:nvPr/>
        </p:nvSpPr>
        <p:spPr>
          <a:xfrm>
            <a:off x="8650224" y="4581144"/>
            <a:ext cx="2578608" cy="365760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7"/>
          <p:cNvSpPr txBox="1"/>
          <p:nvPr/>
        </p:nvSpPr>
        <p:spPr>
          <a:xfrm>
            <a:off x="8741664" y="4681728"/>
            <a:ext cx="239572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30" b="1" i="0" dirty="0">
                <a:solidFill>
                  <a:srgbClr val="16A34A"/>
                </a:solidFill>
                <a:latin typeface="Yu Gothic"/>
              </a:rPr>
              <a:t>receipt chain</a:t>
            </a:r>
            <a:endParaRPr lang="en-US" sz="730"/>
          </a:p>
        </p:txBody>
      </p:sp>
      <p:sp>
        <p:nvSpPr>
          <p:cNvPr id="78" name="Text 78"/>
          <p:cNvSpPr txBox="1"/>
          <p:nvPr/>
        </p:nvSpPr>
        <p:spPr>
          <a:xfrm>
            <a:off x="8503920" y="5230368"/>
            <a:ext cx="28895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80" b="0" i="0" dirty="0">
                <a:solidFill>
                  <a:srgbClr val="DC2626"/>
                </a:solidFill>
                <a:latin typeface="Yu Gothic"/>
              </a:rPr>
              <a:t>no live-session write grant during discussion</a:t>
            </a:r>
            <a:endParaRPr lang="en-US" sz="680"/>
          </a:p>
        </p:txBody>
      </p:sp>
      <p:sp>
        <p:nvSpPr>
          <p:cNvPr id="79" name="Rect 79"/>
          <p:cNvSpPr/>
          <p:nvPr/>
        </p:nvSpPr>
        <p:spPr>
          <a:xfrm>
            <a:off x="502920" y="5815584"/>
            <a:ext cx="11183112" cy="457200"/>
          </a:xfrm>
          <a:prstGeom prst="roundRect">
            <a:avLst/>
          </a:prstGeom>
          <a:solidFill>
            <a:srgbClr val="08152F"/>
          </a:solidFill>
          <a:ln w="12700">
            <a:solidFill>
              <a:srgbClr val="08152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80"/>
          <p:cNvSpPr txBox="1"/>
          <p:nvPr/>
        </p:nvSpPr>
        <p:spPr>
          <a:xfrm>
            <a:off x="749808" y="5934456"/>
            <a:ext cx="323697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50" b="0" i="0" dirty="0">
                <a:solidFill>
                  <a:srgbClr val="FFFFFF"/>
                </a:solidFill>
                <a:latin typeface="Yu Gothic"/>
              </a:rPr>
              <a:t>same-role restart → state + .md を再読してresume</a:t>
            </a:r>
            <a:endParaRPr lang="en-US" sz="750"/>
          </a:p>
        </p:txBody>
      </p:sp>
      <p:sp>
        <p:nvSpPr>
          <p:cNvPr id="81" name="Text 81"/>
          <p:cNvSpPr txBox="1"/>
          <p:nvPr/>
        </p:nvSpPr>
        <p:spPr>
          <a:xfrm>
            <a:off x="4114800" y="5934456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70" b="1" i="0" dirty="0">
                <a:solidFill>
                  <a:srgbClr val="06B6D4"/>
                </a:solidFill>
                <a:latin typeface="Yu Gothic"/>
              </a:rPr>
              <a:t>CHAT ≠ SOURCE OF TRUTH</a:t>
            </a:r>
            <a:endParaRPr lang="en-US" sz="870"/>
          </a:p>
        </p:txBody>
      </p:sp>
      <p:sp>
        <p:nvSpPr>
          <p:cNvPr id="82" name="Text 82"/>
          <p:cNvSpPr txBox="1"/>
          <p:nvPr/>
        </p:nvSpPr>
        <p:spPr>
          <a:xfrm>
            <a:off x="7882128" y="5934456"/>
            <a:ext cx="35478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50" b="0" i="0" dirty="0">
                <a:solidFill>
                  <a:srgbClr val="FFFFFF"/>
                </a:solidFill>
                <a:latin typeface="Yu Gothic"/>
              </a:rPr>
              <a:t>cross-product takeover → NEW session + predecessor</a:t>
            </a:r>
            <a:endParaRPr lang="en-US" sz="750"/>
          </a:p>
        </p:txBody>
      </p:sp>
      <p:cxnSp>
        <p:nvCxnSpPr>
          <p:cNvPr id="83" name="Line 83"/>
          <p:cNvCxnSpPr/>
          <p:nvPr/>
        </p:nvCxnSpPr>
        <p:spPr>
          <a:xfrm flipH="false" flipV="false">
            <a:off x="621792" y="6473952"/>
            <a:ext cx="10954512" cy="0"/>
          </a:xfrm>
          <a:prstGeom prst="line">
            <a:avLst/>
          </a:prstGeom>
          <a:ln w="10160">
            <a:solidFill>
              <a:srgbClr val="D7DFEA"/>
            </a:solidFill>
          </a:ln>
        </p:spPr>
      </p:cxnSp>
      <p:sp>
        <p:nvSpPr>
          <p:cNvPr id="84" name="Text 84"/>
          <p:cNvSpPr txBox="1"/>
          <p:nvPr/>
        </p:nvSpPr>
        <p:spPr>
          <a:xfrm>
            <a:off x="640080" y="6510528"/>
            <a:ext cx="10469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codex-claude-cowork/SKILL.md • references/protocol.md • cowork-session helper • T-283/T-284 • focused tests</a:t>
            </a:r>
            <a:endParaRPr lang="en-US" sz="660"/>
          </a:p>
        </p:txBody>
      </p:sp>
      <p:sp>
        <p:nvSpPr>
          <p:cNvPr id="85" name="Text 85"/>
          <p:cNvSpPr txBox="1"/>
          <p:nvPr/>
        </p:nvSpPr>
        <p:spPr>
          <a:xfrm>
            <a:off x="11201400" y="649224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750" b="1" i="0" dirty="0">
                <a:solidFill>
                  <a:srgbClr val="56647A"/>
                </a:solidFill>
                <a:latin typeface="Yu Gothic"/>
              </a:rPr>
              <a:t>4</a:t>
            </a:r>
            <a:endParaRPr lang="en-US" sz="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21792" y="320040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550" b="1" i="0" dirty="0">
                <a:solidFill>
                  <a:srgbClr val="14213D"/>
                </a:solidFill>
                <a:latin typeface="Yu Gothic"/>
              </a:rPr>
              <a:t>残りの進化史は「測定・回復・撤回」で現在の境界に収束した</a:t>
            </a:r>
            <a:endParaRPr lang="en-US" sz="2550"/>
          </a:p>
        </p:txBody>
      </p:sp>
      <p:sp>
        <p:nvSpPr>
          <p:cNvPr id="4" name="Text 4"/>
          <p:cNvSpPr txBox="1"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80" b="0" i="0" dirty="0">
                <a:solidFill>
                  <a:srgbClr val="56647A"/>
                </a:solidFill>
                <a:latin typeface="Yu Gothic"/>
              </a:rPr>
              <a:t>追加した機能より、何を証明し、何を戻し、何を所有しないか</a:t>
            </a:r>
            <a:endParaRPr lang="en-US" sz="1080"/>
          </a:p>
        </p:txBody>
      </p:sp>
      <p:cxnSp>
        <p:nvCxnSpPr>
          <p:cNvPr id="5" name="Line 5"/>
          <p:cNvCxnSpPr/>
          <p:nvPr/>
        </p:nvCxnSpPr>
        <p:spPr>
          <a:xfrm flipH="false" flipV="false">
            <a:off x="658368" y="1700784"/>
            <a:ext cx="10826496" cy="0"/>
          </a:xfrm>
          <a:prstGeom prst="line">
            <a:avLst/>
          </a:prstGeom>
          <a:ln w="12700">
            <a:solidFill>
              <a:srgbClr val="C5CFDC"/>
            </a:solidFill>
          </a:ln>
        </p:spPr>
      </p:cxnSp>
      <p:sp>
        <p:nvSpPr>
          <p:cNvPr id="6" name="Ellipse 6"/>
          <p:cNvSpPr/>
          <p:nvPr/>
        </p:nvSpPr>
        <p:spPr>
          <a:xfrm>
            <a:off x="1060704" y="1572768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7"/>
          <p:cNvSpPr/>
          <p:nvPr/>
        </p:nvSpPr>
        <p:spPr>
          <a:xfrm>
            <a:off x="530352" y="1901952"/>
            <a:ext cx="1298448" cy="566928"/>
          </a:xfrm>
          <a:prstGeom prst="roundRect">
            <a:avLst/>
          </a:prstGeom>
          <a:solidFill>
            <a:srgbClr val="E7F0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594360" y="2020824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3B82F6"/>
                </a:solidFill>
                <a:latin typeface="Yu Gothic"/>
              </a:rPr>
              <a:t>守る</a:t>
            </a:r>
            <a:endParaRPr lang="en-US" sz="920"/>
          </a:p>
        </p:txBody>
      </p:sp>
      <p:sp>
        <p:nvSpPr>
          <p:cNvPr id="9" name="Text 9"/>
          <p:cNvSpPr txBox="1"/>
          <p:nvPr/>
        </p:nvSpPr>
        <p:spPr>
          <a:xfrm>
            <a:off x="594360" y="2249424"/>
            <a:ext cx="117043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Policy</a:t>
            </a:r>
            <a:endParaRPr lang="en-US" sz="650"/>
          </a:p>
        </p:txBody>
      </p:sp>
      <p:sp>
        <p:nvSpPr>
          <p:cNvPr id="10" name="Ellipse 10"/>
          <p:cNvSpPr/>
          <p:nvPr/>
        </p:nvSpPr>
        <p:spPr>
          <a:xfrm>
            <a:off x="2615184" y="1572768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11"/>
          <p:cNvSpPr/>
          <p:nvPr/>
        </p:nvSpPr>
        <p:spPr>
          <a:xfrm>
            <a:off x="2084832" y="1901952"/>
            <a:ext cx="1298448" cy="566928"/>
          </a:xfrm>
          <a:prstGeom prst="roundRect">
            <a:avLst/>
          </a:prstGeom>
          <a:solidFill>
            <a:srgbClr val="E1F6FA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2148840" y="2020824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06B6D4"/>
                </a:solidFill>
                <a:latin typeface="Yu Gothic"/>
              </a:rPr>
              <a:t>観る</a:t>
            </a:r>
            <a:endParaRPr lang="en-US" sz="920"/>
          </a:p>
        </p:txBody>
      </p:sp>
      <p:sp>
        <p:nvSpPr>
          <p:cNvPr id="13" name="Text 13"/>
          <p:cNvSpPr txBox="1"/>
          <p:nvPr/>
        </p:nvSpPr>
        <p:spPr>
          <a:xfrm>
            <a:off x="2148840" y="2249424"/>
            <a:ext cx="117043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Observe</a:t>
            </a:r>
            <a:endParaRPr lang="en-US" sz="650"/>
          </a:p>
        </p:txBody>
      </p:sp>
      <p:sp>
        <p:nvSpPr>
          <p:cNvPr id="14" name="Ellipse 14"/>
          <p:cNvSpPr/>
          <p:nvPr/>
        </p:nvSpPr>
        <p:spPr>
          <a:xfrm>
            <a:off x="4169664" y="157276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5"/>
          <p:cNvSpPr/>
          <p:nvPr/>
        </p:nvSpPr>
        <p:spPr>
          <a:xfrm>
            <a:off x="3639312" y="1901952"/>
            <a:ext cx="1298448" cy="566928"/>
          </a:xfrm>
          <a:prstGeom prst="roundRect">
            <a:avLst/>
          </a:prstGeom>
          <a:solidFill>
            <a:srgbClr val="E2F2F1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3703320" y="2020824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0D9488"/>
                </a:solidFill>
                <a:latin typeface="Yu Gothic"/>
              </a:rPr>
              <a:t>動かす</a:t>
            </a:r>
            <a:endParaRPr lang="en-US" sz="920"/>
          </a:p>
        </p:txBody>
      </p:sp>
      <p:sp>
        <p:nvSpPr>
          <p:cNvPr id="17" name="Text 17"/>
          <p:cNvSpPr txBox="1"/>
          <p:nvPr/>
        </p:nvSpPr>
        <p:spPr>
          <a:xfrm>
            <a:off x="3703320" y="2249424"/>
            <a:ext cx="117043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Transact</a:t>
            </a:r>
            <a:endParaRPr lang="en-US" sz="650"/>
          </a:p>
        </p:txBody>
      </p:sp>
      <p:sp>
        <p:nvSpPr>
          <p:cNvPr id="18" name="Ellipse 18"/>
          <p:cNvSpPr/>
          <p:nvPr/>
        </p:nvSpPr>
        <p:spPr>
          <a:xfrm>
            <a:off x="5724144" y="15727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9"/>
          <p:cNvSpPr/>
          <p:nvPr/>
        </p:nvSpPr>
        <p:spPr>
          <a:xfrm>
            <a:off x="5193792" y="1901952"/>
            <a:ext cx="1298448" cy="566928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5257800" y="2020824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F59E0B"/>
                </a:solidFill>
                <a:latin typeface="Yu Gothic"/>
              </a:rPr>
              <a:t>戻す</a:t>
            </a:r>
            <a:endParaRPr lang="en-US" sz="920"/>
          </a:p>
        </p:txBody>
      </p:sp>
      <p:sp>
        <p:nvSpPr>
          <p:cNvPr id="21" name="Text 21"/>
          <p:cNvSpPr txBox="1"/>
          <p:nvPr/>
        </p:nvSpPr>
        <p:spPr>
          <a:xfrm>
            <a:off x="5257800" y="2249424"/>
            <a:ext cx="117043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Recover</a:t>
            </a:r>
            <a:endParaRPr lang="en-US" sz="650"/>
          </a:p>
        </p:txBody>
      </p:sp>
      <p:sp>
        <p:nvSpPr>
          <p:cNvPr id="22" name="Ellipse 22"/>
          <p:cNvSpPr/>
          <p:nvPr/>
        </p:nvSpPr>
        <p:spPr>
          <a:xfrm>
            <a:off x="7278624" y="1572768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23"/>
          <p:cNvSpPr/>
          <p:nvPr/>
        </p:nvSpPr>
        <p:spPr>
          <a:xfrm>
            <a:off x="6748272" y="1901952"/>
            <a:ext cx="1298448" cy="566928"/>
          </a:xfrm>
          <a:prstGeom prst="roundRect">
            <a:avLst/>
          </a:prstGeom>
          <a:solidFill>
            <a:srgbClr val="EFE7F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6812280" y="2020824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7C3AED"/>
                </a:solidFill>
                <a:latin typeface="Yu Gothic"/>
              </a:rPr>
              <a:t>測る</a:t>
            </a:r>
            <a:endParaRPr lang="en-US" sz="920"/>
          </a:p>
        </p:txBody>
      </p:sp>
      <p:sp>
        <p:nvSpPr>
          <p:cNvPr id="25" name="Text 25"/>
          <p:cNvSpPr txBox="1"/>
          <p:nvPr/>
        </p:nvSpPr>
        <p:spPr>
          <a:xfrm>
            <a:off x="6812280" y="2249424"/>
            <a:ext cx="117043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Measure</a:t>
            </a:r>
            <a:endParaRPr lang="en-US" sz="650"/>
          </a:p>
        </p:txBody>
      </p:sp>
      <p:sp>
        <p:nvSpPr>
          <p:cNvPr id="26" name="Ellipse 26"/>
          <p:cNvSpPr/>
          <p:nvPr/>
        </p:nvSpPr>
        <p:spPr>
          <a:xfrm>
            <a:off x="8833104" y="1572768"/>
            <a:ext cx="237744" cy="237744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27"/>
          <p:cNvSpPr/>
          <p:nvPr/>
        </p:nvSpPr>
        <p:spPr>
          <a:xfrm>
            <a:off x="8302752" y="1901952"/>
            <a:ext cx="1298448" cy="566928"/>
          </a:xfrm>
          <a:prstGeom prst="roundRect">
            <a:avLst/>
          </a:prstGeom>
          <a:solidFill>
            <a:srgbClr val="FBE5EF"/>
          </a:solidFill>
          <a:ln w="12700">
            <a:solidFill>
              <a:srgbClr val="DB27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 txBox="1"/>
          <p:nvPr/>
        </p:nvSpPr>
        <p:spPr>
          <a:xfrm>
            <a:off x="8366760" y="2020824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DB2777"/>
                </a:solidFill>
                <a:latin typeface="Yu Gothic"/>
              </a:rPr>
              <a:t>広げる</a:t>
            </a:r>
            <a:endParaRPr lang="en-US" sz="920"/>
          </a:p>
        </p:txBody>
      </p:sp>
      <p:sp>
        <p:nvSpPr>
          <p:cNvPr id="29" name="Text 29"/>
          <p:cNvSpPr txBox="1"/>
          <p:nvPr/>
        </p:nvSpPr>
        <p:spPr>
          <a:xfrm>
            <a:off x="8366760" y="2249424"/>
            <a:ext cx="117043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Expand</a:t>
            </a:r>
            <a:endParaRPr lang="en-US" sz="650"/>
          </a:p>
        </p:txBody>
      </p:sp>
      <p:sp>
        <p:nvSpPr>
          <p:cNvPr id="30" name="Ellipse 30"/>
          <p:cNvSpPr/>
          <p:nvPr/>
        </p:nvSpPr>
        <p:spPr>
          <a:xfrm>
            <a:off x="10387584" y="1572768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31"/>
          <p:cNvSpPr/>
          <p:nvPr/>
        </p:nvSpPr>
        <p:spPr>
          <a:xfrm>
            <a:off x="9857232" y="1901952"/>
            <a:ext cx="1298448" cy="566928"/>
          </a:xfrm>
          <a:prstGeom prst="roundRect">
            <a:avLst/>
          </a:prstGeom>
          <a:solidFill>
            <a:srgbClr val="E3F4E9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2"/>
          <p:cNvSpPr txBox="1"/>
          <p:nvPr/>
        </p:nvSpPr>
        <p:spPr>
          <a:xfrm>
            <a:off x="9921240" y="2020824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20" b="1" i="0" dirty="0">
                <a:solidFill>
                  <a:srgbClr val="16A34A"/>
                </a:solidFill>
                <a:latin typeface="Yu Gothic"/>
              </a:rPr>
              <a:t>協働</a:t>
            </a:r>
            <a:endParaRPr lang="en-US" sz="920"/>
          </a:p>
        </p:txBody>
      </p:sp>
      <p:sp>
        <p:nvSpPr>
          <p:cNvPr id="33" name="Text 33"/>
          <p:cNvSpPr txBox="1"/>
          <p:nvPr/>
        </p:nvSpPr>
        <p:spPr>
          <a:xfrm>
            <a:off x="9921240" y="2249424"/>
            <a:ext cx="117043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Cowork</a:t>
            </a:r>
            <a:endParaRPr lang="en-US" sz="650"/>
          </a:p>
        </p:txBody>
      </p:sp>
      <p:sp>
        <p:nvSpPr>
          <p:cNvPr id="34" name="Text 34"/>
          <p:cNvSpPr txBox="1"/>
          <p:nvPr/>
        </p:nvSpPr>
        <p:spPr>
          <a:xfrm>
            <a:off x="9710928" y="1298448"/>
            <a:ext cx="1755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710" b="1" i="0" dirty="0">
                <a:solidFill>
                  <a:srgbClr val="14213D"/>
                </a:solidFill>
                <a:latin typeface="Yu Gothic"/>
              </a:rPr>
              <a:t>544 / 544 first-parent</a:t>
            </a:r>
            <a:endParaRPr lang="en-US" sz="710"/>
          </a:p>
        </p:txBody>
      </p:sp>
      <p:sp>
        <p:nvSpPr>
          <p:cNvPr id="35" name="Text 35"/>
          <p:cNvSpPr txBox="1"/>
          <p:nvPr/>
        </p:nvSpPr>
        <p:spPr>
          <a:xfrm>
            <a:off x="9710928" y="1481328"/>
            <a:ext cx="1755648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0 tags • 0 merges</a:t>
            </a:r>
            <a:endParaRPr lang="en-US" sz="650"/>
          </a:p>
        </p:txBody>
      </p:sp>
      <p:sp>
        <p:nvSpPr>
          <p:cNvPr id="36" name="Rect 36"/>
          <p:cNvSpPr/>
          <p:nvPr/>
        </p:nvSpPr>
        <p:spPr>
          <a:xfrm>
            <a:off x="502920" y="2724912"/>
            <a:ext cx="3767328" cy="3163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37"/>
          <p:cNvSpPr/>
          <p:nvPr/>
        </p:nvSpPr>
        <p:spPr>
          <a:xfrm>
            <a:off x="731520" y="2926080"/>
            <a:ext cx="1335024" cy="274320"/>
          </a:xfrm>
          <a:prstGeom prst="roundRect">
            <a:avLst/>
          </a:prstGeom>
          <a:solidFill>
            <a:srgbClr val="D6EDEB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786384" y="299008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0D9488"/>
                </a:solidFill>
                <a:latin typeface="Yu Gothic"/>
              </a:rPr>
              <a:t>EVIDENCE</a:t>
            </a:r>
            <a:endParaRPr lang="en-US" sz="820"/>
          </a:p>
        </p:txBody>
      </p:sp>
      <p:sp>
        <p:nvSpPr>
          <p:cNvPr id="39" name="Rect 39"/>
          <p:cNvSpPr/>
          <p:nvPr/>
        </p:nvSpPr>
        <p:spPr>
          <a:xfrm>
            <a:off x="731520" y="3401568"/>
            <a:ext cx="1536192" cy="438912"/>
          </a:xfrm>
          <a:prstGeom prst="roundRect">
            <a:avLst/>
          </a:prstGeom>
          <a:solidFill>
            <a:srgbClr val="EBF9FC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0"/>
          <p:cNvSpPr txBox="1"/>
          <p:nvPr/>
        </p:nvSpPr>
        <p:spPr>
          <a:xfrm>
            <a:off x="795528" y="349300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06B6D4"/>
                </a:solidFill>
                <a:latin typeface="Yu Gothic"/>
              </a:rPr>
              <a:t>7/7</a:t>
            </a:r>
            <a:endParaRPr lang="en-US" sz="840"/>
          </a:p>
        </p:txBody>
      </p:sp>
      <p:sp>
        <p:nvSpPr>
          <p:cNvPr id="41" name="Text 41"/>
          <p:cNvSpPr txBox="1"/>
          <p:nvPr/>
        </p:nvSpPr>
        <p:spPr>
          <a:xfrm>
            <a:off x="1335024" y="3493008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CPU</a:t>
            </a:r>
            <a:endParaRPr lang="en-US" sz="650"/>
          </a:p>
        </p:txBody>
      </p:sp>
      <p:sp>
        <p:nvSpPr>
          <p:cNvPr id="42" name="Rect 42"/>
          <p:cNvSpPr/>
          <p:nvPr/>
        </p:nvSpPr>
        <p:spPr>
          <a:xfrm>
            <a:off x="2432304" y="3401568"/>
            <a:ext cx="1536192" cy="438912"/>
          </a:xfrm>
          <a:prstGeom prst="roundRect">
            <a:avLst/>
          </a:prstGeom>
          <a:solidFill>
            <a:srgbClr val="ECF6F5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3"/>
          <p:cNvSpPr txBox="1"/>
          <p:nvPr/>
        </p:nvSpPr>
        <p:spPr>
          <a:xfrm>
            <a:off x="2496312" y="349300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0D9488"/>
                </a:solidFill>
                <a:latin typeface="Yu Gothic"/>
              </a:rPr>
              <a:t>7/7</a:t>
            </a:r>
            <a:endParaRPr lang="en-US" sz="840"/>
          </a:p>
        </p:txBody>
      </p:sp>
      <p:sp>
        <p:nvSpPr>
          <p:cNvPr id="44" name="Text 44"/>
          <p:cNvSpPr txBox="1"/>
          <p:nvPr/>
        </p:nvSpPr>
        <p:spPr>
          <a:xfrm>
            <a:off x="3035808" y="3493008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Accel drv/runtime</a:t>
            </a:r>
            <a:endParaRPr lang="en-US" sz="650"/>
          </a:p>
        </p:txBody>
      </p:sp>
      <p:sp>
        <p:nvSpPr>
          <p:cNvPr id="45" name="Rect 45"/>
          <p:cNvSpPr/>
          <p:nvPr/>
        </p:nvSpPr>
        <p:spPr>
          <a:xfrm>
            <a:off x="731520" y="3959352"/>
            <a:ext cx="1536192" cy="438912"/>
          </a:xfrm>
          <a:prstGeom prst="roundRect">
            <a:avLst/>
          </a:prstGeom>
          <a:solidFill>
            <a:srgbClr val="F5EFFE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6"/>
          <p:cNvSpPr txBox="1"/>
          <p:nvPr/>
        </p:nvSpPr>
        <p:spPr>
          <a:xfrm>
            <a:off x="795528" y="4050792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7C3AED"/>
                </a:solidFill>
                <a:latin typeface="Yu Gothic"/>
              </a:rPr>
              <a:t>5</a:t>
            </a:r>
            <a:endParaRPr lang="en-US" sz="840"/>
          </a:p>
        </p:txBody>
      </p:sp>
      <p:sp>
        <p:nvSpPr>
          <p:cNvPr id="47" name="Text 47"/>
          <p:cNvSpPr txBox="1"/>
          <p:nvPr/>
        </p:nvSpPr>
        <p:spPr>
          <a:xfrm>
            <a:off x="1335024" y="4050792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CUDA kernel</a:t>
            </a:r>
            <a:endParaRPr lang="en-US" sz="650"/>
          </a:p>
        </p:txBody>
      </p:sp>
      <p:sp>
        <p:nvSpPr>
          <p:cNvPr id="48" name="Rect 48"/>
          <p:cNvSpPr/>
          <p:nvPr/>
        </p:nvSpPr>
        <p:spPr>
          <a:xfrm>
            <a:off x="2432304" y="3959352"/>
            <a:ext cx="1536192" cy="438912"/>
          </a:xfrm>
          <a:prstGeom prst="roundRect">
            <a:avLst/>
          </a:prstGeom>
          <a:solidFill>
            <a:srgbClr val="FEF7EB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9"/>
          <p:cNvSpPr txBox="1"/>
          <p:nvPr/>
        </p:nvSpPr>
        <p:spPr>
          <a:xfrm>
            <a:off x="2496312" y="4050792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F59E0B"/>
                </a:solidFill>
                <a:latin typeface="Yu Gothic"/>
              </a:rPr>
              <a:t>5</a:t>
            </a:r>
            <a:endParaRPr lang="en-US" sz="840"/>
          </a:p>
        </p:txBody>
      </p:sp>
      <p:sp>
        <p:nvSpPr>
          <p:cNvPr id="50" name="Text 50"/>
          <p:cNvSpPr txBox="1"/>
          <p:nvPr/>
        </p:nvSpPr>
        <p:spPr>
          <a:xfrm>
            <a:off x="3035808" y="4050792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MPI routes</a:t>
            </a:r>
            <a:endParaRPr lang="en-US" sz="650"/>
          </a:p>
        </p:txBody>
      </p:sp>
      <p:sp>
        <p:nvSpPr>
          <p:cNvPr id="51" name="Rect 51"/>
          <p:cNvSpPr/>
          <p:nvPr/>
        </p:nvSpPr>
        <p:spPr>
          <a:xfrm>
            <a:off x="731520" y="4517136"/>
            <a:ext cx="1536192" cy="438912"/>
          </a:xfrm>
          <a:prstGeom prst="roundRect">
            <a:avLst/>
          </a:prstGeom>
          <a:solidFill>
            <a:srgbClr val="F5EFFE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2"/>
          <p:cNvSpPr txBox="1"/>
          <p:nvPr/>
        </p:nvSpPr>
        <p:spPr>
          <a:xfrm>
            <a:off x="795528" y="4608576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7C3AED"/>
                </a:solidFill>
                <a:latin typeface="Yu Gothic"/>
              </a:rPr>
              <a:t>69/70</a:t>
            </a:r>
            <a:endParaRPr lang="en-US" sz="840"/>
          </a:p>
        </p:txBody>
      </p:sp>
      <p:sp>
        <p:nvSpPr>
          <p:cNvPr id="53" name="Text 53"/>
          <p:cNvSpPr txBox="1"/>
          <p:nvPr/>
        </p:nvSpPr>
        <p:spPr>
          <a:xfrm>
            <a:off x="1335024" y="4608576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T-181 deterministic</a:t>
            </a:r>
            <a:endParaRPr lang="en-US" sz="650"/>
          </a:p>
        </p:txBody>
      </p:sp>
      <p:sp>
        <p:nvSpPr>
          <p:cNvPr id="54" name="Rect 54"/>
          <p:cNvSpPr/>
          <p:nvPr/>
        </p:nvSpPr>
        <p:spPr>
          <a:xfrm>
            <a:off x="2432304" y="4517136"/>
            <a:ext cx="1536192" cy="438912"/>
          </a:xfrm>
          <a:prstGeom prst="roundRect">
            <a:avLst/>
          </a:prstGeom>
          <a:solidFill>
            <a:srgbClr val="ECF8F1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5"/>
          <p:cNvSpPr txBox="1"/>
          <p:nvPr/>
        </p:nvSpPr>
        <p:spPr>
          <a:xfrm>
            <a:off x="2496312" y="4608576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16A34A"/>
                </a:solidFill>
                <a:latin typeface="Yu Gothic"/>
              </a:rPr>
              <a:t>0</a:t>
            </a:r>
            <a:endParaRPr lang="en-US" sz="840"/>
          </a:p>
        </p:txBody>
      </p:sp>
      <p:sp>
        <p:nvSpPr>
          <p:cNvPr id="56" name="Text 56"/>
          <p:cNvSpPr txBox="1"/>
          <p:nvPr/>
        </p:nvSpPr>
        <p:spPr>
          <a:xfrm>
            <a:off x="3035808" y="4608576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safety failures</a:t>
            </a:r>
            <a:endParaRPr lang="en-US" sz="650"/>
          </a:p>
        </p:txBody>
      </p:sp>
      <p:sp>
        <p:nvSpPr>
          <p:cNvPr id="57" name="Rect 57"/>
          <p:cNvSpPr/>
          <p:nvPr/>
        </p:nvSpPr>
        <p:spPr>
          <a:xfrm>
            <a:off x="731520" y="5074920"/>
            <a:ext cx="1536192" cy="438912"/>
          </a:xfrm>
          <a:prstGeom prst="roundRect">
            <a:avLst/>
          </a:prstGeom>
          <a:solidFill>
            <a:srgbClr val="ECF8F1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8"/>
          <p:cNvSpPr txBox="1"/>
          <p:nvPr/>
        </p:nvSpPr>
        <p:spPr>
          <a:xfrm>
            <a:off x="795528" y="5166360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16A34A"/>
                </a:solidFill>
                <a:latin typeface="Yu Gothic"/>
              </a:rPr>
              <a:t>7+7</a:t>
            </a:r>
            <a:endParaRPr lang="en-US" sz="840"/>
          </a:p>
        </p:txBody>
      </p:sp>
      <p:sp>
        <p:nvSpPr>
          <p:cNvPr id="59" name="Text 59"/>
          <p:cNvSpPr txBox="1"/>
          <p:nvPr/>
        </p:nvSpPr>
        <p:spPr>
          <a:xfrm>
            <a:off x="1335024" y="5166360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verified restore</a:t>
            </a:r>
            <a:endParaRPr lang="en-US" sz="650"/>
          </a:p>
        </p:txBody>
      </p:sp>
      <p:sp>
        <p:nvSpPr>
          <p:cNvPr id="60" name="Rect 60"/>
          <p:cNvSpPr/>
          <p:nvPr/>
        </p:nvSpPr>
        <p:spPr>
          <a:xfrm>
            <a:off x="2432304" y="5074920"/>
            <a:ext cx="1536192" cy="438912"/>
          </a:xfrm>
          <a:prstGeom prst="roundRect">
            <a:avLst/>
          </a:prstGeom>
          <a:solidFill>
            <a:srgbClr val="EFF5FE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61"/>
          <p:cNvSpPr txBox="1"/>
          <p:nvPr/>
        </p:nvSpPr>
        <p:spPr>
          <a:xfrm>
            <a:off x="2496312" y="5166360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40" b="1" i="0" dirty="0">
                <a:solidFill>
                  <a:srgbClr val="3B82F6"/>
                </a:solidFill>
                <a:latin typeface="Yu Gothic"/>
              </a:rPr>
              <a:t>−14.62%</a:t>
            </a:r>
            <a:endParaRPr lang="en-US" sz="840"/>
          </a:p>
        </p:txBody>
      </p:sp>
      <p:sp>
        <p:nvSpPr>
          <p:cNvPr id="62" name="Text 62"/>
          <p:cNvSpPr txBox="1"/>
          <p:nvPr/>
        </p:nvSpPr>
        <p:spPr>
          <a:xfrm>
            <a:off x="3035808" y="5166360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cowork median</a:t>
            </a:r>
            <a:endParaRPr lang="en-US" sz="650"/>
          </a:p>
        </p:txBody>
      </p:sp>
      <p:sp>
        <p:nvSpPr>
          <p:cNvPr id="63" name="Text 63"/>
          <p:cNvSpPr txBox="1"/>
          <p:nvPr/>
        </p:nvSpPr>
        <p:spPr>
          <a:xfrm>
            <a:off x="749808" y="5669280"/>
            <a:ext cx="3273552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readiness / corpus / host-specific — not universal performance</a:t>
            </a:r>
            <a:endParaRPr lang="en-US" sz="650"/>
          </a:p>
        </p:txBody>
      </p:sp>
      <p:sp>
        <p:nvSpPr>
          <p:cNvPr id="64" name="Rect 64"/>
          <p:cNvSpPr/>
          <p:nvPr/>
        </p:nvSpPr>
        <p:spPr>
          <a:xfrm>
            <a:off x="4462272" y="2724912"/>
            <a:ext cx="3694176" cy="3163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 65"/>
          <p:cNvSpPr/>
          <p:nvPr/>
        </p:nvSpPr>
        <p:spPr>
          <a:xfrm>
            <a:off x="4700016" y="2926080"/>
            <a:ext cx="1225296" cy="274320"/>
          </a:xfrm>
          <a:prstGeom prst="roundRect">
            <a:avLst/>
          </a:prstGeom>
          <a:solidFill>
            <a:srgbClr val="E9DEFC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6"/>
          <p:cNvSpPr txBox="1"/>
          <p:nvPr/>
        </p:nvSpPr>
        <p:spPr>
          <a:xfrm>
            <a:off x="4754880" y="2990088"/>
            <a:ext cx="1115568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7C3AED"/>
                </a:solidFill>
                <a:latin typeface="Yu Gothic"/>
              </a:rPr>
              <a:t>REVERSALS</a:t>
            </a:r>
            <a:endParaRPr lang="en-US" sz="820"/>
          </a:p>
        </p:txBody>
      </p:sp>
      <p:sp>
        <p:nvSpPr>
          <p:cNvPr id="67" name="Text 67"/>
          <p:cNvSpPr txBox="1"/>
          <p:nvPr/>
        </p:nvSpPr>
        <p:spPr>
          <a:xfrm>
            <a:off x="4681728" y="3438144"/>
            <a:ext cx="11338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60" b="1" i="0" dirty="0">
                <a:solidFill>
                  <a:srgbClr val="DC2626"/>
                </a:solidFill>
                <a:latin typeface="Yu Gothic"/>
              </a:rPr>
              <a:t>login fetch / exit publish</a:t>
            </a:r>
            <a:endParaRPr lang="en-US" sz="660"/>
          </a:p>
        </p:txBody>
      </p:sp>
      <p:cxnSp>
        <p:nvCxnSpPr>
          <p:cNvPr id="68" name="Line 68"/>
          <p:cNvCxnSpPr/>
          <p:nvPr/>
        </p:nvCxnSpPr>
        <p:spPr>
          <a:xfrm flipH="false" flipV="false">
            <a:off x="5897880" y="3538728"/>
            <a:ext cx="246888" cy="0"/>
          </a:xfrm>
          <a:prstGeom prst="line">
            <a:avLst/>
          </a:prstGeom>
          <a:ln w="11430">
            <a:solidFill>
              <a:srgbClr val="C5CFDC"/>
            </a:solidFill>
            <a:tailEnd type="triangle"/>
          </a:ln>
        </p:spPr>
      </p:cxnSp>
      <p:sp>
        <p:nvSpPr>
          <p:cNvPr id="69" name="Text 69"/>
          <p:cNvSpPr txBox="1"/>
          <p:nvPr/>
        </p:nvSpPr>
        <p:spPr>
          <a:xfrm>
            <a:off x="6236208" y="343814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1" i="0" dirty="0">
                <a:solidFill>
                  <a:srgbClr val="16A34A"/>
                </a:solidFill>
                <a:latin typeface="Yu Gothic"/>
              </a:rPr>
              <a:t>explicit Git operations</a:t>
            </a:r>
            <a:endParaRPr lang="en-US" sz="660"/>
          </a:p>
        </p:txBody>
      </p:sp>
      <p:sp>
        <p:nvSpPr>
          <p:cNvPr id="70" name="Text 70"/>
          <p:cNvSpPr txBox="1"/>
          <p:nvPr/>
        </p:nvSpPr>
        <p:spPr>
          <a:xfrm>
            <a:off x="7607808" y="3465576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e52a3d0</a:t>
            </a:r>
            <a:endParaRPr lang="en-US" sz="650"/>
          </a:p>
        </p:txBody>
      </p:sp>
      <p:sp>
        <p:nvSpPr>
          <p:cNvPr id="71" name="Text 71"/>
          <p:cNvSpPr txBox="1"/>
          <p:nvPr/>
        </p:nvSpPr>
        <p:spPr>
          <a:xfrm>
            <a:off x="4681728" y="3941064"/>
            <a:ext cx="11338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60" b="1" i="0" dirty="0">
                <a:solidFill>
                  <a:srgbClr val="DC2626"/>
                </a:solidFill>
                <a:latin typeface="Yu Gothic"/>
              </a:rPr>
              <a:t>website ownership</a:t>
            </a:r>
            <a:endParaRPr lang="en-US" sz="660"/>
          </a:p>
        </p:txBody>
      </p:sp>
      <p:cxnSp>
        <p:nvCxnSpPr>
          <p:cNvPr id="72" name="Line 72"/>
          <p:cNvCxnSpPr/>
          <p:nvPr/>
        </p:nvCxnSpPr>
        <p:spPr>
          <a:xfrm flipH="false" flipV="false">
            <a:off x="5897880" y="4041648"/>
            <a:ext cx="246888" cy="0"/>
          </a:xfrm>
          <a:prstGeom prst="line">
            <a:avLst/>
          </a:prstGeom>
          <a:ln w="11430">
            <a:solidFill>
              <a:srgbClr val="C5CFDC"/>
            </a:solidFill>
            <a:tailEnd type="triangle"/>
          </a:ln>
        </p:spPr>
      </p:cxnSp>
      <p:sp>
        <p:nvSpPr>
          <p:cNvPr id="73" name="Text 73"/>
          <p:cNvSpPr txBox="1"/>
          <p:nvPr/>
        </p:nvSpPr>
        <p:spPr>
          <a:xfrm>
            <a:off x="6236208" y="394106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1" i="0" dirty="0">
                <a:solidFill>
                  <a:srgbClr val="16A34A"/>
                </a:solidFill>
                <a:latin typeface="Yu Gothic"/>
              </a:rPr>
              <a:t>repository independence</a:t>
            </a:r>
            <a:endParaRPr lang="en-US" sz="660"/>
          </a:p>
        </p:txBody>
      </p:sp>
      <p:sp>
        <p:nvSpPr>
          <p:cNvPr id="74" name="Text 74"/>
          <p:cNvSpPr txBox="1"/>
          <p:nvPr/>
        </p:nvSpPr>
        <p:spPr>
          <a:xfrm>
            <a:off x="7607808" y="3968496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f1b095c</a:t>
            </a:r>
            <a:endParaRPr lang="en-US" sz="650"/>
          </a:p>
        </p:txBody>
      </p:sp>
      <p:sp>
        <p:nvSpPr>
          <p:cNvPr id="75" name="Text 75"/>
          <p:cNvSpPr txBox="1"/>
          <p:nvPr/>
        </p:nvSpPr>
        <p:spPr>
          <a:xfrm>
            <a:off x="4681728" y="4443984"/>
            <a:ext cx="11338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60" b="1" i="0" dirty="0">
                <a:solidFill>
                  <a:srgbClr val="DC2626"/>
                </a:solidFill>
                <a:latin typeface="Yu Gothic"/>
              </a:rPr>
              <a:t>private Bash / tmux</a:t>
            </a:r>
            <a:endParaRPr lang="en-US" sz="660"/>
          </a:p>
        </p:txBody>
      </p:sp>
      <p:cxnSp>
        <p:nvCxnSpPr>
          <p:cNvPr id="76" name="Line 76"/>
          <p:cNvCxnSpPr/>
          <p:nvPr/>
        </p:nvCxnSpPr>
        <p:spPr>
          <a:xfrm flipH="false" flipV="false">
            <a:off x="5897880" y="4544568"/>
            <a:ext cx="246888" cy="0"/>
          </a:xfrm>
          <a:prstGeom prst="line">
            <a:avLst/>
          </a:prstGeom>
          <a:ln w="11430">
            <a:solidFill>
              <a:srgbClr val="C5CFDC"/>
            </a:solidFill>
            <a:tailEnd type="triangle"/>
          </a:ln>
        </p:spPr>
      </p:cxnSp>
      <p:sp>
        <p:nvSpPr>
          <p:cNvPr id="77" name="Text 77"/>
          <p:cNvSpPr txBox="1"/>
          <p:nvPr/>
        </p:nvSpPr>
        <p:spPr>
          <a:xfrm>
            <a:off x="6236208" y="444398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1" i="0" dirty="0">
                <a:solidFill>
                  <a:srgbClr val="16A34A"/>
                </a:solidFill>
                <a:latin typeface="Yu Gothic"/>
              </a:rPr>
              <a:t>public engine + private SSH</a:t>
            </a:r>
            <a:endParaRPr lang="en-US" sz="660"/>
          </a:p>
        </p:txBody>
      </p:sp>
      <p:sp>
        <p:nvSpPr>
          <p:cNvPr id="78" name="Text 78"/>
          <p:cNvSpPr txBox="1"/>
          <p:nvPr/>
        </p:nvSpPr>
        <p:spPr>
          <a:xfrm>
            <a:off x="7607808" y="4471416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4209ee8</a:t>
            </a:r>
            <a:endParaRPr lang="en-US" sz="650"/>
          </a:p>
        </p:txBody>
      </p:sp>
      <p:sp>
        <p:nvSpPr>
          <p:cNvPr id="79" name="Text 79"/>
          <p:cNvSpPr txBox="1"/>
          <p:nvPr/>
        </p:nvSpPr>
        <p:spPr>
          <a:xfrm>
            <a:off x="4681728" y="4946904"/>
            <a:ext cx="11338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60" b="1" i="0" dirty="0">
                <a:solidFill>
                  <a:srgbClr val="DC2626"/>
                </a:solidFill>
                <a:latin typeface="Yu Gothic"/>
              </a:rPr>
              <a:t>harness-owned Codex</a:t>
            </a:r>
            <a:endParaRPr lang="en-US" sz="660"/>
          </a:p>
        </p:txBody>
      </p:sp>
      <p:cxnSp>
        <p:nvCxnSpPr>
          <p:cNvPr id="80" name="Line 80"/>
          <p:cNvCxnSpPr/>
          <p:nvPr/>
        </p:nvCxnSpPr>
        <p:spPr>
          <a:xfrm flipH="false" flipV="false">
            <a:off x="5897880" y="5047488"/>
            <a:ext cx="246888" cy="0"/>
          </a:xfrm>
          <a:prstGeom prst="line">
            <a:avLst/>
          </a:prstGeom>
          <a:ln w="11430">
            <a:solidFill>
              <a:srgbClr val="C5CFDC"/>
            </a:solidFill>
            <a:tailEnd type="triangle"/>
          </a:ln>
        </p:spPr>
      </p:cxnSp>
      <p:sp>
        <p:nvSpPr>
          <p:cNvPr id="81" name="Text 81"/>
          <p:cNvSpPr txBox="1"/>
          <p:nvPr/>
        </p:nvSpPr>
        <p:spPr>
          <a:xfrm>
            <a:off x="6236208" y="49469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1" i="0" dirty="0">
                <a:solidFill>
                  <a:srgbClr val="16A34A"/>
                </a:solidFill>
                <a:latin typeface="Yu Gothic"/>
              </a:rPr>
              <a:t>local native client + wrapper</a:t>
            </a:r>
            <a:endParaRPr lang="en-US" sz="660"/>
          </a:p>
        </p:txBody>
      </p:sp>
      <p:sp>
        <p:nvSpPr>
          <p:cNvPr id="82" name="Text 82"/>
          <p:cNvSpPr txBox="1"/>
          <p:nvPr/>
        </p:nvSpPr>
        <p:spPr>
          <a:xfrm>
            <a:off x="7607808" y="4974336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d76575c</a:t>
            </a:r>
            <a:endParaRPr lang="en-US" sz="650"/>
          </a:p>
        </p:txBody>
      </p:sp>
      <p:sp>
        <p:nvSpPr>
          <p:cNvPr id="83" name="Rect 83"/>
          <p:cNvSpPr/>
          <p:nvPr/>
        </p:nvSpPr>
        <p:spPr>
          <a:xfrm>
            <a:off x="4736592" y="5504688"/>
            <a:ext cx="3145536" cy="237744"/>
          </a:xfrm>
          <a:prstGeom prst="roundRect">
            <a:avLst/>
          </a:prstGeom>
          <a:solidFill>
            <a:srgbClr val="F5EFFE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4"/>
          <p:cNvSpPr txBox="1"/>
          <p:nvPr/>
        </p:nvSpPr>
        <p:spPr>
          <a:xfrm>
            <a:off x="4901184" y="5568696"/>
            <a:ext cx="281635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40" b="1" i="0" dirty="0">
                <a:solidFill>
                  <a:srgbClr val="7C3AED"/>
                </a:solidFill>
                <a:latin typeface="Yu Gothic"/>
              </a:rPr>
              <a:t>成熟 = 追加 + 回復 + 縮小 + 拒否</a:t>
            </a:r>
            <a:endParaRPr lang="en-US" sz="740"/>
          </a:p>
        </p:txBody>
      </p:sp>
      <p:sp>
        <p:nvSpPr>
          <p:cNvPr id="85" name="Rect 85"/>
          <p:cNvSpPr/>
          <p:nvPr/>
        </p:nvSpPr>
        <p:spPr>
          <a:xfrm>
            <a:off x="8348472" y="2724912"/>
            <a:ext cx="3337560" cy="3163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 86"/>
          <p:cNvSpPr/>
          <p:nvPr/>
        </p:nvSpPr>
        <p:spPr>
          <a:xfrm>
            <a:off x="8586216" y="2926080"/>
            <a:ext cx="1335024" cy="274320"/>
          </a:xfrm>
          <a:prstGeom prst="roundRect">
            <a:avLst/>
          </a:prstGeom>
          <a:solidFill>
            <a:srgbClr val="FDEFD6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7"/>
          <p:cNvSpPr txBox="1"/>
          <p:nvPr/>
        </p:nvSpPr>
        <p:spPr>
          <a:xfrm>
            <a:off x="8641080" y="299008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820" b="1" i="0" dirty="0">
                <a:solidFill>
                  <a:srgbClr val="F59E0B"/>
                </a:solidFill>
                <a:latin typeface="Yu Gothic"/>
              </a:rPr>
              <a:t>CURRENT / LIMITS</a:t>
            </a:r>
            <a:endParaRPr lang="en-US" sz="820"/>
          </a:p>
        </p:txBody>
      </p:sp>
      <p:sp>
        <p:nvSpPr>
          <p:cNvPr id="88" name="Rect 88"/>
          <p:cNvSpPr/>
          <p:nvPr/>
        </p:nvSpPr>
        <p:spPr>
          <a:xfrm>
            <a:off x="8613648" y="3383280"/>
            <a:ext cx="1188720" cy="475488"/>
          </a:xfrm>
          <a:prstGeom prst="roundRect">
            <a:avLst/>
          </a:prstGeom>
          <a:solidFill>
            <a:srgbClr val="F5EFFE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9"/>
          <p:cNvSpPr txBox="1"/>
          <p:nvPr/>
        </p:nvSpPr>
        <p:spPr>
          <a:xfrm>
            <a:off x="8686800" y="347472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80" b="1" i="0" dirty="0">
                <a:solidFill>
                  <a:srgbClr val="7C3AED"/>
                </a:solidFill>
                <a:latin typeface="Yu Gothic"/>
              </a:rPr>
              <a:t>12</a:t>
            </a:r>
            <a:endParaRPr lang="en-US" sz="980"/>
          </a:p>
        </p:txBody>
      </p:sp>
      <p:sp>
        <p:nvSpPr>
          <p:cNvPr id="90" name="Text 90"/>
          <p:cNvSpPr txBox="1"/>
          <p:nvPr/>
        </p:nvSpPr>
        <p:spPr>
          <a:xfrm>
            <a:off x="9089136" y="3493008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skills</a:t>
            </a:r>
            <a:endParaRPr lang="en-US" sz="650"/>
          </a:p>
        </p:txBody>
      </p:sp>
      <p:sp>
        <p:nvSpPr>
          <p:cNvPr id="91" name="Rect 91"/>
          <p:cNvSpPr/>
          <p:nvPr/>
        </p:nvSpPr>
        <p:spPr>
          <a:xfrm>
            <a:off x="9985248" y="3383280"/>
            <a:ext cx="1188720" cy="475488"/>
          </a:xfrm>
          <a:prstGeom prst="roundRect">
            <a:avLst/>
          </a:prstGeom>
          <a:solidFill>
            <a:srgbClr val="ECF6F5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2"/>
          <p:cNvSpPr txBox="1"/>
          <p:nvPr/>
        </p:nvSpPr>
        <p:spPr>
          <a:xfrm>
            <a:off x="10058400" y="347472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80" b="1" i="0" dirty="0">
                <a:solidFill>
                  <a:srgbClr val="0D9488"/>
                </a:solidFill>
                <a:latin typeface="Yu Gothic"/>
              </a:rPr>
              <a:t>43</a:t>
            </a:r>
            <a:endParaRPr lang="en-US" sz="980"/>
          </a:p>
        </p:txBody>
      </p:sp>
      <p:sp>
        <p:nvSpPr>
          <p:cNvPr id="93" name="Text 93"/>
          <p:cNvSpPr txBox="1"/>
          <p:nvPr/>
        </p:nvSpPr>
        <p:spPr>
          <a:xfrm>
            <a:off x="10460736" y="3493008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commands</a:t>
            </a:r>
            <a:endParaRPr lang="en-US" sz="650"/>
          </a:p>
        </p:txBody>
      </p:sp>
      <p:sp>
        <p:nvSpPr>
          <p:cNvPr id="94" name="Rect 94"/>
          <p:cNvSpPr/>
          <p:nvPr/>
        </p:nvSpPr>
        <p:spPr>
          <a:xfrm>
            <a:off x="8613648" y="3986784"/>
            <a:ext cx="1188720" cy="475488"/>
          </a:xfrm>
          <a:prstGeom prst="roundRect">
            <a:avLst/>
          </a:prstGeom>
          <a:solidFill>
            <a:srgbClr val="ECF8F1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5"/>
          <p:cNvSpPr txBox="1"/>
          <p:nvPr/>
        </p:nvSpPr>
        <p:spPr>
          <a:xfrm>
            <a:off x="8686800" y="4078224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80" b="1" i="0" dirty="0">
                <a:solidFill>
                  <a:srgbClr val="16A34A"/>
                </a:solidFill>
                <a:latin typeface="Yu Gothic"/>
              </a:rPr>
              <a:t>57</a:t>
            </a:r>
            <a:endParaRPr lang="en-US" sz="980"/>
          </a:p>
        </p:txBody>
      </p:sp>
      <p:sp>
        <p:nvSpPr>
          <p:cNvPr id="96" name="Text 96"/>
          <p:cNvSpPr txBox="1"/>
          <p:nvPr/>
        </p:nvSpPr>
        <p:spPr>
          <a:xfrm>
            <a:off x="9089136" y="409651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suites</a:t>
            </a:r>
            <a:endParaRPr lang="en-US" sz="650"/>
          </a:p>
        </p:txBody>
      </p:sp>
      <p:sp>
        <p:nvSpPr>
          <p:cNvPr id="97" name="Rect 97"/>
          <p:cNvSpPr/>
          <p:nvPr/>
        </p:nvSpPr>
        <p:spPr>
          <a:xfrm>
            <a:off x="9985248" y="3986784"/>
            <a:ext cx="1188720" cy="475488"/>
          </a:xfrm>
          <a:prstGeom prst="roundRect">
            <a:avLst/>
          </a:prstGeom>
          <a:solidFill>
            <a:srgbClr val="EBF9FC"/>
          </a:solidFill>
          <a:ln w="12700">
            <a:solidFill>
              <a:srgbClr val="06B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8"/>
          <p:cNvSpPr txBox="1"/>
          <p:nvPr/>
        </p:nvSpPr>
        <p:spPr>
          <a:xfrm>
            <a:off x="10058400" y="4078224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80" b="1" i="0" dirty="0">
                <a:solidFill>
                  <a:srgbClr val="06B6D4"/>
                </a:solidFill>
                <a:latin typeface="Yu Gothic"/>
              </a:rPr>
              <a:t>7</a:t>
            </a:r>
            <a:endParaRPr lang="en-US" sz="980"/>
          </a:p>
        </p:txBody>
      </p:sp>
      <p:sp>
        <p:nvSpPr>
          <p:cNvPr id="99" name="Text 99"/>
          <p:cNvSpPr txBox="1"/>
          <p:nvPr/>
        </p:nvSpPr>
        <p:spPr>
          <a:xfrm>
            <a:off x="10460736" y="409651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Linux profiles</a:t>
            </a:r>
            <a:endParaRPr lang="en-US" sz="650"/>
          </a:p>
        </p:txBody>
      </p:sp>
      <p:sp>
        <p:nvSpPr>
          <p:cNvPr id="100" name="Text 100"/>
          <p:cNvSpPr txBox="1"/>
          <p:nvPr/>
        </p:nvSpPr>
        <p:spPr>
          <a:xfrm>
            <a:off x="8631936" y="4590288"/>
            <a:ext cx="27614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1" i="0" dirty="0">
                <a:solidFill>
                  <a:srgbClr val="14213D"/>
                </a:solidFill>
                <a:latin typeface="Yu Gothic"/>
              </a:rPr>
              <a:t>NEXT: coordination ↓</a:t>
            </a:r>
            <a:endParaRPr lang="en-US" sz="650"/>
          </a:p>
          <a:p>
            <a:pPr algn="ctr"/>
            <a:r>
              <a:rPr lang="en-US" sz="650" b="1" i="0" dirty="0">
                <a:solidFill>
                  <a:srgbClr val="14213D"/>
                </a:solidFill>
                <a:latin typeface="Yu Gothic"/>
              </a:rPr>
              <a:t>authority / provenance / native transparency = keep</a:t>
            </a:r>
            <a:endParaRPr lang="en-US" sz="650"/>
          </a:p>
        </p:txBody>
      </p:sp>
      <p:cxnSp>
        <p:nvCxnSpPr>
          <p:cNvPr id="101" name="Line 101"/>
          <p:cNvCxnSpPr/>
          <p:nvPr/>
        </p:nvCxnSpPr>
        <p:spPr>
          <a:xfrm flipH="false" flipV="false">
            <a:off x="8668512" y="4974336"/>
            <a:ext cx="2706624" cy="0"/>
          </a:xfrm>
          <a:prstGeom prst="line">
            <a:avLst/>
          </a:prstGeom>
          <a:ln w="11430">
            <a:solidFill>
              <a:srgbClr val="D7DFEA"/>
            </a:solidFill>
          </a:ln>
        </p:spPr>
      </p:cxnSp>
      <p:sp>
        <p:nvSpPr>
          <p:cNvPr id="102" name="Text 102"/>
          <p:cNvSpPr txBox="1"/>
          <p:nvPr/>
        </p:nvSpPr>
        <p:spPr>
          <a:xfrm>
            <a:off x="8631936" y="5138928"/>
            <a:ext cx="2761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20" b="1" i="0" dirty="0">
                <a:solidFill>
                  <a:srgbClr val="DC2626"/>
                </a:solidFill>
                <a:latin typeface="Yu Gothic"/>
              </a:rPr>
              <a:t>NOT CLAIMED</a:t>
            </a:r>
            <a:endParaRPr lang="en-US" sz="720"/>
          </a:p>
        </p:txBody>
      </p:sp>
      <p:sp>
        <p:nvSpPr>
          <p:cNvPr id="103" name="Text 103"/>
          <p:cNvSpPr txBox="1"/>
          <p:nvPr/>
        </p:nvSpPr>
        <p:spPr>
          <a:xfrm>
            <a:off x="8668512" y="5376672"/>
            <a:ext cx="26883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HPC scaling • universal quality • full forensics</a:t>
            </a:r>
            <a:endParaRPr lang="en-US" sz="650"/>
          </a:p>
          <a:p>
            <a:pPr algn="ctr"/>
            <a:r>
              <a:rPr lang="en-US" sz="650" b="0" i="0" dirty="0">
                <a:solidFill>
                  <a:srgbClr val="56647A"/>
                </a:solidFill>
                <a:latin typeface="Yu Gothic"/>
              </a:rPr>
              <a:t>authorship/honesty • confidentiality • future state</a:t>
            </a:r>
            <a:endParaRPr lang="en-US" sz="650"/>
          </a:p>
        </p:txBody>
      </p:sp>
      <p:sp>
        <p:nvSpPr>
          <p:cNvPr id="104" name="Rect 104"/>
          <p:cNvSpPr/>
          <p:nvPr/>
        </p:nvSpPr>
        <p:spPr>
          <a:xfrm>
            <a:off x="502920" y="6035040"/>
            <a:ext cx="11183112" cy="256032"/>
          </a:xfrm>
          <a:prstGeom prst="roundRect">
            <a:avLst/>
          </a:prstGeom>
          <a:solidFill>
            <a:srgbClr val="08152F"/>
          </a:solidFill>
          <a:ln w="12700">
            <a:solidFill>
              <a:srgbClr val="08152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5"/>
          <p:cNvSpPr txBox="1"/>
          <p:nvPr/>
        </p:nvSpPr>
        <p:spPr>
          <a:xfrm>
            <a:off x="749808" y="6099048"/>
            <a:ext cx="10689336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780" b="1" i="0" dirty="0">
                <a:solidFill>
                  <a:srgbClr val="FFFFFF"/>
                </a:solidFill>
                <a:latin typeface="Yu Gothic"/>
              </a:rPr>
              <a:t>結論：強い自律性は、広い権限ではなく、狭く説明可能で再検証される権限から生まれる。</a:t>
            </a:r>
            <a:endParaRPr lang="en-US" sz="780"/>
          </a:p>
        </p:txBody>
      </p:sp>
      <p:cxnSp>
        <p:nvCxnSpPr>
          <p:cNvPr id="106" name="Line 106"/>
          <p:cNvCxnSpPr/>
          <p:nvPr/>
        </p:nvCxnSpPr>
        <p:spPr>
          <a:xfrm flipH="false" flipV="false">
            <a:off x="621792" y="6473952"/>
            <a:ext cx="10954512" cy="0"/>
          </a:xfrm>
          <a:prstGeom prst="line">
            <a:avLst/>
          </a:prstGeom>
          <a:ln w="10160">
            <a:solidFill>
              <a:srgbClr val="D7DFEA"/>
            </a:solidFill>
          </a:ln>
        </p:spPr>
      </p:cxnSp>
      <p:sp>
        <p:nvSpPr>
          <p:cNvPr id="107" name="Text 107"/>
          <p:cNvSpPr txBox="1"/>
          <p:nvPr/>
        </p:nvSpPr>
        <p:spPr>
          <a:xfrm>
            <a:off x="640080" y="6510528"/>
            <a:ext cx="10469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660" b="0" i="0" dirty="0">
                <a:solidFill>
                  <a:srgbClr val="56647A"/>
                </a:solidFill>
                <a:latin typeface="Yu Gothic"/>
              </a:rPr>
              <a:t>timeline.csv • metrics.csv • audit/evaluation results • reversal commits • 90451d4:TODO.md • evidence limits</a:t>
            </a:r>
            <a:endParaRPr lang="en-US" sz="660"/>
          </a:p>
        </p:txBody>
      </p:sp>
      <p:sp>
        <p:nvSpPr>
          <p:cNvPr id="108" name="Text 108"/>
          <p:cNvSpPr txBox="1"/>
          <p:nvPr/>
        </p:nvSpPr>
        <p:spPr>
          <a:xfrm>
            <a:off x="11201400" y="649224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750" b="1" i="0" dirty="0">
                <a:solidFill>
                  <a:srgbClr val="56647A"/>
                </a:solidFill>
                <a:latin typeface="Yu Gothic"/>
              </a:rPr>
              <a:t>5</a:t>
            </a:r>
            <a:endParaRPr lang="en-US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ness Technical">
  <a:themeElements>
    <a:clrScheme name="Harness">
      <a:dk1>
        <a:srgbClr val="08152F"/>
      </a:dk1>
      <a:lt1>
        <a:srgbClr val="FFFFFF"/>
      </a:lt1>
      <a:dk2>
        <a:srgbClr val="14213D"/>
      </a:dk2>
      <a:lt2>
        <a:srgbClr val="F6F8FC"/>
      </a:lt2>
      <a:accent1>
        <a:srgbClr val="3B82F6"/>
      </a:accent1>
      <a:accent2>
        <a:srgbClr val="06B6D4"/>
      </a:accent2>
      <a:accent3>
        <a:srgbClr val="0D9488"/>
      </a:accent3>
      <a:accent4>
        <a:srgbClr val="F59E0B"/>
      </a:accent4>
      <a:accent5>
        <a:srgbClr val="7C3AED"/>
      </a:accent5>
      <a:accent6>
        <a:srgbClr val="16A34A"/>
      </a:accent6>
      <a:hlink>
        <a:srgbClr val="0563C1"/>
      </a:hlink>
      <a:folHlink>
        <a:srgbClr val="954F72"/>
      </a:folHlink>
    </a:clrScheme>
    <a:fontScheme name="Arial">
      <a:majorFont>
        <a:latin typeface="Yu Gothic"/>
        <a:ea typeface=""/>
        <a:cs typeface=""/>
      </a:majorFont>
      <a:minorFont>
        <a:latin typeface="Yu Gothic"/>
        <a:ea typeface=""/>
        <a:cs typeface=""/>
      </a:minorFont>
    </a:fontScheme>
    <a:fmtScheme name="Harness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5</Notes>
  <HiddenSlides>0</HiddenSlides>
  <ScaleCrop>false</ScaleCrop>
  <HeadingPairs>
    <vt:vector size="2" baseType="variant">
      <vt:variant>
        <vt:lpstr>Slide Titles</vt:lpstr>
      </vt:variant>
      <vt:variant>
        <vt:i4>5</vt:i4>
      </vt:variant>
    </vt:vector>
  </HeadingPairs>
  <TitlesOfParts>
    <vt:vector size="5" baseType="lpstr">
      <vt:lpstr>1つのrepositoryが7 Linux・4 Mac・2 clientsを明示的に統御する</vt:lpstr>
      <vt:lpstr>rm -rf 事故が「自律性＝再検証可能な権限」へ設計を変えた</vt:lpstr>
      <vt:lpstr>safeguardと57 focused suitesが実行をfail closedにする</vt:lpstr>
      <vt:lpstr>durable `.md` protocol がCodex–Claude協働をchat contextから分離する</vt:lpstr>
      <vt:lpstr>残りの進化史は「測定・回復・撤回」で現在の境界に収束した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evolution</dc:title>
  <dc:subject>Sourced architecture evolution</dc:subject>
  <dc:creator>OpenAI Codex</dc:creator>
  <cp:lastModifiedBy>OpenAI Codex</cp:lastModifiedBy>
  <dcterms:created xsi:type="dcterms:W3CDTF">2026-07-21T00:00:00Z</dcterms:created>
  <dcterms:modified xsi:type="dcterms:W3CDTF">2026-07-21T00:00:00Z</dcterms:modified>
</cp:coreProperties>
</file>