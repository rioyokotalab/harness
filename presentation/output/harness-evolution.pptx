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type="screen16x9"/>
  <p:notesSz cx="6858000" cy="9144000"/>
  <p:defaultTextStyle>
    <a:defPPr>
      <a:defRPr lang="en-US"/>
    </a:defPPr>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hf hdr="1" ftr="1" dt="1" sldNum="1"/>
  <p:notesStyle>
    <a:lvl1pPr>
      <a:defRPr sz="1200">
        <a:latin typeface="Arial"/>
      </a:defRPr>
    </a:lvl1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a:xfrm>
            <a:off x="685800" y="4114800"/>
            <a:ext cx="5486400" cy="2286000"/>
          </a:xfrm>
          <a:prstGeom prst="rect">
            <a:avLst/>
          </a:prstGeom>
          <a:noFill/>
          <a:ln>
            <a:noFill/>
          </a:ln>
        </p:spPr>
        <p:txBody>
          <a:bodyPr/>
          <a:lstStyle/>
          <a:p>
            <a:r>
              <a:rPr lang="en-US" sz="1200">
                <a:latin typeface="Arial"/>
              </a:rPr>
              <a:t>Open with the one-sentence thesis. The harness started as a safe way to version agent guidance and became an operational control plane across heterogeneous systems. The through-line is not feature count: every major step clarified who may change what, from which evidence, and with what recovery path. Preview the seven verbs: protect, observe, transact, recover, measure, expand, collaborate.</a:t>
            </a:r>
            <a:endParaRPr lang="en-US" sz="1200"/>
          </a:p>
          <a:p>
            <a:r>
              <a:rPr lang="en-US" sz="1200">
                <a:latin typeface="Arial"/>
              </a:rPr>
              <a:t>Transition: “To understand why this architecture grew, start with the boundary the first commit chose.”</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a:xfrm>
            <a:off x="685800" y="4114800"/>
            <a:ext cx="5486400" cy="2286000"/>
          </a:xfrm>
          <a:prstGeom prst="rect">
            <a:avLst/>
          </a:prstGeom>
          <a:noFill/>
          <a:ln>
            <a:noFill/>
          </a:ln>
        </p:spPr>
        <p:txBody>
          <a:bodyPr/>
          <a:lstStyle/>
          <a:p>
            <a:r>
              <a:rPr lang="en-US" sz="1200">
                <a:latin typeface="Arial"/>
              </a:rPr>
              <a:t>The root commit tracked only non-sensitive durable intent: working agreements, rules, skills, and a fail-closed symlink installer. It explicitly excluded live configuration, credentials, sessions, histories, caches, plugins, and other runtime state. The numbers—18 files and six skills—describe scope, not quality. Claude discovery arrived in the next commit, but the model was still links, not environment operation.</a:t>
            </a:r>
            <a:endParaRPr lang="en-US" sz="1200"/>
          </a:p>
          <a:p>
            <a:r>
              <a:rPr lang="en-US" sz="1200">
                <a:latin typeface="Arial"/>
              </a:rPr>
              <a:t>Transition: “That boundary was durable; what changed was the control depth inside it.”</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a:xfrm>
            <a:off x="685800" y="4114800"/>
            <a:ext cx="5486400" cy="2286000"/>
          </a:xfrm>
          <a:prstGeom prst="rect">
            <a:avLst/>
          </a:prstGeom>
          <a:noFill/>
          <a:ln>
            <a:noFill/>
          </a:ln>
        </p:spPr>
        <p:txBody>
          <a:bodyPr/>
          <a:lstStyle/>
          <a:p>
            <a:r>
              <a:rPr lang="en-US" sz="1200">
                <a:latin typeface="Arial"/>
              </a:rPr>
              <a:t>Explain that the repository has 542 total and 542 first-parent commits, no merge commits, and no tags. The mainline is the complete history. The seven stages exclude formatting, dependency refreshes without architectural effect, and ledger-only churn. Point out the reversal notches: removal mattered too.</a:t>
            </a:r>
            <a:endParaRPr lang="en-US" sz="1200"/>
          </a:p>
          <a:p>
            <a:r>
              <a:rPr lang="en-US" sz="1200">
                <a:latin typeface="Arial"/>
              </a:rPr>
              <a:t>Transition: “The first architecture solved discovery—nothing more.”</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a:xfrm>
            <a:off x="685800" y="4114800"/>
            <a:ext cx="5486400" cy="2286000"/>
          </a:xfrm>
          <a:prstGeom prst="rect">
            <a:avLst/>
          </a:prstGeom>
          <a:noFill/>
          <a:ln>
            <a:noFill/>
          </a:ln>
        </p:spPr>
        <p:txBody>
          <a:bodyPr/>
          <a:lstStyle/>
          <a:p>
            <a:r>
              <a:rPr lang="en-US" sz="1200">
                <a:latin typeface="Arial"/>
              </a:rPr>
              <a:t>Walk left to right: repository, fail-closed installer, known symlinks, client discovery. The private-state exclusion remains outside. Then name the four missing capabilities: no inventory, desired-state comparison, mutation, or verification. This is the limitation that produced the first execution layer.</a:t>
            </a:r>
            <a:endParaRPr lang="en-US" sz="1200"/>
          </a:p>
          <a:p>
            <a:r>
              <a:rPr lang="en-US" sz="1200">
                <a:latin typeface="Arial"/>
              </a:rPr>
              <a:t>Transition: “Before the harness could write safely, it had to observe safely.”</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a:xfrm>
            <a:off x="685800" y="4114800"/>
            <a:ext cx="5486400" cy="2286000"/>
          </a:xfrm>
          <a:prstGeom prst="rect">
            <a:avLst/>
          </a:prstGeom>
          <a:noFill/>
          <a:ln>
            <a:noFill/>
          </a:ln>
        </p:spPr>
        <p:txBody>
          <a:bodyPr/>
          <a:lstStyle/>
          <a:p>
            <a:r>
              <a:rPr lang="en-US" sz="1200">
                <a:latin typeface="Arial"/>
              </a:rPr>
              <a:t>Inventory emitted a constrained fact stream; plan compared facts with a logical profile; doctor classified readiness. Captured facts made behavior testable without reconnecting. Emphasize that native schedulers, modules, uenv, drivers, and site policy remained authoritative. The harness standardized the control grammar, not the machines.</a:t>
            </a:r>
            <a:endParaRPr lang="en-US" sz="1200"/>
          </a:p>
          <a:p>
            <a:r>
              <a:rPr lang="en-US" sz="1200">
                <a:latin typeface="Arial"/>
              </a:rPr>
              <a:t>Transition: “A correct plan still leaves one hard question: how do you change state without turning a partial failure into a new mystery?”</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a:xfrm>
            <a:off x="685800" y="4114800"/>
            <a:ext cx="5486400" cy="2286000"/>
          </a:xfrm>
          <a:prstGeom prst="rect">
            <a:avLst/>
          </a:prstGeom>
          <a:noFill/>
          <a:ln>
            <a:noFill/>
          </a:ln>
        </p:spPr>
        <p:txBody>
          <a:bodyPr/>
          <a:lstStyle/>
          <a:p>
            <a:r>
              <a:rPr lang="en-US" sz="1200">
                <a:latin typeface="Arial"/>
              </a:rPr>
              <a:t>Describe the shared loop: observe, plan, revalidate, apply atomically, verify, record. Drift or failure stops or invokes an unchanged-only rollback. Give one short example each: link collision, shell suffix, checksum-pinned tool, guarded deletion manifest, verified Git-bundle fleet sync. Note that package managers, site software, credentials, and projects remain outside generic rollback.</a:t>
            </a:r>
            <a:endParaRPr lang="en-US" sz="1200"/>
          </a:p>
          <a:p>
            <a:r>
              <a:rPr lang="en-US" sz="1200">
                <a:latin typeface="Arial"/>
              </a:rPr>
              <a:t>Transition: “Once writes were bounded, evidence could become more than a test at the end—it could decide whether a change should exist at all.”</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a:xfrm>
            <a:off x="685800" y="4114800"/>
            <a:ext cx="5486400" cy="2286000"/>
          </a:xfrm>
          <a:prstGeom prst="rect">
            <a:avLst/>
          </a:prstGeom>
          <a:noFill/>
          <a:ln>
            <a:noFill/>
          </a:ln>
        </p:spPr>
        <p:txBody>
          <a:bodyPr/>
          <a:lstStyle/>
          <a:p>
            <a:r>
              <a:rPr lang="en-US" sz="1200">
                <a:latin typeface="Arial"/>
              </a:rPr>
              <a:t>On the left, explain T-181: a frozen paired experiment evaluated a plausible failure-capsule guidance change. The candidate produced no substantive correctness gain and added cost, so it was rejected. Preserve the nuance: 69/70 is the canonical deterministic result; targeted review judged all 70 substantively acceptable; zero safety failures is corpus-specific. On the right, native scheduler routes support bounded CPU/GPU/MPI readiness claims without pretending sites are identical.</a:t>
            </a:r>
            <a:endParaRPr lang="en-US" sz="1200"/>
          </a:p>
          <a:p>
            <a:r>
              <a:rPr lang="en-US" sz="1200">
                <a:latin typeface="Arial"/>
              </a:rPr>
              <a:t>Transition: “The same explicit-boundary idea enabled a very different target family: personal Macs.”</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a:xfrm>
            <a:off x="685800" y="4114800"/>
            <a:ext cx="5486400" cy="2286000"/>
          </a:xfrm>
          <a:prstGeom prst="rect">
            <a:avLst/>
          </a:prstGeom>
          <a:noFill/>
          <a:ln>
            <a:noFill/>
          </a:ln>
        </p:spPr>
        <p:txBody>
          <a:bodyPr/>
          <a:lstStyle/>
          <a:p>
            <a:r>
              <a:rPr lang="en-US" sz="1200">
                <a:latin typeface="Arial"/>
              </a:rPr>
              <a:t>The public repository owns reusable mechanics and non-secret policy. A strict owner-controlled companion owns opaque identity, selected intent, and private SSH payload. The resolver joins them locally and does not publish private bytes. A later migration moved Bash hooks and tmux into the public shared layer, leaving SSH as private intent. State at HEAD: three reachable Macs accepted, one availability-gated.</a:t>
            </a:r>
            <a:endParaRPr lang="en-US" sz="1200"/>
          </a:p>
          <a:p>
            <a:r>
              <a:rPr lang="en-US" sz="1200">
                <a:latin typeface="Arial"/>
              </a:rPr>
              <a:t>Transition: “With the pieces in place, compare what changed—and what did not.”</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a:xfrm>
            <a:off x="685800" y="4114800"/>
            <a:ext cx="5486400" cy="2286000"/>
          </a:xfrm>
          <a:prstGeom prst="rect">
            <a:avLst/>
          </a:prstGeom>
          <a:noFill/>
          <a:ln>
            <a:noFill/>
          </a:ln>
        </p:spPr>
        <p:txBody>
          <a:bodyPr/>
          <a:lstStyle/>
          <a:p>
            <a:r>
              <a:rPr lang="en-US" sz="1200">
                <a:latin typeface="Arial"/>
              </a:rPr>
              <a:t>Use the same outer boundary on both diagrams. In 2026-07-14 the internal flow was repository to links to clients. At HEAD it includes observation, profiles, transactions, recovery, native execution, Mac-private resolution, evaluation, CI, and cowork. The interpretation is that the harness expanded what it can explain and transact, not what it is allowed to own.</a:t>
            </a:r>
            <a:endParaRPr lang="en-US" sz="1200"/>
          </a:p>
          <a:p>
            <a:r>
              <a:rPr lang="en-US" sz="1200">
                <a:latin typeface="Arial"/>
              </a:rPr>
              <a:t>Transition: “A larger architecture is not evidence of improvement; checked-in outcomes are.”</a:t>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a:xfrm>
            <a:off x="685800" y="4114800"/>
            <a:ext cx="5486400" cy="2286000"/>
          </a:xfrm>
          <a:prstGeom prst="rect">
            <a:avLst/>
          </a:prstGeom>
          <a:noFill/>
          <a:ln>
            <a:noFill/>
          </a:ln>
        </p:spPr>
        <p:txBody>
          <a:bodyPr/>
          <a:lstStyle/>
          <a:p>
            <a:r>
              <a:rPr lang="en-US" sz="1200">
                <a:latin typeface="Arial"/>
              </a:rPr>
              <a:t>Treat each card as a different question. Fleet readiness: bounded native correctness. Recovery: full-data check and verified restore. Agent evaluation: frozen corpus behavior. Validation speed: a matched local timing comparison. The 14.62% reduction is the only speed claim and applies to one eight-CPU- visible host. Do not generalize readiness to performance or the corpus to universal agent quality.</a:t>
            </a:r>
            <a:endParaRPr lang="en-US" sz="1200"/>
          </a:p>
          <a:p>
            <a:r>
              <a:rPr lang="en-US" sz="1200">
                <a:latin typeface="Arial"/>
              </a:rPr>
              <a:t>Transition: “The design also improved by removing things that crossed the wrong boundary.”</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a:xfrm>
            <a:off x="685800" y="4114800"/>
            <a:ext cx="5486400" cy="2286000"/>
          </a:xfrm>
          <a:prstGeom prst="rect">
            <a:avLst/>
          </a:prstGeom>
          <a:noFill/>
          <a:ln>
            <a:noFill/>
          </a:ln>
        </p:spPr>
        <p:txBody>
          <a:bodyPr/>
          <a:lstStyle/>
          <a:p>
            <a:r>
              <a:rPr lang="en-US" sz="1200">
                <a:latin typeface="Arial"/>
              </a:rPr>
              <a:t>Walk through the five rows quickly. Automatic login fetch and exit publish became explicit Git operations. Website ownership was removed. An evaluated candidate was rejected. Private Bash/tmux duplication moved public while SSH stayed private. Native Codex ownership returned to the local installation while the harness retained policy and a wrapper. The final statement is explicitly an interpretation: maturity came from narrower ownership, not only more automation.</a:t>
            </a:r>
            <a:endParaRPr lang="en-US" sz="1200"/>
          </a:p>
          <a:p>
            <a:r>
              <a:rPr lang="en-US" sz="1200">
                <a:latin typeface="Arial"/>
              </a:rPr>
              <a:t>Transition: “That leaves a broad current system—and a deliberately narrow next question.”</a:t>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a:xfrm>
            <a:off x="685800" y="4114800"/>
            <a:ext cx="5486400" cy="2286000"/>
          </a:xfrm>
          <a:prstGeom prst="rect">
            <a:avLst/>
          </a:prstGeom>
          <a:noFill/>
          <a:ln>
            <a:noFill/>
          </a:ln>
        </p:spPr>
        <p:txBody>
          <a:bodyPr/>
          <a:lstStyle/>
          <a:p>
            <a:r>
              <a:rPr lang="en-US" sz="1200">
                <a:latin typeface="Arial"/>
              </a:rPr>
              <a:t>Summarize the current capability wheel. The counts—12 skills, 43 user commands, 57 focused suites, seven Linux profiles—show breadth, not quality. Then state the open questions: reduce avoidable human coordination without weakening authority; close only project-required HPC and retention gaps; strengthen cross-client provenance without claiming model authorship or OS confinement. Restate the thesis and stop.</a:t>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a:xfrm>
            <a:off x="685800" y="4114800"/>
            <a:ext cx="5486400" cy="2286000"/>
          </a:xfrm>
          <a:prstGeom prst="rect">
            <a:avLst/>
          </a:prstGeom>
          <a:noFill/>
          <a:ln>
            <a:noFill/>
          </a:ln>
        </p:spPr>
        <p:txBody>
          <a:bodyPr/>
          <a:lstStyle/>
          <a:p>
            <a:r>
              <a:rPr lang="en-US" sz="1200">
                <a:latin typeface="Arial"/>
              </a:rPr>
              <a:t>Appendix method. First-parent equals complete history. Important deleted and replaced implementations were inspected directly. Every substantive slide claim maps to a commit/path plus a test, checked-in result, or reproduction command. Conflicts were resolved by date and scope, not blended.</a:t>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a:xfrm>
            <a:off x="685800" y="4114800"/>
            <a:ext cx="5486400" cy="2286000"/>
          </a:xfrm>
          <a:prstGeom prst="rect">
            <a:avLst/>
          </a:prstGeom>
          <a:noFill/>
          <a:ln>
            <a:noFill/>
          </a:ln>
        </p:spPr>
        <p:txBody>
          <a:bodyPr/>
          <a:lstStyle/>
          <a:p>
            <a:r>
              <a:rPr lang="en-US" sz="1200">
                <a:latin typeface="Arial"/>
              </a:rPr>
              <a:t>Use this when someone asks for chronology beyond the seven-stage summary. The complete 25-row CSV contains date, full SHA, subsystem, description, evidence paths, and confidence. Reversal arrows are part of the narrative, not noise.</a:t>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a:xfrm>
            <a:off x="685800" y="4114800"/>
            <a:ext cx="5486400" cy="2286000"/>
          </a:xfrm>
          <a:prstGeom prst="rect">
            <a:avLst/>
          </a:prstGeom>
          <a:noFill/>
          <a:ln>
            <a:noFill/>
          </a:ln>
        </p:spPr>
        <p:txBody>
          <a:bodyPr/>
          <a:lstStyle/>
          <a:p>
            <a:r>
              <a:rPr lang="en-US" sz="1200">
                <a:latin typeface="Arial"/>
              </a:rPr>
              <a:t>Explain the categories. CPU passed on seven. Accelerator driver/runtime passed on seven; five kernels passed and two toolkits were declared skips. Single-node MPI passed on five; two had no reviewed route. Multi-node passed on three; two ended in environment failures and two were excluded. None is a scaling result.</a:t>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a:xfrm>
            <a:off x="685800" y="4114800"/>
            <a:ext cx="5486400" cy="2286000"/>
          </a:xfrm>
          <a:prstGeom prst="rect">
            <a:avLst/>
          </a:prstGeom>
          <a:noFill/>
          <a:ln>
            <a:noFill/>
          </a:ln>
        </p:spPr>
        <p:txBody>
          <a:bodyPr/>
          <a:lstStyle/>
          <a:p>
            <a:r>
              <a:rPr lang="en-US" sz="1200">
                <a:latin typeface="Arial"/>
              </a:rPr>
              <a:t>Each layer answers a different failure mode: collision refusal protects unmanaged paths; preimages protect rollback; manifests protect deletion scope; restore proves recovery; ancestry protects fleet distribution; seals/receipts protect cowork provenance. No layer is a universal security boundary.</a:t>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a:xfrm>
            <a:off x="685800" y="4114800"/>
            <a:ext cx="5486400" cy="2286000"/>
          </a:xfrm>
          <a:prstGeom prst="rect">
            <a:avLst/>
          </a:prstGeom>
          <a:noFill/>
          <a:ln>
            <a:noFill/>
          </a:ln>
        </p:spPr>
        <p:txBody>
          <a:bodyPr/>
          <a:lstStyle/>
          <a:p>
            <a:r>
              <a:rPr lang="en-US" sz="1200">
                <a:latin typeface="Arial"/>
              </a:rPr>
              <a:t>The command surface is large but organized. Observation commands do not write; transactional commands plan by default; recovery commands require unchanged state; distribution commands preserve ancestry; safety commands have separate revalidation. Internal helpers are not counted as user commands.</a:t>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a:xfrm>
            <a:off x="685800" y="4114800"/>
            <a:ext cx="5486400" cy="2286000"/>
          </a:xfrm>
          <a:prstGeom prst="rect">
            <a:avLst/>
          </a:prstGeom>
          <a:noFill/>
          <a:ln>
            <a:noFill/>
          </a:ln>
        </p:spPr>
        <p:txBody>
          <a:bodyPr/>
          <a:lstStyle/>
          <a:p>
            <a:r>
              <a:rPr lang="en-US" sz="1200">
                <a:latin typeface="Arial"/>
              </a:rPr>
              <a:t>Use during Q&amp;A to stop overgeneralization. Readiness is not performance; deterministic scoring is not universal quality; hashes do not prove authorship; workspace-write does not imply read confidentiality; restore success does not authorize retention deletion; and checked-in state does not predict future external state.</a:t>
            </a:r>
            <a:endParaRPr 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1" r:id="rId1"/>
  </p:sldLayoutIdLst>
  <p:txStyles>
    <p:titleStyle>
      <a:lvl1pPr algn="l">
        <a:defRPr sz="2800" b="1">
          <a:latin typeface="Arial"/>
        </a:defRPr>
      </a:lvl1pPr>
    </p:titleStyle>
    <p:bodyStyle>
      <a:lvl1pPr>
        <a:defRPr sz="1600">
          <a:latin typeface="Arial"/>
        </a:defRPr>
      </a:lvl1pPr>
    </p:bodyStyle>
    <p:otherStyle>
      <a:defPPr>
        <a:defRPr lang="en-US"/>
      </a:def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52F"/>
        </a:solidFill>
        <a:effectLst/>
      </p:bgPr>
    </p:bg>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08152F"/>
          </a:solidFill>
          <a:ln w="12700">
            <a:solidFill>
              <a:srgbClr val="08152F"/>
            </a:solidFill>
          </a:ln>
        </p:spPr>
        <p:txBody>
          <a:bodyPr/>
          <a:lstStyle/>
          <a:p>
            <a:endParaRPr lang="en-US"/>
          </a:p>
        </p:txBody>
      </p:sp>
      <p:pic>
        <p:nvPicPr>
          <p:cNvPr id="3" name="cover-control-network.png"/>
          <p:cNvPicPr>
            <a:picLocks noChangeAspect="1"/>
          </p:cNvPicPr>
          <p:nvPr/>
        </p:nvPicPr>
        <p:blipFill>
          <a:blip r:embed="rId2"/>
          <a:stretch>
            <a:fillRect/>
          </a:stretch>
        </p:blipFill>
        <p:spPr>
          <a:xfrm>
            <a:off x="0" y="0"/>
            <a:ext cx="12192000" cy="6858000"/>
          </a:xfrm>
          <a:prstGeom prst="rect">
            <a:avLst/>
          </a:prstGeom>
        </p:spPr>
      </p:pic>
      <p:sp>
        <p:nvSpPr>
          <p:cNvPr id="4" name="Rect 4"/>
          <p:cNvSpPr/>
          <p:nvPr/>
        </p:nvSpPr>
        <p:spPr>
          <a:xfrm>
            <a:off x="0" y="0"/>
            <a:ext cx="6675120" cy="6858000"/>
          </a:xfrm>
          <a:prstGeom prst="rect">
            <a:avLst/>
          </a:prstGeom>
          <a:solidFill>
            <a:srgbClr val="08152F">
              <a:alpha val="78000"/>
            </a:srgbClr>
          </a:solidFill>
          <a:ln w="12700">
            <a:solidFill>
              <a:srgbClr val="08152F"/>
            </a:solidFill>
          </a:ln>
        </p:spPr>
        <p:txBody>
          <a:bodyPr/>
          <a:lstStyle/>
          <a:p>
            <a:endParaRPr lang="en-US"/>
          </a:p>
        </p:txBody>
      </p:sp>
      <p:sp>
        <p:nvSpPr>
          <p:cNvPr id="5" name="Text 5"/>
          <p:cNvSpPr txBox="1"/>
          <p:nvPr/>
        </p:nvSpPr>
        <p:spPr>
          <a:xfrm>
            <a:off x="749808" y="1078992"/>
            <a:ext cx="6309360" cy="1325880"/>
          </a:xfrm>
          <a:prstGeom prst="rect">
            <a:avLst/>
          </a:prstGeom>
          <a:noFill/>
          <a:ln>
            <a:noFill/>
          </a:ln>
        </p:spPr>
        <p:txBody>
          <a:bodyPr wrap="square" anchor="t" lIns="0" rIns="0" tIns="0" bIns="0"/>
          <a:lstStyle/>
          <a:p>
            <a:pPr algn="l"/>
            <a:r>
              <a:rPr lang="en-US" sz="3050" b="1" i="0" dirty="0">
                <a:solidFill>
                  <a:srgbClr val="FFFFFF"/>
                </a:solidFill>
                <a:latin typeface="Arial"/>
              </a:rPr>
              <a:t>The harness became a control</a:t>
            </a:r>
            <a:endParaRPr lang="en-US" sz="3050"/>
          </a:p>
          <a:p>
            <a:pPr algn="l"/>
            <a:r>
              <a:rPr lang="en-US" sz="3050" b="1" i="0" dirty="0">
                <a:solidFill>
                  <a:srgbClr val="FFFFFF"/>
                </a:solidFill>
                <a:latin typeface="Arial"/>
              </a:rPr>
              <a:t>plane by making authority explicit</a:t>
            </a:r>
            <a:endParaRPr lang="en-US" sz="3050"/>
          </a:p>
        </p:txBody>
      </p:sp>
      <p:sp>
        <p:nvSpPr>
          <p:cNvPr id="6" name="Text 6"/>
          <p:cNvSpPr txBox="1"/>
          <p:nvPr/>
        </p:nvSpPr>
        <p:spPr>
          <a:xfrm>
            <a:off x="786384" y="2761488"/>
            <a:ext cx="5257800" cy="987552"/>
          </a:xfrm>
          <a:prstGeom prst="rect">
            <a:avLst/>
          </a:prstGeom>
          <a:noFill/>
          <a:ln>
            <a:noFill/>
          </a:ln>
        </p:spPr>
        <p:txBody>
          <a:bodyPr wrap="square" anchor="t" lIns="0" rIns="0" tIns="0" bIns="0"/>
          <a:lstStyle/>
          <a:p>
            <a:pPr algn="l"/>
            <a:r>
              <a:rPr lang="en-US" sz="1800" b="0" i="0" dirty="0">
                <a:solidFill>
                  <a:srgbClr val="D8E5F7"/>
                </a:solidFill>
                <a:latin typeface="Arial"/>
              </a:rPr>
              <a:t>From portable agent discovery to a transactional,</a:t>
            </a:r>
            <a:endParaRPr lang="en-US" sz="1800"/>
          </a:p>
          <a:p>
            <a:pPr algn="l"/>
            <a:r>
              <a:rPr lang="en-US" sz="1800" b="0" i="0" dirty="0">
                <a:solidFill>
                  <a:srgbClr val="D8E5F7"/>
                </a:solidFill>
                <a:latin typeface="Arial"/>
              </a:rPr>
              <a:t>evidence-driven control plane</a:t>
            </a:r>
            <a:endParaRPr lang="en-US" sz="1800"/>
          </a:p>
        </p:txBody>
      </p:sp>
      <p:sp>
        <p:nvSpPr>
          <p:cNvPr id="7" name="Rect 7"/>
          <p:cNvSpPr/>
          <p:nvPr/>
        </p:nvSpPr>
        <p:spPr>
          <a:xfrm>
            <a:off x="786384" y="4096512"/>
            <a:ext cx="1024128" cy="310896"/>
          </a:xfrm>
          <a:prstGeom prst="roundRect">
            <a:avLst/>
          </a:prstGeom>
          <a:solidFill>
            <a:srgbClr val="3B82F6"/>
          </a:solidFill>
          <a:ln w="10160">
            <a:solidFill>
              <a:srgbClr val="3B82F6"/>
            </a:solidFill>
          </a:ln>
        </p:spPr>
        <p:txBody>
          <a:bodyPr/>
          <a:lstStyle/>
          <a:p>
            <a:endParaRPr lang="en-US"/>
          </a:p>
        </p:txBody>
      </p:sp>
      <p:sp>
        <p:nvSpPr>
          <p:cNvPr id="8" name="Text 8"/>
          <p:cNvSpPr txBox="1"/>
          <p:nvPr/>
        </p:nvSpPr>
        <p:spPr>
          <a:xfrm>
            <a:off x="859536" y="4146804"/>
            <a:ext cx="877824" cy="192024"/>
          </a:xfrm>
          <a:prstGeom prst="rect">
            <a:avLst/>
          </a:prstGeom>
          <a:noFill/>
          <a:ln>
            <a:noFill/>
          </a:ln>
        </p:spPr>
        <p:txBody>
          <a:bodyPr wrap="square" anchor="t" lIns="0" rIns="0" tIns="0" bIns="0"/>
          <a:lstStyle/>
          <a:p>
            <a:pPr algn="ctr"/>
            <a:r>
              <a:rPr lang="en-US" sz="920" b="1" i="0" dirty="0">
                <a:solidFill>
                  <a:srgbClr val="FFFFFF"/>
                </a:solidFill>
                <a:latin typeface="Arial"/>
              </a:rPr>
              <a:t>PROTECT</a:t>
            </a:r>
            <a:endParaRPr lang="en-US" sz="920"/>
          </a:p>
        </p:txBody>
      </p:sp>
      <p:sp>
        <p:nvSpPr>
          <p:cNvPr id="9" name="Rect 9"/>
          <p:cNvSpPr/>
          <p:nvPr/>
        </p:nvSpPr>
        <p:spPr>
          <a:xfrm>
            <a:off x="1920240" y="4096512"/>
            <a:ext cx="1005840" cy="310896"/>
          </a:xfrm>
          <a:prstGeom prst="roundRect">
            <a:avLst/>
          </a:prstGeom>
          <a:solidFill>
            <a:srgbClr val="06B6D4"/>
          </a:solidFill>
          <a:ln w="10160">
            <a:solidFill>
              <a:srgbClr val="06B6D4"/>
            </a:solidFill>
          </a:ln>
        </p:spPr>
        <p:txBody>
          <a:bodyPr/>
          <a:lstStyle/>
          <a:p>
            <a:endParaRPr lang="en-US"/>
          </a:p>
        </p:txBody>
      </p:sp>
      <p:sp>
        <p:nvSpPr>
          <p:cNvPr id="10" name="Text 10"/>
          <p:cNvSpPr txBox="1"/>
          <p:nvPr/>
        </p:nvSpPr>
        <p:spPr>
          <a:xfrm>
            <a:off x="1993392" y="4146804"/>
            <a:ext cx="859536" cy="192024"/>
          </a:xfrm>
          <a:prstGeom prst="rect">
            <a:avLst/>
          </a:prstGeom>
          <a:noFill/>
          <a:ln>
            <a:noFill/>
          </a:ln>
        </p:spPr>
        <p:txBody>
          <a:bodyPr wrap="square" anchor="t" lIns="0" rIns="0" tIns="0" bIns="0"/>
          <a:lstStyle/>
          <a:p>
            <a:pPr algn="ctr"/>
            <a:r>
              <a:rPr lang="en-US" sz="920" b="1" i="0" dirty="0">
                <a:solidFill>
                  <a:srgbClr val="FFFFFF"/>
                </a:solidFill>
                <a:latin typeface="Arial"/>
              </a:rPr>
              <a:t>OBSERVE</a:t>
            </a:r>
            <a:endParaRPr lang="en-US" sz="920"/>
          </a:p>
        </p:txBody>
      </p:sp>
      <p:sp>
        <p:nvSpPr>
          <p:cNvPr id="11" name="Rect 11"/>
          <p:cNvSpPr/>
          <p:nvPr/>
        </p:nvSpPr>
        <p:spPr>
          <a:xfrm>
            <a:off x="3035808" y="4096512"/>
            <a:ext cx="1060704" cy="310896"/>
          </a:xfrm>
          <a:prstGeom prst="roundRect">
            <a:avLst/>
          </a:prstGeom>
          <a:solidFill>
            <a:srgbClr val="0D9488"/>
          </a:solidFill>
          <a:ln w="10160">
            <a:solidFill>
              <a:srgbClr val="0D9488"/>
            </a:solidFill>
          </a:ln>
        </p:spPr>
        <p:txBody>
          <a:bodyPr/>
          <a:lstStyle/>
          <a:p>
            <a:endParaRPr lang="en-US"/>
          </a:p>
        </p:txBody>
      </p:sp>
      <p:sp>
        <p:nvSpPr>
          <p:cNvPr id="12" name="Text 12"/>
          <p:cNvSpPr txBox="1"/>
          <p:nvPr/>
        </p:nvSpPr>
        <p:spPr>
          <a:xfrm>
            <a:off x="3108960" y="4146804"/>
            <a:ext cx="914400" cy="192024"/>
          </a:xfrm>
          <a:prstGeom prst="rect">
            <a:avLst/>
          </a:prstGeom>
          <a:noFill/>
          <a:ln>
            <a:noFill/>
          </a:ln>
        </p:spPr>
        <p:txBody>
          <a:bodyPr wrap="square" anchor="t" lIns="0" rIns="0" tIns="0" bIns="0"/>
          <a:lstStyle/>
          <a:p>
            <a:pPr algn="ctr"/>
            <a:r>
              <a:rPr lang="en-US" sz="920" b="1" i="0" dirty="0">
                <a:solidFill>
                  <a:srgbClr val="FFFFFF"/>
                </a:solidFill>
                <a:latin typeface="Arial"/>
              </a:rPr>
              <a:t>TRANSACT</a:t>
            </a:r>
            <a:endParaRPr lang="en-US" sz="920"/>
          </a:p>
        </p:txBody>
      </p:sp>
      <p:sp>
        <p:nvSpPr>
          <p:cNvPr id="13" name="Rect 13"/>
          <p:cNvSpPr/>
          <p:nvPr/>
        </p:nvSpPr>
        <p:spPr>
          <a:xfrm>
            <a:off x="4206240" y="4096512"/>
            <a:ext cx="1133856" cy="310896"/>
          </a:xfrm>
          <a:prstGeom prst="roundRect">
            <a:avLst/>
          </a:prstGeom>
          <a:solidFill>
            <a:srgbClr val="7C3AED"/>
          </a:solidFill>
          <a:ln w="10160">
            <a:solidFill>
              <a:srgbClr val="7C3AED"/>
            </a:solidFill>
          </a:ln>
        </p:spPr>
        <p:txBody>
          <a:bodyPr/>
          <a:lstStyle/>
          <a:p>
            <a:endParaRPr lang="en-US"/>
          </a:p>
        </p:txBody>
      </p:sp>
      <p:sp>
        <p:nvSpPr>
          <p:cNvPr id="14" name="Text 14"/>
          <p:cNvSpPr txBox="1"/>
          <p:nvPr/>
        </p:nvSpPr>
        <p:spPr>
          <a:xfrm>
            <a:off x="4279392" y="4146804"/>
            <a:ext cx="987552" cy="192024"/>
          </a:xfrm>
          <a:prstGeom prst="rect">
            <a:avLst/>
          </a:prstGeom>
          <a:noFill/>
          <a:ln>
            <a:noFill/>
          </a:ln>
        </p:spPr>
        <p:txBody>
          <a:bodyPr wrap="square" anchor="t" lIns="0" rIns="0" tIns="0" bIns="0"/>
          <a:lstStyle/>
          <a:p>
            <a:pPr algn="ctr"/>
            <a:r>
              <a:rPr lang="en-US" sz="920" b="1" i="0" dirty="0">
                <a:solidFill>
                  <a:srgbClr val="FFFFFF"/>
                </a:solidFill>
                <a:latin typeface="Arial"/>
              </a:rPr>
              <a:t>EVIDENCE</a:t>
            </a:r>
            <a:endParaRPr lang="en-US" sz="920"/>
          </a:p>
        </p:txBody>
      </p:sp>
      <p:sp>
        <p:nvSpPr>
          <p:cNvPr id="15" name="Text 15"/>
          <p:cNvSpPr txBox="1"/>
          <p:nvPr/>
        </p:nvSpPr>
        <p:spPr>
          <a:xfrm>
            <a:off x="804672" y="4736592"/>
            <a:ext cx="5120640" cy="457200"/>
          </a:xfrm>
          <a:prstGeom prst="rect">
            <a:avLst/>
          </a:prstGeom>
          <a:noFill/>
          <a:ln>
            <a:noFill/>
          </a:ln>
        </p:spPr>
        <p:txBody>
          <a:bodyPr wrap="square" anchor="t" lIns="0" rIns="0" tIns="0" bIns="0"/>
          <a:lstStyle/>
          <a:p>
            <a:pPr algn="l"/>
            <a:r>
              <a:rPr lang="en-US" sz="1150" b="0" i="0" dirty="0">
                <a:solidFill>
                  <a:srgbClr val="9FB4CE"/>
                </a:solidFill>
                <a:latin typeface="Arial"/>
              </a:rPr>
              <a:t>Repository history: 14–21 July 2026</a:t>
            </a:r>
            <a:endParaRPr lang="en-US" sz="1150"/>
          </a:p>
        </p:txBody>
      </p:sp>
      <p:cxnSp>
        <p:nvCxnSpPr>
          <p:cNvPr id="16" name="Line 16"/>
          <p:cNvCxnSpPr/>
          <p:nvPr/>
        </p:nvCxnSpPr>
        <p:spPr>
          <a:xfrm flipH="false" flipV="false">
            <a:off x="621792" y="6473952"/>
            <a:ext cx="10954512" cy="0"/>
          </a:xfrm>
          <a:prstGeom prst="line">
            <a:avLst/>
          </a:prstGeom>
          <a:ln w="10160">
            <a:solidFill>
              <a:srgbClr val="2B3B59"/>
            </a:solidFill>
          </a:ln>
        </p:spPr>
      </p:cxnSp>
      <p:sp>
        <p:nvSpPr>
          <p:cNvPr id="17" name="Text 17"/>
          <p:cNvSpPr txBox="1"/>
          <p:nvPr/>
        </p:nvSpPr>
        <p:spPr>
          <a:xfrm>
            <a:off x="640080" y="6510528"/>
            <a:ext cx="10469880" cy="201168"/>
          </a:xfrm>
          <a:prstGeom prst="rect">
            <a:avLst/>
          </a:prstGeom>
          <a:noFill/>
          <a:ln>
            <a:noFill/>
          </a:ln>
        </p:spPr>
        <p:txBody>
          <a:bodyPr wrap="square" anchor="t" lIns="0" rIns="0" tIns="0" bIns="0"/>
          <a:lstStyle/>
          <a:p>
            <a:pPr algn="l"/>
            <a:r>
              <a:rPr lang="en-US" sz="720" b="0" i="0" dirty="0">
                <a:solidFill>
                  <a:srgbClr val="C5CFDC"/>
                </a:solidFill>
                <a:latin typeface="Arial"/>
              </a:rPr>
              <a:t>Git: 7f969317 → f254295 • Full references: sources.md</a:t>
            </a:r>
            <a:endParaRPr lang="en-US" sz="720"/>
          </a:p>
        </p:txBody>
      </p:sp>
      <p:sp>
        <p:nvSpPr>
          <p:cNvPr id="18" name="Text 18"/>
          <p:cNvSpPr txBox="1"/>
          <p:nvPr/>
        </p:nvSpPr>
        <p:spPr>
          <a:xfrm>
            <a:off x="11201400" y="6492240"/>
            <a:ext cx="329184" cy="201168"/>
          </a:xfrm>
          <a:prstGeom prst="rect">
            <a:avLst/>
          </a:prstGeom>
          <a:noFill/>
          <a:ln>
            <a:noFill/>
          </a:ln>
        </p:spPr>
        <p:txBody>
          <a:bodyPr wrap="square" anchor="t" lIns="0" rIns="0" tIns="0" bIns="0"/>
          <a:lstStyle/>
          <a:p>
            <a:pPr algn="r"/>
            <a:r>
              <a:rPr lang="en-US" sz="800" b="1" i="0" dirty="0">
                <a:solidFill>
                  <a:srgbClr val="C5CFDC"/>
                </a:solidFill>
                <a:latin typeface="Arial"/>
              </a:rPr>
              <a:t>1</a:t>
            </a:r>
            <a:endParaRPr lang="en-US" sz="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F6F8FC"/>
          </a:solidFill>
          <a:ln w="12700">
            <a:solidFill>
              <a:srgbClr val="F6F8FC"/>
            </a:solidFill>
          </a:ln>
        </p:spPr>
        <p:txBody>
          <a:bodyPr/>
          <a:lstStyle/>
          <a:p>
            <a:endParaRPr lang="en-US"/>
          </a:p>
        </p:txBody>
      </p:sp>
      <p:sp>
        <p:nvSpPr>
          <p:cNvPr id="3" name="Text 3"/>
          <p:cNvSpPr txBox="1"/>
          <p:nvPr/>
        </p:nvSpPr>
        <p:spPr>
          <a:xfrm>
            <a:off x="621792" y="347472"/>
            <a:ext cx="10927080" cy="566928"/>
          </a:xfrm>
          <a:prstGeom prst="rect">
            <a:avLst/>
          </a:prstGeom>
          <a:noFill/>
          <a:ln>
            <a:noFill/>
          </a:ln>
        </p:spPr>
        <p:txBody>
          <a:bodyPr wrap="square" anchor="t" lIns="0" rIns="0" tIns="0" bIns="0"/>
          <a:lstStyle/>
          <a:p>
            <a:pPr algn="l"/>
            <a:r>
              <a:rPr lang="en-US" sz="2700" b="1" i="0" dirty="0">
                <a:solidFill>
                  <a:srgbClr val="14213D"/>
                </a:solidFill>
                <a:latin typeface="Arial"/>
              </a:rPr>
              <a:t>The first harness protected portable intent—not machine state</a:t>
            </a:r>
            <a:endParaRPr lang="en-US" sz="2700"/>
          </a:p>
        </p:txBody>
      </p:sp>
      <p:sp>
        <p:nvSpPr>
          <p:cNvPr id="4" name="Text 4"/>
          <p:cNvSpPr txBox="1"/>
          <p:nvPr/>
        </p:nvSpPr>
        <p:spPr>
          <a:xfrm>
            <a:off x="640080" y="932688"/>
            <a:ext cx="10881360" cy="310896"/>
          </a:xfrm>
          <a:prstGeom prst="rect">
            <a:avLst/>
          </a:prstGeom>
          <a:noFill/>
          <a:ln>
            <a:noFill/>
          </a:ln>
        </p:spPr>
        <p:txBody>
          <a:bodyPr wrap="square" anchor="t" lIns="0" rIns="0" tIns="0" bIns="0"/>
          <a:lstStyle/>
          <a:p>
            <a:pPr algn="l"/>
            <a:r>
              <a:rPr lang="en-US" sz="1250" b="0" i="0" dirty="0">
                <a:solidFill>
                  <a:srgbClr val="56647A"/>
                </a:solidFill>
                <a:latin typeface="Arial"/>
              </a:rPr>
              <a:t>Root implementation: 18 tracked files • 6 reusable skills • known symlinks only</a:t>
            </a:r>
            <a:endParaRPr lang="en-US" sz="1250"/>
          </a:p>
        </p:txBody>
      </p:sp>
      <p:sp>
        <p:nvSpPr>
          <p:cNvPr id="5" name="Rect 5"/>
          <p:cNvSpPr/>
          <p:nvPr/>
        </p:nvSpPr>
        <p:spPr>
          <a:xfrm>
            <a:off x="658368" y="1389888"/>
            <a:ext cx="5715000" cy="4526280"/>
          </a:xfrm>
          <a:prstGeom prst="roundRect">
            <a:avLst/>
          </a:prstGeom>
          <a:solidFill>
            <a:srgbClr val="08152F"/>
          </a:solidFill>
          <a:ln w="12700">
            <a:solidFill>
              <a:srgbClr val="08152F"/>
            </a:solidFill>
          </a:ln>
        </p:spPr>
        <p:txBody>
          <a:bodyPr/>
          <a:lstStyle/>
          <a:p>
            <a:endParaRPr lang="en-US"/>
          </a:p>
        </p:txBody>
      </p:sp>
      <p:sp>
        <p:nvSpPr>
          <p:cNvPr id="6" name="Rect 6"/>
          <p:cNvSpPr/>
          <p:nvPr/>
        </p:nvSpPr>
        <p:spPr>
          <a:xfrm>
            <a:off x="950976" y="1673352"/>
            <a:ext cx="1207008" cy="310896"/>
          </a:xfrm>
          <a:prstGeom prst="roundRect">
            <a:avLst/>
          </a:prstGeom>
          <a:solidFill>
            <a:srgbClr val="3B82F6"/>
          </a:solidFill>
          <a:ln w="10160">
            <a:solidFill>
              <a:srgbClr val="3B82F6"/>
            </a:solidFill>
          </a:ln>
        </p:spPr>
        <p:txBody>
          <a:bodyPr/>
          <a:lstStyle/>
          <a:p>
            <a:endParaRPr lang="en-US"/>
          </a:p>
        </p:txBody>
      </p:sp>
      <p:sp>
        <p:nvSpPr>
          <p:cNvPr id="7" name="Text 7"/>
          <p:cNvSpPr txBox="1"/>
          <p:nvPr/>
        </p:nvSpPr>
        <p:spPr>
          <a:xfrm>
            <a:off x="1024128" y="1723644"/>
            <a:ext cx="1060704" cy="192024"/>
          </a:xfrm>
          <a:prstGeom prst="rect">
            <a:avLst/>
          </a:prstGeom>
          <a:noFill/>
          <a:ln>
            <a:noFill/>
          </a:ln>
        </p:spPr>
        <p:txBody>
          <a:bodyPr wrap="square" anchor="t" lIns="0" rIns="0" tIns="0" bIns="0"/>
          <a:lstStyle/>
          <a:p>
            <a:pPr algn="ctr"/>
            <a:r>
              <a:rPr lang="en-US" sz="920" b="1" i="0" dirty="0">
                <a:solidFill>
                  <a:srgbClr val="FFFFFF"/>
                </a:solidFill>
                <a:latin typeface="Arial"/>
              </a:rPr>
              <a:t>VERSIONED</a:t>
            </a:r>
            <a:endParaRPr lang="en-US" sz="920"/>
          </a:p>
        </p:txBody>
      </p:sp>
      <p:sp>
        <p:nvSpPr>
          <p:cNvPr id="8" name="Text 8"/>
          <p:cNvSpPr txBox="1"/>
          <p:nvPr/>
        </p:nvSpPr>
        <p:spPr>
          <a:xfrm>
            <a:off x="932688" y="2121408"/>
            <a:ext cx="5074920" cy="493776"/>
          </a:xfrm>
          <a:prstGeom prst="rect">
            <a:avLst/>
          </a:prstGeom>
          <a:noFill/>
          <a:ln>
            <a:noFill/>
          </a:ln>
        </p:spPr>
        <p:txBody>
          <a:bodyPr wrap="square" anchor="t" lIns="0" rIns="0" tIns="0" bIns="0"/>
          <a:lstStyle/>
          <a:p>
            <a:pPr algn="l"/>
            <a:r>
              <a:rPr lang="en-US" sz="2200" b="1" i="0" dirty="0">
                <a:solidFill>
                  <a:srgbClr val="FFFFFF"/>
                </a:solidFill>
                <a:latin typeface="Arial"/>
              </a:rPr>
              <a:t>Portable, non-sensitive intent</a:t>
            </a:r>
            <a:endParaRPr lang="en-US" sz="2200"/>
          </a:p>
        </p:txBody>
      </p:sp>
      <p:sp>
        <p:nvSpPr>
          <p:cNvPr id="9" name="Rect 9"/>
          <p:cNvSpPr/>
          <p:nvPr/>
        </p:nvSpPr>
        <p:spPr>
          <a:xfrm>
            <a:off x="932688" y="2852928"/>
            <a:ext cx="2331720" cy="896112"/>
          </a:xfrm>
          <a:prstGeom prst="roundRect">
            <a:avLst/>
          </a:prstGeom>
          <a:solidFill>
            <a:srgbClr val="102446"/>
          </a:solidFill>
          <a:ln w="12700">
            <a:solidFill>
              <a:srgbClr val="3A5279"/>
            </a:solidFill>
          </a:ln>
        </p:spPr>
        <p:txBody>
          <a:bodyPr/>
          <a:lstStyle/>
          <a:p>
            <a:endParaRPr lang="en-US"/>
          </a:p>
        </p:txBody>
      </p:sp>
      <p:sp>
        <p:nvSpPr>
          <p:cNvPr id="10" name="Text 10"/>
          <p:cNvSpPr txBox="1"/>
          <p:nvPr/>
        </p:nvSpPr>
        <p:spPr>
          <a:xfrm>
            <a:off x="1078992" y="2971800"/>
            <a:ext cx="2029968" cy="228600"/>
          </a:xfrm>
          <a:prstGeom prst="rect">
            <a:avLst/>
          </a:prstGeom>
          <a:noFill/>
          <a:ln>
            <a:noFill/>
          </a:ln>
        </p:spPr>
        <p:txBody>
          <a:bodyPr wrap="square" anchor="t" lIns="0" rIns="0" tIns="0" bIns="0"/>
          <a:lstStyle/>
          <a:p>
            <a:pPr algn="l"/>
            <a:r>
              <a:rPr lang="en-US" sz="1250" b="1" i="0" dirty="0">
                <a:solidFill>
                  <a:srgbClr val="FFFFFF"/>
                </a:solidFill>
                <a:latin typeface="Arial"/>
              </a:rPr>
              <a:t>Working agreements</a:t>
            </a:r>
            <a:endParaRPr lang="en-US" sz="1250"/>
          </a:p>
        </p:txBody>
      </p:sp>
      <p:sp>
        <p:nvSpPr>
          <p:cNvPr id="11" name="Text 11"/>
          <p:cNvSpPr txBox="1"/>
          <p:nvPr/>
        </p:nvSpPr>
        <p:spPr>
          <a:xfrm>
            <a:off x="1078992" y="3282696"/>
            <a:ext cx="2029968" cy="283464"/>
          </a:xfrm>
          <a:prstGeom prst="rect">
            <a:avLst/>
          </a:prstGeom>
          <a:noFill/>
          <a:ln>
            <a:noFill/>
          </a:ln>
        </p:spPr>
        <p:txBody>
          <a:bodyPr wrap="square" anchor="t" lIns="0" rIns="0" tIns="0" bIns="0"/>
          <a:lstStyle/>
          <a:p>
            <a:pPr algn="l"/>
            <a:r>
              <a:rPr lang="en-US" sz="950" b="0" i="0" dirty="0">
                <a:solidFill>
                  <a:srgbClr val="B8C8DE"/>
                </a:solidFill>
                <a:latin typeface="Arial"/>
              </a:rPr>
              <a:t>Shared behavior and authority</a:t>
            </a:r>
            <a:endParaRPr lang="en-US" sz="950"/>
          </a:p>
        </p:txBody>
      </p:sp>
      <p:sp>
        <p:nvSpPr>
          <p:cNvPr id="12" name="Rect 12"/>
          <p:cNvSpPr/>
          <p:nvPr/>
        </p:nvSpPr>
        <p:spPr>
          <a:xfrm>
            <a:off x="3511296" y="2852928"/>
            <a:ext cx="2331720" cy="896112"/>
          </a:xfrm>
          <a:prstGeom prst="roundRect">
            <a:avLst/>
          </a:prstGeom>
          <a:solidFill>
            <a:srgbClr val="102446"/>
          </a:solidFill>
          <a:ln w="12700">
            <a:solidFill>
              <a:srgbClr val="3A5279"/>
            </a:solidFill>
          </a:ln>
        </p:spPr>
        <p:txBody>
          <a:bodyPr/>
          <a:lstStyle/>
          <a:p>
            <a:endParaRPr lang="en-US"/>
          </a:p>
        </p:txBody>
      </p:sp>
      <p:sp>
        <p:nvSpPr>
          <p:cNvPr id="13" name="Text 13"/>
          <p:cNvSpPr txBox="1"/>
          <p:nvPr/>
        </p:nvSpPr>
        <p:spPr>
          <a:xfrm>
            <a:off x="3657600" y="2971800"/>
            <a:ext cx="2029968" cy="228600"/>
          </a:xfrm>
          <a:prstGeom prst="rect">
            <a:avLst/>
          </a:prstGeom>
          <a:noFill/>
          <a:ln>
            <a:noFill/>
          </a:ln>
        </p:spPr>
        <p:txBody>
          <a:bodyPr wrap="square" anchor="t" lIns="0" rIns="0" tIns="0" bIns="0"/>
          <a:lstStyle/>
          <a:p>
            <a:pPr algn="l"/>
            <a:r>
              <a:rPr lang="en-US" sz="1250" b="1" i="0" dirty="0">
                <a:solidFill>
                  <a:srgbClr val="FFFFFF"/>
                </a:solidFill>
                <a:latin typeface="Arial"/>
              </a:rPr>
              <a:t>Command rules</a:t>
            </a:r>
            <a:endParaRPr lang="en-US" sz="1250"/>
          </a:p>
        </p:txBody>
      </p:sp>
      <p:sp>
        <p:nvSpPr>
          <p:cNvPr id="14" name="Text 14"/>
          <p:cNvSpPr txBox="1"/>
          <p:nvPr/>
        </p:nvSpPr>
        <p:spPr>
          <a:xfrm>
            <a:off x="3657600" y="3282696"/>
            <a:ext cx="2029968" cy="283464"/>
          </a:xfrm>
          <a:prstGeom prst="rect">
            <a:avLst/>
          </a:prstGeom>
          <a:noFill/>
          <a:ln>
            <a:noFill/>
          </a:ln>
        </p:spPr>
        <p:txBody>
          <a:bodyPr wrap="square" anchor="t" lIns="0" rIns="0" tIns="0" bIns="0"/>
          <a:lstStyle/>
          <a:p>
            <a:pPr algn="l"/>
            <a:r>
              <a:rPr lang="en-US" sz="950" b="0" i="0" dirty="0">
                <a:solidFill>
                  <a:srgbClr val="B8C8DE"/>
                </a:solidFill>
                <a:latin typeface="Arial"/>
              </a:rPr>
              <a:t>Reviewed command boundaries</a:t>
            </a:r>
            <a:endParaRPr lang="en-US" sz="950"/>
          </a:p>
        </p:txBody>
      </p:sp>
      <p:sp>
        <p:nvSpPr>
          <p:cNvPr id="15" name="Rect 15"/>
          <p:cNvSpPr/>
          <p:nvPr/>
        </p:nvSpPr>
        <p:spPr>
          <a:xfrm>
            <a:off x="932688" y="4005072"/>
            <a:ext cx="2331720" cy="896112"/>
          </a:xfrm>
          <a:prstGeom prst="roundRect">
            <a:avLst/>
          </a:prstGeom>
          <a:solidFill>
            <a:srgbClr val="102446"/>
          </a:solidFill>
          <a:ln w="12700">
            <a:solidFill>
              <a:srgbClr val="3A5279"/>
            </a:solidFill>
          </a:ln>
        </p:spPr>
        <p:txBody>
          <a:bodyPr/>
          <a:lstStyle/>
          <a:p>
            <a:endParaRPr lang="en-US"/>
          </a:p>
        </p:txBody>
      </p:sp>
      <p:sp>
        <p:nvSpPr>
          <p:cNvPr id="16" name="Text 16"/>
          <p:cNvSpPr txBox="1"/>
          <p:nvPr/>
        </p:nvSpPr>
        <p:spPr>
          <a:xfrm>
            <a:off x="1078992" y="4123944"/>
            <a:ext cx="2029968" cy="228600"/>
          </a:xfrm>
          <a:prstGeom prst="rect">
            <a:avLst/>
          </a:prstGeom>
          <a:noFill/>
          <a:ln>
            <a:noFill/>
          </a:ln>
        </p:spPr>
        <p:txBody>
          <a:bodyPr wrap="square" anchor="t" lIns="0" rIns="0" tIns="0" bIns="0"/>
          <a:lstStyle/>
          <a:p>
            <a:pPr algn="l"/>
            <a:r>
              <a:rPr lang="en-US" sz="1250" b="1" i="0" dirty="0">
                <a:solidFill>
                  <a:srgbClr val="FFFFFF"/>
                </a:solidFill>
                <a:latin typeface="Arial"/>
              </a:rPr>
              <a:t>Reusable skills</a:t>
            </a:r>
            <a:endParaRPr lang="en-US" sz="1250"/>
          </a:p>
        </p:txBody>
      </p:sp>
      <p:sp>
        <p:nvSpPr>
          <p:cNvPr id="17" name="Text 17"/>
          <p:cNvSpPr txBox="1"/>
          <p:nvPr/>
        </p:nvSpPr>
        <p:spPr>
          <a:xfrm>
            <a:off x="1078992" y="4434840"/>
            <a:ext cx="2029968" cy="283464"/>
          </a:xfrm>
          <a:prstGeom prst="rect">
            <a:avLst/>
          </a:prstGeom>
          <a:noFill/>
          <a:ln>
            <a:noFill/>
          </a:ln>
        </p:spPr>
        <p:txBody>
          <a:bodyPr wrap="square" anchor="t" lIns="0" rIns="0" tIns="0" bIns="0"/>
          <a:lstStyle/>
          <a:p>
            <a:pPr algn="l"/>
            <a:r>
              <a:rPr lang="en-US" sz="950" b="0" i="0" dirty="0">
                <a:solidFill>
                  <a:srgbClr val="B8C8DE"/>
                </a:solidFill>
                <a:latin typeface="Arial"/>
              </a:rPr>
              <a:t>Six focused workflows</a:t>
            </a:r>
            <a:endParaRPr lang="en-US" sz="950"/>
          </a:p>
        </p:txBody>
      </p:sp>
      <p:sp>
        <p:nvSpPr>
          <p:cNvPr id="18" name="Rect 18"/>
          <p:cNvSpPr/>
          <p:nvPr/>
        </p:nvSpPr>
        <p:spPr>
          <a:xfrm>
            <a:off x="3511296" y="4005072"/>
            <a:ext cx="2331720" cy="896112"/>
          </a:xfrm>
          <a:prstGeom prst="roundRect">
            <a:avLst/>
          </a:prstGeom>
          <a:solidFill>
            <a:srgbClr val="102446"/>
          </a:solidFill>
          <a:ln w="12700">
            <a:solidFill>
              <a:srgbClr val="3A5279"/>
            </a:solidFill>
          </a:ln>
        </p:spPr>
        <p:txBody>
          <a:bodyPr/>
          <a:lstStyle/>
          <a:p>
            <a:endParaRPr lang="en-US"/>
          </a:p>
        </p:txBody>
      </p:sp>
      <p:sp>
        <p:nvSpPr>
          <p:cNvPr id="19" name="Text 19"/>
          <p:cNvSpPr txBox="1"/>
          <p:nvPr/>
        </p:nvSpPr>
        <p:spPr>
          <a:xfrm>
            <a:off x="3657600" y="4123944"/>
            <a:ext cx="2029968" cy="228600"/>
          </a:xfrm>
          <a:prstGeom prst="rect">
            <a:avLst/>
          </a:prstGeom>
          <a:noFill/>
          <a:ln>
            <a:noFill/>
          </a:ln>
        </p:spPr>
        <p:txBody>
          <a:bodyPr wrap="square" anchor="t" lIns="0" rIns="0" tIns="0" bIns="0"/>
          <a:lstStyle/>
          <a:p>
            <a:pPr algn="l"/>
            <a:r>
              <a:rPr lang="en-US" sz="1250" b="1" i="0" dirty="0">
                <a:solidFill>
                  <a:srgbClr val="FFFFFF"/>
                </a:solidFill>
                <a:latin typeface="Arial"/>
              </a:rPr>
              <a:t>Fail-closed installer</a:t>
            </a:r>
            <a:endParaRPr lang="en-US" sz="1250"/>
          </a:p>
        </p:txBody>
      </p:sp>
      <p:sp>
        <p:nvSpPr>
          <p:cNvPr id="20" name="Text 20"/>
          <p:cNvSpPr txBox="1"/>
          <p:nvPr/>
        </p:nvSpPr>
        <p:spPr>
          <a:xfrm>
            <a:off x="3657600" y="4434840"/>
            <a:ext cx="2029968" cy="283464"/>
          </a:xfrm>
          <a:prstGeom prst="rect">
            <a:avLst/>
          </a:prstGeom>
          <a:noFill/>
          <a:ln>
            <a:noFill/>
          </a:ln>
        </p:spPr>
        <p:txBody>
          <a:bodyPr wrap="square" anchor="t" lIns="0" rIns="0" tIns="0" bIns="0"/>
          <a:lstStyle/>
          <a:p>
            <a:pPr algn="l"/>
            <a:r>
              <a:rPr lang="en-US" sz="950" b="0" i="0" dirty="0">
                <a:solidFill>
                  <a:srgbClr val="B8C8DE"/>
                </a:solidFill>
                <a:latin typeface="Arial"/>
              </a:rPr>
              <a:t>Refuse collisions; create known links</a:t>
            </a:r>
            <a:endParaRPr lang="en-US" sz="950"/>
          </a:p>
        </p:txBody>
      </p:sp>
      <p:cxnSp>
        <p:nvCxnSpPr>
          <p:cNvPr id="21" name="Line 21"/>
          <p:cNvCxnSpPr/>
          <p:nvPr/>
        </p:nvCxnSpPr>
        <p:spPr>
          <a:xfrm flipH="false" flipV="false">
            <a:off x="6565392" y="2267712"/>
            <a:ext cx="822960" cy="0"/>
          </a:xfrm>
          <a:prstGeom prst="line">
            <a:avLst/>
          </a:prstGeom>
          <a:ln w="27940">
            <a:solidFill>
              <a:srgbClr val="3B82F6"/>
            </a:solidFill>
            <a:tailEnd type="triangle"/>
          </a:ln>
        </p:spPr>
      </p:cxnSp>
      <p:sp>
        <p:nvSpPr>
          <p:cNvPr id="22" name="Rect 22"/>
          <p:cNvSpPr/>
          <p:nvPr/>
        </p:nvSpPr>
        <p:spPr>
          <a:xfrm>
            <a:off x="7461504" y="1600200"/>
            <a:ext cx="1691640" cy="1280160"/>
          </a:xfrm>
          <a:prstGeom prst="roundRect">
            <a:avLst/>
          </a:prstGeom>
          <a:solidFill>
            <a:srgbClr val="E0EBFE"/>
          </a:solidFill>
          <a:ln w="12700">
            <a:solidFill>
              <a:srgbClr val="3B82F6"/>
            </a:solidFill>
          </a:ln>
        </p:spPr>
        <p:txBody>
          <a:bodyPr/>
          <a:lstStyle/>
          <a:p>
            <a:endParaRPr lang="en-US"/>
          </a:p>
        </p:txBody>
      </p:sp>
      <p:sp>
        <p:nvSpPr>
          <p:cNvPr id="23" name="Text 23"/>
          <p:cNvSpPr txBox="1"/>
          <p:nvPr/>
        </p:nvSpPr>
        <p:spPr>
          <a:xfrm>
            <a:off x="7662672" y="1892808"/>
            <a:ext cx="1298448" cy="292608"/>
          </a:xfrm>
          <a:prstGeom prst="rect">
            <a:avLst/>
          </a:prstGeom>
          <a:noFill/>
          <a:ln>
            <a:noFill/>
          </a:ln>
        </p:spPr>
        <p:txBody>
          <a:bodyPr wrap="square" anchor="t" lIns="0" rIns="0" tIns="0" bIns="0"/>
          <a:lstStyle/>
          <a:p>
            <a:pPr algn="ctr"/>
            <a:r>
              <a:rPr lang="en-US" sz="1800" b="1" i="0" dirty="0">
                <a:solidFill>
                  <a:srgbClr val="3B82F6"/>
                </a:solidFill>
                <a:latin typeface="Arial"/>
              </a:rPr>
              <a:t>Codex</a:t>
            </a:r>
            <a:endParaRPr lang="en-US" sz="1800"/>
          </a:p>
        </p:txBody>
      </p:sp>
      <p:sp>
        <p:nvSpPr>
          <p:cNvPr id="24" name="Text 24"/>
          <p:cNvSpPr txBox="1"/>
          <p:nvPr/>
        </p:nvSpPr>
        <p:spPr>
          <a:xfrm>
            <a:off x="7662672" y="2267712"/>
            <a:ext cx="1298448" cy="219456"/>
          </a:xfrm>
          <a:prstGeom prst="rect">
            <a:avLst/>
          </a:prstGeom>
          <a:noFill/>
          <a:ln>
            <a:noFill/>
          </a:ln>
        </p:spPr>
        <p:txBody>
          <a:bodyPr wrap="square" anchor="t" lIns="0" rIns="0" tIns="0" bIns="0"/>
          <a:lstStyle/>
          <a:p>
            <a:pPr algn="ctr"/>
            <a:r>
              <a:rPr lang="en-US" sz="1050" b="0" i="0" dirty="0">
                <a:solidFill>
                  <a:srgbClr val="56647A"/>
                </a:solidFill>
                <a:latin typeface="Arial"/>
              </a:rPr>
              <a:t>discovery</a:t>
            </a:r>
            <a:endParaRPr lang="en-US" sz="1050"/>
          </a:p>
        </p:txBody>
      </p:sp>
      <p:sp>
        <p:nvSpPr>
          <p:cNvPr id="25" name="Rect 25"/>
          <p:cNvSpPr/>
          <p:nvPr/>
        </p:nvSpPr>
        <p:spPr>
          <a:xfrm>
            <a:off x="9326880" y="1600200"/>
            <a:ext cx="1691640" cy="1280160"/>
          </a:xfrm>
          <a:prstGeom prst="roundRect">
            <a:avLst/>
          </a:prstGeom>
          <a:solidFill>
            <a:srgbClr val="DCF5F9"/>
          </a:solidFill>
          <a:ln w="12700">
            <a:solidFill>
              <a:srgbClr val="06B6D4"/>
            </a:solidFill>
          </a:ln>
        </p:spPr>
        <p:txBody>
          <a:bodyPr/>
          <a:lstStyle/>
          <a:p>
            <a:endParaRPr lang="en-US"/>
          </a:p>
        </p:txBody>
      </p:sp>
      <p:sp>
        <p:nvSpPr>
          <p:cNvPr id="26" name="Text 26"/>
          <p:cNvSpPr txBox="1"/>
          <p:nvPr/>
        </p:nvSpPr>
        <p:spPr>
          <a:xfrm>
            <a:off x="9528048" y="1892808"/>
            <a:ext cx="1298448" cy="292608"/>
          </a:xfrm>
          <a:prstGeom prst="rect">
            <a:avLst/>
          </a:prstGeom>
          <a:noFill/>
          <a:ln>
            <a:noFill/>
          </a:ln>
        </p:spPr>
        <p:txBody>
          <a:bodyPr wrap="square" anchor="t" lIns="0" rIns="0" tIns="0" bIns="0"/>
          <a:lstStyle/>
          <a:p>
            <a:pPr algn="ctr"/>
            <a:r>
              <a:rPr lang="en-US" sz="1800" b="1" i="0" dirty="0">
                <a:solidFill>
                  <a:srgbClr val="06B6D4"/>
                </a:solidFill>
                <a:latin typeface="Arial"/>
              </a:rPr>
              <a:t>Claude</a:t>
            </a:r>
            <a:endParaRPr lang="en-US" sz="1800"/>
          </a:p>
        </p:txBody>
      </p:sp>
      <p:sp>
        <p:nvSpPr>
          <p:cNvPr id="27" name="Text 27"/>
          <p:cNvSpPr txBox="1"/>
          <p:nvPr/>
        </p:nvSpPr>
        <p:spPr>
          <a:xfrm>
            <a:off x="9528048" y="2267712"/>
            <a:ext cx="1298448" cy="219456"/>
          </a:xfrm>
          <a:prstGeom prst="rect">
            <a:avLst/>
          </a:prstGeom>
          <a:noFill/>
          <a:ln>
            <a:noFill/>
          </a:ln>
        </p:spPr>
        <p:txBody>
          <a:bodyPr wrap="square" anchor="t" lIns="0" rIns="0" tIns="0" bIns="0"/>
          <a:lstStyle/>
          <a:p>
            <a:pPr algn="ctr"/>
            <a:r>
              <a:rPr lang="en-US" sz="1050" b="0" i="0" dirty="0">
                <a:solidFill>
                  <a:srgbClr val="56647A"/>
                </a:solidFill>
                <a:latin typeface="Arial"/>
              </a:rPr>
              <a:t>+1 commit</a:t>
            </a:r>
            <a:endParaRPr lang="en-US" sz="1050"/>
          </a:p>
        </p:txBody>
      </p:sp>
      <p:sp>
        <p:nvSpPr>
          <p:cNvPr id="28" name="Rect 28"/>
          <p:cNvSpPr/>
          <p:nvPr/>
        </p:nvSpPr>
        <p:spPr>
          <a:xfrm>
            <a:off x="6903720" y="3310128"/>
            <a:ext cx="4599432" cy="2606040"/>
          </a:xfrm>
          <a:prstGeom prst="roundRect">
            <a:avLst/>
          </a:prstGeom>
          <a:solidFill>
            <a:srgbClr val="E8EDF4"/>
          </a:solidFill>
          <a:ln w="12700">
            <a:solidFill>
              <a:srgbClr val="C5CFDC"/>
            </a:solidFill>
          </a:ln>
        </p:spPr>
        <p:txBody>
          <a:bodyPr/>
          <a:lstStyle/>
          <a:p>
            <a:endParaRPr lang="en-US"/>
          </a:p>
        </p:txBody>
      </p:sp>
      <p:sp>
        <p:nvSpPr>
          <p:cNvPr id="29" name="Rect 29"/>
          <p:cNvSpPr/>
          <p:nvPr/>
        </p:nvSpPr>
        <p:spPr>
          <a:xfrm>
            <a:off x="7187184" y="3566160"/>
            <a:ext cx="1335024" cy="310896"/>
          </a:xfrm>
          <a:prstGeom prst="roundRect">
            <a:avLst/>
          </a:prstGeom>
          <a:solidFill>
            <a:srgbClr val="DADDE0"/>
          </a:solidFill>
          <a:ln w="10160">
            <a:solidFill>
              <a:srgbClr val="334155"/>
            </a:solidFill>
          </a:ln>
        </p:spPr>
        <p:txBody>
          <a:bodyPr/>
          <a:lstStyle/>
          <a:p>
            <a:endParaRPr lang="en-US"/>
          </a:p>
        </p:txBody>
      </p:sp>
      <p:sp>
        <p:nvSpPr>
          <p:cNvPr id="30" name="Text 30"/>
          <p:cNvSpPr txBox="1"/>
          <p:nvPr/>
        </p:nvSpPr>
        <p:spPr>
          <a:xfrm>
            <a:off x="7260336" y="3616452"/>
            <a:ext cx="1188720" cy="192024"/>
          </a:xfrm>
          <a:prstGeom prst="rect">
            <a:avLst/>
          </a:prstGeom>
          <a:noFill/>
          <a:ln>
            <a:noFill/>
          </a:ln>
        </p:spPr>
        <p:txBody>
          <a:bodyPr wrap="square" anchor="t" lIns="0" rIns="0" tIns="0" bIns="0"/>
          <a:lstStyle/>
          <a:p>
            <a:pPr algn="ctr"/>
            <a:r>
              <a:rPr lang="en-US" sz="920" b="1" i="0" dirty="0">
                <a:solidFill>
                  <a:srgbClr val="334155"/>
                </a:solidFill>
                <a:latin typeface="Arial"/>
              </a:rPr>
              <a:t>EXCLUDED</a:t>
            </a:r>
            <a:endParaRPr lang="en-US" sz="920"/>
          </a:p>
        </p:txBody>
      </p:sp>
      <p:sp>
        <p:nvSpPr>
          <p:cNvPr id="31" name="Text 31"/>
          <p:cNvSpPr txBox="1"/>
          <p:nvPr/>
        </p:nvSpPr>
        <p:spPr>
          <a:xfrm>
            <a:off x="7205472" y="4050792"/>
            <a:ext cx="3950208" cy="411480"/>
          </a:xfrm>
          <a:prstGeom prst="rect">
            <a:avLst/>
          </a:prstGeom>
          <a:noFill/>
          <a:ln>
            <a:noFill/>
          </a:ln>
        </p:spPr>
        <p:txBody>
          <a:bodyPr wrap="square" anchor="t" lIns="0" rIns="0" tIns="0" bIns="0"/>
          <a:lstStyle/>
          <a:p>
            <a:pPr algn="l"/>
            <a:r>
              <a:rPr lang="en-US" sz="1700" b="1" i="0" dirty="0">
                <a:solidFill>
                  <a:srgbClr val="334155"/>
                </a:solidFill>
                <a:latin typeface="Arial"/>
              </a:rPr>
              <a:t>Private / high-churn runtime state</a:t>
            </a:r>
            <a:endParaRPr lang="en-US" sz="1700"/>
          </a:p>
        </p:txBody>
      </p:sp>
      <p:sp>
        <p:nvSpPr>
          <p:cNvPr id="32" name="Text 32"/>
          <p:cNvSpPr txBox="1"/>
          <p:nvPr/>
        </p:nvSpPr>
        <p:spPr>
          <a:xfrm>
            <a:off x="7205472" y="4599432"/>
            <a:ext cx="3886200" cy="932688"/>
          </a:xfrm>
          <a:prstGeom prst="rect">
            <a:avLst/>
          </a:prstGeom>
          <a:noFill/>
          <a:ln>
            <a:noFill/>
          </a:ln>
        </p:spPr>
        <p:txBody>
          <a:bodyPr wrap="square" anchor="t" lIns="0" rIns="0" tIns="0" bIns="0"/>
          <a:lstStyle/>
          <a:p>
            <a:pPr algn="l"/>
            <a:r>
              <a:rPr lang="en-US" sz="1200" b="0" i="0" dirty="0">
                <a:solidFill>
                  <a:srgbClr val="56647A"/>
                </a:solidFill>
                <a:latin typeface="Arial"/>
              </a:rPr>
              <a:t>Credentials • sessions • histories</a:t>
            </a:r>
            <a:endParaRPr lang="en-US" sz="1200"/>
          </a:p>
          <a:p>
            <a:pPr algn="l"/>
            <a:r>
              <a:rPr lang="en-US" sz="1200" b="0" i="0" dirty="0">
                <a:solidFill>
                  <a:srgbClr val="56647A"/>
                </a:solidFill>
                <a:latin typeface="Arial"/>
              </a:rPr>
              <a:t>Live configuration • caches • plugins</a:t>
            </a:r>
            <a:endParaRPr lang="en-US" sz="1200"/>
          </a:p>
        </p:txBody>
      </p:sp>
      <p:cxnSp>
        <p:nvCxnSpPr>
          <p:cNvPr id="33" name="Line 33"/>
          <p:cNvCxnSpPr/>
          <p:nvPr/>
        </p:nvCxnSpPr>
        <p:spPr>
          <a:xfrm flipH="false" flipV="false">
            <a:off x="621792" y="6473952"/>
            <a:ext cx="10954512" cy="0"/>
          </a:xfrm>
          <a:prstGeom prst="line">
            <a:avLst/>
          </a:prstGeom>
          <a:ln w="10160">
            <a:solidFill>
              <a:srgbClr val="D7DFEA"/>
            </a:solidFill>
          </a:ln>
        </p:spPr>
      </p:cxnSp>
      <p:sp>
        <p:nvSpPr>
          <p:cNvPr id="34" name="Text 34"/>
          <p:cNvSpPr txBox="1"/>
          <p:nvPr/>
        </p:nvSpPr>
        <p:spPr>
          <a:xfrm>
            <a:off x="640080" y="6510528"/>
            <a:ext cx="10469880" cy="201168"/>
          </a:xfrm>
          <a:prstGeom prst="rect">
            <a:avLst/>
          </a:prstGeom>
          <a:noFill/>
          <a:ln>
            <a:noFill/>
          </a:ln>
        </p:spPr>
        <p:txBody>
          <a:bodyPr wrap="square" anchor="t" lIns="0" rIns="0" tIns="0" bIns="0"/>
          <a:lstStyle/>
          <a:p>
            <a:pPr algn="l"/>
            <a:r>
              <a:rPr lang="en-US" sz="720" b="0" i="0" dirty="0">
                <a:solidFill>
                  <a:srgbClr val="56647A"/>
                </a:solidFill>
                <a:latin typeface="Arial"/>
              </a:rPr>
              <a:t>7f969317: README.md, install.sh, AGENTS.md • 805db485: dual-client discovery</a:t>
            </a:r>
            <a:endParaRPr lang="en-US" sz="720"/>
          </a:p>
        </p:txBody>
      </p:sp>
      <p:sp>
        <p:nvSpPr>
          <p:cNvPr id="35" name="Text 35"/>
          <p:cNvSpPr txBox="1"/>
          <p:nvPr/>
        </p:nvSpPr>
        <p:spPr>
          <a:xfrm>
            <a:off x="11201400" y="6492240"/>
            <a:ext cx="329184" cy="201168"/>
          </a:xfrm>
          <a:prstGeom prst="rect">
            <a:avLst/>
          </a:prstGeom>
          <a:noFill/>
          <a:ln>
            <a:noFill/>
          </a:ln>
        </p:spPr>
        <p:txBody>
          <a:bodyPr wrap="square" anchor="t" lIns="0" rIns="0" tIns="0" bIns="0"/>
          <a:lstStyle/>
          <a:p>
            <a:pPr algn="r"/>
            <a:r>
              <a:rPr lang="en-US" sz="800" b="1" i="0" dirty="0">
                <a:solidFill>
                  <a:srgbClr val="56647A"/>
                </a:solidFill>
                <a:latin typeface="Arial"/>
              </a:rPr>
              <a:t>2</a:t>
            </a:r>
            <a:endParaRPr lang="en-US" sz="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FFFFFF"/>
          </a:solidFill>
          <a:ln w="12700">
            <a:solidFill>
              <a:srgbClr val="FFFFFF"/>
            </a:solidFill>
          </a:ln>
        </p:spPr>
        <p:txBody>
          <a:bodyPr/>
          <a:lstStyle/>
          <a:p>
            <a:endParaRPr lang="en-US"/>
          </a:p>
        </p:txBody>
      </p:sp>
      <p:sp>
        <p:nvSpPr>
          <p:cNvPr id="3" name="Text 3"/>
          <p:cNvSpPr txBox="1"/>
          <p:nvPr/>
        </p:nvSpPr>
        <p:spPr>
          <a:xfrm>
            <a:off x="621792" y="347472"/>
            <a:ext cx="10927080" cy="566928"/>
          </a:xfrm>
          <a:prstGeom prst="rect">
            <a:avLst/>
          </a:prstGeom>
          <a:noFill/>
          <a:ln>
            <a:noFill/>
          </a:ln>
        </p:spPr>
        <p:txBody>
          <a:bodyPr wrap="square" anchor="t" lIns="0" rIns="0" tIns="0" bIns="0"/>
          <a:lstStyle/>
          <a:p>
            <a:pPr algn="l"/>
            <a:r>
              <a:rPr lang="en-US" sz="2600" b="1" i="0" dirty="0">
                <a:solidFill>
                  <a:srgbClr val="14213D"/>
                </a:solidFill>
                <a:latin typeface="Arial"/>
              </a:rPr>
              <a:t>Seven architectural shifts turned discovery into controlled execution</a:t>
            </a:r>
            <a:endParaRPr lang="en-US" sz="2600"/>
          </a:p>
        </p:txBody>
      </p:sp>
      <p:sp>
        <p:nvSpPr>
          <p:cNvPr id="4" name="Text 4"/>
          <p:cNvSpPr txBox="1"/>
          <p:nvPr/>
        </p:nvSpPr>
        <p:spPr>
          <a:xfrm>
            <a:off x="640080" y="932688"/>
            <a:ext cx="10881360" cy="310896"/>
          </a:xfrm>
          <a:prstGeom prst="rect">
            <a:avLst/>
          </a:prstGeom>
          <a:noFill/>
          <a:ln>
            <a:noFill/>
          </a:ln>
        </p:spPr>
        <p:txBody>
          <a:bodyPr wrap="square" anchor="t" lIns="0" rIns="0" tIns="0" bIns="0"/>
          <a:lstStyle/>
          <a:p>
            <a:pPr algn="l"/>
            <a:r>
              <a:rPr lang="en-US" sz="1250" b="0" i="0" dirty="0">
                <a:solidFill>
                  <a:srgbClr val="56647A"/>
                </a:solidFill>
                <a:latin typeface="Arial"/>
              </a:rPr>
              <a:t>Complete linear history: 542 total = 542 first-parent commits • 0 tags • 0 merge commits</a:t>
            </a:r>
            <a:endParaRPr lang="en-US" sz="1250"/>
          </a:p>
        </p:txBody>
      </p:sp>
      <p:cxnSp>
        <p:nvCxnSpPr>
          <p:cNvPr id="5" name="Line 5"/>
          <p:cNvCxnSpPr/>
          <p:nvPr/>
        </p:nvCxnSpPr>
        <p:spPr>
          <a:xfrm flipH="false" flipV="false">
            <a:off x="786384" y="3364992"/>
            <a:ext cx="10597896" cy="0"/>
          </a:xfrm>
          <a:prstGeom prst="line">
            <a:avLst/>
          </a:prstGeom>
          <a:ln w="25400">
            <a:solidFill>
              <a:srgbClr val="C5CFDC"/>
            </a:solidFill>
          </a:ln>
        </p:spPr>
      </p:cxnSp>
      <p:sp>
        <p:nvSpPr>
          <p:cNvPr id="6" name="Rect 6"/>
          <p:cNvSpPr/>
          <p:nvPr/>
        </p:nvSpPr>
        <p:spPr>
          <a:xfrm>
            <a:off x="658368" y="2148840"/>
            <a:ext cx="1455202" cy="1024128"/>
          </a:xfrm>
          <a:prstGeom prst="roundRect">
            <a:avLst/>
          </a:prstGeom>
          <a:solidFill>
            <a:srgbClr val="E0EBFE"/>
          </a:solidFill>
          <a:ln w="12700">
            <a:solidFill>
              <a:srgbClr val="3B82F6"/>
            </a:solidFill>
          </a:ln>
        </p:spPr>
        <p:txBody>
          <a:bodyPr/>
          <a:lstStyle/>
          <a:p>
            <a:endParaRPr lang="en-US"/>
          </a:p>
        </p:txBody>
      </p:sp>
      <p:sp>
        <p:nvSpPr>
          <p:cNvPr id="7" name="Text 7"/>
          <p:cNvSpPr txBox="1"/>
          <p:nvPr/>
        </p:nvSpPr>
        <p:spPr>
          <a:xfrm>
            <a:off x="768096" y="2313432"/>
            <a:ext cx="1235746" cy="292608"/>
          </a:xfrm>
          <a:prstGeom prst="rect">
            <a:avLst/>
          </a:prstGeom>
          <a:noFill/>
          <a:ln>
            <a:noFill/>
          </a:ln>
        </p:spPr>
        <p:txBody>
          <a:bodyPr wrap="square" anchor="t" lIns="0" rIns="0" tIns="0" bIns="0"/>
          <a:lstStyle/>
          <a:p>
            <a:pPr algn="ctr"/>
            <a:r>
              <a:rPr lang="en-US" sz="1450" b="1" i="0" dirty="0">
                <a:solidFill>
                  <a:srgbClr val="3B82F6"/>
                </a:solidFill>
                <a:latin typeface="Arial"/>
              </a:rPr>
              <a:t>Protect</a:t>
            </a:r>
            <a:endParaRPr lang="en-US" sz="1450"/>
          </a:p>
        </p:txBody>
      </p:sp>
      <p:sp>
        <p:nvSpPr>
          <p:cNvPr id="8" name="Text 8"/>
          <p:cNvSpPr txBox="1"/>
          <p:nvPr/>
        </p:nvSpPr>
        <p:spPr>
          <a:xfrm>
            <a:off x="768096" y="2697480"/>
            <a:ext cx="1235746" cy="201168"/>
          </a:xfrm>
          <a:prstGeom prst="rect">
            <a:avLst/>
          </a:prstGeom>
          <a:noFill/>
          <a:ln>
            <a:noFill/>
          </a:ln>
        </p:spPr>
        <p:txBody>
          <a:bodyPr wrap="square" anchor="t" lIns="0" rIns="0" tIns="0" bIns="0"/>
          <a:lstStyle/>
          <a:p>
            <a:pPr algn="ctr"/>
            <a:r>
              <a:rPr lang="en-US" sz="950" b="0" i="0" dirty="0">
                <a:solidFill>
                  <a:srgbClr val="56647A"/>
                </a:solidFill>
                <a:latin typeface="Arial"/>
              </a:rPr>
              <a:t>14 Jul</a:t>
            </a:r>
            <a:endParaRPr lang="en-US" sz="950"/>
          </a:p>
        </p:txBody>
      </p:sp>
      <p:sp>
        <p:nvSpPr>
          <p:cNvPr id="9" name="Ellipse 9"/>
          <p:cNvSpPr/>
          <p:nvPr/>
        </p:nvSpPr>
        <p:spPr>
          <a:xfrm>
            <a:off x="1308245" y="3287268"/>
            <a:ext cx="155448" cy="155448"/>
          </a:xfrm>
          <a:prstGeom prst="ellipse">
            <a:avLst/>
          </a:prstGeom>
          <a:solidFill>
            <a:srgbClr val="3B82F6"/>
          </a:solidFill>
          <a:ln w="12700">
            <a:solidFill>
              <a:srgbClr val="3B82F6"/>
            </a:solidFill>
          </a:ln>
        </p:spPr>
        <p:txBody>
          <a:bodyPr/>
          <a:lstStyle/>
          <a:p>
            <a:endParaRPr lang="en-US"/>
          </a:p>
        </p:txBody>
      </p:sp>
      <p:sp>
        <p:nvSpPr>
          <p:cNvPr id="10" name="Text 10"/>
          <p:cNvSpPr txBox="1"/>
          <p:nvPr/>
        </p:nvSpPr>
        <p:spPr>
          <a:xfrm>
            <a:off x="658368" y="3685032"/>
            <a:ext cx="1455202" cy="201168"/>
          </a:xfrm>
          <a:prstGeom prst="rect">
            <a:avLst/>
          </a:prstGeom>
          <a:noFill/>
          <a:ln>
            <a:noFill/>
          </a:ln>
        </p:spPr>
        <p:txBody>
          <a:bodyPr wrap="square" anchor="t" lIns="0" rIns="0" tIns="0" bIns="0"/>
          <a:lstStyle/>
          <a:p>
            <a:pPr algn="ctr"/>
            <a:r>
              <a:rPr lang="en-US" sz="780" b="0" i="0" dirty="0">
                <a:solidFill>
                  <a:srgbClr val="56647A"/>
                </a:solidFill>
                <a:latin typeface="Arial"/>
              </a:rPr>
              <a:t>7f969317</a:t>
            </a:r>
            <a:endParaRPr lang="en-US" sz="780"/>
          </a:p>
        </p:txBody>
      </p:sp>
      <p:sp>
        <p:nvSpPr>
          <p:cNvPr id="11" name="Rect 11"/>
          <p:cNvSpPr/>
          <p:nvPr/>
        </p:nvSpPr>
        <p:spPr>
          <a:xfrm>
            <a:off x="2232442" y="2148840"/>
            <a:ext cx="1455202" cy="1024128"/>
          </a:xfrm>
          <a:prstGeom prst="roundRect">
            <a:avLst/>
          </a:prstGeom>
          <a:solidFill>
            <a:srgbClr val="D7F3F8"/>
          </a:solidFill>
          <a:ln w="12700">
            <a:solidFill>
              <a:srgbClr val="06B6D4"/>
            </a:solidFill>
          </a:ln>
        </p:spPr>
        <p:txBody>
          <a:bodyPr/>
          <a:lstStyle/>
          <a:p>
            <a:endParaRPr lang="en-US"/>
          </a:p>
        </p:txBody>
      </p:sp>
      <p:sp>
        <p:nvSpPr>
          <p:cNvPr id="12" name="Text 12"/>
          <p:cNvSpPr txBox="1"/>
          <p:nvPr/>
        </p:nvSpPr>
        <p:spPr>
          <a:xfrm>
            <a:off x="2342170" y="2313432"/>
            <a:ext cx="1235746" cy="292608"/>
          </a:xfrm>
          <a:prstGeom prst="rect">
            <a:avLst/>
          </a:prstGeom>
          <a:noFill/>
          <a:ln>
            <a:noFill/>
          </a:ln>
        </p:spPr>
        <p:txBody>
          <a:bodyPr wrap="square" anchor="t" lIns="0" rIns="0" tIns="0" bIns="0"/>
          <a:lstStyle/>
          <a:p>
            <a:pPr algn="ctr"/>
            <a:r>
              <a:rPr lang="en-US" sz="1450" b="1" i="0" dirty="0">
                <a:solidFill>
                  <a:srgbClr val="06B6D4"/>
                </a:solidFill>
                <a:latin typeface="Arial"/>
              </a:rPr>
              <a:t>Observe</a:t>
            </a:r>
            <a:endParaRPr lang="en-US" sz="1450"/>
          </a:p>
        </p:txBody>
      </p:sp>
      <p:sp>
        <p:nvSpPr>
          <p:cNvPr id="13" name="Text 13"/>
          <p:cNvSpPr txBox="1"/>
          <p:nvPr/>
        </p:nvSpPr>
        <p:spPr>
          <a:xfrm>
            <a:off x="2342170" y="2697480"/>
            <a:ext cx="1235746" cy="201168"/>
          </a:xfrm>
          <a:prstGeom prst="rect">
            <a:avLst/>
          </a:prstGeom>
          <a:noFill/>
          <a:ln>
            <a:noFill/>
          </a:ln>
        </p:spPr>
        <p:txBody>
          <a:bodyPr wrap="square" anchor="t" lIns="0" rIns="0" tIns="0" bIns="0"/>
          <a:lstStyle/>
          <a:p>
            <a:pPr algn="ctr"/>
            <a:r>
              <a:rPr lang="en-US" sz="950" b="0" i="0" dirty="0">
                <a:solidFill>
                  <a:srgbClr val="56647A"/>
                </a:solidFill>
                <a:latin typeface="Arial"/>
              </a:rPr>
              <a:t>14 Jul</a:t>
            </a:r>
            <a:endParaRPr lang="en-US" sz="950"/>
          </a:p>
        </p:txBody>
      </p:sp>
      <p:sp>
        <p:nvSpPr>
          <p:cNvPr id="14" name="Ellipse 14"/>
          <p:cNvSpPr/>
          <p:nvPr/>
        </p:nvSpPr>
        <p:spPr>
          <a:xfrm>
            <a:off x="2882319" y="3287268"/>
            <a:ext cx="155448" cy="155448"/>
          </a:xfrm>
          <a:prstGeom prst="ellipse">
            <a:avLst/>
          </a:prstGeom>
          <a:solidFill>
            <a:srgbClr val="06B6D4"/>
          </a:solidFill>
          <a:ln w="12700">
            <a:solidFill>
              <a:srgbClr val="06B6D4"/>
            </a:solidFill>
          </a:ln>
        </p:spPr>
        <p:txBody>
          <a:bodyPr/>
          <a:lstStyle/>
          <a:p>
            <a:endParaRPr lang="en-US"/>
          </a:p>
        </p:txBody>
      </p:sp>
      <p:sp>
        <p:nvSpPr>
          <p:cNvPr id="15" name="Text 15"/>
          <p:cNvSpPr txBox="1"/>
          <p:nvPr/>
        </p:nvSpPr>
        <p:spPr>
          <a:xfrm>
            <a:off x="2232442" y="3685032"/>
            <a:ext cx="1455202" cy="201168"/>
          </a:xfrm>
          <a:prstGeom prst="rect">
            <a:avLst/>
          </a:prstGeom>
          <a:noFill/>
          <a:ln>
            <a:noFill/>
          </a:ln>
        </p:spPr>
        <p:txBody>
          <a:bodyPr wrap="square" anchor="t" lIns="0" rIns="0" tIns="0" bIns="0"/>
          <a:lstStyle/>
          <a:p>
            <a:pPr algn="ctr"/>
            <a:r>
              <a:rPr lang="en-US" sz="780" b="0" i="0" dirty="0">
                <a:solidFill>
                  <a:srgbClr val="56647A"/>
                </a:solidFill>
                <a:latin typeface="Arial"/>
              </a:rPr>
              <a:t>fb417282</a:t>
            </a:r>
            <a:endParaRPr lang="en-US" sz="780"/>
          </a:p>
        </p:txBody>
      </p:sp>
      <p:sp>
        <p:nvSpPr>
          <p:cNvPr id="16" name="Rect 16"/>
          <p:cNvSpPr/>
          <p:nvPr/>
        </p:nvSpPr>
        <p:spPr>
          <a:xfrm>
            <a:off x="3806517" y="2148840"/>
            <a:ext cx="1455202" cy="1024128"/>
          </a:xfrm>
          <a:prstGeom prst="roundRect">
            <a:avLst/>
          </a:prstGeom>
          <a:solidFill>
            <a:srgbClr val="D8EEEC"/>
          </a:solidFill>
          <a:ln w="12700">
            <a:solidFill>
              <a:srgbClr val="0D9488"/>
            </a:solidFill>
          </a:ln>
        </p:spPr>
        <p:txBody>
          <a:bodyPr/>
          <a:lstStyle/>
          <a:p>
            <a:endParaRPr lang="en-US"/>
          </a:p>
        </p:txBody>
      </p:sp>
      <p:sp>
        <p:nvSpPr>
          <p:cNvPr id="17" name="Text 17"/>
          <p:cNvSpPr txBox="1"/>
          <p:nvPr/>
        </p:nvSpPr>
        <p:spPr>
          <a:xfrm>
            <a:off x="3916245" y="2313432"/>
            <a:ext cx="1235746" cy="292608"/>
          </a:xfrm>
          <a:prstGeom prst="rect">
            <a:avLst/>
          </a:prstGeom>
          <a:noFill/>
          <a:ln>
            <a:noFill/>
          </a:ln>
        </p:spPr>
        <p:txBody>
          <a:bodyPr wrap="square" anchor="t" lIns="0" rIns="0" tIns="0" bIns="0"/>
          <a:lstStyle/>
          <a:p>
            <a:pPr algn="ctr"/>
            <a:r>
              <a:rPr lang="en-US" sz="1450" b="1" i="0" dirty="0">
                <a:solidFill>
                  <a:srgbClr val="0D9488"/>
                </a:solidFill>
                <a:latin typeface="Arial"/>
              </a:rPr>
              <a:t>Transact</a:t>
            </a:r>
            <a:endParaRPr lang="en-US" sz="1450"/>
          </a:p>
        </p:txBody>
      </p:sp>
      <p:sp>
        <p:nvSpPr>
          <p:cNvPr id="18" name="Text 18"/>
          <p:cNvSpPr txBox="1"/>
          <p:nvPr/>
        </p:nvSpPr>
        <p:spPr>
          <a:xfrm>
            <a:off x="3916245" y="2697480"/>
            <a:ext cx="1235746" cy="201168"/>
          </a:xfrm>
          <a:prstGeom prst="rect">
            <a:avLst/>
          </a:prstGeom>
          <a:noFill/>
          <a:ln>
            <a:noFill/>
          </a:ln>
        </p:spPr>
        <p:txBody>
          <a:bodyPr wrap="square" anchor="t" lIns="0" rIns="0" tIns="0" bIns="0"/>
          <a:lstStyle/>
          <a:p>
            <a:pPr algn="ctr"/>
            <a:r>
              <a:rPr lang="en-US" sz="950" b="0" i="0" dirty="0">
                <a:solidFill>
                  <a:srgbClr val="56647A"/>
                </a:solidFill>
                <a:latin typeface="Arial"/>
              </a:rPr>
              <a:t>14–15</a:t>
            </a:r>
            <a:endParaRPr lang="en-US" sz="950"/>
          </a:p>
        </p:txBody>
      </p:sp>
      <p:sp>
        <p:nvSpPr>
          <p:cNvPr id="19" name="Ellipse 19"/>
          <p:cNvSpPr/>
          <p:nvPr/>
        </p:nvSpPr>
        <p:spPr>
          <a:xfrm>
            <a:off x="4456394" y="3287268"/>
            <a:ext cx="155448" cy="155448"/>
          </a:xfrm>
          <a:prstGeom prst="ellipse">
            <a:avLst/>
          </a:prstGeom>
          <a:solidFill>
            <a:srgbClr val="0D9488"/>
          </a:solidFill>
          <a:ln w="12700">
            <a:solidFill>
              <a:srgbClr val="0D9488"/>
            </a:solidFill>
          </a:ln>
        </p:spPr>
        <p:txBody>
          <a:bodyPr/>
          <a:lstStyle/>
          <a:p>
            <a:endParaRPr lang="en-US"/>
          </a:p>
        </p:txBody>
      </p:sp>
      <p:sp>
        <p:nvSpPr>
          <p:cNvPr id="20" name="Text 20"/>
          <p:cNvSpPr txBox="1"/>
          <p:nvPr/>
        </p:nvSpPr>
        <p:spPr>
          <a:xfrm>
            <a:off x="3806517" y="3685032"/>
            <a:ext cx="1455202" cy="201168"/>
          </a:xfrm>
          <a:prstGeom prst="rect">
            <a:avLst/>
          </a:prstGeom>
          <a:noFill/>
          <a:ln>
            <a:noFill/>
          </a:ln>
        </p:spPr>
        <p:txBody>
          <a:bodyPr wrap="square" anchor="t" lIns="0" rIns="0" tIns="0" bIns="0"/>
          <a:lstStyle/>
          <a:p>
            <a:pPr algn="ctr"/>
            <a:r>
              <a:rPr lang="en-US" sz="780" b="0" i="0" dirty="0">
                <a:solidFill>
                  <a:srgbClr val="56647A"/>
                </a:solidFill>
                <a:latin typeface="Arial"/>
              </a:rPr>
              <a:t>07351a40</a:t>
            </a:r>
            <a:endParaRPr lang="en-US" sz="780"/>
          </a:p>
        </p:txBody>
      </p:sp>
      <p:sp>
        <p:nvSpPr>
          <p:cNvPr id="21" name="Rect 21"/>
          <p:cNvSpPr/>
          <p:nvPr/>
        </p:nvSpPr>
        <p:spPr>
          <a:xfrm>
            <a:off x="5380591" y="2148840"/>
            <a:ext cx="1455202" cy="1024128"/>
          </a:xfrm>
          <a:prstGeom prst="roundRect">
            <a:avLst/>
          </a:prstGeom>
          <a:solidFill>
            <a:srgbClr val="FDEFD8"/>
          </a:solidFill>
          <a:ln w="12700">
            <a:solidFill>
              <a:srgbClr val="F59E0B"/>
            </a:solidFill>
          </a:ln>
        </p:spPr>
        <p:txBody>
          <a:bodyPr/>
          <a:lstStyle/>
          <a:p>
            <a:endParaRPr lang="en-US"/>
          </a:p>
        </p:txBody>
      </p:sp>
      <p:sp>
        <p:nvSpPr>
          <p:cNvPr id="22" name="Text 22"/>
          <p:cNvSpPr txBox="1"/>
          <p:nvPr/>
        </p:nvSpPr>
        <p:spPr>
          <a:xfrm>
            <a:off x="5490319" y="2313432"/>
            <a:ext cx="1235746" cy="292608"/>
          </a:xfrm>
          <a:prstGeom prst="rect">
            <a:avLst/>
          </a:prstGeom>
          <a:noFill/>
          <a:ln>
            <a:noFill/>
          </a:ln>
        </p:spPr>
        <p:txBody>
          <a:bodyPr wrap="square" anchor="t" lIns="0" rIns="0" tIns="0" bIns="0"/>
          <a:lstStyle/>
          <a:p>
            <a:pPr algn="ctr"/>
            <a:r>
              <a:rPr lang="en-US" sz="1450" b="1" i="0" dirty="0">
                <a:solidFill>
                  <a:srgbClr val="F59E0B"/>
                </a:solidFill>
                <a:latin typeface="Arial"/>
              </a:rPr>
              <a:t>Recover</a:t>
            </a:r>
            <a:endParaRPr lang="en-US" sz="1450"/>
          </a:p>
        </p:txBody>
      </p:sp>
      <p:sp>
        <p:nvSpPr>
          <p:cNvPr id="23" name="Text 23"/>
          <p:cNvSpPr txBox="1"/>
          <p:nvPr/>
        </p:nvSpPr>
        <p:spPr>
          <a:xfrm>
            <a:off x="5490319" y="2697480"/>
            <a:ext cx="1235746" cy="201168"/>
          </a:xfrm>
          <a:prstGeom prst="rect">
            <a:avLst/>
          </a:prstGeom>
          <a:noFill/>
          <a:ln>
            <a:noFill/>
          </a:ln>
        </p:spPr>
        <p:txBody>
          <a:bodyPr wrap="square" anchor="t" lIns="0" rIns="0" tIns="0" bIns="0"/>
          <a:lstStyle/>
          <a:p>
            <a:pPr algn="ctr"/>
            <a:r>
              <a:rPr lang="en-US" sz="950" b="0" i="0" dirty="0">
                <a:solidFill>
                  <a:srgbClr val="56647A"/>
                </a:solidFill>
                <a:latin typeface="Arial"/>
              </a:rPr>
              <a:t>15–17</a:t>
            </a:r>
            <a:endParaRPr lang="en-US" sz="950"/>
          </a:p>
        </p:txBody>
      </p:sp>
      <p:sp>
        <p:nvSpPr>
          <p:cNvPr id="24" name="Ellipse 24"/>
          <p:cNvSpPr/>
          <p:nvPr/>
        </p:nvSpPr>
        <p:spPr>
          <a:xfrm>
            <a:off x="6030468" y="3287268"/>
            <a:ext cx="155448" cy="155448"/>
          </a:xfrm>
          <a:prstGeom prst="ellipse">
            <a:avLst/>
          </a:prstGeom>
          <a:solidFill>
            <a:srgbClr val="F59E0B"/>
          </a:solidFill>
          <a:ln w="12700">
            <a:solidFill>
              <a:srgbClr val="F59E0B"/>
            </a:solidFill>
          </a:ln>
        </p:spPr>
        <p:txBody>
          <a:bodyPr/>
          <a:lstStyle/>
          <a:p>
            <a:endParaRPr lang="en-US"/>
          </a:p>
        </p:txBody>
      </p:sp>
      <p:sp>
        <p:nvSpPr>
          <p:cNvPr id="25" name="Text 25"/>
          <p:cNvSpPr txBox="1"/>
          <p:nvPr/>
        </p:nvSpPr>
        <p:spPr>
          <a:xfrm>
            <a:off x="5380591" y="3685032"/>
            <a:ext cx="1455202" cy="201168"/>
          </a:xfrm>
          <a:prstGeom prst="rect">
            <a:avLst/>
          </a:prstGeom>
          <a:noFill/>
          <a:ln>
            <a:noFill/>
          </a:ln>
        </p:spPr>
        <p:txBody>
          <a:bodyPr wrap="square" anchor="t" lIns="0" rIns="0" tIns="0" bIns="0"/>
          <a:lstStyle/>
          <a:p>
            <a:pPr algn="ctr"/>
            <a:r>
              <a:rPr lang="en-US" sz="780" b="0" i="0" dirty="0">
                <a:solidFill>
                  <a:srgbClr val="56647A"/>
                </a:solidFill>
                <a:latin typeface="Arial"/>
              </a:rPr>
              <a:t>238f022</a:t>
            </a:r>
            <a:endParaRPr lang="en-US" sz="780"/>
          </a:p>
        </p:txBody>
      </p:sp>
      <p:sp>
        <p:nvSpPr>
          <p:cNvPr id="26" name="Rect 26"/>
          <p:cNvSpPr/>
          <p:nvPr/>
        </p:nvSpPr>
        <p:spPr>
          <a:xfrm>
            <a:off x="6954665" y="2148840"/>
            <a:ext cx="1455202" cy="1024128"/>
          </a:xfrm>
          <a:prstGeom prst="roundRect">
            <a:avLst/>
          </a:prstGeom>
          <a:solidFill>
            <a:srgbClr val="EADFFC"/>
          </a:solidFill>
          <a:ln w="12700">
            <a:solidFill>
              <a:srgbClr val="7C3AED"/>
            </a:solidFill>
          </a:ln>
        </p:spPr>
        <p:txBody>
          <a:bodyPr/>
          <a:lstStyle/>
          <a:p>
            <a:endParaRPr lang="en-US"/>
          </a:p>
        </p:txBody>
      </p:sp>
      <p:sp>
        <p:nvSpPr>
          <p:cNvPr id="27" name="Text 27"/>
          <p:cNvSpPr txBox="1"/>
          <p:nvPr/>
        </p:nvSpPr>
        <p:spPr>
          <a:xfrm>
            <a:off x="7064393" y="2313432"/>
            <a:ext cx="1235746" cy="292608"/>
          </a:xfrm>
          <a:prstGeom prst="rect">
            <a:avLst/>
          </a:prstGeom>
          <a:noFill/>
          <a:ln>
            <a:noFill/>
          </a:ln>
        </p:spPr>
        <p:txBody>
          <a:bodyPr wrap="square" anchor="t" lIns="0" rIns="0" tIns="0" bIns="0"/>
          <a:lstStyle/>
          <a:p>
            <a:pPr algn="ctr"/>
            <a:r>
              <a:rPr lang="en-US" sz="1450" b="1" i="0" dirty="0">
                <a:solidFill>
                  <a:srgbClr val="7C3AED"/>
                </a:solidFill>
                <a:latin typeface="Arial"/>
              </a:rPr>
              <a:t>Measure</a:t>
            </a:r>
            <a:endParaRPr lang="en-US" sz="1450"/>
          </a:p>
        </p:txBody>
      </p:sp>
      <p:sp>
        <p:nvSpPr>
          <p:cNvPr id="28" name="Text 28"/>
          <p:cNvSpPr txBox="1"/>
          <p:nvPr/>
        </p:nvSpPr>
        <p:spPr>
          <a:xfrm>
            <a:off x="7064393" y="2697480"/>
            <a:ext cx="1235746" cy="201168"/>
          </a:xfrm>
          <a:prstGeom prst="rect">
            <a:avLst/>
          </a:prstGeom>
          <a:noFill/>
          <a:ln>
            <a:noFill/>
          </a:ln>
        </p:spPr>
        <p:txBody>
          <a:bodyPr wrap="square" anchor="t" lIns="0" rIns="0" tIns="0" bIns="0"/>
          <a:lstStyle/>
          <a:p>
            <a:pPr algn="ctr"/>
            <a:r>
              <a:rPr lang="en-US" sz="950" b="0" i="0" dirty="0">
                <a:solidFill>
                  <a:srgbClr val="56647A"/>
                </a:solidFill>
                <a:latin typeface="Arial"/>
              </a:rPr>
              <a:t>16–17</a:t>
            </a:r>
            <a:endParaRPr lang="en-US" sz="950"/>
          </a:p>
        </p:txBody>
      </p:sp>
      <p:sp>
        <p:nvSpPr>
          <p:cNvPr id="29" name="Ellipse 29"/>
          <p:cNvSpPr/>
          <p:nvPr/>
        </p:nvSpPr>
        <p:spPr>
          <a:xfrm>
            <a:off x="7604542" y="3287268"/>
            <a:ext cx="155448" cy="155448"/>
          </a:xfrm>
          <a:prstGeom prst="ellipse">
            <a:avLst/>
          </a:prstGeom>
          <a:solidFill>
            <a:srgbClr val="7C3AED"/>
          </a:solidFill>
          <a:ln w="12700">
            <a:solidFill>
              <a:srgbClr val="7C3AED"/>
            </a:solidFill>
          </a:ln>
        </p:spPr>
        <p:txBody>
          <a:bodyPr/>
          <a:lstStyle/>
          <a:p>
            <a:endParaRPr lang="en-US"/>
          </a:p>
        </p:txBody>
      </p:sp>
      <p:sp>
        <p:nvSpPr>
          <p:cNvPr id="30" name="Text 30"/>
          <p:cNvSpPr txBox="1"/>
          <p:nvPr/>
        </p:nvSpPr>
        <p:spPr>
          <a:xfrm>
            <a:off x="6954665" y="3685032"/>
            <a:ext cx="1455202" cy="201168"/>
          </a:xfrm>
          <a:prstGeom prst="rect">
            <a:avLst/>
          </a:prstGeom>
          <a:noFill/>
          <a:ln>
            <a:noFill/>
          </a:ln>
        </p:spPr>
        <p:txBody>
          <a:bodyPr wrap="square" anchor="t" lIns="0" rIns="0" tIns="0" bIns="0"/>
          <a:lstStyle/>
          <a:p>
            <a:pPr algn="ctr"/>
            <a:r>
              <a:rPr lang="en-US" sz="780" b="0" i="0" dirty="0">
                <a:solidFill>
                  <a:srgbClr val="56647A"/>
                </a:solidFill>
                <a:latin typeface="Arial"/>
              </a:rPr>
              <a:t>05932762</a:t>
            </a:r>
            <a:endParaRPr lang="en-US" sz="780"/>
          </a:p>
        </p:txBody>
      </p:sp>
      <p:sp>
        <p:nvSpPr>
          <p:cNvPr id="31" name="Rect 31"/>
          <p:cNvSpPr/>
          <p:nvPr/>
        </p:nvSpPr>
        <p:spPr>
          <a:xfrm>
            <a:off x="8528739" y="2148840"/>
            <a:ext cx="1455202" cy="1024128"/>
          </a:xfrm>
          <a:prstGeom prst="roundRect">
            <a:avLst/>
          </a:prstGeom>
          <a:solidFill>
            <a:srgbClr val="F9DCE9"/>
          </a:solidFill>
          <a:ln w="12700">
            <a:solidFill>
              <a:srgbClr val="DB2777"/>
            </a:solidFill>
          </a:ln>
        </p:spPr>
        <p:txBody>
          <a:bodyPr/>
          <a:lstStyle/>
          <a:p>
            <a:endParaRPr lang="en-US"/>
          </a:p>
        </p:txBody>
      </p:sp>
      <p:sp>
        <p:nvSpPr>
          <p:cNvPr id="32" name="Text 32"/>
          <p:cNvSpPr txBox="1"/>
          <p:nvPr/>
        </p:nvSpPr>
        <p:spPr>
          <a:xfrm>
            <a:off x="8638467" y="2313432"/>
            <a:ext cx="1235746" cy="292608"/>
          </a:xfrm>
          <a:prstGeom prst="rect">
            <a:avLst/>
          </a:prstGeom>
          <a:noFill/>
          <a:ln>
            <a:noFill/>
          </a:ln>
        </p:spPr>
        <p:txBody>
          <a:bodyPr wrap="square" anchor="t" lIns="0" rIns="0" tIns="0" bIns="0"/>
          <a:lstStyle/>
          <a:p>
            <a:pPr algn="ctr"/>
            <a:r>
              <a:rPr lang="en-US" sz="1450" b="1" i="0" dirty="0">
                <a:solidFill>
                  <a:srgbClr val="DB2777"/>
                </a:solidFill>
                <a:latin typeface="Arial"/>
              </a:rPr>
              <a:t>Expand</a:t>
            </a:r>
            <a:endParaRPr lang="en-US" sz="1450"/>
          </a:p>
        </p:txBody>
      </p:sp>
      <p:sp>
        <p:nvSpPr>
          <p:cNvPr id="33" name="Text 33"/>
          <p:cNvSpPr txBox="1"/>
          <p:nvPr/>
        </p:nvSpPr>
        <p:spPr>
          <a:xfrm>
            <a:off x="8638467" y="2697480"/>
            <a:ext cx="1235746" cy="201168"/>
          </a:xfrm>
          <a:prstGeom prst="rect">
            <a:avLst/>
          </a:prstGeom>
          <a:noFill/>
          <a:ln>
            <a:noFill/>
          </a:ln>
        </p:spPr>
        <p:txBody>
          <a:bodyPr wrap="square" anchor="t" lIns="0" rIns="0" tIns="0" bIns="0"/>
          <a:lstStyle/>
          <a:p>
            <a:pPr algn="ctr"/>
            <a:r>
              <a:rPr lang="en-US" sz="950" b="0" i="0" dirty="0">
                <a:solidFill>
                  <a:srgbClr val="56647A"/>
                </a:solidFill>
                <a:latin typeface="Arial"/>
              </a:rPr>
              <a:t>18–20</a:t>
            </a:r>
            <a:endParaRPr lang="en-US" sz="950"/>
          </a:p>
        </p:txBody>
      </p:sp>
      <p:sp>
        <p:nvSpPr>
          <p:cNvPr id="34" name="Ellipse 34"/>
          <p:cNvSpPr/>
          <p:nvPr/>
        </p:nvSpPr>
        <p:spPr>
          <a:xfrm>
            <a:off x="9178617" y="3287268"/>
            <a:ext cx="155448" cy="155448"/>
          </a:xfrm>
          <a:prstGeom prst="ellipse">
            <a:avLst/>
          </a:prstGeom>
          <a:solidFill>
            <a:srgbClr val="DB2777"/>
          </a:solidFill>
          <a:ln w="12700">
            <a:solidFill>
              <a:srgbClr val="DB2777"/>
            </a:solidFill>
          </a:ln>
        </p:spPr>
        <p:txBody>
          <a:bodyPr/>
          <a:lstStyle/>
          <a:p>
            <a:endParaRPr lang="en-US"/>
          </a:p>
        </p:txBody>
      </p:sp>
      <p:sp>
        <p:nvSpPr>
          <p:cNvPr id="35" name="Text 35"/>
          <p:cNvSpPr txBox="1"/>
          <p:nvPr/>
        </p:nvSpPr>
        <p:spPr>
          <a:xfrm>
            <a:off x="8528739" y="3685032"/>
            <a:ext cx="1455202" cy="201168"/>
          </a:xfrm>
          <a:prstGeom prst="rect">
            <a:avLst/>
          </a:prstGeom>
          <a:noFill/>
          <a:ln>
            <a:noFill/>
          </a:ln>
        </p:spPr>
        <p:txBody>
          <a:bodyPr wrap="square" anchor="t" lIns="0" rIns="0" tIns="0" bIns="0"/>
          <a:lstStyle/>
          <a:p>
            <a:pPr algn="ctr"/>
            <a:r>
              <a:rPr lang="en-US" sz="780" b="0" i="0" dirty="0">
                <a:solidFill>
                  <a:srgbClr val="56647A"/>
                </a:solidFill>
                <a:latin typeface="Arial"/>
              </a:rPr>
              <a:t>a0b74a4</a:t>
            </a:r>
            <a:endParaRPr lang="en-US" sz="780"/>
          </a:p>
        </p:txBody>
      </p:sp>
      <p:sp>
        <p:nvSpPr>
          <p:cNvPr id="36" name="Rect 36"/>
          <p:cNvSpPr/>
          <p:nvPr/>
        </p:nvSpPr>
        <p:spPr>
          <a:xfrm>
            <a:off x="10102814" y="2148840"/>
            <a:ext cx="1455202" cy="1024128"/>
          </a:xfrm>
          <a:prstGeom prst="roundRect">
            <a:avLst/>
          </a:prstGeom>
          <a:solidFill>
            <a:srgbClr val="DAF0E2"/>
          </a:solidFill>
          <a:ln w="12700">
            <a:solidFill>
              <a:srgbClr val="16A34A"/>
            </a:solidFill>
          </a:ln>
        </p:spPr>
        <p:txBody>
          <a:bodyPr/>
          <a:lstStyle/>
          <a:p>
            <a:endParaRPr lang="en-US"/>
          </a:p>
        </p:txBody>
      </p:sp>
      <p:sp>
        <p:nvSpPr>
          <p:cNvPr id="37" name="Text 37"/>
          <p:cNvSpPr txBox="1"/>
          <p:nvPr/>
        </p:nvSpPr>
        <p:spPr>
          <a:xfrm>
            <a:off x="10212542" y="2313432"/>
            <a:ext cx="1235746" cy="292608"/>
          </a:xfrm>
          <a:prstGeom prst="rect">
            <a:avLst/>
          </a:prstGeom>
          <a:noFill/>
          <a:ln>
            <a:noFill/>
          </a:ln>
        </p:spPr>
        <p:txBody>
          <a:bodyPr wrap="square" anchor="t" lIns="0" rIns="0" tIns="0" bIns="0"/>
          <a:lstStyle/>
          <a:p>
            <a:pPr algn="ctr"/>
            <a:r>
              <a:rPr lang="en-US" sz="1450" b="1" i="0" dirty="0">
                <a:solidFill>
                  <a:srgbClr val="16A34A"/>
                </a:solidFill>
                <a:latin typeface="Arial"/>
              </a:rPr>
              <a:t>Collaborate</a:t>
            </a:r>
            <a:endParaRPr lang="en-US" sz="1450"/>
          </a:p>
        </p:txBody>
      </p:sp>
      <p:sp>
        <p:nvSpPr>
          <p:cNvPr id="38" name="Text 38"/>
          <p:cNvSpPr txBox="1"/>
          <p:nvPr/>
        </p:nvSpPr>
        <p:spPr>
          <a:xfrm>
            <a:off x="10212542" y="2697480"/>
            <a:ext cx="1235746" cy="201168"/>
          </a:xfrm>
          <a:prstGeom prst="rect">
            <a:avLst/>
          </a:prstGeom>
          <a:noFill/>
          <a:ln>
            <a:noFill/>
          </a:ln>
        </p:spPr>
        <p:txBody>
          <a:bodyPr wrap="square" anchor="t" lIns="0" rIns="0" tIns="0" bIns="0"/>
          <a:lstStyle/>
          <a:p>
            <a:pPr algn="ctr"/>
            <a:r>
              <a:rPr lang="en-US" sz="950" b="0" i="0" dirty="0">
                <a:solidFill>
                  <a:srgbClr val="56647A"/>
                </a:solidFill>
                <a:latin typeface="Arial"/>
              </a:rPr>
              <a:t>21 Jul</a:t>
            </a:r>
            <a:endParaRPr lang="en-US" sz="950"/>
          </a:p>
        </p:txBody>
      </p:sp>
      <p:sp>
        <p:nvSpPr>
          <p:cNvPr id="39" name="Ellipse 39"/>
          <p:cNvSpPr/>
          <p:nvPr/>
        </p:nvSpPr>
        <p:spPr>
          <a:xfrm>
            <a:off x="10752691" y="3287268"/>
            <a:ext cx="155448" cy="155448"/>
          </a:xfrm>
          <a:prstGeom prst="ellipse">
            <a:avLst/>
          </a:prstGeom>
          <a:solidFill>
            <a:srgbClr val="16A34A"/>
          </a:solidFill>
          <a:ln w="12700">
            <a:solidFill>
              <a:srgbClr val="16A34A"/>
            </a:solidFill>
          </a:ln>
        </p:spPr>
        <p:txBody>
          <a:bodyPr/>
          <a:lstStyle/>
          <a:p>
            <a:endParaRPr lang="en-US"/>
          </a:p>
        </p:txBody>
      </p:sp>
      <p:sp>
        <p:nvSpPr>
          <p:cNvPr id="40" name="Text 40"/>
          <p:cNvSpPr txBox="1"/>
          <p:nvPr/>
        </p:nvSpPr>
        <p:spPr>
          <a:xfrm>
            <a:off x="10102814" y="3685032"/>
            <a:ext cx="1455202" cy="201168"/>
          </a:xfrm>
          <a:prstGeom prst="rect">
            <a:avLst/>
          </a:prstGeom>
          <a:noFill/>
          <a:ln>
            <a:noFill/>
          </a:ln>
        </p:spPr>
        <p:txBody>
          <a:bodyPr wrap="square" anchor="t" lIns="0" rIns="0" tIns="0" bIns="0"/>
          <a:lstStyle/>
          <a:p>
            <a:pPr algn="ctr"/>
            <a:r>
              <a:rPr lang="en-US" sz="780" b="0" i="0" dirty="0">
                <a:solidFill>
                  <a:srgbClr val="56647A"/>
                </a:solidFill>
                <a:latin typeface="Arial"/>
              </a:rPr>
              <a:t>535a492</a:t>
            </a:r>
            <a:endParaRPr lang="en-US" sz="780"/>
          </a:p>
        </p:txBody>
      </p:sp>
      <p:sp>
        <p:nvSpPr>
          <p:cNvPr id="41" name="Text 41"/>
          <p:cNvSpPr txBox="1"/>
          <p:nvPr/>
        </p:nvSpPr>
        <p:spPr>
          <a:xfrm>
            <a:off x="694944" y="4279392"/>
            <a:ext cx="2011680" cy="228600"/>
          </a:xfrm>
          <a:prstGeom prst="rect">
            <a:avLst/>
          </a:prstGeom>
          <a:noFill/>
          <a:ln>
            <a:noFill/>
          </a:ln>
        </p:spPr>
        <p:txBody>
          <a:bodyPr wrap="square" anchor="t" lIns="0" rIns="0" tIns="0" bIns="0"/>
          <a:lstStyle/>
          <a:p>
            <a:pPr algn="l"/>
            <a:r>
              <a:rPr lang="en-US" sz="1100" b="1" i="0" dirty="0">
                <a:solidFill>
                  <a:srgbClr val="DC2626"/>
                </a:solidFill>
                <a:latin typeface="Arial"/>
              </a:rPr>
              <a:t>Recorded reversals</a:t>
            </a:r>
            <a:endParaRPr lang="en-US" sz="1100"/>
          </a:p>
        </p:txBody>
      </p:sp>
      <p:cxnSp>
        <p:nvCxnSpPr>
          <p:cNvPr id="42" name="Line 42"/>
          <p:cNvCxnSpPr/>
          <p:nvPr/>
        </p:nvCxnSpPr>
        <p:spPr>
          <a:xfrm flipH="false" flipV="false">
            <a:off x="4892040" y="4160520"/>
            <a:ext cx="0" cy="438912"/>
          </a:xfrm>
          <a:prstGeom prst="line">
            <a:avLst/>
          </a:prstGeom>
          <a:ln w="17780">
            <a:solidFill>
              <a:srgbClr val="DC2626"/>
            </a:solidFill>
            <a:tailEnd type="triangle"/>
          </a:ln>
        </p:spPr>
      </p:cxnSp>
      <p:sp>
        <p:nvSpPr>
          <p:cNvPr id="43" name="Rect 43"/>
          <p:cNvSpPr/>
          <p:nvPr/>
        </p:nvSpPr>
        <p:spPr>
          <a:xfrm>
            <a:off x="4315968" y="4645152"/>
            <a:ext cx="1152144" cy="804672"/>
          </a:xfrm>
          <a:prstGeom prst="roundRect">
            <a:avLst/>
          </a:prstGeom>
          <a:solidFill>
            <a:srgbClr val="FCE9E9"/>
          </a:solidFill>
          <a:ln w="12700">
            <a:solidFill>
              <a:srgbClr val="DC2626"/>
            </a:solidFill>
          </a:ln>
        </p:spPr>
        <p:txBody>
          <a:bodyPr/>
          <a:lstStyle/>
          <a:p>
            <a:endParaRPr lang="en-US"/>
          </a:p>
        </p:txBody>
      </p:sp>
      <p:sp>
        <p:nvSpPr>
          <p:cNvPr id="44" name="Text 44"/>
          <p:cNvSpPr txBox="1"/>
          <p:nvPr/>
        </p:nvSpPr>
        <p:spPr>
          <a:xfrm>
            <a:off x="4389120" y="4736592"/>
            <a:ext cx="1005840" cy="365760"/>
          </a:xfrm>
          <a:prstGeom prst="rect">
            <a:avLst/>
          </a:prstGeom>
          <a:noFill/>
          <a:ln>
            <a:noFill/>
          </a:ln>
        </p:spPr>
        <p:txBody>
          <a:bodyPr wrap="square" anchor="t" lIns="0" rIns="0" tIns="0" bIns="0"/>
          <a:lstStyle/>
          <a:p>
            <a:pPr algn="ctr"/>
            <a:r>
              <a:rPr lang="en-US" sz="860" b="1" i="0" dirty="0">
                <a:solidFill>
                  <a:srgbClr val="DC2626"/>
                </a:solidFill>
                <a:latin typeface="Arial"/>
              </a:rPr>
              <a:t>Remove automatic</a:t>
            </a:r>
            <a:endParaRPr lang="en-US" sz="860"/>
          </a:p>
          <a:p>
            <a:pPr algn="ctr"/>
            <a:r>
              <a:rPr lang="en-US" sz="860" b="1" i="0" dirty="0">
                <a:solidFill>
                  <a:srgbClr val="DC2626"/>
                </a:solidFill>
                <a:latin typeface="Arial"/>
              </a:rPr>
              <a:t>Git hooks</a:t>
            </a:r>
            <a:endParaRPr lang="en-US" sz="860"/>
          </a:p>
        </p:txBody>
      </p:sp>
      <p:sp>
        <p:nvSpPr>
          <p:cNvPr id="45" name="Text 45"/>
          <p:cNvSpPr txBox="1"/>
          <p:nvPr/>
        </p:nvSpPr>
        <p:spPr>
          <a:xfrm>
            <a:off x="4389120" y="5148072"/>
            <a:ext cx="1005840" cy="164592"/>
          </a:xfrm>
          <a:prstGeom prst="rect">
            <a:avLst/>
          </a:prstGeom>
          <a:noFill/>
          <a:ln>
            <a:noFill/>
          </a:ln>
        </p:spPr>
        <p:txBody>
          <a:bodyPr wrap="square" anchor="t" lIns="0" rIns="0" tIns="0" bIns="0"/>
          <a:lstStyle/>
          <a:p>
            <a:pPr algn="ctr"/>
            <a:r>
              <a:rPr lang="en-US" sz="720" b="0" i="0" dirty="0">
                <a:solidFill>
                  <a:srgbClr val="56647A"/>
                </a:solidFill>
                <a:latin typeface="Arial"/>
              </a:rPr>
              <a:t>e52a3d0</a:t>
            </a:r>
            <a:endParaRPr lang="en-US" sz="720"/>
          </a:p>
        </p:txBody>
      </p:sp>
      <p:cxnSp>
        <p:nvCxnSpPr>
          <p:cNvPr id="46" name="Line 46"/>
          <p:cNvCxnSpPr/>
          <p:nvPr/>
        </p:nvCxnSpPr>
        <p:spPr>
          <a:xfrm flipH="false" flipV="false">
            <a:off x="6693408" y="4160520"/>
            <a:ext cx="0" cy="438912"/>
          </a:xfrm>
          <a:prstGeom prst="line">
            <a:avLst/>
          </a:prstGeom>
          <a:ln w="17780">
            <a:solidFill>
              <a:srgbClr val="DC2626"/>
            </a:solidFill>
            <a:tailEnd type="triangle"/>
          </a:ln>
        </p:spPr>
      </p:cxnSp>
      <p:sp>
        <p:nvSpPr>
          <p:cNvPr id="47" name="Rect 47"/>
          <p:cNvSpPr/>
          <p:nvPr/>
        </p:nvSpPr>
        <p:spPr>
          <a:xfrm>
            <a:off x="6117336" y="4645152"/>
            <a:ext cx="1152144" cy="804672"/>
          </a:xfrm>
          <a:prstGeom prst="roundRect">
            <a:avLst/>
          </a:prstGeom>
          <a:solidFill>
            <a:srgbClr val="FCE9E9"/>
          </a:solidFill>
          <a:ln w="12700">
            <a:solidFill>
              <a:srgbClr val="DC2626"/>
            </a:solidFill>
          </a:ln>
        </p:spPr>
        <p:txBody>
          <a:bodyPr/>
          <a:lstStyle/>
          <a:p>
            <a:endParaRPr lang="en-US"/>
          </a:p>
        </p:txBody>
      </p:sp>
      <p:sp>
        <p:nvSpPr>
          <p:cNvPr id="48" name="Text 48"/>
          <p:cNvSpPr txBox="1"/>
          <p:nvPr/>
        </p:nvSpPr>
        <p:spPr>
          <a:xfrm>
            <a:off x="6190488" y="4736592"/>
            <a:ext cx="1005840" cy="365760"/>
          </a:xfrm>
          <a:prstGeom prst="rect">
            <a:avLst/>
          </a:prstGeom>
          <a:noFill/>
          <a:ln>
            <a:noFill/>
          </a:ln>
        </p:spPr>
        <p:txBody>
          <a:bodyPr wrap="square" anchor="t" lIns="0" rIns="0" tIns="0" bIns="0"/>
          <a:lstStyle/>
          <a:p>
            <a:pPr algn="ctr"/>
            <a:r>
              <a:rPr lang="en-US" sz="860" b="1" i="0" dirty="0">
                <a:solidFill>
                  <a:srgbClr val="DC2626"/>
                </a:solidFill>
                <a:latin typeface="Arial"/>
              </a:rPr>
              <a:t>Remove website</a:t>
            </a:r>
            <a:endParaRPr lang="en-US" sz="860"/>
          </a:p>
          <a:p>
            <a:pPr algn="ctr"/>
            <a:r>
              <a:rPr lang="en-US" sz="860" b="1" i="0" dirty="0">
                <a:solidFill>
                  <a:srgbClr val="DC2626"/>
                </a:solidFill>
                <a:latin typeface="Arial"/>
              </a:rPr>
              <a:t>ownership</a:t>
            </a:r>
            <a:endParaRPr lang="en-US" sz="860"/>
          </a:p>
        </p:txBody>
      </p:sp>
      <p:sp>
        <p:nvSpPr>
          <p:cNvPr id="49" name="Text 49"/>
          <p:cNvSpPr txBox="1"/>
          <p:nvPr/>
        </p:nvSpPr>
        <p:spPr>
          <a:xfrm>
            <a:off x="6190488" y="5148072"/>
            <a:ext cx="1005840" cy="164592"/>
          </a:xfrm>
          <a:prstGeom prst="rect">
            <a:avLst/>
          </a:prstGeom>
          <a:noFill/>
          <a:ln>
            <a:noFill/>
          </a:ln>
        </p:spPr>
        <p:txBody>
          <a:bodyPr wrap="square" anchor="t" lIns="0" rIns="0" tIns="0" bIns="0"/>
          <a:lstStyle/>
          <a:p>
            <a:pPr algn="ctr"/>
            <a:r>
              <a:rPr lang="en-US" sz="720" b="0" i="0" dirty="0">
                <a:solidFill>
                  <a:srgbClr val="56647A"/>
                </a:solidFill>
                <a:latin typeface="Arial"/>
              </a:rPr>
              <a:t>f1b095c</a:t>
            </a:r>
            <a:endParaRPr lang="en-US" sz="720"/>
          </a:p>
        </p:txBody>
      </p:sp>
      <p:cxnSp>
        <p:nvCxnSpPr>
          <p:cNvPr id="50" name="Line 50"/>
          <p:cNvCxnSpPr/>
          <p:nvPr/>
        </p:nvCxnSpPr>
        <p:spPr>
          <a:xfrm flipH="false" flipV="false">
            <a:off x="8503920" y="4160520"/>
            <a:ext cx="0" cy="438912"/>
          </a:xfrm>
          <a:prstGeom prst="line">
            <a:avLst/>
          </a:prstGeom>
          <a:ln w="17780">
            <a:solidFill>
              <a:srgbClr val="DC2626"/>
            </a:solidFill>
            <a:tailEnd type="triangle"/>
          </a:ln>
        </p:spPr>
      </p:cxnSp>
      <p:sp>
        <p:nvSpPr>
          <p:cNvPr id="51" name="Rect 51"/>
          <p:cNvSpPr/>
          <p:nvPr/>
        </p:nvSpPr>
        <p:spPr>
          <a:xfrm>
            <a:off x="7927848" y="4645152"/>
            <a:ext cx="1152144" cy="804672"/>
          </a:xfrm>
          <a:prstGeom prst="roundRect">
            <a:avLst/>
          </a:prstGeom>
          <a:solidFill>
            <a:srgbClr val="FCE9E9"/>
          </a:solidFill>
          <a:ln w="12700">
            <a:solidFill>
              <a:srgbClr val="DC2626"/>
            </a:solidFill>
          </a:ln>
        </p:spPr>
        <p:txBody>
          <a:bodyPr/>
          <a:lstStyle/>
          <a:p>
            <a:endParaRPr lang="en-US"/>
          </a:p>
        </p:txBody>
      </p:sp>
      <p:sp>
        <p:nvSpPr>
          <p:cNvPr id="52" name="Text 52"/>
          <p:cNvSpPr txBox="1"/>
          <p:nvPr/>
        </p:nvSpPr>
        <p:spPr>
          <a:xfrm>
            <a:off x="8001000" y="4736592"/>
            <a:ext cx="1005840" cy="365760"/>
          </a:xfrm>
          <a:prstGeom prst="rect">
            <a:avLst/>
          </a:prstGeom>
          <a:noFill/>
          <a:ln>
            <a:noFill/>
          </a:ln>
        </p:spPr>
        <p:txBody>
          <a:bodyPr wrap="square" anchor="t" lIns="0" rIns="0" tIns="0" bIns="0"/>
          <a:lstStyle/>
          <a:p>
            <a:pPr algn="ctr"/>
            <a:r>
              <a:rPr lang="en-US" sz="860" b="1" i="0" dirty="0">
                <a:solidFill>
                  <a:srgbClr val="DC2626"/>
                </a:solidFill>
                <a:latin typeface="Arial"/>
              </a:rPr>
              <a:t>Return native client</a:t>
            </a:r>
            <a:endParaRPr lang="en-US" sz="860"/>
          </a:p>
          <a:p>
            <a:pPr algn="ctr"/>
            <a:r>
              <a:rPr lang="en-US" sz="860" b="1" i="0" dirty="0">
                <a:solidFill>
                  <a:srgbClr val="DC2626"/>
                </a:solidFill>
                <a:latin typeface="Arial"/>
              </a:rPr>
              <a:t>ownership</a:t>
            </a:r>
            <a:endParaRPr lang="en-US" sz="860"/>
          </a:p>
        </p:txBody>
      </p:sp>
      <p:sp>
        <p:nvSpPr>
          <p:cNvPr id="53" name="Text 53"/>
          <p:cNvSpPr txBox="1"/>
          <p:nvPr/>
        </p:nvSpPr>
        <p:spPr>
          <a:xfrm>
            <a:off x="8001000" y="5148072"/>
            <a:ext cx="1005840" cy="164592"/>
          </a:xfrm>
          <a:prstGeom prst="rect">
            <a:avLst/>
          </a:prstGeom>
          <a:noFill/>
          <a:ln>
            <a:noFill/>
          </a:ln>
        </p:spPr>
        <p:txBody>
          <a:bodyPr wrap="square" anchor="t" lIns="0" rIns="0" tIns="0" bIns="0"/>
          <a:lstStyle/>
          <a:p>
            <a:pPr algn="ctr"/>
            <a:r>
              <a:rPr lang="en-US" sz="720" b="0" i="0" dirty="0">
                <a:solidFill>
                  <a:srgbClr val="56647A"/>
                </a:solidFill>
                <a:latin typeface="Arial"/>
              </a:rPr>
              <a:t>d76575c</a:t>
            </a:r>
            <a:endParaRPr lang="en-US" sz="720"/>
          </a:p>
        </p:txBody>
      </p:sp>
      <p:sp>
        <p:nvSpPr>
          <p:cNvPr id="54" name="Rect 54"/>
          <p:cNvSpPr/>
          <p:nvPr/>
        </p:nvSpPr>
        <p:spPr>
          <a:xfrm>
            <a:off x="9921240" y="1371600"/>
            <a:ext cx="1481328" cy="310896"/>
          </a:xfrm>
          <a:prstGeom prst="roundRect">
            <a:avLst/>
          </a:prstGeom>
          <a:solidFill>
            <a:srgbClr val="E7DCFC"/>
          </a:solidFill>
          <a:ln w="10160">
            <a:solidFill>
              <a:srgbClr val="7C3AED"/>
            </a:solidFill>
          </a:ln>
        </p:spPr>
        <p:txBody>
          <a:bodyPr/>
          <a:lstStyle/>
          <a:p>
            <a:endParaRPr lang="en-US"/>
          </a:p>
        </p:txBody>
      </p:sp>
      <p:sp>
        <p:nvSpPr>
          <p:cNvPr id="55" name="Text 55"/>
          <p:cNvSpPr txBox="1"/>
          <p:nvPr/>
        </p:nvSpPr>
        <p:spPr>
          <a:xfrm>
            <a:off x="9994392" y="1421892"/>
            <a:ext cx="1335024" cy="192024"/>
          </a:xfrm>
          <a:prstGeom prst="rect">
            <a:avLst/>
          </a:prstGeom>
          <a:noFill/>
          <a:ln>
            <a:noFill/>
          </a:ln>
        </p:spPr>
        <p:txBody>
          <a:bodyPr wrap="square" anchor="t" lIns="0" rIns="0" tIns="0" bIns="0"/>
          <a:lstStyle/>
          <a:p>
            <a:pPr algn="ctr"/>
            <a:r>
              <a:rPr lang="en-US" sz="920" b="1" i="0" dirty="0">
                <a:solidFill>
                  <a:srgbClr val="7C3AED"/>
                </a:solidFill>
                <a:latin typeface="Arial"/>
              </a:rPr>
              <a:t>INTERPRETATION</a:t>
            </a:r>
            <a:endParaRPr lang="en-US" sz="920"/>
          </a:p>
        </p:txBody>
      </p:sp>
      <p:sp>
        <p:nvSpPr>
          <p:cNvPr id="56" name="Text 56"/>
          <p:cNvSpPr txBox="1"/>
          <p:nvPr/>
        </p:nvSpPr>
        <p:spPr>
          <a:xfrm>
            <a:off x="7360920" y="1353312"/>
            <a:ext cx="2359152" cy="365760"/>
          </a:xfrm>
          <a:prstGeom prst="rect">
            <a:avLst/>
          </a:prstGeom>
          <a:noFill/>
          <a:ln>
            <a:noFill/>
          </a:ln>
        </p:spPr>
        <p:txBody>
          <a:bodyPr wrap="square" anchor="t" lIns="0" rIns="0" tIns="0" bIns="0"/>
          <a:lstStyle/>
          <a:p>
            <a:pPr algn="r"/>
            <a:r>
              <a:rPr lang="en-US" sz="1030" b="0" i="0" dirty="0">
                <a:solidFill>
                  <a:srgbClr val="56647A"/>
                </a:solidFill>
                <a:latin typeface="Arial"/>
              </a:rPr>
              <a:t>Stages reflect consequences,</a:t>
            </a:r>
            <a:endParaRPr lang="en-US" sz="1030"/>
          </a:p>
          <a:p>
            <a:pPr algn="r"/>
            <a:r>
              <a:rPr lang="en-US" sz="1030" b="0" i="0" dirty="0">
                <a:solidFill>
                  <a:srgbClr val="56647A"/>
                </a:solidFill>
                <a:latin typeface="Arial"/>
              </a:rPr>
              <a:t>not change volume</a:t>
            </a:r>
            <a:endParaRPr lang="en-US" sz="1030"/>
          </a:p>
        </p:txBody>
      </p:sp>
      <p:cxnSp>
        <p:nvCxnSpPr>
          <p:cNvPr id="57" name="Line 57"/>
          <p:cNvCxnSpPr/>
          <p:nvPr/>
        </p:nvCxnSpPr>
        <p:spPr>
          <a:xfrm flipH="false" flipV="false">
            <a:off x="621792" y="6473952"/>
            <a:ext cx="10954512" cy="0"/>
          </a:xfrm>
          <a:prstGeom prst="line">
            <a:avLst/>
          </a:prstGeom>
          <a:ln w="10160">
            <a:solidFill>
              <a:srgbClr val="D7DFEA"/>
            </a:solidFill>
          </a:ln>
        </p:spPr>
      </p:cxnSp>
      <p:sp>
        <p:nvSpPr>
          <p:cNvPr id="58" name="Text 58"/>
          <p:cNvSpPr txBox="1"/>
          <p:nvPr/>
        </p:nvSpPr>
        <p:spPr>
          <a:xfrm>
            <a:off x="640080" y="6510528"/>
            <a:ext cx="10469880" cy="201168"/>
          </a:xfrm>
          <a:prstGeom prst="rect">
            <a:avLst/>
          </a:prstGeom>
          <a:noFill/>
          <a:ln>
            <a:noFill/>
          </a:ln>
        </p:spPr>
        <p:txBody>
          <a:bodyPr wrap="square" anchor="t" lIns="0" rIns="0" tIns="0" bIns="0"/>
          <a:lstStyle/>
          <a:p>
            <a:pPr algn="l"/>
            <a:r>
              <a:rPr lang="en-US" sz="720" b="0" i="0" dirty="0">
                <a:solidFill>
                  <a:srgbClr val="56647A"/>
                </a:solidFill>
                <a:latin typeface="Arial"/>
              </a:rPr>
              <a:t>timeline.csv • milestones.md • git log --first-parent --reverse</a:t>
            </a:r>
            <a:endParaRPr lang="en-US" sz="720"/>
          </a:p>
        </p:txBody>
      </p:sp>
      <p:sp>
        <p:nvSpPr>
          <p:cNvPr id="59" name="Text 59"/>
          <p:cNvSpPr txBox="1"/>
          <p:nvPr/>
        </p:nvSpPr>
        <p:spPr>
          <a:xfrm>
            <a:off x="11201400" y="6492240"/>
            <a:ext cx="329184" cy="201168"/>
          </a:xfrm>
          <a:prstGeom prst="rect">
            <a:avLst/>
          </a:prstGeom>
          <a:noFill/>
          <a:ln>
            <a:noFill/>
          </a:ln>
        </p:spPr>
        <p:txBody>
          <a:bodyPr wrap="square" anchor="t" lIns="0" rIns="0" tIns="0" bIns="0"/>
          <a:lstStyle/>
          <a:p>
            <a:pPr algn="r"/>
            <a:r>
              <a:rPr lang="en-US" sz="800" b="1" i="0" dirty="0">
                <a:solidFill>
                  <a:srgbClr val="56647A"/>
                </a:solidFill>
                <a:latin typeface="Arial"/>
              </a:rPr>
              <a:t>3</a:t>
            </a:r>
            <a:endParaRPr lang="en-US" sz="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F6F8FC"/>
          </a:solidFill>
          <a:ln w="12700">
            <a:solidFill>
              <a:srgbClr val="F6F8FC"/>
            </a:solidFill>
          </a:ln>
        </p:spPr>
        <p:txBody>
          <a:bodyPr/>
          <a:lstStyle/>
          <a:p>
            <a:endParaRPr lang="en-US"/>
          </a:p>
        </p:txBody>
      </p:sp>
      <p:sp>
        <p:nvSpPr>
          <p:cNvPr id="3" name="Text 3"/>
          <p:cNvSpPr txBox="1"/>
          <p:nvPr/>
        </p:nvSpPr>
        <p:spPr>
          <a:xfrm>
            <a:off x="621792" y="347472"/>
            <a:ext cx="10927080" cy="566928"/>
          </a:xfrm>
          <a:prstGeom prst="rect">
            <a:avLst/>
          </a:prstGeom>
          <a:noFill/>
          <a:ln>
            <a:noFill/>
          </a:ln>
        </p:spPr>
        <p:txBody>
          <a:bodyPr wrap="square" anchor="t" lIns="0" rIns="0" tIns="0" bIns="0"/>
          <a:lstStyle/>
          <a:p>
            <a:pPr algn="l"/>
            <a:r>
              <a:rPr lang="en-US" sz="2700" b="1" i="0" dirty="0">
                <a:solidFill>
                  <a:srgbClr val="14213D"/>
                </a:solidFill>
                <a:latin typeface="Arial"/>
              </a:rPr>
              <a:t>Versioned links were a foundation, not yet an operating system</a:t>
            </a:r>
            <a:endParaRPr lang="en-US" sz="2700"/>
          </a:p>
        </p:txBody>
      </p:sp>
      <p:sp>
        <p:nvSpPr>
          <p:cNvPr id="4" name="Text 4"/>
          <p:cNvSpPr txBox="1"/>
          <p:nvPr/>
        </p:nvSpPr>
        <p:spPr>
          <a:xfrm>
            <a:off x="640080" y="932688"/>
            <a:ext cx="10881360" cy="310896"/>
          </a:xfrm>
          <a:prstGeom prst="rect">
            <a:avLst/>
          </a:prstGeom>
          <a:noFill/>
          <a:ln>
            <a:noFill/>
          </a:ln>
        </p:spPr>
        <p:txBody>
          <a:bodyPr wrap="square" anchor="t" lIns="0" rIns="0" tIns="0" bIns="0"/>
          <a:lstStyle/>
          <a:p>
            <a:pPr algn="l"/>
            <a:r>
              <a:rPr lang="en-US" sz="1250" b="0" i="0" dirty="0">
                <a:solidFill>
                  <a:srgbClr val="56647A"/>
                </a:solidFill>
                <a:latin typeface="Arial"/>
              </a:rPr>
              <a:t>Initial architecture: portable discovery with a deliberately narrow ownership boundary</a:t>
            </a:r>
            <a:endParaRPr lang="en-US" sz="1250"/>
          </a:p>
        </p:txBody>
      </p:sp>
      <p:sp>
        <p:nvSpPr>
          <p:cNvPr id="5" name="Rect 5"/>
          <p:cNvSpPr/>
          <p:nvPr/>
        </p:nvSpPr>
        <p:spPr>
          <a:xfrm>
            <a:off x="749808" y="1874520"/>
            <a:ext cx="2011680" cy="1234440"/>
          </a:xfrm>
          <a:prstGeom prst="roundRect">
            <a:avLst/>
          </a:prstGeom>
          <a:solidFill>
            <a:srgbClr val="FFFFFF"/>
          </a:solidFill>
          <a:ln w="19050">
            <a:solidFill>
              <a:srgbClr val="3B82F6"/>
            </a:solidFill>
          </a:ln>
        </p:spPr>
        <p:txBody>
          <a:bodyPr/>
          <a:lstStyle/>
          <a:p>
            <a:endParaRPr lang="en-US"/>
          </a:p>
        </p:txBody>
      </p:sp>
      <p:sp>
        <p:nvSpPr>
          <p:cNvPr id="6" name="Text 6"/>
          <p:cNvSpPr txBox="1"/>
          <p:nvPr/>
        </p:nvSpPr>
        <p:spPr>
          <a:xfrm>
            <a:off x="877824" y="2112264"/>
            <a:ext cx="1755648" cy="301752"/>
          </a:xfrm>
          <a:prstGeom prst="rect">
            <a:avLst/>
          </a:prstGeom>
          <a:noFill/>
          <a:ln>
            <a:noFill/>
          </a:ln>
        </p:spPr>
        <p:txBody>
          <a:bodyPr wrap="square" anchor="t" lIns="0" rIns="0" tIns="0" bIns="0"/>
          <a:lstStyle/>
          <a:p>
            <a:pPr algn="ctr"/>
            <a:r>
              <a:rPr lang="en-US" sz="1600" b="1" i="0" dirty="0">
                <a:solidFill>
                  <a:srgbClr val="3B82F6"/>
                </a:solidFill>
                <a:latin typeface="Arial"/>
              </a:rPr>
              <a:t>Git repository</a:t>
            </a:r>
            <a:endParaRPr lang="en-US" sz="1600"/>
          </a:p>
        </p:txBody>
      </p:sp>
      <p:sp>
        <p:nvSpPr>
          <p:cNvPr id="7" name="Text 7"/>
          <p:cNvSpPr txBox="1"/>
          <p:nvPr/>
        </p:nvSpPr>
        <p:spPr>
          <a:xfrm>
            <a:off x="877824" y="2587752"/>
            <a:ext cx="1755648" cy="219456"/>
          </a:xfrm>
          <a:prstGeom prst="rect">
            <a:avLst/>
          </a:prstGeom>
          <a:noFill/>
          <a:ln>
            <a:noFill/>
          </a:ln>
        </p:spPr>
        <p:txBody>
          <a:bodyPr wrap="square" anchor="t" lIns="0" rIns="0" tIns="0" bIns="0"/>
          <a:lstStyle/>
          <a:p>
            <a:pPr algn="ctr"/>
            <a:r>
              <a:rPr lang="en-US" sz="1050" b="0" i="0" dirty="0">
                <a:solidFill>
                  <a:srgbClr val="56647A"/>
                </a:solidFill>
                <a:latin typeface="Arial"/>
              </a:rPr>
              <a:t>policy • rules • skills</a:t>
            </a:r>
            <a:endParaRPr lang="en-US" sz="1050"/>
          </a:p>
        </p:txBody>
      </p:sp>
      <p:sp>
        <p:nvSpPr>
          <p:cNvPr id="8" name="Rect 8"/>
          <p:cNvSpPr/>
          <p:nvPr/>
        </p:nvSpPr>
        <p:spPr>
          <a:xfrm>
            <a:off x="3246120" y="1874520"/>
            <a:ext cx="2011680" cy="1234440"/>
          </a:xfrm>
          <a:prstGeom prst="roundRect">
            <a:avLst/>
          </a:prstGeom>
          <a:solidFill>
            <a:srgbClr val="FFFFFF"/>
          </a:solidFill>
          <a:ln w="19050">
            <a:solidFill>
              <a:srgbClr val="0D9488"/>
            </a:solidFill>
          </a:ln>
        </p:spPr>
        <p:txBody>
          <a:bodyPr/>
          <a:lstStyle/>
          <a:p>
            <a:endParaRPr lang="en-US"/>
          </a:p>
        </p:txBody>
      </p:sp>
      <p:sp>
        <p:nvSpPr>
          <p:cNvPr id="9" name="Text 9"/>
          <p:cNvSpPr txBox="1"/>
          <p:nvPr/>
        </p:nvSpPr>
        <p:spPr>
          <a:xfrm>
            <a:off x="3374136" y="2112264"/>
            <a:ext cx="1755648" cy="301752"/>
          </a:xfrm>
          <a:prstGeom prst="rect">
            <a:avLst/>
          </a:prstGeom>
          <a:noFill/>
          <a:ln>
            <a:noFill/>
          </a:ln>
        </p:spPr>
        <p:txBody>
          <a:bodyPr wrap="square" anchor="t" lIns="0" rIns="0" tIns="0" bIns="0"/>
          <a:lstStyle/>
          <a:p>
            <a:pPr algn="ctr"/>
            <a:r>
              <a:rPr lang="en-US" sz="1600" b="1" i="0" dirty="0">
                <a:solidFill>
                  <a:srgbClr val="0D9488"/>
                </a:solidFill>
                <a:latin typeface="Arial"/>
              </a:rPr>
              <a:t>Installer</a:t>
            </a:r>
            <a:endParaRPr lang="en-US" sz="1600"/>
          </a:p>
        </p:txBody>
      </p:sp>
      <p:sp>
        <p:nvSpPr>
          <p:cNvPr id="10" name="Text 10"/>
          <p:cNvSpPr txBox="1"/>
          <p:nvPr/>
        </p:nvSpPr>
        <p:spPr>
          <a:xfrm>
            <a:off x="3374136" y="2587752"/>
            <a:ext cx="1755648" cy="219456"/>
          </a:xfrm>
          <a:prstGeom prst="rect">
            <a:avLst/>
          </a:prstGeom>
          <a:noFill/>
          <a:ln>
            <a:noFill/>
          </a:ln>
        </p:spPr>
        <p:txBody>
          <a:bodyPr wrap="square" anchor="t" lIns="0" rIns="0" tIns="0" bIns="0"/>
          <a:lstStyle/>
          <a:p>
            <a:pPr algn="ctr"/>
            <a:r>
              <a:rPr lang="en-US" sz="1050" b="0" i="0" dirty="0">
                <a:solidFill>
                  <a:srgbClr val="56647A"/>
                </a:solidFill>
                <a:latin typeface="Arial"/>
              </a:rPr>
              <a:t>preflight every link</a:t>
            </a:r>
            <a:endParaRPr lang="en-US" sz="1050"/>
          </a:p>
        </p:txBody>
      </p:sp>
      <p:sp>
        <p:nvSpPr>
          <p:cNvPr id="11" name="Rect 11"/>
          <p:cNvSpPr/>
          <p:nvPr/>
        </p:nvSpPr>
        <p:spPr>
          <a:xfrm>
            <a:off x="5742432" y="1874520"/>
            <a:ext cx="2011680" cy="1234440"/>
          </a:xfrm>
          <a:prstGeom prst="roundRect">
            <a:avLst/>
          </a:prstGeom>
          <a:solidFill>
            <a:srgbClr val="FFFFFF"/>
          </a:solidFill>
          <a:ln w="19050">
            <a:solidFill>
              <a:srgbClr val="06B6D4"/>
            </a:solidFill>
          </a:ln>
        </p:spPr>
        <p:txBody>
          <a:bodyPr/>
          <a:lstStyle/>
          <a:p>
            <a:endParaRPr lang="en-US"/>
          </a:p>
        </p:txBody>
      </p:sp>
      <p:sp>
        <p:nvSpPr>
          <p:cNvPr id="12" name="Text 12"/>
          <p:cNvSpPr txBox="1"/>
          <p:nvPr/>
        </p:nvSpPr>
        <p:spPr>
          <a:xfrm>
            <a:off x="5870448" y="2112264"/>
            <a:ext cx="1755648" cy="301752"/>
          </a:xfrm>
          <a:prstGeom prst="rect">
            <a:avLst/>
          </a:prstGeom>
          <a:noFill/>
          <a:ln>
            <a:noFill/>
          </a:ln>
        </p:spPr>
        <p:txBody>
          <a:bodyPr wrap="square" anchor="t" lIns="0" rIns="0" tIns="0" bIns="0"/>
          <a:lstStyle/>
          <a:p>
            <a:pPr algn="ctr"/>
            <a:r>
              <a:rPr lang="en-US" sz="1600" b="1" i="0" dirty="0">
                <a:solidFill>
                  <a:srgbClr val="06B6D4"/>
                </a:solidFill>
                <a:latin typeface="Arial"/>
              </a:rPr>
              <a:t>Known symlinks</a:t>
            </a:r>
            <a:endParaRPr lang="en-US" sz="1600"/>
          </a:p>
        </p:txBody>
      </p:sp>
      <p:sp>
        <p:nvSpPr>
          <p:cNvPr id="13" name="Text 13"/>
          <p:cNvSpPr txBox="1"/>
          <p:nvPr/>
        </p:nvSpPr>
        <p:spPr>
          <a:xfrm>
            <a:off x="5870448" y="2587752"/>
            <a:ext cx="1755648" cy="219456"/>
          </a:xfrm>
          <a:prstGeom prst="rect">
            <a:avLst/>
          </a:prstGeom>
          <a:noFill/>
          <a:ln>
            <a:noFill/>
          </a:ln>
        </p:spPr>
        <p:txBody>
          <a:bodyPr wrap="square" anchor="t" lIns="0" rIns="0" tIns="0" bIns="0"/>
          <a:lstStyle/>
          <a:p>
            <a:pPr algn="ctr"/>
            <a:r>
              <a:rPr lang="en-US" sz="1050" b="0" i="0" dirty="0">
                <a:solidFill>
                  <a:srgbClr val="56647A"/>
                </a:solidFill>
                <a:latin typeface="Arial"/>
              </a:rPr>
              <a:t>create or refuse</a:t>
            </a:r>
            <a:endParaRPr lang="en-US" sz="1050"/>
          </a:p>
        </p:txBody>
      </p:sp>
      <p:sp>
        <p:nvSpPr>
          <p:cNvPr id="14" name="Rect 14"/>
          <p:cNvSpPr/>
          <p:nvPr/>
        </p:nvSpPr>
        <p:spPr>
          <a:xfrm>
            <a:off x="8238744" y="1874520"/>
            <a:ext cx="2834640" cy="1234440"/>
          </a:xfrm>
          <a:prstGeom prst="roundRect">
            <a:avLst/>
          </a:prstGeom>
          <a:solidFill>
            <a:srgbClr val="FFFFFF"/>
          </a:solidFill>
          <a:ln w="19050">
            <a:solidFill>
              <a:srgbClr val="7C3AED"/>
            </a:solidFill>
          </a:ln>
        </p:spPr>
        <p:txBody>
          <a:bodyPr/>
          <a:lstStyle/>
          <a:p>
            <a:endParaRPr lang="en-US"/>
          </a:p>
        </p:txBody>
      </p:sp>
      <p:sp>
        <p:nvSpPr>
          <p:cNvPr id="15" name="Text 15"/>
          <p:cNvSpPr txBox="1"/>
          <p:nvPr/>
        </p:nvSpPr>
        <p:spPr>
          <a:xfrm>
            <a:off x="8366760" y="2112264"/>
            <a:ext cx="2578608" cy="301752"/>
          </a:xfrm>
          <a:prstGeom prst="rect">
            <a:avLst/>
          </a:prstGeom>
          <a:noFill/>
          <a:ln>
            <a:noFill/>
          </a:ln>
        </p:spPr>
        <p:txBody>
          <a:bodyPr wrap="square" anchor="t" lIns="0" rIns="0" tIns="0" bIns="0"/>
          <a:lstStyle/>
          <a:p>
            <a:pPr algn="ctr"/>
            <a:r>
              <a:rPr lang="en-US" sz="1600" b="1" i="0" dirty="0">
                <a:solidFill>
                  <a:srgbClr val="7C3AED"/>
                </a:solidFill>
                <a:latin typeface="Arial"/>
              </a:rPr>
              <a:t>Client discovery</a:t>
            </a:r>
            <a:endParaRPr lang="en-US" sz="1600"/>
          </a:p>
        </p:txBody>
      </p:sp>
      <p:sp>
        <p:nvSpPr>
          <p:cNvPr id="16" name="Text 16"/>
          <p:cNvSpPr txBox="1"/>
          <p:nvPr/>
        </p:nvSpPr>
        <p:spPr>
          <a:xfrm>
            <a:off x="8366760" y="2587752"/>
            <a:ext cx="2578608" cy="219456"/>
          </a:xfrm>
          <a:prstGeom prst="rect">
            <a:avLst/>
          </a:prstGeom>
          <a:noFill/>
          <a:ln>
            <a:noFill/>
          </a:ln>
        </p:spPr>
        <p:txBody>
          <a:bodyPr wrap="square" anchor="t" lIns="0" rIns="0" tIns="0" bIns="0"/>
          <a:lstStyle/>
          <a:p>
            <a:pPr algn="ctr"/>
            <a:r>
              <a:rPr lang="en-US" sz="1050" b="0" i="0" dirty="0">
                <a:solidFill>
                  <a:srgbClr val="56647A"/>
                </a:solidFill>
                <a:latin typeface="Arial"/>
              </a:rPr>
              <a:t>Codex + Claude</a:t>
            </a:r>
            <a:endParaRPr lang="en-US" sz="1050"/>
          </a:p>
        </p:txBody>
      </p:sp>
      <p:cxnSp>
        <p:nvCxnSpPr>
          <p:cNvPr id="17" name="Line 17"/>
          <p:cNvCxnSpPr/>
          <p:nvPr/>
        </p:nvCxnSpPr>
        <p:spPr>
          <a:xfrm flipH="false" flipV="false">
            <a:off x="2834640" y="2487168"/>
            <a:ext cx="329184" cy="0"/>
          </a:xfrm>
          <a:prstGeom prst="line">
            <a:avLst/>
          </a:prstGeom>
          <a:ln w="22860">
            <a:solidFill>
              <a:srgbClr val="334155"/>
            </a:solidFill>
            <a:tailEnd type="triangle"/>
          </a:ln>
        </p:spPr>
      </p:cxnSp>
      <p:cxnSp>
        <p:nvCxnSpPr>
          <p:cNvPr id="18" name="Line 18"/>
          <p:cNvCxnSpPr/>
          <p:nvPr/>
        </p:nvCxnSpPr>
        <p:spPr>
          <a:xfrm flipH="false" flipV="false">
            <a:off x="5330952" y="2487168"/>
            <a:ext cx="329184" cy="0"/>
          </a:xfrm>
          <a:prstGeom prst="line">
            <a:avLst/>
          </a:prstGeom>
          <a:ln w="22860">
            <a:solidFill>
              <a:srgbClr val="334155"/>
            </a:solidFill>
            <a:tailEnd type="triangle"/>
          </a:ln>
        </p:spPr>
      </p:cxnSp>
      <p:cxnSp>
        <p:nvCxnSpPr>
          <p:cNvPr id="19" name="Line 19"/>
          <p:cNvCxnSpPr/>
          <p:nvPr/>
        </p:nvCxnSpPr>
        <p:spPr>
          <a:xfrm flipH="false" flipV="false">
            <a:off x="7827264" y="2487168"/>
            <a:ext cx="329184" cy="0"/>
          </a:xfrm>
          <a:prstGeom prst="line">
            <a:avLst/>
          </a:prstGeom>
          <a:ln w="22860">
            <a:solidFill>
              <a:srgbClr val="334155"/>
            </a:solidFill>
            <a:tailEnd type="triangle"/>
          </a:ln>
        </p:spPr>
      </p:cxnSp>
      <p:sp>
        <p:nvSpPr>
          <p:cNvPr id="20" name="Rect 20"/>
          <p:cNvSpPr/>
          <p:nvPr/>
        </p:nvSpPr>
        <p:spPr>
          <a:xfrm>
            <a:off x="749808" y="3465576"/>
            <a:ext cx="10323576" cy="566928"/>
          </a:xfrm>
          <a:prstGeom prst="roundRect">
            <a:avLst/>
          </a:prstGeom>
          <a:solidFill>
            <a:srgbClr val="E8EDF4"/>
          </a:solidFill>
          <a:ln w="12700">
            <a:solidFill>
              <a:srgbClr val="C5CFDC"/>
            </a:solidFill>
            <a:prstDash val="dash"/>
          </a:ln>
        </p:spPr>
        <p:txBody>
          <a:bodyPr/>
          <a:lstStyle/>
          <a:p>
            <a:endParaRPr lang="en-US"/>
          </a:p>
        </p:txBody>
      </p:sp>
      <p:sp>
        <p:nvSpPr>
          <p:cNvPr id="21" name="Text 21"/>
          <p:cNvSpPr txBox="1"/>
          <p:nvPr/>
        </p:nvSpPr>
        <p:spPr>
          <a:xfrm>
            <a:off x="1005840" y="3621024"/>
            <a:ext cx="9802368" cy="201168"/>
          </a:xfrm>
          <a:prstGeom prst="rect">
            <a:avLst/>
          </a:prstGeom>
          <a:noFill/>
          <a:ln>
            <a:noFill/>
          </a:ln>
        </p:spPr>
        <p:txBody>
          <a:bodyPr wrap="square" anchor="t" lIns="0" rIns="0" tIns="0" bIns="0"/>
          <a:lstStyle/>
          <a:p>
            <a:pPr algn="ctr"/>
            <a:r>
              <a:rPr lang="en-US" sz="1120" b="0" i="0" dirty="0">
                <a:solidFill>
                  <a:srgbClr val="56647A"/>
                </a:solidFill>
                <a:latin typeface="Arial"/>
              </a:rPr>
              <a:t>Outside ownership: credentials • runtime state • live configuration • site substrate</a:t>
            </a:r>
            <a:endParaRPr lang="en-US" sz="1120"/>
          </a:p>
        </p:txBody>
      </p:sp>
      <p:sp>
        <p:nvSpPr>
          <p:cNvPr id="22" name="Text 22"/>
          <p:cNvSpPr txBox="1"/>
          <p:nvPr/>
        </p:nvSpPr>
        <p:spPr>
          <a:xfrm>
            <a:off x="749808" y="4407408"/>
            <a:ext cx="2011680" cy="274320"/>
          </a:xfrm>
          <a:prstGeom prst="rect">
            <a:avLst/>
          </a:prstGeom>
          <a:noFill/>
          <a:ln>
            <a:noFill/>
          </a:ln>
        </p:spPr>
        <p:txBody>
          <a:bodyPr wrap="square" anchor="t" lIns="0" rIns="0" tIns="0" bIns="0"/>
          <a:lstStyle/>
          <a:p>
            <a:pPr algn="l"/>
            <a:r>
              <a:rPr lang="en-US" sz="1500" b="1" i="0" dirty="0">
                <a:solidFill>
                  <a:srgbClr val="14213D"/>
                </a:solidFill>
                <a:latin typeface="Arial"/>
              </a:rPr>
              <a:t>What it could not do</a:t>
            </a:r>
            <a:endParaRPr lang="en-US" sz="1500"/>
          </a:p>
        </p:txBody>
      </p:sp>
      <p:sp>
        <p:nvSpPr>
          <p:cNvPr id="23" name="Rect 23"/>
          <p:cNvSpPr/>
          <p:nvPr/>
        </p:nvSpPr>
        <p:spPr>
          <a:xfrm>
            <a:off x="749808" y="4855464"/>
            <a:ext cx="2487168" cy="914400"/>
          </a:xfrm>
          <a:prstGeom prst="roundRect">
            <a:avLst/>
          </a:prstGeom>
          <a:solidFill>
            <a:srgbClr val="FFFFFF"/>
          </a:solidFill>
          <a:ln w="12700">
            <a:solidFill>
              <a:srgbClr val="C5CFDC"/>
            </a:solidFill>
            <a:prstDash val="dash"/>
          </a:ln>
        </p:spPr>
        <p:txBody>
          <a:bodyPr/>
          <a:lstStyle/>
          <a:p>
            <a:endParaRPr lang="en-US"/>
          </a:p>
        </p:txBody>
      </p:sp>
      <p:sp>
        <p:nvSpPr>
          <p:cNvPr id="24" name="Text 24"/>
          <p:cNvSpPr txBox="1"/>
          <p:nvPr/>
        </p:nvSpPr>
        <p:spPr>
          <a:xfrm>
            <a:off x="886968" y="5020056"/>
            <a:ext cx="2212848" cy="237744"/>
          </a:xfrm>
          <a:prstGeom prst="rect">
            <a:avLst/>
          </a:prstGeom>
          <a:noFill/>
          <a:ln>
            <a:noFill/>
          </a:ln>
        </p:spPr>
        <p:txBody>
          <a:bodyPr wrap="square" anchor="t" lIns="0" rIns="0" tIns="0" bIns="0"/>
          <a:lstStyle/>
          <a:p>
            <a:pPr algn="ctr"/>
            <a:r>
              <a:rPr lang="en-US" sz="1320" b="1" i="0" dirty="0">
                <a:solidFill>
                  <a:srgbClr val="334155"/>
                </a:solidFill>
                <a:latin typeface="Arial"/>
              </a:rPr>
              <a:t>No inventory</a:t>
            </a:r>
            <a:endParaRPr lang="en-US" sz="1320"/>
          </a:p>
        </p:txBody>
      </p:sp>
      <p:sp>
        <p:nvSpPr>
          <p:cNvPr id="25" name="Text 25"/>
          <p:cNvSpPr txBox="1"/>
          <p:nvPr/>
        </p:nvSpPr>
        <p:spPr>
          <a:xfrm>
            <a:off x="886968" y="5367528"/>
            <a:ext cx="2212848" cy="192024"/>
          </a:xfrm>
          <a:prstGeom prst="rect">
            <a:avLst/>
          </a:prstGeom>
          <a:noFill/>
          <a:ln>
            <a:noFill/>
          </a:ln>
        </p:spPr>
        <p:txBody>
          <a:bodyPr wrap="square" anchor="t" lIns="0" rIns="0" tIns="0" bIns="0"/>
          <a:lstStyle/>
          <a:p>
            <a:pPr algn="ctr"/>
            <a:r>
              <a:rPr lang="en-US" sz="950" b="0" i="0" dirty="0">
                <a:solidFill>
                  <a:srgbClr val="56647A"/>
                </a:solidFill>
                <a:latin typeface="Arial"/>
              </a:rPr>
              <a:t>machine unknown</a:t>
            </a:r>
            <a:endParaRPr lang="en-US" sz="950"/>
          </a:p>
        </p:txBody>
      </p:sp>
      <p:sp>
        <p:nvSpPr>
          <p:cNvPr id="26" name="Rect 26"/>
          <p:cNvSpPr/>
          <p:nvPr/>
        </p:nvSpPr>
        <p:spPr>
          <a:xfrm>
            <a:off x="3511296" y="4855464"/>
            <a:ext cx="2487168" cy="914400"/>
          </a:xfrm>
          <a:prstGeom prst="roundRect">
            <a:avLst/>
          </a:prstGeom>
          <a:solidFill>
            <a:srgbClr val="FFFFFF"/>
          </a:solidFill>
          <a:ln w="12700">
            <a:solidFill>
              <a:srgbClr val="C5CFDC"/>
            </a:solidFill>
            <a:prstDash val="dash"/>
          </a:ln>
        </p:spPr>
        <p:txBody>
          <a:bodyPr/>
          <a:lstStyle/>
          <a:p>
            <a:endParaRPr lang="en-US"/>
          </a:p>
        </p:txBody>
      </p:sp>
      <p:sp>
        <p:nvSpPr>
          <p:cNvPr id="27" name="Text 27"/>
          <p:cNvSpPr txBox="1"/>
          <p:nvPr/>
        </p:nvSpPr>
        <p:spPr>
          <a:xfrm>
            <a:off x="3648456" y="5020056"/>
            <a:ext cx="2212848" cy="237744"/>
          </a:xfrm>
          <a:prstGeom prst="rect">
            <a:avLst/>
          </a:prstGeom>
          <a:noFill/>
          <a:ln>
            <a:noFill/>
          </a:ln>
        </p:spPr>
        <p:txBody>
          <a:bodyPr wrap="square" anchor="t" lIns="0" rIns="0" tIns="0" bIns="0"/>
          <a:lstStyle/>
          <a:p>
            <a:pPr algn="ctr"/>
            <a:r>
              <a:rPr lang="en-US" sz="1320" b="1" i="0" dirty="0">
                <a:solidFill>
                  <a:srgbClr val="334155"/>
                </a:solidFill>
                <a:latin typeface="Arial"/>
              </a:rPr>
              <a:t>No comparison</a:t>
            </a:r>
            <a:endParaRPr lang="en-US" sz="1320"/>
          </a:p>
        </p:txBody>
      </p:sp>
      <p:sp>
        <p:nvSpPr>
          <p:cNvPr id="28" name="Text 28"/>
          <p:cNvSpPr txBox="1"/>
          <p:nvPr/>
        </p:nvSpPr>
        <p:spPr>
          <a:xfrm>
            <a:off x="3648456" y="5367528"/>
            <a:ext cx="2212848" cy="192024"/>
          </a:xfrm>
          <a:prstGeom prst="rect">
            <a:avLst/>
          </a:prstGeom>
          <a:noFill/>
          <a:ln>
            <a:noFill/>
          </a:ln>
        </p:spPr>
        <p:txBody>
          <a:bodyPr wrap="square" anchor="t" lIns="0" rIns="0" tIns="0" bIns="0"/>
          <a:lstStyle/>
          <a:p>
            <a:pPr algn="ctr"/>
            <a:r>
              <a:rPr lang="en-US" sz="950" b="0" i="0" dirty="0">
                <a:solidFill>
                  <a:srgbClr val="56647A"/>
                </a:solidFill>
                <a:latin typeface="Arial"/>
              </a:rPr>
              <a:t>desired state unknown</a:t>
            </a:r>
            <a:endParaRPr lang="en-US" sz="950"/>
          </a:p>
        </p:txBody>
      </p:sp>
      <p:sp>
        <p:nvSpPr>
          <p:cNvPr id="29" name="Rect 29"/>
          <p:cNvSpPr/>
          <p:nvPr/>
        </p:nvSpPr>
        <p:spPr>
          <a:xfrm>
            <a:off x="6272784" y="4855464"/>
            <a:ext cx="2487168" cy="914400"/>
          </a:xfrm>
          <a:prstGeom prst="roundRect">
            <a:avLst/>
          </a:prstGeom>
          <a:solidFill>
            <a:srgbClr val="FFFFFF"/>
          </a:solidFill>
          <a:ln w="12700">
            <a:solidFill>
              <a:srgbClr val="C5CFDC"/>
            </a:solidFill>
            <a:prstDash val="dash"/>
          </a:ln>
        </p:spPr>
        <p:txBody>
          <a:bodyPr/>
          <a:lstStyle/>
          <a:p>
            <a:endParaRPr lang="en-US"/>
          </a:p>
        </p:txBody>
      </p:sp>
      <p:sp>
        <p:nvSpPr>
          <p:cNvPr id="30" name="Text 30"/>
          <p:cNvSpPr txBox="1"/>
          <p:nvPr/>
        </p:nvSpPr>
        <p:spPr>
          <a:xfrm>
            <a:off x="6409944" y="5020056"/>
            <a:ext cx="2212848" cy="237744"/>
          </a:xfrm>
          <a:prstGeom prst="rect">
            <a:avLst/>
          </a:prstGeom>
          <a:noFill/>
          <a:ln>
            <a:noFill/>
          </a:ln>
        </p:spPr>
        <p:txBody>
          <a:bodyPr wrap="square" anchor="t" lIns="0" rIns="0" tIns="0" bIns="0"/>
          <a:lstStyle/>
          <a:p>
            <a:pPr algn="ctr"/>
            <a:r>
              <a:rPr lang="en-US" sz="1320" b="1" i="0" dirty="0">
                <a:solidFill>
                  <a:srgbClr val="334155"/>
                </a:solidFill>
                <a:latin typeface="Arial"/>
              </a:rPr>
              <a:t>No mutation</a:t>
            </a:r>
            <a:endParaRPr lang="en-US" sz="1320"/>
          </a:p>
        </p:txBody>
      </p:sp>
      <p:sp>
        <p:nvSpPr>
          <p:cNvPr id="31" name="Text 31"/>
          <p:cNvSpPr txBox="1"/>
          <p:nvPr/>
        </p:nvSpPr>
        <p:spPr>
          <a:xfrm>
            <a:off x="6409944" y="5367528"/>
            <a:ext cx="2212848" cy="192024"/>
          </a:xfrm>
          <a:prstGeom prst="rect">
            <a:avLst/>
          </a:prstGeom>
          <a:noFill/>
          <a:ln>
            <a:noFill/>
          </a:ln>
        </p:spPr>
        <p:txBody>
          <a:bodyPr wrap="square" anchor="t" lIns="0" rIns="0" tIns="0" bIns="0"/>
          <a:lstStyle/>
          <a:p>
            <a:pPr algn="ctr"/>
            <a:r>
              <a:rPr lang="en-US" sz="950" b="0" i="0" dirty="0">
                <a:solidFill>
                  <a:srgbClr val="56647A"/>
                </a:solidFill>
                <a:latin typeface="Arial"/>
              </a:rPr>
              <a:t>manual coordination</a:t>
            </a:r>
            <a:endParaRPr lang="en-US" sz="950"/>
          </a:p>
        </p:txBody>
      </p:sp>
      <p:sp>
        <p:nvSpPr>
          <p:cNvPr id="32" name="Rect 32"/>
          <p:cNvSpPr/>
          <p:nvPr/>
        </p:nvSpPr>
        <p:spPr>
          <a:xfrm>
            <a:off x="9034272" y="4855464"/>
            <a:ext cx="2487168" cy="914400"/>
          </a:xfrm>
          <a:prstGeom prst="roundRect">
            <a:avLst/>
          </a:prstGeom>
          <a:solidFill>
            <a:srgbClr val="FFFFFF"/>
          </a:solidFill>
          <a:ln w="12700">
            <a:solidFill>
              <a:srgbClr val="C5CFDC"/>
            </a:solidFill>
            <a:prstDash val="dash"/>
          </a:ln>
        </p:spPr>
        <p:txBody>
          <a:bodyPr/>
          <a:lstStyle/>
          <a:p>
            <a:endParaRPr lang="en-US"/>
          </a:p>
        </p:txBody>
      </p:sp>
      <p:sp>
        <p:nvSpPr>
          <p:cNvPr id="33" name="Text 33"/>
          <p:cNvSpPr txBox="1"/>
          <p:nvPr/>
        </p:nvSpPr>
        <p:spPr>
          <a:xfrm>
            <a:off x="9171432" y="5020056"/>
            <a:ext cx="2212848" cy="237744"/>
          </a:xfrm>
          <a:prstGeom prst="rect">
            <a:avLst/>
          </a:prstGeom>
          <a:noFill/>
          <a:ln>
            <a:noFill/>
          </a:ln>
        </p:spPr>
        <p:txBody>
          <a:bodyPr wrap="square" anchor="t" lIns="0" rIns="0" tIns="0" bIns="0"/>
          <a:lstStyle/>
          <a:p>
            <a:pPr algn="ctr"/>
            <a:r>
              <a:rPr lang="en-US" sz="1320" b="1" i="0" dirty="0">
                <a:solidFill>
                  <a:srgbClr val="334155"/>
                </a:solidFill>
                <a:latin typeface="Arial"/>
              </a:rPr>
              <a:t>No verification</a:t>
            </a:r>
            <a:endParaRPr lang="en-US" sz="1320"/>
          </a:p>
        </p:txBody>
      </p:sp>
      <p:sp>
        <p:nvSpPr>
          <p:cNvPr id="34" name="Text 34"/>
          <p:cNvSpPr txBox="1"/>
          <p:nvPr/>
        </p:nvSpPr>
        <p:spPr>
          <a:xfrm>
            <a:off x="9171432" y="5367528"/>
            <a:ext cx="2212848" cy="192024"/>
          </a:xfrm>
          <a:prstGeom prst="rect">
            <a:avLst/>
          </a:prstGeom>
          <a:noFill/>
          <a:ln>
            <a:noFill/>
          </a:ln>
        </p:spPr>
        <p:txBody>
          <a:bodyPr wrap="square" anchor="t" lIns="0" rIns="0" tIns="0" bIns="0"/>
          <a:lstStyle/>
          <a:p>
            <a:pPr algn="ctr"/>
            <a:r>
              <a:rPr lang="en-US" sz="950" b="0" i="0" dirty="0">
                <a:solidFill>
                  <a:srgbClr val="56647A"/>
                </a:solidFill>
                <a:latin typeface="Arial"/>
              </a:rPr>
              <a:t>health unproven</a:t>
            </a:r>
            <a:endParaRPr lang="en-US" sz="950"/>
          </a:p>
        </p:txBody>
      </p:sp>
      <p:cxnSp>
        <p:nvCxnSpPr>
          <p:cNvPr id="35" name="Line 35"/>
          <p:cNvCxnSpPr/>
          <p:nvPr/>
        </p:nvCxnSpPr>
        <p:spPr>
          <a:xfrm flipH="false" flipV="false">
            <a:off x="621792" y="6473952"/>
            <a:ext cx="10954512" cy="0"/>
          </a:xfrm>
          <a:prstGeom prst="line">
            <a:avLst/>
          </a:prstGeom>
          <a:ln w="10160">
            <a:solidFill>
              <a:srgbClr val="D7DFEA"/>
            </a:solidFill>
          </a:ln>
        </p:spPr>
      </p:cxnSp>
      <p:sp>
        <p:nvSpPr>
          <p:cNvPr id="36" name="Text 36"/>
          <p:cNvSpPr txBox="1"/>
          <p:nvPr/>
        </p:nvSpPr>
        <p:spPr>
          <a:xfrm>
            <a:off x="640080" y="6510528"/>
            <a:ext cx="10469880" cy="201168"/>
          </a:xfrm>
          <a:prstGeom prst="rect">
            <a:avLst/>
          </a:prstGeom>
          <a:noFill/>
          <a:ln>
            <a:noFill/>
          </a:ln>
        </p:spPr>
        <p:txBody>
          <a:bodyPr wrap="square" anchor="t" lIns="0" rIns="0" tIns="0" bIns="0"/>
          <a:lstStyle/>
          <a:p>
            <a:pPr algn="l"/>
            <a:r>
              <a:rPr lang="en-US" sz="720" b="0" i="0" dirty="0">
                <a:solidFill>
                  <a:srgbClr val="56647A"/>
                </a:solidFill>
                <a:latin typeface="Arial"/>
              </a:rPr>
              <a:t>7f969317 • 805db485 • milestone diff to fb417282</a:t>
            </a:r>
            <a:endParaRPr lang="en-US" sz="720"/>
          </a:p>
        </p:txBody>
      </p:sp>
      <p:sp>
        <p:nvSpPr>
          <p:cNvPr id="37" name="Text 37"/>
          <p:cNvSpPr txBox="1"/>
          <p:nvPr/>
        </p:nvSpPr>
        <p:spPr>
          <a:xfrm>
            <a:off x="11201400" y="6492240"/>
            <a:ext cx="329184" cy="201168"/>
          </a:xfrm>
          <a:prstGeom prst="rect">
            <a:avLst/>
          </a:prstGeom>
          <a:noFill/>
          <a:ln>
            <a:noFill/>
          </a:ln>
        </p:spPr>
        <p:txBody>
          <a:bodyPr wrap="square" anchor="t" lIns="0" rIns="0" tIns="0" bIns="0"/>
          <a:lstStyle/>
          <a:p>
            <a:pPr algn="r"/>
            <a:r>
              <a:rPr lang="en-US" sz="800" b="1" i="0" dirty="0">
                <a:solidFill>
                  <a:srgbClr val="56647A"/>
                </a:solidFill>
                <a:latin typeface="Arial"/>
              </a:rPr>
              <a:t>4</a:t>
            </a:r>
            <a:endParaRPr lang="en-US" sz="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FFFFFF"/>
          </a:solidFill>
          <a:ln w="12700">
            <a:solidFill>
              <a:srgbClr val="FFFFFF"/>
            </a:solidFill>
          </a:ln>
        </p:spPr>
        <p:txBody>
          <a:bodyPr/>
          <a:lstStyle/>
          <a:p>
            <a:endParaRPr lang="en-US"/>
          </a:p>
        </p:txBody>
      </p:sp>
      <p:sp>
        <p:nvSpPr>
          <p:cNvPr id="3" name="Text 3"/>
          <p:cNvSpPr txBox="1"/>
          <p:nvPr/>
        </p:nvSpPr>
        <p:spPr>
          <a:xfrm>
            <a:off x="621792" y="347472"/>
            <a:ext cx="10927080" cy="566928"/>
          </a:xfrm>
          <a:prstGeom prst="rect">
            <a:avLst/>
          </a:prstGeom>
          <a:noFill/>
          <a:ln>
            <a:noFill/>
          </a:ln>
        </p:spPr>
        <p:txBody>
          <a:bodyPr wrap="square" anchor="t" lIns="0" rIns="0" tIns="0" bIns="0"/>
          <a:lstStyle/>
          <a:p>
            <a:pPr algn="l"/>
            <a:r>
              <a:rPr lang="en-US" sz="2700" b="1" i="0" dirty="0">
                <a:solidFill>
                  <a:srgbClr val="14213D"/>
                </a:solidFill>
                <a:latin typeface="Arial"/>
              </a:rPr>
              <a:t>Value-free observation made heterogeneity actionable</a:t>
            </a:r>
            <a:endParaRPr lang="en-US" sz="2700"/>
          </a:p>
        </p:txBody>
      </p:sp>
      <p:sp>
        <p:nvSpPr>
          <p:cNvPr id="4" name="Text 4"/>
          <p:cNvSpPr txBox="1"/>
          <p:nvPr/>
        </p:nvSpPr>
        <p:spPr>
          <a:xfrm>
            <a:off x="640080" y="932688"/>
            <a:ext cx="10881360" cy="310896"/>
          </a:xfrm>
          <a:prstGeom prst="rect">
            <a:avLst/>
          </a:prstGeom>
          <a:noFill/>
          <a:ln>
            <a:noFill/>
          </a:ln>
        </p:spPr>
        <p:txBody>
          <a:bodyPr wrap="square" anchor="t" lIns="0" rIns="0" tIns="0" bIns="0"/>
          <a:lstStyle/>
          <a:p>
            <a:pPr algn="l"/>
            <a:r>
              <a:rPr lang="en-US" sz="1250" b="0" i="0" dirty="0">
                <a:solidFill>
                  <a:srgbClr val="56647A"/>
                </a:solidFill>
                <a:latin typeface="Arial"/>
              </a:rPr>
              <a:t>The harness standardized a control grammar—not the machines</a:t>
            </a:r>
            <a:endParaRPr lang="en-US" sz="1250"/>
          </a:p>
        </p:txBody>
      </p:sp>
      <p:sp>
        <p:nvSpPr>
          <p:cNvPr id="5" name="Rect 5"/>
          <p:cNvSpPr/>
          <p:nvPr/>
        </p:nvSpPr>
        <p:spPr>
          <a:xfrm>
            <a:off x="685800" y="1572768"/>
            <a:ext cx="1508760" cy="512064"/>
          </a:xfrm>
          <a:prstGeom prst="roundRect">
            <a:avLst/>
          </a:prstGeom>
          <a:solidFill>
            <a:srgbClr val="E4EEFE"/>
          </a:solidFill>
          <a:ln w="12700">
            <a:solidFill>
              <a:srgbClr val="3B82F6"/>
            </a:solidFill>
          </a:ln>
        </p:spPr>
        <p:txBody>
          <a:bodyPr/>
          <a:lstStyle/>
          <a:p>
            <a:endParaRPr lang="en-US"/>
          </a:p>
        </p:txBody>
      </p:sp>
      <p:sp>
        <p:nvSpPr>
          <p:cNvPr id="6" name="Text 6"/>
          <p:cNvSpPr txBox="1"/>
          <p:nvPr/>
        </p:nvSpPr>
        <p:spPr>
          <a:xfrm>
            <a:off x="832104" y="1664208"/>
            <a:ext cx="502920" cy="201168"/>
          </a:xfrm>
          <a:prstGeom prst="rect">
            <a:avLst/>
          </a:prstGeom>
          <a:noFill/>
          <a:ln>
            <a:noFill/>
          </a:ln>
        </p:spPr>
        <p:txBody>
          <a:bodyPr wrap="square" anchor="t" lIns="0" rIns="0" tIns="0" bIns="0"/>
          <a:lstStyle/>
          <a:p>
            <a:pPr algn="l"/>
            <a:r>
              <a:rPr lang="en-US" sz="1150" b="1" i="0" dirty="0">
                <a:solidFill>
                  <a:srgbClr val="3B82F6"/>
                </a:solidFill>
                <a:latin typeface="Arial"/>
              </a:rPr>
              <a:t>local</a:t>
            </a:r>
            <a:endParaRPr lang="en-US" sz="1150"/>
          </a:p>
        </p:txBody>
      </p:sp>
      <p:sp>
        <p:nvSpPr>
          <p:cNvPr id="7" name="Text 7"/>
          <p:cNvSpPr txBox="1"/>
          <p:nvPr/>
        </p:nvSpPr>
        <p:spPr>
          <a:xfrm>
            <a:off x="1335024" y="1664208"/>
            <a:ext cx="676656" cy="201168"/>
          </a:xfrm>
          <a:prstGeom prst="rect">
            <a:avLst/>
          </a:prstGeom>
          <a:noFill/>
          <a:ln>
            <a:noFill/>
          </a:ln>
        </p:spPr>
        <p:txBody>
          <a:bodyPr wrap="square" anchor="t" lIns="0" rIns="0" tIns="0" bIns="0"/>
          <a:lstStyle/>
          <a:p>
            <a:pPr algn="r"/>
            <a:r>
              <a:rPr lang="en-US" sz="950" b="0" i="0" dirty="0">
                <a:solidFill>
                  <a:srgbClr val="56647A"/>
                </a:solidFill>
                <a:latin typeface="Arial"/>
              </a:rPr>
              <a:t>ybatch</a:t>
            </a:r>
            <a:endParaRPr lang="en-US" sz="950"/>
          </a:p>
        </p:txBody>
      </p:sp>
      <p:cxnSp>
        <p:nvCxnSpPr>
          <p:cNvPr id="8" name="Line 8"/>
          <p:cNvCxnSpPr/>
          <p:nvPr/>
        </p:nvCxnSpPr>
        <p:spPr>
          <a:xfrm flipH="false" flipV="false">
            <a:off x="2231136" y="1828800"/>
            <a:ext cx="603504" cy="1252728"/>
          </a:xfrm>
          <a:prstGeom prst="line">
            <a:avLst/>
          </a:prstGeom>
          <a:ln w="11430">
            <a:solidFill>
              <a:srgbClr val="C5CFDC"/>
            </a:solidFill>
          </a:ln>
        </p:spPr>
      </p:cxnSp>
      <p:sp>
        <p:nvSpPr>
          <p:cNvPr id="9" name="Rect 9"/>
          <p:cNvSpPr/>
          <p:nvPr/>
        </p:nvSpPr>
        <p:spPr>
          <a:xfrm>
            <a:off x="685800" y="2322576"/>
            <a:ext cx="1508760" cy="512064"/>
          </a:xfrm>
          <a:prstGeom prst="roundRect">
            <a:avLst/>
          </a:prstGeom>
          <a:solidFill>
            <a:srgbClr val="DCF5F9"/>
          </a:solidFill>
          <a:ln w="12700">
            <a:solidFill>
              <a:srgbClr val="06B6D4"/>
            </a:solidFill>
          </a:ln>
        </p:spPr>
        <p:txBody>
          <a:bodyPr/>
          <a:lstStyle/>
          <a:p>
            <a:endParaRPr lang="en-US"/>
          </a:p>
        </p:txBody>
      </p:sp>
      <p:sp>
        <p:nvSpPr>
          <p:cNvPr id="10" name="Text 10"/>
          <p:cNvSpPr txBox="1"/>
          <p:nvPr/>
        </p:nvSpPr>
        <p:spPr>
          <a:xfrm>
            <a:off x="832104" y="2414016"/>
            <a:ext cx="502920" cy="201168"/>
          </a:xfrm>
          <a:prstGeom prst="rect">
            <a:avLst/>
          </a:prstGeom>
          <a:noFill/>
          <a:ln>
            <a:noFill/>
          </a:ln>
        </p:spPr>
        <p:txBody>
          <a:bodyPr wrap="square" anchor="t" lIns="0" rIns="0" tIns="0" bIns="0"/>
          <a:lstStyle/>
          <a:p>
            <a:pPr algn="l"/>
            <a:r>
              <a:rPr lang="en-US" sz="1150" b="1" i="0" dirty="0">
                <a:solidFill>
                  <a:srgbClr val="06B6D4"/>
                </a:solidFill>
                <a:latin typeface="Arial"/>
              </a:rPr>
              <a:t>ab</a:t>
            </a:r>
            <a:endParaRPr lang="en-US" sz="1150"/>
          </a:p>
        </p:txBody>
      </p:sp>
      <p:sp>
        <p:nvSpPr>
          <p:cNvPr id="11" name="Text 11"/>
          <p:cNvSpPr txBox="1"/>
          <p:nvPr/>
        </p:nvSpPr>
        <p:spPr>
          <a:xfrm>
            <a:off x="1335024" y="2414016"/>
            <a:ext cx="676656" cy="201168"/>
          </a:xfrm>
          <a:prstGeom prst="rect">
            <a:avLst/>
          </a:prstGeom>
          <a:noFill/>
          <a:ln>
            <a:noFill/>
          </a:ln>
        </p:spPr>
        <p:txBody>
          <a:bodyPr wrap="square" anchor="t" lIns="0" rIns="0" tIns="0" bIns="0"/>
          <a:lstStyle/>
          <a:p>
            <a:pPr algn="r"/>
            <a:r>
              <a:rPr lang="en-US" sz="950" b="0" i="0" dirty="0">
                <a:solidFill>
                  <a:srgbClr val="56647A"/>
                </a:solidFill>
                <a:latin typeface="Arial"/>
              </a:rPr>
              <a:t>PBS</a:t>
            </a:r>
            <a:endParaRPr lang="en-US" sz="950"/>
          </a:p>
        </p:txBody>
      </p:sp>
      <p:cxnSp>
        <p:nvCxnSpPr>
          <p:cNvPr id="12" name="Line 12"/>
          <p:cNvCxnSpPr/>
          <p:nvPr/>
        </p:nvCxnSpPr>
        <p:spPr>
          <a:xfrm flipH="false" flipV="false">
            <a:off x="2231136" y="2578608"/>
            <a:ext cx="603504" cy="502920"/>
          </a:xfrm>
          <a:prstGeom prst="line">
            <a:avLst/>
          </a:prstGeom>
          <a:ln w="11430">
            <a:solidFill>
              <a:srgbClr val="C5CFDC"/>
            </a:solidFill>
          </a:ln>
        </p:spPr>
      </p:cxnSp>
      <p:sp>
        <p:nvSpPr>
          <p:cNvPr id="13" name="Rect 13"/>
          <p:cNvSpPr/>
          <p:nvPr/>
        </p:nvSpPr>
        <p:spPr>
          <a:xfrm>
            <a:off x="685800" y="3072384"/>
            <a:ext cx="1508760" cy="512064"/>
          </a:xfrm>
          <a:prstGeom prst="roundRect">
            <a:avLst/>
          </a:prstGeom>
          <a:solidFill>
            <a:srgbClr val="DDF0EE"/>
          </a:solidFill>
          <a:ln w="12700">
            <a:solidFill>
              <a:srgbClr val="0D9488"/>
            </a:solidFill>
          </a:ln>
        </p:spPr>
        <p:txBody>
          <a:bodyPr/>
          <a:lstStyle/>
          <a:p>
            <a:endParaRPr lang="en-US"/>
          </a:p>
        </p:txBody>
      </p:sp>
      <p:sp>
        <p:nvSpPr>
          <p:cNvPr id="14" name="Text 14"/>
          <p:cNvSpPr txBox="1"/>
          <p:nvPr/>
        </p:nvSpPr>
        <p:spPr>
          <a:xfrm>
            <a:off x="832104" y="3163824"/>
            <a:ext cx="502920" cy="201168"/>
          </a:xfrm>
          <a:prstGeom prst="rect">
            <a:avLst/>
          </a:prstGeom>
          <a:noFill/>
          <a:ln>
            <a:noFill/>
          </a:ln>
        </p:spPr>
        <p:txBody>
          <a:bodyPr wrap="square" anchor="t" lIns="0" rIns="0" tIns="0" bIns="0"/>
          <a:lstStyle/>
          <a:p>
            <a:pPr algn="l"/>
            <a:r>
              <a:rPr lang="en-US" sz="1150" b="1" i="0" dirty="0">
                <a:solidFill>
                  <a:srgbClr val="0D9488"/>
                </a:solidFill>
                <a:latin typeface="Arial"/>
              </a:rPr>
              <a:t>ri</a:t>
            </a:r>
            <a:endParaRPr lang="en-US" sz="1150"/>
          </a:p>
        </p:txBody>
      </p:sp>
      <p:sp>
        <p:nvSpPr>
          <p:cNvPr id="15" name="Text 15"/>
          <p:cNvSpPr txBox="1"/>
          <p:nvPr/>
        </p:nvSpPr>
        <p:spPr>
          <a:xfrm>
            <a:off x="1335024" y="3163824"/>
            <a:ext cx="676656" cy="201168"/>
          </a:xfrm>
          <a:prstGeom prst="rect">
            <a:avLst/>
          </a:prstGeom>
          <a:noFill/>
          <a:ln>
            <a:noFill/>
          </a:ln>
        </p:spPr>
        <p:txBody>
          <a:bodyPr wrap="square" anchor="t" lIns="0" rIns="0" tIns="0" bIns="0"/>
          <a:lstStyle/>
          <a:p>
            <a:pPr algn="r"/>
            <a:r>
              <a:rPr lang="en-US" sz="950" b="0" i="0" dirty="0">
                <a:solidFill>
                  <a:srgbClr val="56647A"/>
                </a:solidFill>
                <a:latin typeface="Arial"/>
              </a:rPr>
              <a:t>Slurm</a:t>
            </a:r>
            <a:endParaRPr lang="en-US" sz="950"/>
          </a:p>
        </p:txBody>
      </p:sp>
      <p:cxnSp>
        <p:nvCxnSpPr>
          <p:cNvPr id="16" name="Line 16"/>
          <p:cNvCxnSpPr/>
          <p:nvPr/>
        </p:nvCxnSpPr>
        <p:spPr>
          <a:xfrm flipH="false" flipV="true">
            <a:off x="2231136" y="3081528"/>
            <a:ext cx="603504" cy="246888"/>
          </a:xfrm>
          <a:prstGeom prst="line">
            <a:avLst/>
          </a:prstGeom>
          <a:ln w="11430">
            <a:solidFill>
              <a:srgbClr val="C5CFDC"/>
            </a:solidFill>
          </a:ln>
        </p:spPr>
      </p:cxnSp>
      <p:sp>
        <p:nvSpPr>
          <p:cNvPr id="17" name="Rect 17"/>
          <p:cNvSpPr/>
          <p:nvPr/>
        </p:nvSpPr>
        <p:spPr>
          <a:xfrm>
            <a:off x="685800" y="3822192"/>
            <a:ext cx="1508760" cy="512064"/>
          </a:xfrm>
          <a:prstGeom prst="roundRect">
            <a:avLst/>
          </a:prstGeom>
          <a:solidFill>
            <a:srgbClr val="FEF1DD"/>
          </a:solidFill>
          <a:ln w="12700">
            <a:solidFill>
              <a:srgbClr val="F59E0B"/>
            </a:solidFill>
          </a:ln>
        </p:spPr>
        <p:txBody>
          <a:bodyPr/>
          <a:lstStyle/>
          <a:p>
            <a:endParaRPr lang="en-US"/>
          </a:p>
        </p:txBody>
      </p:sp>
      <p:sp>
        <p:nvSpPr>
          <p:cNvPr id="18" name="Text 18"/>
          <p:cNvSpPr txBox="1"/>
          <p:nvPr/>
        </p:nvSpPr>
        <p:spPr>
          <a:xfrm>
            <a:off x="832104" y="3913632"/>
            <a:ext cx="502920" cy="201168"/>
          </a:xfrm>
          <a:prstGeom prst="rect">
            <a:avLst/>
          </a:prstGeom>
          <a:noFill/>
          <a:ln>
            <a:noFill/>
          </a:ln>
        </p:spPr>
        <p:txBody>
          <a:bodyPr wrap="square" anchor="t" lIns="0" rIns="0" tIns="0" bIns="0"/>
          <a:lstStyle/>
          <a:p>
            <a:pPr algn="l"/>
            <a:r>
              <a:rPr lang="en-US" sz="1150" b="1" i="0" dirty="0">
                <a:solidFill>
                  <a:srgbClr val="F59E0B"/>
                </a:solidFill>
                <a:latin typeface="Arial"/>
              </a:rPr>
              <a:t>al</a:t>
            </a:r>
            <a:endParaRPr lang="en-US" sz="1150"/>
          </a:p>
        </p:txBody>
      </p:sp>
      <p:sp>
        <p:nvSpPr>
          <p:cNvPr id="19" name="Text 19"/>
          <p:cNvSpPr txBox="1"/>
          <p:nvPr/>
        </p:nvSpPr>
        <p:spPr>
          <a:xfrm>
            <a:off x="1335024" y="3913632"/>
            <a:ext cx="676656" cy="201168"/>
          </a:xfrm>
          <a:prstGeom prst="rect">
            <a:avLst/>
          </a:prstGeom>
          <a:noFill/>
          <a:ln>
            <a:noFill/>
          </a:ln>
        </p:spPr>
        <p:txBody>
          <a:bodyPr wrap="square" anchor="t" lIns="0" rIns="0" tIns="0" bIns="0"/>
          <a:lstStyle/>
          <a:p>
            <a:pPr algn="r"/>
            <a:r>
              <a:rPr lang="en-US" sz="950" b="0" i="0" dirty="0">
                <a:solidFill>
                  <a:srgbClr val="56647A"/>
                </a:solidFill>
                <a:latin typeface="Arial"/>
              </a:rPr>
              <a:t>uenv</a:t>
            </a:r>
            <a:endParaRPr lang="en-US" sz="950"/>
          </a:p>
        </p:txBody>
      </p:sp>
      <p:cxnSp>
        <p:nvCxnSpPr>
          <p:cNvPr id="20" name="Line 20"/>
          <p:cNvCxnSpPr/>
          <p:nvPr/>
        </p:nvCxnSpPr>
        <p:spPr>
          <a:xfrm flipH="false" flipV="true">
            <a:off x="2231136" y="3081528"/>
            <a:ext cx="603504" cy="996696"/>
          </a:xfrm>
          <a:prstGeom prst="line">
            <a:avLst/>
          </a:prstGeom>
          <a:ln w="11430">
            <a:solidFill>
              <a:srgbClr val="C5CFDC"/>
            </a:solidFill>
          </a:ln>
        </p:spPr>
      </p:cxnSp>
      <p:sp>
        <p:nvSpPr>
          <p:cNvPr id="21" name="Rect 21"/>
          <p:cNvSpPr/>
          <p:nvPr/>
        </p:nvSpPr>
        <p:spPr>
          <a:xfrm>
            <a:off x="685800" y="4572000"/>
            <a:ext cx="1508760" cy="512064"/>
          </a:xfrm>
          <a:prstGeom prst="roundRect">
            <a:avLst/>
          </a:prstGeom>
          <a:solidFill>
            <a:srgbClr val="EDE3FC"/>
          </a:solidFill>
          <a:ln w="12700">
            <a:solidFill>
              <a:srgbClr val="7C3AED"/>
            </a:solidFill>
          </a:ln>
        </p:spPr>
        <p:txBody>
          <a:bodyPr/>
          <a:lstStyle/>
          <a:p>
            <a:endParaRPr lang="en-US"/>
          </a:p>
        </p:txBody>
      </p:sp>
      <p:sp>
        <p:nvSpPr>
          <p:cNvPr id="22" name="Text 22"/>
          <p:cNvSpPr txBox="1"/>
          <p:nvPr/>
        </p:nvSpPr>
        <p:spPr>
          <a:xfrm>
            <a:off x="832104" y="4663440"/>
            <a:ext cx="502920" cy="201168"/>
          </a:xfrm>
          <a:prstGeom prst="rect">
            <a:avLst/>
          </a:prstGeom>
          <a:noFill/>
          <a:ln>
            <a:noFill/>
          </a:ln>
        </p:spPr>
        <p:txBody>
          <a:bodyPr wrap="square" anchor="t" lIns="0" rIns="0" tIns="0" bIns="0"/>
          <a:lstStyle/>
          <a:p>
            <a:pPr algn="l"/>
            <a:r>
              <a:rPr lang="en-US" sz="1150" b="1" i="0" dirty="0">
                <a:solidFill>
                  <a:srgbClr val="7C3AED"/>
                </a:solidFill>
                <a:latin typeface="Arial"/>
              </a:rPr>
              <a:t>t4</a:t>
            </a:r>
            <a:endParaRPr lang="en-US" sz="1150"/>
          </a:p>
        </p:txBody>
      </p:sp>
      <p:sp>
        <p:nvSpPr>
          <p:cNvPr id="23" name="Text 23"/>
          <p:cNvSpPr txBox="1"/>
          <p:nvPr/>
        </p:nvSpPr>
        <p:spPr>
          <a:xfrm>
            <a:off x="1335024" y="4663440"/>
            <a:ext cx="676656" cy="201168"/>
          </a:xfrm>
          <a:prstGeom prst="rect">
            <a:avLst/>
          </a:prstGeom>
          <a:noFill/>
          <a:ln>
            <a:noFill/>
          </a:ln>
        </p:spPr>
        <p:txBody>
          <a:bodyPr wrap="square" anchor="t" lIns="0" rIns="0" tIns="0" bIns="0"/>
          <a:lstStyle/>
          <a:p>
            <a:pPr algn="r"/>
            <a:r>
              <a:rPr lang="en-US" sz="950" b="0" i="0" dirty="0">
                <a:solidFill>
                  <a:srgbClr val="56647A"/>
                </a:solidFill>
                <a:latin typeface="Arial"/>
              </a:rPr>
              <a:t>AGE</a:t>
            </a:r>
            <a:endParaRPr lang="en-US" sz="950"/>
          </a:p>
        </p:txBody>
      </p:sp>
      <p:cxnSp>
        <p:nvCxnSpPr>
          <p:cNvPr id="24" name="Line 24"/>
          <p:cNvCxnSpPr/>
          <p:nvPr/>
        </p:nvCxnSpPr>
        <p:spPr>
          <a:xfrm flipH="false" flipV="true">
            <a:off x="2231136" y="3081528"/>
            <a:ext cx="603504" cy="1746504"/>
          </a:xfrm>
          <a:prstGeom prst="line">
            <a:avLst/>
          </a:prstGeom>
          <a:ln w="11430">
            <a:solidFill>
              <a:srgbClr val="C5CFDC"/>
            </a:solidFill>
          </a:ln>
        </p:spPr>
      </p:cxnSp>
      <p:sp>
        <p:nvSpPr>
          <p:cNvPr id="25" name="Rect 25"/>
          <p:cNvSpPr/>
          <p:nvPr/>
        </p:nvSpPr>
        <p:spPr>
          <a:xfrm>
            <a:off x="2907792" y="1901952"/>
            <a:ext cx="2084832" cy="2359152"/>
          </a:xfrm>
          <a:prstGeom prst="roundRect">
            <a:avLst/>
          </a:prstGeom>
          <a:solidFill>
            <a:srgbClr val="F6F8FC"/>
          </a:solidFill>
          <a:ln w="12700">
            <a:solidFill>
              <a:srgbClr val="06B6D4"/>
            </a:solidFill>
          </a:ln>
        </p:spPr>
        <p:txBody>
          <a:bodyPr/>
          <a:lstStyle/>
          <a:p>
            <a:endParaRPr lang="en-US"/>
          </a:p>
        </p:txBody>
      </p:sp>
      <p:sp>
        <p:nvSpPr>
          <p:cNvPr id="26" name="Rect 26"/>
          <p:cNvSpPr/>
          <p:nvPr/>
        </p:nvSpPr>
        <p:spPr>
          <a:xfrm>
            <a:off x="3127248" y="2121408"/>
            <a:ext cx="1078992" cy="310896"/>
          </a:xfrm>
          <a:prstGeom prst="roundRect">
            <a:avLst/>
          </a:prstGeom>
          <a:solidFill>
            <a:srgbClr val="D2F2F7"/>
          </a:solidFill>
          <a:ln w="10160">
            <a:solidFill>
              <a:srgbClr val="06B6D4"/>
            </a:solidFill>
          </a:ln>
        </p:spPr>
        <p:txBody>
          <a:bodyPr/>
          <a:lstStyle/>
          <a:p>
            <a:endParaRPr lang="en-US"/>
          </a:p>
        </p:txBody>
      </p:sp>
      <p:sp>
        <p:nvSpPr>
          <p:cNvPr id="27" name="Text 27"/>
          <p:cNvSpPr txBox="1"/>
          <p:nvPr/>
        </p:nvSpPr>
        <p:spPr>
          <a:xfrm>
            <a:off x="3200400" y="2171700"/>
            <a:ext cx="932688" cy="192024"/>
          </a:xfrm>
          <a:prstGeom prst="rect">
            <a:avLst/>
          </a:prstGeom>
          <a:noFill/>
          <a:ln>
            <a:noFill/>
          </a:ln>
        </p:spPr>
        <p:txBody>
          <a:bodyPr wrap="square" anchor="t" lIns="0" rIns="0" tIns="0" bIns="0"/>
          <a:lstStyle/>
          <a:p>
            <a:pPr algn="ctr"/>
            <a:r>
              <a:rPr lang="en-US" sz="920" b="1" i="0" dirty="0">
                <a:solidFill>
                  <a:srgbClr val="06B6D4"/>
                </a:solidFill>
                <a:latin typeface="Arial"/>
              </a:rPr>
              <a:t>INVENTORY</a:t>
            </a:r>
            <a:endParaRPr lang="en-US" sz="920"/>
          </a:p>
        </p:txBody>
      </p:sp>
      <p:sp>
        <p:nvSpPr>
          <p:cNvPr id="28" name="Text 28"/>
          <p:cNvSpPr txBox="1"/>
          <p:nvPr/>
        </p:nvSpPr>
        <p:spPr>
          <a:xfrm>
            <a:off x="3127248" y="2660904"/>
            <a:ext cx="1645920" cy="384048"/>
          </a:xfrm>
          <a:prstGeom prst="rect">
            <a:avLst/>
          </a:prstGeom>
          <a:noFill/>
          <a:ln>
            <a:noFill/>
          </a:ln>
        </p:spPr>
        <p:txBody>
          <a:bodyPr wrap="square" anchor="t" lIns="0" rIns="0" tIns="0" bIns="0"/>
          <a:lstStyle/>
          <a:p>
            <a:pPr algn="ctr"/>
            <a:r>
              <a:rPr lang="en-US" sz="1600" b="1" i="0" dirty="0">
                <a:solidFill>
                  <a:srgbClr val="14213D"/>
                </a:solidFill>
                <a:latin typeface="Arial"/>
              </a:rPr>
              <a:t>Value-free facts</a:t>
            </a:r>
            <a:endParaRPr lang="en-US" sz="1600"/>
          </a:p>
        </p:txBody>
      </p:sp>
      <p:sp>
        <p:nvSpPr>
          <p:cNvPr id="29" name="Text 29"/>
          <p:cNvSpPr txBox="1"/>
          <p:nvPr/>
        </p:nvSpPr>
        <p:spPr>
          <a:xfrm>
            <a:off x="3200400" y="3227832"/>
            <a:ext cx="1499616" cy="658368"/>
          </a:xfrm>
          <a:prstGeom prst="rect">
            <a:avLst/>
          </a:prstGeom>
          <a:noFill/>
          <a:ln>
            <a:noFill/>
          </a:ln>
        </p:spPr>
        <p:txBody>
          <a:bodyPr wrap="square" anchor="t" lIns="0" rIns="0" tIns="0" bIns="0"/>
          <a:lstStyle/>
          <a:p>
            <a:pPr algn="ctr"/>
            <a:r>
              <a:rPr lang="en-US" sz="1100" b="0" i="0" dirty="0">
                <a:solidFill>
                  <a:srgbClr val="56647A"/>
                </a:solidFill>
                <a:latin typeface="Arial"/>
              </a:rPr>
              <a:t>OS / arch</a:t>
            </a:r>
            <a:endParaRPr lang="en-US" sz="1100"/>
          </a:p>
          <a:p>
            <a:pPr algn="ctr"/>
            <a:r>
              <a:rPr lang="en-US" sz="1100" b="0" i="0" dirty="0">
                <a:solidFill>
                  <a:srgbClr val="56647A"/>
                </a:solidFill>
                <a:latin typeface="Arial"/>
              </a:rPr>
              <a:t>command presence</a:t>
            </a:r>
            <a:endParaRPr lang="en-US" sz="1100"/>
          </a:p>
          <a:p>
            <a:pPr algn="ctr"/>
            <a:r>
              <a:rPr lang="en-US" sz="1100" b="0" i="0" dirty="0">
                <a:solidFill>
                  <a:srgbClr val="56647A"/>
                </a:solidFill>
                <a:latin typeface="Arial"/>
              </a:rPr>
              <a:t>link kinds</a:t>
            </a:r>
            <a:endParaRPr lang="en-US" sz="1100"/>
          </a:p>
        </p:txBody>
      </p:sp>
      <p:sp>
        <p:nvSpPr>
          <p:cNvPr id="30" name="Rect 30"/>
          <p:cNvSpPr/>
          <p:nvPr/>
        </p:nvSpPr>
        <p:spPr>
          <a:xfrm>
            <a:off x="5394960" y="1901952"/>
            <a:ext cx="2084832" cy="2359152"/>
          </a:xfrm>
          <a:prstGeom prst="roundRect">
            <a:avLst/>
          </a:prstGeom>
          <a:solidFill>
            <a:srgbClr val="F6F8FC"/>
          </a:solidFill>
          <a:ln w="12700">
            <a:solidFill>
              <a:srgbClr val="0D9488"/>
            </a:solidFill>
          </a:ln>
        </p:spPr>
        <p:txBody>
          <a:bodyPr/>
          <a:lstStyle/>
          <a:p>
            <a:endParaRPr lang="en-US"/>
          </a:p>
        </p:txBody>
      </p:sp>
      <p:sp>
        <p:nvSpPr>
          <p:cNvPr id="31" name="Rect 31"/>
          <p:cNvSpPr/>
          <p:nvPr/>
        </p:nvSpPr>
        <p:spPr>
          <a:xfrm>
            <a:off x="5614416" y="2121408"/>
            <a:ext cx="1078992" cy="310896"/>
          </a:xfrm>
          <a:prstGeom prst="roundRect">
            <a:avLst/>
          </a:prstGeom>
          <a:solidFill>
            <a:srgbClr val="D3ECEA"/>
          </a:solidFill>
          <a:ln w="10160">
            <a:solidFill>
              <a:srgbClr val="0D9488"/>
            </a:solidFill>
          </a:ln>
        </p:spPr>
        <p:txBody>
          <a:bodyPr/>
          <a:lstStyle/>
          <a:p>
            <a:endParaRPr lang="en-US"/>
          </a:p>
        </p:txBody>
      </p:sp>
      <p:sp>
        <p:nvSpPr>
          <p:cNvPr id="32" name="Text 32"/>
          <p:cNvSpPr txBox="1"/>
          <p:nvPr/>
        </p:nvSpPr>
        <p:spPr>
          <a:xfrm>
            <a:off x="5687568" y="2171700"/>
            <a:ext cx="932688" cy="192024"/>
          </a:xfrm>
          <a:prstGeom prst="rect">
            <a:avLst/>
          </a:prstGeom>
          <a:noFill/>
          <a:ln>
            <a:noFill/>
          </a:ln>
        </p:spPr>
        <p:txBody>
          <a:bodyPr wrap="square" anchor="t" lIns="0" rIns="0" tIns="0" bIns="0"/>
          <a:lstStyle/>
          <a:p>
            <a:pPr algn="ctr"/>
            <a:r>
              <a:rPr lang="en-US" sz="920" b="1" i="0" dirty="0">
                <a:solidFill>
                  <a:srgbClr val="0D9488"/>
                </a:solidFill>
                <a:latin typeface="Arial"/>
              </a:rPr>
              <a:t>PLAN</a:t>
            </a:r>
            <a:endParaRPr lang="en-US" sz="920"/>
          </a:p>
        </p:txBody>
      </p:sp>
      <p:sp>
        <p:nvSpPr>
          <p:cNvPr id="33" name="Text 33"/>
          <p:cNvSpPr txBox="1"/>
          <p:nvPr/>
        </p:nvSpPr>
        <p:spPr>
          <a:xfrm>
            <a:off x="5614416" y="2660904"/>
            <a:ext cx="1645920" cy="384048"/>
          </a:xfrm>
          <a:prstGeom prst="rect">
            <a:avLst/>
          </a:prstGeom>
          <a:noFill/>
          <a:ln>
            <a:noFill/>
          </a:ln>
        </p:spPr>
        <p:txBody>
          <a:bodyPr wrap="square" anchor="t" lIns="0" rIns="0" tIns="0" bIns="0"/>
          <a:lstStyle/>
          <a:p>
            <a:pPr algn="ctr"/>
            <a:r>
              <a:rPr lang="en-US" sz="1400" b="1" i="0" dirty="0">
                <a:solidFill>
                  <a:srgbClr val="14213D"/>
                </a:solidFill>
                <a:latin typeface="Arial"/>
              </a:rPr>
              <a:t>Profile comparison</a:t>
            </a:r>
            <a:endParaRPr lang="en-US" sz="1400"/>
          </a:p>
        </p:txBody>
      </p:sp>
      <p:sp>
        <p:nvSpPr>
          <p:cNvPr id="34" name="Text 34"/>
          <p:cNvSpPr txBox="1"/>
          <p:nvPr/>
        </p:nvSpPr>
        <p:spPr>
          <a:xfrm>
            <a:off x="5687568" y="3227832"/>
            <a:ext cx="1499616" cy="658368"/>
          </a:xfrm>
          <a:prstGeom prst="rect">
            <a:avLst/>
          </a:prstGeom>
          <a:noFill/>
          <a:ln>
            <a:noFill/>
          </a:ln>
        </p:spPr>
        <p:txBody>
          <a:bodyPr wrap="square" anchor="t" lIns="0" rIns="0" tIns="0" bIns="0"/>
          <a:lstStyle/>
          <a:p>
            <a:pPr algn="ctr"/>
            <a:r>
              <a:rPr lang="en-US" sz="1100" b="0" i="0" dirty="0">
                <a:solidFill>
                  <a:srgbClr val="56647A"/>
                </a:solidFill>
                <a:latin typeface="Arial"/>
              </a:rPr>
              <a:t>desired vs observed</a:t>
            </a:r>
            <a:endParaRPr lang="en-US" sz="1100"/>
          </a:p>
          <a:p>
            <a:pPr algn="ctr"/>
            <a:r>
              <a:rPr lang="en-US" sz="1100" b="0" i="0" dirty="0">
                <a:solidFill>
                  <a:srgbClr val="56647A"/>
                </a:solidFill>
                <a:latin typeface="Arial"/>
              </a:rPr>
              <a:t>creates / keeps / blocks</a:t>
            </a:r>
            <a:endParaRPr lang="en-US" sz="1100"/>
          </a:p>
        </p:txBody>
      </p:sp>
      <p:sp>
        <p:nvSpPr>
          <p:cNvPr id="35" name="Rect 35"/>
          <p:cNvSpPr/>
          <p:nvPr/>
        </p:nvSpPr>
        <p:spPr>
          <a:xfrm>
            <a:off x="7882128" y="1901952"/>
            <a:ext cx="2084832" cy="2359152"/>
          </a:xfrm>
          <a:prstGeom prst="roundRect">
            <a:avLst/>
          </a:prstGeom>
          <a:solidFill>
            <a:srgbClr val="F6F8FC"/>
          </a:solidFill>
          <a:ln w="12700">
            <a:solidFill>
              <a:srgbClr val="16A34A"/>
            </a:solidFill>
          </a:ln>
        </p:spPr>
        <p:txBody>
          <a:bodyPr/>
          <a:lstStyle/>
          <a:p>
            <a:endParaRPr lang="en-US"/>
          </a:p>
        </p:txBody>
      </p:sp>
      <p:sp>
        <p:nvSpPr>
          <p:cNvPr id="36" name="Rect 36"/>
          <p:cNvSpPr/>
          <p:nvPr/>
        </p:nvSpPr>
        <p:spPr>
          <a:xfrm>
            <a:off x="8101584" y="2121408"/>
            <a:ext cx="1078992" cy="310896"/>
          </a:xfrm>
          <a:prstGeom prst="roundRect">
            <a:avLst/>
          </a:prstGeom>
          <a:solidFill>
            <a:srgbClr val="D5EEDE"/>
          </a:solidFill>
          <a:ln w="10160">
            <a:solidFill>
              <a:srgbClr val="16A34A"/>
            </a:solidFill>
          </a:ln>
        </p:spPr>
        <p:txBody>
          <a:bodyPr/>
          <a:lstStyle/>
          <a:p>
            <a:endParaRPr lang="en-US"/>
          </a:p>
        </p:txBody>
      </p:sp>
      <p:sp>
        <p:nvSpPr>
          <p:cNvPr id="37" name="Text 37"/>
          <p:cNvSpPr txBox="1"/>
          <p:nvPr/>
        </p:nvSpPr>
        <p:spPr>
          <a:xfrm>
            <a:off x="8174736" y="2171700"/>
            <a:ext cx="932688" cy="192024"/>
          </a:xfrm>
          <a:prstGeom prst="rect">
            <a:avLst/>
          </a:prstGeom>
          <a:noFill/>
          <a:ln>
            <a:noFill/>
          </a:ln>
        </p:spPr>
        <p:txBody>
          <a:bodyPr wrap="square" anchor="t" lIns="0" rIns="0" tIns="0" bIns="0"/>
          <a:lstStyle/>
          <a:p>
            <a:pPr algn="ctr"/>
            <a:r>
              <a:rPr lang="en-US" sz="920" b="1" i="0" dirty="0">
                <a:solidFill>
                  <a:srgbClr val="16A34A"/>
                </a:solidFill>
                <a:latin typeface="Arial"/>
              </a:rPr>
              <a:t>DOCTOR</a:t>
            </a:r>
            <a:endParaRPr lang="en-US" sz="920"/>
          </a:p>
        </p:txBody>
      </p:sp>
      <p:sp>
        <p:nvSpPr>
          <p:cNvPr id="38" name="Text 38"/>
          <p:cNvSpPr txBox="1"/>
          <p:nvPr/>
        </p:nvSpPr>
        <p:spPr>
          <a:xfrm>
            <a:off x="8101584" y="2660904"/>
            <a:ext cx="1645920" cy="384048"/>
          </a:xfrm>
          <a:prstGeom prst="rect">
            <a:avLst/>
          </a:prstGeom>
          <a:noFill/>
          <a:ln>
            <a:noFill/>
          </a:ln>
        </p:spPr>
        <p:txBody>
          <a:bodyPr wrap="square" anchor="t" lIns="0" rIns="0" tIns="0" bIns="0"/>
          <a:lstStyle/>
          <a:p>
            <a:pPr algn="ctr"/>
            <a:r>
              <a:rPr lang="en-US" sz="1600" b="1" i="0" dirty="0">
                <a:solidFill>
                  <a:srgbClr val="14213D"/>
                </a:solidFill>
                <a:latin typeface="Arial"/>
              </a:rPr>
              <a:t>Readiness result</a:t>
            </a:r>
            <a:endParaRPr lang="en-US" sz="1600"/>
          </a:p>
        </p:txBody>
      </p:sp>
      <p:sp>
        <p:nvSpPr>
          <p:cNvPr id="39" name="Text 39"/>
          <p:cNvSpPr txBox="1"/>
          <p:nvPr/>
        </p:nvSpPr>
        <p:spPr>
          <a:xfrm>
            <a:off x="8174736" y="3227832"/>
            <a:ext cx="1499616" cy="658368"/>
          </a:xfrm>
          <a:prstGeom prst="rect">
            <a:avLst/>
          </a:prstGeom>
          <a:noFill/>
          <a:ln>
            <a:noFill/>
          </a:ln>
        </p:spPr>
        <p:txBody>
          <a:bodyPr wrap="square" anchor="t" lIns="0" rIns="0" tIns="0" bIns="0"/>
          <a:lstStyle/>
          <a:p>
            <a:pPr algn="ctr"/>
            <a:r>
              <a:rPr lang="en-US" sz="1100" b="0" i="0" dirty="0">
                <a:solidFill>
                  <a:srgbClr val="56647A"/>
                </a:solidFill>
                <a:latin typeface="Arial"/>
              </a:rPr>
              <a:t>failures</a:t>
            </a:r>
            <a:endParaRPr lang="en-US" sz="1100"/>
          </a:p>
          <a:p>
            <a:pPr algn="ctr"/>
            <a:r>
              <a:rPr lang="en-US" sz="1100" b="0" i="0" dirty="0">
                <a:solidFill>
                  <a:srgbClr val="56647A"/>
                </a:solidFill>
                <a:latin typeface="Arial"/>
              </a:rPr>
              <a:t>warnings</a:t>
            </a:r>
            <a:endParaRPr lang="en-US" sz="1100"/>
          </a:p>
          <a:p>
            <a:pPr algn="ctr"/>
            <a:r>
              <a:rPr lang="en-US" sz="1100" b="0" i="0" dirty="0">
                <a:solidFill>
                  <a:srgbClr val="56647A"/>
                </a:solidFill>
                <a:latin typeface="Arial"/>
              </a:rPr>
              <a:t>intentional skips</a:t>
            </a:r>
            <a:endParaRPr lang="en-US" sz="1100"/>
          </a:p>
        </p:txBody>
      </p:sp>
      <p:cxnSp>
        <p:nvCxnSpPr>
          <p:cNvPr id="40" name="Line 40"/>
          <p:cNvCxnSpPr/>
          <p:nvPr/>
        </p:nvCxnSpPr>
        <p:spPr>
          <a:xfrm flipH="false" flipV="false">
            <a:off x="5020056" y="3081528"/>
            <a:ext cx="283464" cy="0"/>
          </a:xfrm>
          <a:prstGeom prst="line">
            <a:avLst/>
          </a:prstGeom>
          <a:ln w="22860">
            <a:solidFill>
              <a:srgbClr val="334155"/>
            </a:solidFill>
            <a:tailEnd type="triangle"/>
          </a:ln>
        </p:spPr>
      </p:cxnSp>
      <p:cxnSp>
        <p:nvCxnSpPr>
          <p:cNvPr id="41" name="Line 41"/>
          <p:cNvCxnSpPr/>
          <p:nvPr/>
        </p:nvCxnSpPr>
        <p:spPr>
          <a:xfrm flipH="false" flipV="false">
            <a:off x="7507224" y="3081528"/>
            <a:ext cx="283464" cy="0"/>
          </a:xfrm>
          <a:prstGeom prst="line">
            <a:avLst/>
          </a:prstGeom>
          <a:ln w="22860">
            <a:solidFill>
              <a:srgbClr val="334155"/>
            </a:solidFill>
            <a:tailEnd type="triangle"/>
          </a:ln>
        </p:spPr>
      </p:cxnSp>
      <p:sp>
        <p:nvSpPr>
          <p:cNvPr id="42" name="Rect 42"/>
          <p:cNvSpPr/>
          <p:nvPr/>
        </p:nvSpPr>
        <p:spPr>
          <a:xfrm>
            <a:off x="10241280" y="1901952"/>
            <a:ext cx="1261872" cy="2359152"/>
          </a:xfrm>
          <a:prstGeom prst="roundRect">
            <a:avLst/>
          </a:prstGeom>
          <a:solidFill>
            <a:srgbClr val="FDF2F2"/>
          </a:solidFill>
          <a:ln w="12700">
            <a:solidFill>
              <a:srgbClr val="DC2626"/>
            </a:solidFill>
          </a:ln>
        </p:spPr>
        <p:txBody>
          <a:bodyPr/>
          <a:lstStyle/>
          <a:p>
            <a:endParaRPr lang="en-US"/>
          </a:p>
        </p:txBody>
      </p:sp>
      <p:sp>
        <p:nvSpPr>
          <p:cNvPr id="43" name="Text 43"/>
          <p:cNvSpPr txBox="1"/>
          <p:nvPr/>
        </p:nvSpPr>
        <p:spPr>
          <a:xfrm>
            <a:off x="10415016" y="2112264"/>
            <a:ext cx="914400" cy="384048"/>
          </a:xfrm>
          <a:prstGeom prst="rect">
            <a:avLst/>
          </a:prstGeom>
          <a:noFill/>
          <a:ln>
            <a:noFill/>
          </a:ln>
        </p:spPr>
        <p:txBody>
          <a:bodyPr wrap="square" anchor="t" lIns="0" rIns="0" tIns="0" bIns="0"/>
          <a:lstStyle/>
          <a:p>
            <a:pPr algn="ctr"/>
            <a:r>
              <a:rPr lang="en-US" sz="1250" b="1" i="0" dirty="0">
                <a:solidFill>
                  <a:srgbClr val="DC2626"/>
                </a:solidFill>
                <a:latin typeface="Arial"/>
              </a:rPr>
              <a:t>NEVER</a:t>
            </a:r>
            <a:endParaRPr lang="en-US" sz="1250"/>
          </a:p>
          <a:p>
            <a:pPr algn="ctr"/>
            <a:r>
              <a:rPr lang="en-US" sz="1250" b="1" i="0" dirty="0">
                <a:solidFill>
                  <a:srgbClr val="DC2626"/>
                </a:solidFill>
                <a:latin typeface="Arial"/>
              </a:rPr>
              <a:t>READ</a:t>
            </a:r>
            <a:endParaRPr lang="en-US" sz="1250"/>
          </a:p>
        </p:txBody>
      </p:sp>
      <p:sp>
        <p:nvSpPr>
          <p:cNvPr id="44" name="Text 44"/>
          <p:cNvSpPr txBox="1"/>
          <p:nvPr/>
        </p:nvSpPr>
        <p:spPr>
          <a:xfrm>
            <a:off x="10387584" y="2862072"/>
            <a:ext cx="960120" cy="914400"/>
          </a:xfrm>
          <a:prstGeom prst="rect">
            <a:avLst/>
          </a:prstGeom>
          <a:noFill/>
          <a:ln>
            <a:noFill/>
          </a:ln>
        </p:spPr>
        <p:txBody>
          <a:bodyPr wrap="square" anchor="t" lIns="0" rIns="0" tIns="0" bIns="0"/>
          <a:lstStyle/>
          <a:p>
            <a:pPr algn="ctr"/>
            <a:r>
              <a:rPr lang="en-US" sz="940" b="0" i="0" dirty="0">
                <a:solidFill>
                  <a:srgbClr val="56647A"/>
                </a:solidFill>
                <a:latin typeface="Arial"/>
              </a:rPr>
              <a:t>credentials</a:t>
            </a:r>
            <a:endParaRPr lang="en-US" sz="940"/>
          </a:p>
          <a:p>
            <a:pPr algn="ctr"/>
            <a:r>
              <a:rPr lang="en-US" sz="940" b="0" i="0" dirty="0">
                <a:solidFill>
                  <a:srgbClr val="56647A"/>
                </a:solidFill>
                <a:latin typeface="Arial"/>
              </a:rPr>
              <a:t>environment</a:t>
            </a:r>
            <a:endParaRPr lang="en-US" sz="940"/>
          </a:p>
          <a:p>
            <a:pPr algn="ctr"/>
            <a:r>
              <a:rPr lang="en-US" sz="940" b="0" i="0" dirty="0">
                <a:solidFill>
                  <a:srgbClr val="56647A"/>
                </a:solidFill>
                <a:latin typeface="Arial"/>
              </a:rPr>
              <a:t>values</a:t>
            </a:r>
            <a:endParaRPr lang="en-US" sz="940"/>
          </a:p>
          <a:p>
            <a:pPr algn="ctr"/>
            <a:r>
              <a:rPr lang="en-US" sz="940" b="0" i="0" dirty="0">
                <a:solidFill>
                  <a:srgbClr val="56647A"/>
                </a:solidFill>
                <a:latin typeface="Arial"/>
              </a:rPr>
              <a:t>startup contents</a:t>
            </a:r>
            <a:endParaRPr lang="en-US" sz="940"/>
          </a:p>
        </p:txBody>
      </p:sp>
      <p:sp>
        <p:nvSpPr>
          <p:cNvPr id="45" name="Rect 45"/>
          <p:cNvSpPr/>
          <p:nvPr/>
        </p:nvSpPr>
        <p:spPr>
          <a:xfrm>
            <a:off x="2907792" y="4754880"/>
            <a:ext cx="8595360" cy="877824"/>
          </a:xfrm>
          <a:prstGeom prst="roundRect">
            <a:avLst/>
          </a:prstGeom>
          <a:solidFill>
            <a:srgbClr val="F7F3FE"/>
          </a:solidFill>
          <a:ln w="12700">
            <a:solidFill>
              <a:srgbClr val="D1BAF9"/>
            </a:solidFill>
          </a:ln>
        </p:spPr>
        <p:txBody>
          <a:bodyPr/>
          <a:lstStyle/>
          <a:p>
            <a:endParaRPr lang="en-US"/>
          </a:p>
        </p:txBody>
      </p:sp>
      <p:sp>
        <p:nvSpPr>
          <p:cNvPr id="46" name="Text 46"/>
          <p:cNvSpPr txBox="1"/>
          <p:nvPr/>
        </p:nvSpPr>
        <p:spPr>
          <a:xfrm>
            <a:off x="3108960" y="4928616"/>
            <a:ext cx="8193024" cy="246888"/>
          </a:xfrm>
          <a:prstGeom prst="rect">
            <a:avLst/>
          </a:prstGeom>
          <a:noFill/>
          <a:ln>
            <a:noFill/>
          </a:ln>
        </p:spPr>
        <p:txBody>
          <a:bodyPr wrap="square" anchor="t" lIns="0" rIns="0" tIns="0" bIns="0"/>
          <a:lstStyle/>
          <a:p>
            <a:pPr algn="ctr"/>
            <a:r>
              <a:rPr lang="en-US" sz="1400" b="1" i="0" dirty="0">
                <a:solidFill>
                  <a:srgbClr val="7C3AED"/>
                </a:solidFill>
                <a:latin typeface="Arial"/>
              </a:rPr>
              <a:t>Native site semantics remain visible: Slurm • PBS • AGE • modules • uenv</a:t>
            </a:r>
            <a:endParaRPr lang="en-US" sz="1400"/>
          </a:p>
        </p:txBody>
      </p:sp>
      <p:sp>
        <p:nvSpPr>
          <p:cNvPr id="47" name="Text 47"/>
          <p:cNvSpPr txBox="1"/>
          <p:nvPr/>
        </p:nvSpPr>
        <p:spPr>
          <a:xfrm>
            <a:off x="3108960" y="5266944"/>
            <a:ext cx="8193024" cy="164592"/>
          </a:xfrm>
          <a:prstGeom prst="rect">
            <a:avLst/>
          </a:prstGeom>
          <a:noFill/>
          <a:ln>
            <a:noFill/>
          </a:ln>
        </p:spPr>
        <p:txBody>
          <a:bodyPr wrap="square" anchor="t" lIns="0" rIns="0" tIns="0" bIns="0"/>
          <a:lstStyle/>
          <a:p>
            <a:pPr algn="ctr"/>
            <a:r>
              <a:rPr lang="en-US" sz="950" b="0" i="0" dirty="0">
                <a:solidFill>
                  <a:srgbClr val="56647A"/>
                </a:solidFill>
                <a:latin typeface="Arial"/>
              </a:rPr>
              <a:t>Profiles explain differences; they do not conceal them behind a normalized scheduler wrapper.</a:t>
            </a:r>
            <a:endParaRPr lang="en-US" sz="950"/>
          </a:p>
        </p:txBody>
      </p:sp>
      <p:cxnSp>
        <p:nvCxnSpPr>
          <p:cNvPr id="48" name="Line 48"/>
          <p:cNvCxnSpPr/>
          <p:nvPr/>
        </p:nvCxnSpPr>
        <p:spPr>
          <a:xfrm flipH="false" flipV="false">
            <a:off x="621792" y="6473952"/>
            <a:ext cx="10954512" cy="0"/>
          </a:xfrm>
          <a:prstGeom prst="line">
            <a:avLst/>
          </a:prstGeom>
          <a:ln w="10160">
            <a:solidFill>
              <a:srgbClr val="D7DFEA"/>
            </a:solidFill>
          </a:ln>
        </p:spPr>
      </p:cxnSp>
      <p:sp>
        <p:nvSpPr>
          <p:cNvPr id="49" name="Text 49"/>
          <p:cNvSpPr txBox="1"/>
          <p:nvPr/>
        </p:nvSpPr>
        <p:spPr>
          <a:xfrm>
            <a:off x="640080" y="6510528"/>
            <a:ext cx="10469880" cy="201168"/>
          </a:xfrm>
          <a:prstGeom prst="rect">
            <a:avLst/>
          </a:prstGeom>
          <a:noFill/>
          <a:ln>
            <a:noFill/>
          </a:ln>
        </p:spPr>
        <p:txBody>
          <a:bodyPr wrap="square" anchor="t" lIns="0" rIns="0" tIns="0" bIns="0"/>
          <a:lstStyle/>
          <a:p>
            <a:pPr algn="l"/>
            <a:r>
              <a:rPr lang="en-US" sz="720" b="0" i="0" dirty="0">
                <a:solidFill>
                  <a:srgbClr val="56647A"/>
                </a:solidFill>
                <a:latin typeface="Arial"/>
              </a:rPr>
              <a:t>fb417282 • docs/environment-portability.md • profiles/hosts/ • tests/fixtures/</a:t>
            </a:r>
            <a:endParaRPr lang="en-US" sz="720"/>
          </a:p>
        </p:txBody>
      </p:sp>
      <p:sp>
        <p:nvSpPr>
          <p:cNvPr id="50" name="Text 50"/>
          <p:cNvSpPr txBox="1"/>
          <p:nvPr/>
        </p:nvSpPr>
        <p:spPr>
          <a:xfrm>
            <a:off x="11201400" y="6492240"/>
            <a:ext cx="329184" cy="201168"/>
          </a:xfrm>
          <a:prstGeom prst="rect">
            <a:avLst/>
          </a:prstGeom>
          <a:noFill/>
          <a:ln>
            <a:noFill/>
          </a:ln>
        </p:spPr>
        <p:txBody>
          <a:bodyPr wrap="square" anchor="t" lIns="0" rIns="0" tIns="0" bIns="0"/>
          <a:lstStyle/>
          <a:p>
            <a:pPr algn="r"/>
            <a:r>
              <a:rPr lang="en-US" sz="800" b="1" i="0" dirty="0">
                <a:solidFill>
                  <a:srgbClr val="56647A"/>
                </a:solidFill>
                <a:latin typeface="Arial"/>
              </a:rPr>
              <a:t>5</a:t>
            </a:r>
            <a:endParaRPr lang="en-US" sz="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F6F8FC"/>
          </a:solidFill>
          <a:ln w="12700">
            <a:solidFill>
              <a:srgbClr val="F6F8FC"/>
            </a:solidFill>
          </a:ln>
        </p:spPr>
        <p:txBody>
          <a:bodyPr/>
          <a:lstStyle/>
          <a:p>
            <a:endParaRPr lang="en-US"/>
          </a:p>
        </p:txBody>
      </p:sp>
      <p:sp>
        <p:nvSpPr>
          <p:cNvPr id="3" name="Text 3"/>
          <p:cNvSpPr txBox="1"/>
          <p:nvPr/>
        </p:nvSpPr>
        <p:spPr>
          <a:xfrm>
            <a:off x="621792" y="347472"/>
            <a:ext cx="10927080" cy="566928"/>
          </a:xfrm>
          <a:prstGeom prst="rect">
            <a:avLst/>
          </a:prstGeom>
          <a:noFill/>
          <a:ln>
            <a:noFill/>
          </a:ln>
        </p:spPr>
        <p:txBody>
          <a:bodyPr wrap="square" anchor="t" lIns="0" rIns="0" tIns="0" bIns="0"/>
          <a:lstStyle/>
          <a:p>
            <a:pPr algn="l"/>
            <a:r>
              <a:rPr lang="en-US" sz="2700" b="1" i="0" dirty="0">
                <a:solidFill>
                  <a:srgbClr val="14213D"/>
                </a:solidFill>
                <a:latin typeface="Arial"/>
              </a:rPr>
              <a:t>Transactions replaced fragile manual coordination</a:t>
            </a:r>
            <a:endParaRPr lang="en-US" sz="2700"/>
          </a:p>
        </p:txBody>
      </p:sp>
      <p:sp>
        <p:nvSpPr>
          <p:cNvPr id="4" name="Text 4"/>
          <p:cNvSpPr txBox="1"/>
          <p:nvPr/>
        </p:nvSpPr>
        <p:spPr>
          <a:xfrm>
            <a:off x="640080" y="932688"/>
            <a:ext cx="10881360" cy="310896"/>
          </a:xfrm>
          <a:prstGeom prst="rect">
            <a:avLst/>
          </a:prstGeom>
          <a:noFill/>
          <a:ln>
            <a:noFill/>
          </a:ln>
        </p:spPr>
        <p:txBody>
          <a:bodyPr wrap="square" anchor="t" lIns="0" rIns="0" tIns="0" bIns="0"/>
          <a:lstStyle/>
          <a:p>
            <a:pPr algn="l"/>
            <a:r>
              <a:rPr lang="en-US" sz="1250" b="0" i="0" dirty="0">
                <a:solidFill>
                  <a:srgbClr val="56647A"/>
                </a:solidFill>
                <a:latin typeface="Arial"/>
              </a:rPr>
              <a:t>One control grammar—operation-specific contracts</a:t>
            </a:r>
            <a:endParaRPr lang="en-US" sz="1250"/>
          </a:p>
        </p:txBody>
      </p:sp>
      <p:sp>
        <p:nvSpPr>
          <p:cNvPr id="5" name="Rect 5"/>
          <p:cNvSpPr/>
          <p:nvPr/>
        </p:nvSpPr>
        <p:spPr>
          <a:xfrm>
            <a:off x="1837944" y="1938528"/>
            <a:ext cx="1645920" cy="932688"/>
          </a:xfrm>
          <a:prstGeom prst="roundRect">
            <a:avLst/>
          </a:prstGeom>
          <a:solidFill>
            <a:srgbClr val="FFFFFF"/>
          </a:solidFill>
          <a:ln w="19050">
            <a:solidFill>
              <a:srgbClr val="06B6D4"/>
            </a:solidFill>
          </a:ln>
        </p:spPr>
        <p:txBody>
          <a:bodyPr/>
          <a:lstStyle/>
          <a:p>
            <a:endParaRPr lang="en-US"/>
          </a:p>
        </p:txBody>
      </p:sp>
      <p:sp>
        <p:nvSpPr>
          <p:cNvPr id="6" name="Ellipse 6"/>
          <p:cNvSpPr/>
          <p:nvPr/>
        </p:nvSpPr>
        <p:spPr>
          <a:xfrm>
            <a:off x="1947672" y="2084832"/>
            <a:ext cx="310896" cy="310896"/>
          </a:xfrm>
          <a:prstGeom prst="ellipse">
            <a:avLst/>
          </a:prstGeom>
          <a:solidFill>
            <a:srgbClr val="06B6D4"/>
          </a:solidFill>
          <a:ln w="12700">
            <a:solidFill>
              <a:srgbClr val="06B6D4"/>
            </a:solidFill>
          </a:ln>
        </p:spPr>
        <p:txBody>
          <a:bodyPr/>
          <a:lstStyle/>
          <a:p>
            <a:endParaRPr lang="en-US"/>
          </a:p>
        </p:txBody>
      </p:sp>
      <p:sp>
        <p:nvSpPr>
          <p:cNvPr id="7" name="Text 7"/>
          <p:cNvSpPr txBox="1"/>
          <p:nvPr/>
        </p:nvSpPr>
        <p:spPr>
          <a:xfrm>
            <a:off x="1947672" y="2130552"/>
            <a:ext cx="310896" cy="164592"/>
          </a:xfrm>
          <a:prstGeom prst="rect">
            <a:avLst/>
          </a:prstGeom>
          <a:noFill/>
          <a:ln>
            <a:noFill/>
          </a:ln>
        </p:spPr>
        <p:txBody>
          <a:bodyPr wrap="square" anchor="t" lIns="0" rIns="0" tIns="0" bIns="0"/>
          <a:lstStyle/>
          <a:p>
            <a:pPr algn="ctr"/>
            <a:r>
              <a:rPr lang="en-US" sz="950" b="1" i="0" dirty="0">
                <a:solidFill>
                  <a:srgbClr val="FFFFFF"/>
                </a:solidFill>
                <a:latin typeface="Arial"/>
              </a:rPr>
              <a:t>1</a:t>
            </a:r>
            <a:endParaRPr lang="en-US" sz="950"/>
          </a:p>
        </p:txBody>
      </p:sp>
      <p:sp>
        <p:nvSpPr>
          <p:cNvPr id="8" name="Text 8"/>
          <p:cNvSpPr txBox="1"/>
          <p:nvPr/>
        </p:nvSpPr>
        <p:spPr>
          <a:xfrm>
            <a:off x="2322576" y="2075688"/>
            <a:ext cx="987552" cy="237744"/>
          </a:xfrm>
          <a:prstGeom prst="rect">
            <a:avLst/>
          </a:prstGeom>
          <a:noFill/>
          <a:ln>
            <a:noFill/>
          </a:ln>
        </p:spPr>
        <p:txBody>
          <a:bodyPr wrap="square" anchor="t" lIns="0" rIns="0" tIns="0" bIns="0"/>
          <a:lstStyle/>
          <a:p>
            <a:pPr algn="l"/>
            <a:r>
              <a:rPr lang="en-US" sz="1240" b="1" i="0" dirty="0">
                <a:solidFill>
                  <a:srgbClr val="14213D"/>
                </a:solidFill>
                <a:latin typeface="Arial"/>
              </a:rPr>
              <a:t>Observe</a:t>
            </a:r>
            <a:endParaRPr lang="en-US" sz="1240"/>
          </a:p>
        </p:txBody>
      </p:sp>
      <p:sp>
        <p:nvSpPr>
          <p:cNvPr id="9" name="Text 9"/>
          <p:cNvSpPr txBox="1"/>
          <p:nvPr/>
        </p:nvSpPr>
        <p:spPr>
          <a:xfrm>
            <a:off x="2322576" y="2423160"/>
            <a:ext cx="987552" cy="182880"/>
          </a:xfrm>
          <a:prstGeom prst="rect">
            <a:avLst/>
          </a:prstGeom>
          <a:noFill/>
          <a:ln>
            <a:noFill/>
          </a:ln>
        </p:spPr>
        <p:txBody>
          <a:bodyPr wrap="square" anchor="t" lIns="0" rIns="0" tIns="0" bIns="0"/>
          <a:lstStyle/>
          <a:p>
            <a:pPr algn="l"/>
            <a:r>
              <a:rPr lang="en-US" sz="870" b="0" i="0" dirty="0">
                <a:solidFill>
                  <a:srgbClr val="56647A"/>
                </a:solidFill>
                <a:latin typeface="Arial"/>
              </a:rPr>
              <a:t>facts</a:t>
            </a:r>
            <a:endParaRPr lang="en-US" sz="870"/>
          </a:p>
        </p:txBody>
      </p:sp>
      <p:sp>
        <p:nvSpPr>
          <p:cNvPr id="10" name="Rect 10"/>
          <p:cNvSpPr/>
          <p:nvPr/>
        </p:nvSpPr>
        <p:spPr>
          <a:xfrm>
            <a:off x="3849624" y="1325880"/>
            <a:ext cx="1645920" cy="932688"/>
          </a:xfrm>
          <a:prstGeom prst="roundRect">
            <a:avLst/>
          </a:prstGeom>
          <a:solidFill>
            <a:srgbClr val="FFFFFF"/>
          </a:solidFill>
          <a:ln w="19050">
            <a:solidFill>
              <a:srgbClr val="0D9488"/>
            </a:solidFill>
          </a:ln>
        </p:spPr>
        <p:txBody>
          <a:bodyPr/>
          <a:lstStyle/>
          <a:p>
            <a:endParaRPr lang="en-US"/>
          </a:p>
        </p:txBody>
      </p:sp>
      <p:sp>
        <p:nvSpPr>
          <p:cNvPr id="11" name="Ellipse 11"/>
          <p:cNvSpPr/>
          <p:nvPr/>
        </p:nvSpPr>
        <p:spPr>
          <a:xfrm>
            <a:off x="3959352" y="1472184"/>
            <a:ext cx="310896" cy="310896"/>
          </a:xfrm>
          <a:prstGeom prst="ellipse">
            <a:avLst/>
          </a:prstGeom>
          <a:solidFill>
            <a:srgbClr val="0D9488"/>
          </a:solidFill>
          <a:ln w="12700">
            <a:solidFill>
              <a:srgbClr val="0D9488"/>
            </a:solidFill>
          </a:ln>
        </p:spPr>
        <p:txBody>
          <a:bodyPr/>
          <a:lstStyle/>
          <a:p>
            <a:endParaRPr lang="en-US"/>
          </a:p>
        </p:txBody>
      </p:sp>
      <p:sp>
        <p:nvSpPr>
          <p:cNvPr id="12" name="Text 12"/>
          <p:cNvSpPr txBox="1"/>
          <p:nvPr/>
        </p:nvSpPr>
        <p:spPr>
          <a:xfrm>
            <a:off x="3959352" y="1517904"/>
            <a:ext cx="310896" cy="164592"/>
          </a:xfrm>
          <a:prstGeom prst="rect">
            <a:avLst/>
          </a:prstGeom>
          <a:noFill/>
          <a:ln>
            <a:noFill/>
          </a:ln>
        </p:spPr>
        <p:txBody>
          <a:bodyPr wrap="square" anchor="t" lIns="0" rIns="0" tIns="0" bIns="0"/>
          <a:lstStyle/>
          <a:p>
            <a:pPr algn="ctr"/>
            <a:r>
              <a:rPr lang="en-US" sz="950" b="1" i="0" dirty="0">
                <a:solidFill>
                  <a:srgbClr val="FFFFFF"/>
                </a:solidFill>
                <a:latin typeface="Arial"/>
              </a:rPr>
              <a:t>2</a:t>
            </a:r>
            <a:endParaRPr lang="en-US" sz="950"/>
          </a:p>
        </p:txBody>
      </p:sp>
      <p:sp>
        <p:nvSpPr>
          <p:cNvPr id="13" name="Text 13"/>
          <p:cNvSpPr txBox="1"/>
          <p:nvPr/>
        </p:nvSpPr>
        <p:spPr>
          <a:xfrm>
            <a:off x="4334256" y="1463040"/>
            <a:ext cx="987552" cy="237744"/>
          </a:xfrm>
          <a:prstGeom prst="rect">
            <a:avLst/>
          </a:prstGeom>
          <a:noFill/>
          <a:ln>
            <a:noFill/>
          </a:ln>
        </p:spPr>
        <p:txBody>
          <a:bodyPr wrap="square" anchor="t" lIns="0" rIns="0" tIns="0" bIns="0"/>
          <a:lstStyle/>
          <a:p>
            <a:pPr algn="l"/>
            <a:r>
              <a:rPr lang="en-US" sz="1240" b="1" i="0" dirty="0">
                <a:solidFill>
                  <a:srgbClr val="14213D"/>
                </a:solidFill>
                <a:latin typeface="Arial"/>
              </a:rPr>
              <a:t>Plan</a:t>
            </a:r>
            <a:endParaRPr lang="en-US" sz="1240"/>
          </a:p>
        </p:txBody>
      </p:sp>
      <p:sp>
        <p:nvSpPr>
          <p:cNvPr id="14" name="Text 14"/>
          <p:cNvSpPr txBox="1"/>
          <p:nvPr/>
        </p:nvSpPr>
        <p:spPr>
          <a:xfrm>
            <a:off x="4334256" y="1810512"/>
            <a:ext cx="987552" cy="182880"/>
          </a:xfrm>
          <a:prstGeom prst="rect">
            <a:avLst/>
          </a:prstGeom>
          <a:noFill/>
          <a:ln>
            <a:noFill/>
          </a:ln>
        </p:spPr>
        <p:txBody>
          <a:bodyPr wrap="square" anchor="t" lIns="0" rIns="0" tIns="0" bIns="0"/>
          <a:lstStyle/>
          <a:p>
            <a:pPr algn="l"/>
            <a:r>
              <a:rPr lang="en-US" sz="870" b="0" i="0" dirty="0">
                <a:solidFill>
                  <a:srgbClr val="56647A"/>
                </a:solidFill>
                <a:latin typeface="Arial"/>
              </a:rPr>
              <a:t>default</a:t>
            </a:r>
            <a:endParaRPr lang="en-US" sz="870"/>
          </a:p>
        </p:txBody>
      </p:sp>
      <p:sp>
        <p:nvSpPr>
          <p:cNvPr id="15" name="Rect 15"/>
          <p:cNvSpPr/>
          <p:nvPr/>
        </p:nvSpPr>
        <p:spPr>
          <a:xfrm>
            <a:off x="6181344" y="1325880"/>
            <a:ext cx="1645920" cy="932688"/>
          </a:xfrm>
          <a:prstGeom prst="roundRect">
            <a:avLst/>
          </a:prstGeom>
          <a:solidFill>
            <a:srgbClr val="FFFFFF"/>
          </a:solidFill>
          <a:ln w="19050">
            <a:solidFill>
              <a:srgbClr val="0D9488"/>
            </a:solidFill>
          </a:ln>
        </p:spPr>
        <p:txBody>
          <a:bodyPr/>
          <a:lstStyle/>
          <a:p>
            <a:endParaRPr lang="en-US"/>
          </a:p>
        </p:txBody>
      </p:sp>
      <p:sp>
        <p:nvSpPr>
          <p:cNvPr id="16" name="Ellipse 16"/>
          <p:cNvSpPr/>
          <p:nvPr/>
        </p:nvSpPr>
        <p:spPr>
          <a:xfrm>
            <a:off x="6291072" y="1472184"/>
            <a:ext cx="310896" cy="310896"/>
          </a:xfrm>
          <a:prstGeom prst="ellipse">
            <a:avLst/>
          </a:prstGeom>
          <a:solidFill>
            <a:srgbClr val="0D9488"/>
          </a:solidFill>
          <a:ln w="12700">
            <a:solidFill>
              <a:srgbClr val="0D9488"/>
            </a:solidFill>
          </a:ln>
        </p:spPr>
        <p:txBody>
          <a:bodyPr/>
          <a:lstStyle/>
          <a:p>
            <a:endParaRPr lang="en-US"/>
          </a:p>
        </p:txBody>
      </p:sp>
      <p:sp>
        <p:nvSpPr>
          <p:cNvPr id="17" name="Text 17"/>
          <p:cNvSpPr txBox="1"/>
          <p:nvPr/>
        </p:nvSpPr>
        <p:spPr>
          <a:xfrm>
            <a:off x="6291072" y="1517904"/>
            <a:ext cx="310896" cy="164592"/>
          </a:xfrm>
          <a:prstGeom prst="rect">
            <a:avLst/>
          </a:prstGeom>
          <a:noFill/>
          <a:ln>
            <a:noFill/>
          </a:ln>
        </p:spPr>
        <p:txBody>
          <a:bodyPr wrap="square" anchor="t" lIns="0" rIns="0" tIns="0" bIns="0"/>
          <a:lstStyle/>
          <a:p>
            <a:pPr algn="ctr"/>
            <a:r>
              <a:rPr lang="en-US" sz="950" b="1" i="0" dirty="0">
                <a:solidFill>
                  <a:srgbClr val="FFFFFF"/>
                </a:solidFill>
                <a:latin typeface="Arial"/>
              </a:rPr>
              <a:t>3</a:t>
            </a:r>
            <a:endParaRPr lang="en-US" sz="950"/>
          </a:p>
        </p:txBody>
      </p:sp>
      <p:sp>
        <p:nvSpPr>
          <p:cNvPr id="18" name="Text 18"/>
          <p:cNvSpPr txBox="1"/>
          <p:nvPr/>
        </p:nvSpPr>
        <p:spPr>
          <a:xfrm>
            <a:off x="6665976" y="1463040"/>
            <a:ext cx="987552" cy="237744"/>
          </a:xfrm>
          <a:prstGeom prst="rect">
            <a:avLst/>
          </a:prstGeom>
          <a:noFill/>
          <a:ln>
            <a:noFill/>
          </a:ln>
        </p:spPr>
        <p:txBody>
          <a:bodyPr wrap="square" anchor="t" lIns="0" rIns="0" tIns="0" bIns="0"/>
          <a:lstStyle/>
          <a:p>
            <a:pPr algn="l"/>
            <a:r>
              <a:rPr lang="en-US" sz="1240" b="1" i="0" dirty="0">
                <a:solidFill>
                  <a:srgbClr val="14213D"/>
                </a:solidFill>
                <a:latin typeface="Arial"/>
              </a:rPr>
              <a:t>Revalidate</a:t>
            </a:r>
            <a:endParaRPr lang="en-US" sz="1240"/>
          </a:p>
        </p:txBody>
      </p:sp>
      <p:sp>
        <p:nvSpPr>
          <p:cNvPr id="19" name="Text 19"/>
          <p:cNvSpPr txBox="1"/>
          <p:nvPr/>
        </p:nvSpPr>
        <p:spPr>
          <a:xfrm>
            <a:off x="6665976" y="1810512"/>
            <a:ext cx="987552" cy="182880"/>
          </a:xfrm>
          <a:prstGeom prst="rect">
            <a:avLst/>
          </a:prstGeom>
          <a:noFill/>
          <a:ln>
            <a:noFill/>
          </a:ln>
        </p:spPr>
        <p:txBody>
          <a:bodyPr wrap="square" anchor="t" lIns="0" rIns="0" tIns="0" bIns="0"/>
          <a:lstStyle/>
          <a:p>
            <a:pPr algn="l"/>
            <a:r>
              <a:rPr lang="en-US" sz="870" b="0" i="0" dirty="0">
                <a:solidFill>
                  <a:srgbClr val="56647A"/>
                </a:solidFill>
                <a:latin typeface="Arial"/>
              </a:rPr>
              <a:t>live state</a:t>
            </a:r>
            <a:endParaRPr lang="en-US" sz="870"/>
          </a:p>
        </p:txBody>
      </p:sp>
      <p:sp>
        <p:nvSpPr>
          <p:cNvPr id="20" name="Rect 20"/>
          <p:cNvSpPr/>
          <p:nvPr/>
        </p:nvSpPr>
        <p:spPr>
          <a:xfrm>
            <a:off x="8513064" y="1938528"/>
            <a:ext cx="1645920" cy="932688"/>
          </a:xfrm>
          <a:prstGeom prst="roundRect">
            <a:avLst/>
          </a:prstGeom>
          <a:solidFill>
            <a:srgbClr val="FFFFFF"/>
          </a:solidFill>
          <a:ln w="19050">
            <a:solidFill>
              <a:srgbClr val="16A34A"/>
            </a:solidFill>
          </a:ln>
        </p:spPr>
        <p:txBody>
          <a:bodyPr/>
          <a:lstStyle/>
          <a:p>
            <a:endParaRPr lang="en-US"/>
          </a:p>
        </p:txBody>
      </p:sp>
      <p:sp>
        <p:nvSpPr>
          <p:cNvPr id="21" name="Ellipse 21"/>
          <p:cNvSpPr/>
          <p:nvPr/>
        </p:nvSpPr>
        <p:spPr>
          <a:xfrm>
            <a:off x="8622792" y="2084832"/>
            <a:ext cx="310896" cy="310896"/>
          </a:xfrm>
          <a:prstGeom prst="ellipse">
            <a:avLst/>
          </a:prstGeom>
          <a:solidFill>
            <a:srgbClr val="16A34A"/>
          </a:solidFill>
          <a:ln w="12700">
            <a:solidFill>
              <a:srgbClr val="16A34A"/>
            </a:solidFill>
          </a:ln>
        </p:spPr>
        <p:txBody>
          <a:bodyPr/>
          <a:lstStyle/>
          <a:p>
            <a:endParaRPr lang="en-US"/>
          </a:p>
        </p:txBody>
      </p:sp>
      <p:sp>
        <p:nvSpPr>
          <p:cNvPr id="22" name="Text 22"/>
          <p:cNvSpPr txBox="1"/>
          <p:nvPr/>
        </p:nvSpPr>
        <p:spPr>
          <a:xfrm>
            <a:off x="8622792" y="2130552"/>
            <a:ext cx="310896" cy="164592"/>
          </a:xfrm>
          <a:prstGeom prst="rect">
            <a:avLst/>
          </a:prstGeom>
          <a:noFill/>
          <a:ln>
            <a:noFill/>
          </a:ln>
        </p:spPr>
        <p:txBody>
          <a:bodyPr wrap="square" anchor="t" lIns="0" rIns="0" tIns="0" bIns="0"/>
          <a:lstStyle/>
          <a:p>
            <a:pPr algn="ctr"/>
            <a:r>
              <a:rPr lang="en-US" sz="950" b="1" i="0" dirty="0">
                <a:solidFill>
                  <a:srgbClr val="FFFFFF"/>
                </a:solidFill>
                <a:latin typeface="Arial"/>
              </a:rPr>
              <a:t>4</a:t>
            </a:r>
            <a:endParaRPr lang="en-US" sz="950"/>
          </a:p>
        </p:txBody>
      </p:sp>
      <p:sp>
        <p:nvSpPr>
          <p:cNvPr id="23" name="Text 23"/>
          <p:cNvSpPr txBox="1"/>
          <p:nvPr/>
        </p:nvSpPr>
        <p:spPr>
          <a:xfrm>
            <a:off x="8997696" y="2075688"/>
            <a:ext cx="987552" cy="237744"/>
          </a:xfrm>
          <a:prstGeom prst="rect">
            <a:avLst/>
          </a:prstGeom>
          <a:noFill/>
          <a:ln>
            <a:noFill/>
          </a:ln>
        </p:spPr>
        <p:txBody>
          <a:bodyPr wrap="square" anchor="t" lIns="0" rIns="0" tIns="0" bIns="0"/>
          <a:lstStyle/>
          <a:p>
            <a:pPr algn="l"/>
            <a:r>
              <a:rPr lang="en-US" sz="1240" b="1" i="0" dirty="0">
                <a:solidFill>
                  <a:srgbClr val="14213D"/>
                </a:solidFill>
                <a:latin typeface="Arial"/>
              </a:rPr>
              <a:t>Apply</a:t>
            </a:r>
            <a:endParaRPr lang="en-US" sz="1240"/>
          </a:p>
        </p:txBody>
      </p:sp>
      <p:sp>
        <p:nvSpPr>
          <p:cNvPr id="24" name="Text 24"/>
          <p:cNvSpPr txBox="1"/>
          <p:nvPr/>
        </p:nvSpPr>
        <p:spPr>
          <a:xfrm>
            <a:off x="8997696" y="2423160"/>
            <a:ext cx="987552" cy="182880"/>
          </a:xfrm>
          <a:prstGeom prst="rect">
            <a:avLst/>
          </a:prstGeom>
          <a:noFill/>
          <a:ln>
            <a:noFill/>
          </a:ln>
        </p:spPr>
        <p:txBody>
          <a:bodyPr wrap="square" anchor="t" lIns="0" rIns="0" tIns="0" bIns="0"/>
          <a:lstStyle/>
          <a:p>
            <a:pPr algn="l"/>
            <a:r>
              <a:rPr lang="en-US" sz="870" b="0" i="0" dirty="0">
                <a:solidFill>
                  <a:srgbClr val="56647A"/>
                </a:solidFill>
                <a:latin typeface="Arial"/>
              </a:rPr>
              <a:t>owned paths</a:t>
            </a:r>
            <a:endParaRPr lang="en-US" sz="870"/>
          </a:p>
        </p:txBody>
      </p:sp>
      <p:sp>
        <p:nvSpPr>
          <p:cNvPr id="25" name="Rect 25"/>
          <p:cNvSpPr/>
          <p:nvPr/>
        </p:nvSpPr>
        <p:spPr>
          <a:xfrm>
            <a:off x="8513064" y="3749040"/>
            <a:ext cx="1645920" cy="932688"/>
          </a:xfrm>
          <a:prstGeom prst="roundRect">
            <a:avLst/>
          </a:prstGeom>
          <a:solidFill>
            <a:srgbClr val="FFFFFF"/>
          </a:solidFill>
          <a:ln w="19050">
            <a:solidFill>
              <a:srgbClr val="16A34A"/>
            </a:solidFill>
          </a:ln>
        </p:spPr>
        <p:txBody>
          <a:bodyPr/>
          <a:lstStyle/>
          <a:p>
            <a:endParaRPr lang="en-US"/>
          </a:p>
        </p:txBody>
      </p:sp>
      <p:sp>
        <p:nvSpPr>
          <p:cNvPr id="26" name="Ellipse 26"/>
          <p:cNvSpPr/>
          <p:nvPr/>
        </p:nvSpPr>
        <p:spPr>
          <a:xfrm>
            <a:off x="8622792" y="3895344"/>
            <a:ext cx="310896" cy="310896"/>
          </a:xfrm>
          <a:prstGeom prst="ellipse">
            <a:avLst/>
          </a:prstGeom>
          <a:solidFill>
            <a:srgbClr val="16A34A"/>
          </a:solidFill>
          <a:ln w="12700">
            <a:solidFill>
              <a:srgbClr val="16A34A"/>
            </a:solidFill>
          </a:ln>
        </p:spPr>
        <p:txBody>
          <a:bodyPr/>
          <a:lstStyle/>
          <a:p>
            <a:endParaRPr lang="en-US"/>
          </a:p>
        </p:txBody>
      </p:sp>
      <p:sp>
        <p:nvSpPr>
          <p:cNvPr id="27" name="Text 27"/>
          <p:cNvSpPr txBox="1"/>
          <p:nvPr/>
        </p:nvSpPr>
        <p:spPr>
          <a:xfrm>
            <a:off x="8622792" y="3941064"/>
            <a:ext cx="310896" cy="164592"/>
          </a:xfrm>
          <a:prstGeom prst="rect">
            <a:avLst/>
          </a:prstGeom>
          <a:noFill/>
          <a:ln>
            <a:noFill/>
          </a:ln>
        </p:spPr>
        <p:txBody>
          <a:bodyPr wrap="square" anchor="t" lIns="0" rIns="0" tIns="0" bIns="0"/>
          <a:lstStyle/>
          <a:p>
            <a:pPr algn="ctr"/>
            <a:r>
              <a:rPr lang="en-US" sz="950" b="1" i="0" dirty="0">
                <a:solidFill>
                  <a:srgbClr val="FFFFFF"/>
                </a:solidFill>
                <a:latin typeface="Arial"/>
              </a:rPr>
              <a:t>5</a:t>
            </a:r>
            <a:endParaRPr lang="en-US" sz="950"/>
          </a:p>
        </p:txBody>
      </p:sp>
      <p:sp>
        <p:nvSpPr>
          <p:cNvPr id="28" name="Text 28"/>
          <p:cNvSpPr txBox="1"/>
          <p:nvPr/>
        </p:nvSpPr>
        <p:spPr>
          <a:xfrm>
            <a:off x="8997696" y="3886200"/>
            <a:ext cx="987552" cy="237744"/>
          </a:xfrm>
          <a:prstGeom prst="rect">
            <a:avLst/>
          </a:prstGeom>
          <a:noFill/>
          <a:ln>
            <a:noFill/>
          </a:ln>
        </p:spPr>
        <p:txBody>
          <a:bodyPr wrap="square" anchor="t" lIns="0" rIns="0" tIns="0" bIns="0"/>
          <a:lstStyle/>
          <a:p>
            <a:pPr algn="l"/>
            <a:r>
              <a:rPr lang="en-US" sz="1240" b="1" i="0" dirty="0">
                <a:solidFill>
                  <a:srgbClr val="14213D"/>
                </a:solidFill>
                <a:latin typeface="Arial"/>
              </a:rPr>
              <a:t>Verify</a:t>
            </a:r>
            <a:endParaRPr lang="en-US" sz="1240"/>
          </a:p>
        </p:txBody>
      </p:sp>
      <p:sp>
        <p:nvSpPr>
          <p:cNvPr id="29" name="Text 29"/>
          <p:cNvSpPr txBox="1"/>
          <p:nvPr/>
        </p:nvSpPr>
        <p:spPr>
          <a:xfrm>
            <a:off x="8997696" y="4233672"/>
            <a:ext cx="987552" cy="182880"/>
          </a:xfrm>
          <a:prstGeom prst="rect">
            <a:avLst/>
          </a:prstGeom>
          <a:noFill/>
          <a:ln>
            <a:noFill/>
          </a:ln>
        </p:spPr>
        <p:txBody>
          <a:bodyPr wrap="square" anchor="t" lIns="0" rIns="0" tIns="0" bIns="0"/>
          <a:lstStyle/>
          <a:p>
            <a:pPr algn="l"/>
            <a:r>
              <a:rPr lang="en-US" sz="870" b="0" i="0" dirty="0">
                <a:solidFill>
                  <a:srgbClr val="56647A"/>
                </a:solidFill>
                <a:latin typeface="Arial"/>
              </a:rPr>
              <a:t>health</a:t>
            </a:r>
            <a:endParaRPr lang="en-US" sz="870"/>
          </a:p>
        </p:txBody>
      </p:sp>
      <p:sp>
        <p:nvSpPr>
          <p:cNvPr id="30" name="Rect 30"/>
          <p:cNvSpPr/>
          <p:nvPr/>
        </p:nvSpPr>
        <p:spPr>
          <a:xfrm>
            <a:off x="6181344" y="4361688"/>
            <a:ext cx="1645920" cy="932688"/>
          </a:xfrm>
          <a:prstGeom prst="roundRect">
            <a:avLst/>
          </a:prstGeom>
          <a:solidFill>
            <a:srgbClr val="FFFFFF"/>
          </a:solidFill>
          <a:ln w="19050">
            <a:solidFill>
              <a:srgbClr val="3B82F6"/>
            </a:solidFill>
          </a:ln>
        </p:spPr>
        <p:txBody>
          <a:bodyPr/>
          <a:lstStyle/>
          <a:p>
            <a:endParaRPr lang="en-US"/>
          </a:p>
        </p:txBody>
      </p:sp>
      <p:sp>
        <p:nvSpPr>
          <p:cNvPr id="31" name="Ellipse 31"/>
          <p:cNvSpPr/>
          <p:nvPr/>
        </p:nvSpPr>
        <p:spPr>
          <a:xfrm>
            <a:off x="6291072" y="4507992"/>
            <a:ext cx="310896" cy="310896"/>
          </a:xfrm>
          <a:prstGeom prst="ellipse">
            <a:avLst/>
          </a:prstGeom>
          <a:solidFill>
            <a:srgbClr val="3B82F6"/>
          </a:solidFill>
          <a:ln w="12700">
            <a:solidFill>
              <a:srgbClr val="3B82F6"/>
            </a:solidFill>
          </a:ln>
        </p:spPr>
        <p:txBody>
          <a:bodyPr/>
          <a:lstStyle/>
          <a:p>
            <a:endParaRPr lang="en-US"/>
          </a:p>
        </p:txBody>
      </p:sp>
      <p:sp>
        <p:nvSpPr>
          <p:cNvPr id="32" name="Text 32"/>
          <p:cNvSpPr txBox="1"/>
          <p:nvPr/>
        </p:nvSpPr>
        <p:spPr>
          <a:xfrm>
            <a:off x="6291072" y="4553712"/>
            <a:ext cx="310896" cy="164592"/>
          </a:xfrm>
          <a:prstGeom prst="rect">
            <a:avLst/>
          </a:prstGeom>
          <a:noFill/>
          <a:ln>
            <a:noFill/>
          </a:ln>
        </p:spPr>
        <p:txBody>
          <a:bodyPr wrap="square" anchor="t" lIns="0" rIns="0" tIns="0" bIns="0"/>
          <a:lstStyle/>
          <a:p>
            <a:pPr algn="ctr"/>
            <a:r>
              <a:rPr lang="en-US" sz="950" b="1" i="0" dirty="0">
                <a:solidFill>
                  <a:srgbClr val="FFFFFF"/>
                </a:solidFill>
                <a:latin typeface="Arial"/>
              </a:rPr>
              <a:t>6</a:t>
            </a:r>
            <a:endParaRPr lang="en-US" sz="950"/>
          </a:p>
        </p:txBody>
      </p:sp>
      <p:sp>
        <p:nvSpPr>
          <p:cNvPr id="33" name="Text 33"/>
          <p:cNvSpPr txBox="1"/>
          <p:nvPr/>
        </p:nvSpPr>
        <p:spPr>
          <a:xfrm>
            <a:off x="6665976" y="4498848"/>
            <a:ext cx="987552" cy="237744"/>
          </a:xfrm>
          <a:prstGeom prst="rect">
            <a:avLst/>
          </a:prstGeom>
          <a:noFill/>
          <a:ln>
            <a:noFill/>
          </a:ln>
        </p:spPr>
        <p:txBody>
          <a:bodyPr wrap="square" anchor="t" lIns="0" rIns="0" tIns="0" bIns="0"/>
          <a:lstStyle/>
          <a:p>
            <a:pPr algn="l"/>
            <a:r>
              <a:rPr lang="en-US" sz="1240" b="1" i="0" dirty="0">
                <a:solidFill>
                  <a:srgbClr val="14213D"/>
                </a:solidFill>
                <a:latin typeface="Arial"/>
              </a:rPr>
              <a:t>Record</a:t>
            </a:r>
            <a:endParaRPr lang="en-US" sz="1240"/>
          </a:p>
        </p:txBody>
      </p:sp>
      <p:sp>
        <p:nvSpPr>
          <p:cNvPr id="34" name="Text 34"/>
          <p:cNvSpPr txBox="1"/>
          <p:nvPr/>
        </p:nvSpPr>
        <p:spPr>
          <a:xfrm>
            <a:off x="6665976" y="4846320"/>
            <a:ext cx="987552" cy="182880"/>
          </a:xfrm>
          <a:prstGeom prst="rect">
            <a:avLst/>
          </a:prstGeom>
          <a:noFill/>
          <a:ln>
            <a:noFill/>
          </a:ln>
        </p:spPr>
        <p:txBody>
          <a:bodyPr wrap="square" anchor="t" lIns="0" rIns="0" tIns="0" bIns="0"/>
          <a:lstStyle/>
          <a:p>
            <a:pPr algn="l"/>
            <a:r>
              <a:rPr lang="en-US" sz="870" b="0" i="0" dirty="0">
                <a:solidFill>
                  <a:srgbClr val="56647A"/>
                </a:solidFill>
                <a:latin typeface="Arial"/>
              </a:rPr>
              <a:t>manifest</a:t>
            </a:r>
            <a:endParaRPr lang="en-US" sz="870"/>
          </a:p>
        </p:txBody>
      </p:sp>
      <p:sp>
        <p:nvSpPr>
          <p:cNvPr id="35" name="Rect 35"/>
          <p:cNvSpPr/>
          <p:nvPr/>
        </p:nvSpPr>
        <p:spPr>
          <a:xfrm>
            <a:off x="3849624" y="4361688"/>
            <a:ext cx="1645920" cy="932688"/>
          </a:xfrm>
          <a:prstGeom prst="roundRect">
            <a:avLst/>
          </a:prstGeom>
          <a:solidFill>
            <a:srgbClr val="FFFFFF"/>
          </a:solidFill>
          <a:ln w="19050">
            <a:solidFill>
              <a:srgbClr val="F59E0B"/>
            </a:solidFill>
          </a:ln>
        </p:spPr>
        <p:txBody>
          <a:bodyPr/>
          <a:lstStyle/>
          <a:p>
            <a:endParaRPr lang="en-US"/>
          </a:p>
        </p:txBody>
      </p:sp>
      <p:sp>
        <p:nvSpPr>
          <p:cNvPr id="36" name="Ellipse 36"/>
          <p:cNvSpPr/>
          <p:nvPr/>
        </p:nvSpPr>
        <p:spPr>
          <a:xfrm>
            <a:off x="3959352" y="4507992"/>
            <a:ext cx="310896" cy="310896"/>
          </a:xfrm>
          <a:prstGeom prst="ellipse">
            <a:avLst/>
          </a:prstGeom>
          <a:solidFill>
            <a:srgbClr val="F59E0B"/>
          </a:solidFill>
          <a:ln w="12700">
            <a:solidFill>
              <a:srgbClr val="F59E0B"/>
            </a:solidFill>
          </a:ln>
        </p:spPr>
        <p:txBody>
          <a:bodyPr/>
          <a:lstStyle/>
          <a:p>
            <a:endParaRPr lang="en-US"/>
          </a:p>
        </p:txBody>
      </p:sp>
      <p:sp>
        <p:nvSpPr>
          <p:cNvPr id="37" name="Text 37"/>
          <p:cNvSpPr txBox="1"/>
          <p:nvPr/>
        </p:nvSpPr>
        <p:spPr>
          <a:xfrm>
            <a:off x="3959352" y="4553712"/>
            <a:ext cx="310896" cy="164592"/>
          </a:xfrm>
          <a:prstGeom prst="rect">
            <a:avLst/>
          </a:prstGeom>
          <a:noFill/>
          <a:ln>
            <a:noFill/>
          </a:ln>
        </p:spPr>
        <p:txBody>
          <a:bodyPr wrap="square" anchor="t" lIns="0" rIns="0" tIns="0" bIns="0"/>
          <a:lstStyle/>
          <a:p>
            <a:pPr algn="ctr"/>
            <a:r>
              <a:rPr lang="en-US" sz="950" b="1" i="0" dirty="0">
                <a:solidFill>
                  <a:srgbClr val="FFFFFF"/>
                </a:solidFill>
                <a:latin typeface="Arial"/>
              </a:rPr>
              <a:t>↺</a:t>
            </a:r>
            <a:endParaRPr lang="en-US" sz="950"/>
          </a:p>
        </p:txBody>
      </p:sp>
      <p:sp>
        <p:nvSpPr>
          <p:cNvPr id="38" name="Text 38"/>
          <p:cNvSpPr txBox="1"/>
          <p:nvPr/>
        </p:nvSpPr>
        <p:spPr>
          <a:xfrm>
            <a:off x="4334256" y="4498848"/>
            <a:ext cx="987552" cy="237744"/>
          </a:xfrm>
          <a:prstGeom prst="rect">
            <a:avLst/>
          </a:prstGeom>
          <a:noFill/>
          <a:ln>
            <a:noFill/>
          </a:ln>
        </p:spPr>
        <p:txBody>
          <a:bodyPr wrap="square" anchor="t" lIns="0" rIns="0" tIns="0" bIns="0"/>
          <a:lstStyle/>
          <a:p>
            <a:pPr algn="l"/>
            <a:r>
              <a:rPr lang="en-US" sz="1240" b="1" i="0" dirty="0">
                <a:solidFill>
                  <a:srgbClr val="14213D"/>
                </a:solidFill>
                <a:latin typeface="Arial"/>
              </a:rPr>
              <a:t>Rollback</a:t>
            </a:r>
            <a:endParaRPr lang="en-US" sz="1240"/>
          </a:p>
        </p:txBody>
      </p:sp>
      <p:sp>
        <p:nvSpPr>
          <p:cNvPr id="39" name="Text 39"/>
          <p:cNvSpPr txBox="1"/>
          <p:nvPr/>
        </p:nvSpPr>
        <p:spPr>
          <a:xfrm>
            <a:off x="4334256" y="4846320"/>
            <a:ext cx="987552" cy="182880"/>
          </a:xfrm>
          <a:prstGeom prst="rect">
            <a:avLst/>
          </a:prstGeom>
          <a:noFill/>
          <a:ln>
            <a:noFill/>
          </a:ln>
        </p:spPr>
        <p:txBody>
          <a:bodyPr wrap="square" anchor="t" lIns="0" rIns="0" tIns="0" bIns="0"/>
          <a:lstStyle/>
          <a:p>
            <a:pPr algn="l"/>
            <a:r>
              <a:rPr lang="en-US" sz="870" b="0" i="0" dirty="0">
                <a:solidFill>
                  <a:srgbClr val="56647A"/>
                </a:solidFill>
                <a:latin typeface="Arial"/>
              </a:rPr>
              <a:t>unchanged only</a:t>
            </a:r>
            <a:endParaRPr lang="en-US" sz="870"/>
          </a:p>
        </p:txBody>
      </p:sp>
      <p:sp>
        <p:nvSpPr>
          <p:cNvPr id="40" name="Rect 40"/>
          <p:cNvSpPr/>
          <p:nvPr/>
        </p:nvSpPr>
        <p:spPr>
          <a:xfrm>
            <a:off x="1837944" y="3749040"/>
            <a:ext cx="1645920" cy="932688"/>
          </a:xfrm>
          <a:prstGeom prst="roundRect">
            <a:avLst/>
          </a:prstGeom>
          <a:solidFill>
            <a:srgbClr val="FFFFFF"/>
          </a:solidFill>
          <a:ln w="19050">
            <a:solidFill>
              <a:srgbClr val="DC2626"/>
            </a:solidFill>
          </a:ln>
        </p:spPr>
        <p:txBody>
          <a:bodyPr/>
          <a:lstStyle/>
          <a:p>
            <a:endParaRPr lang="en-US"/>
          </a:p>
        </p:txBody>
      </p:sp>
      <p:sp>
        <p:nvSpPr>
          <p:cNvPr id="41" name="Ellipse 41"/>
          <p:cNvSpPr/>
          <p:nvPr/>
        </p:nvSpPr>
        <p:spPr>
          <a:xfrm>
            <a:off x="1947672" y="3895344"/>
            <a:ext cx="310896" cy="310896"/>
          </a:xfrm>
          <a:prstGeom prst="ellipse">
            <a:avLst/>
          </a:prstGeom>
          <a:solidFill>
            <a:srgbClr val="DC2626"/>
          </a:solidFill>
          <a:ln w="12700">
            <a:solidFill>
              <a:srgbClr val="DC2626"/>
            </a:solidFill>
          </a:ln>
        </p:spPr>
        <p:txBody>
          <a:bodyPr/>
          <a:lstStyle/>
          <a:p>
            <a:endParaRPr lang="en-US"/>
          </a:p>
        </p:txBody>
      </p:sp>
      <p:sp>
        <p:nvSpPr>
          <p:cNvPr id="42" name="Text 42"/>
          <p:cNvSpPr txBox="1"/>
          <p:nvPr/>
        </p:nvSpPr>
        <p:spPr>
          <a:xfrm>
            <a:off x="1947672" y="3941064"/>
            <a:ext cx="310896" cy="164592"/>
          </a:xfrm>
          <a:prstGeom prst="rect">
            <a:avLst/>
          </a:prstGeom>
          <a:noFill/>
          <a:ln>
            <a:noFill/>
          </a:ln>
        </p:spPr>
        <p:txBody>
          <a:bodyPr wrap="square" anchor="t" lIns="0" rIns="0" tIns="0" bIns="0"/>
          <a:lstStyle/>
          <a:p>
            <a:pPr algn="ctr"/>
            <a:r>
              <a:rPr lang="en-US" sz="950" b="1" i="0" dirty="0">
                <a:solidFill>
                  <a:srgbClr val="FFFFFF"/>
                </a:solidFill>
                <a:latin typeface="Arial"/>
              </a:rPr>
              <a:t>!</a:t>
            </a:r>
            <a:endParaRPr lang="en-US" sz="950"/>
          </a:p>
        </p:txBody>
      </p:sp>
      <p:sp>
        <p:nvSpPr>
          <p:cNvPr id="43" name="Text 43"/>
          <p:cNvSpPr txBox="1"/>
          <p:nvPr/>
        </p:nvSpPr>
        <p:spPr>
          <a:xfrm>
            <a:off x="2322576" y="3886200"/>
            <a:ext cx="987552" cy="237744"/>
          </a:xfrm>
          <a:prstGeom prst="rect">
            <a:avLst/>
          </a:prstGeom>
          <a:noFill/>
          <a:ln>
            <a:noFill/>
          </a:ln>
        </p:spPr>
        <p:txBody>
          <a:bodyPr wrap="square" anchor="t" lIns="0" rIns="0" tIns="0" bIns="0"/>
          <a:lstStyle/>
          <a:p>
            <a:pPr algn="l"/>
            <a:r>
              <a:rPr lang="en-US" sz="1240" b="1" i="0" dirty="0">
                <a:solidFill>
                  <a:srgbClr val="14213D"/>
                </a:solidFill>
                <a:latin typeface="Arial"/>
              </a:rPr>
              <a:t>Stop</a:t>
            </a:r>
            <a:endParaRPr lang="en-US" sz="1240"/>
          </a:p>
        </p:txBody>
      </p:sp>
      <p:sp>
        <p:nvSpPr>
          <p:cNvPr id="44" name="Text 44"/>
          <p:cNvSpPr txBox="1"/>
          <p:nvPr/>
        </p:nvSpPr>
        <p:spPr>
          <a:xfrm>
            <a:off x="2322576" y="4233672"/>
            <a:ext cx="987552" cy="182880"/>
          </a:xfrm>
          <a:prstGeom prst="rect">
            <a:avLst/>
          </a:prstGeom>
          <a:noFill/>
          <a:ln>
            <a:noFill/>
          </a:ln>
        </p:spPr>
        <p:txBody>
          <a:bodyPr wrap="square" anchor="t" lIns="0" rIns="0" tIns="0" bIns="0"/>
          <a:lstStyle/>
          <a:p>
            <a:pPr algn="l"/>
            <a:r>
              <a:rPr lang="en-US" sz="870" b="0" i="0" dirty="0">
                <a:solidFill>
                  <a:srgbClr val="56647A"/>
                </a:solidFill>
                <a:latin typeface="Arial"/>
              </a:rPr>
              <a:t>drift / failure</a:t>
            </a:r>
            <a:endParaRPr lang="en-US" sz="870"/>
          </a:p>
        </p:txBody>
      </p:sp>
      <p:cxnSp>
        <p:nvCxnSpPr>
          <p:cNvPr id="45" name="Line 45"/>
          <p:cNvCxnSpPr/>
          <p:nvPr/>
        </p:nvCxnSpPr>
        <p:spPr>
          <a:xfrm flipH="false" flipV="true">
            <a:off x="2660904" y="1792224"/>
            <a:ext cx="2011680" cy="612648"/>
          </a:xfrm>
          <a:prstGeom prst="line">
            <a:avLst/>
          </a:prstGeom>
          <a:ln w="13970">
            <a:solidFill>
              <a:srgbClr val="C5CFDC"/>
            </a:solidFill>
            <a:tailEnd type="triangle"/>
          </a:ln>
        </p:spPr>
      </p:cxnSp>
      <p:cxnSp>
        <p:nvCxnSpPr>
          <p:cNvPr id="46" name="Line 46"/>
          <p:cNvCxnSpPr/>
          <p:nvPr/>
        </p:nvCxnSpPr>
        <p:spPr>
          <a:xfrm flipH="false" flipV="false">
            <a:off x="4672584" y="1792224"/>
            <a:ext cx="2331720" cy="0"/>
          </a:xfrm>
          <a:prstGeom prst="line">
            <a:avLst/>
          </a:prstGeom>
          <a:ln w="13970">
            <a:solidFill>
              <a:srgbClr val="C5CFDC"/>
            </a:solidFill>
            <a:tailEnd type="triangle"/>
          </a:ln>
        </p:spPr>
      </p:cxnSp>
      <p:cxnSp>
        <p:nvCxnSpPr>
          <p:cNvPr id="47" name="Line 47"/>
          <p:cNvCxnSpPr/>
          <p:nvPr/>
        </p:nvCxnSpPr>
        <p:spPr>
          <a:xfrm flipH="false" flipV="false">
            <a:off x="7004304" y="1792224"/>
            <a:ext cx="2331720" cy="612648"/>
          </a:xfrm>
          <a:prstGeom prst="line">
            <a:avLst/>
          </a:prstGeom>
          <a:ln w="13970">
            <a:solidFill>
              <a:srgbClr val="C5CFDC"/>
            </a:solidFill>
            <a:tailEnd type="triangle"/>
          </a:ln>
        </p:spPr>
      </p:cxnSp>
      <p:cxnSp>
        <p:nvCxnSpPr>
          <p:cNvPr id="48" name="Line 48"/>
          <p:cNvCxnSpPr/>
          <p:nvPr/>
        </p:nvCxnSpPr>
        <p:spPr>
          <a:xfrm flipH="false" flipV="false">
            <a:off x="9336024" y="2404872"/>
            <a:ext cx="0" cy="1810512"/>
          </a:xfrm>
          <a:prstGeom prst="line">
            <a:avLst/>
          </a:prstGeom>
          <a:ln w="13970">
            <a:solidFill>
              <a:srgbClr val="C5CFDC"/>
            </a:solidFill>
            <a:tailEnd type="triangle"/>
          </a:ln>
        </p:spPr>
      </p:cxnSp>
      <p:cxnSp>
        <p:nvCxnSpPr>
          <p:cNvPr id="49" name="Line 49"/>
          <p:cNvCxnSpPr/>
          <p:nvPr/>
        </p:nvCxnSpPr>
        <p:spPr>
          <a:xfrm flipH="true" flipV="false">
            <a:off x="7004304" y="4215384"/>
            <a:ext cx="2331720" cy="612648"/>
          </a:xfrm>
          <a:prstGeom prst="line">
            <a:avLst/>
          </a:prstGeom>
          <a:ln w="13970">
            <a:solidFill>
              <a:srgbClr val="C5CFDC"/>
            </a:solidFill>
            <a:tailEnd type="triangle"/>
          </a:ln>
        </p:spPr>
      </p:cxnSp>
      <p:cxnSp>
        <p:nvCxnSpPr>
          <p:cNvPr id="50" name="Line 50"/>
          <p:cNvCxnSpPr/>
          <p:nvPr/>
        </p:nvCxnSpPr>
        <p:spPr>
          <a:xfrm flipH="true" flipV="false">
            <a:off x="4672584" y="4828032"/>
            <a:ext cx="2331720" cy="0"/>
          </a:xfrm>
          <a:prstGeom prst="line">
            <a:avLst/>
          </a:prstGeom>
          <a:ln w="13970">
            <a:solidFill>
              <a:srgbClr val="C5CFDC"/>
            </a:solidFill>
            <a:tailEnd type="triangle"/>
          </a:ln>
        </p:spPr>
      </p:cxnSp>
      <p:cxnSp>
        <p:nvCxnSpPr>
          <p:cNvPr id="51" name="Line 51"/>
          <p:cNvCxnSpPr/>
          <p:nvPr/>
        </p:nvCxnSpPr>
        <p:spPr>
          <a:xfrm flipH="true" flipV="true">
            <a:off x="2660904" y="4215384"/>
            <a:ext cx="2011680" cy="612648"/>
          </a:xfrm>
          <a:prstGeom prst="line">
            <a:avLst/>
          </a:prstGeom>
          <a:ln w="13970">
            <a:solidFill>
              <a:srgbClr val="C5CFDC"/>
            </a:solidFill>
            <a:tailEnd type="triangle"/>
          </a:ln>
        </p:spPr>
      </p:cxnSp>
      <p:cxnSp>
        <p:nvCxnSpPr>
          <p:cNvPr id="52" name="Line 52"/>
          <p:cNvCxnSpPr/>
          <p:nvPr/>
        </p:nvCxnSpPr>
        <p:spPr>
          <a:xfrm flipH="false" flipV="true">
            <a:off x="2660904" y="2404872"/>
            <a:ext cx="0" cy="1810512"/>
          </a:xfrm>
          <a:prstGeom prst="line">
            <a:avLst/>
          </a:prstGeom>
          <a:ln w="13970">
            <a:solidFill>
              <a:srgbClr val="C5CFDC"/>
            </a:solidFill>
            <a:tailEnd type="triangle"/>
          </a:ln>
        </p:spPr>
      </p:cxnSp>
      <p:sp>
        <p:nvSpPr>
          <p:cNvPr id="53" name="Ellipse 53"/>
          <p:cNvSpPr/>
          <p:nvPr/>
        </p:nvSpPr>
        <p:spPr>
          <a:xfrm>
            <a:off x="4754880" y="2798064"/>
            <a:ext cx="2670048" cy="1417320"/>
          </a:xfrm>
          <a:prstGeom prst="ellipse">
            <a:avLst/>
          </a:prstGeom>
          <a:solidFill>
            <a:srgbClr val="08152F"/>
          </a:solidFill>
          <a:ln w="12700">
            <a:solidFill>
              <a:srgbClr val="08152F"/>
            </a:solidFill>
          </a:ln>
        </p:spPr>
        <p:txBody>
          <a:bodyPr/>
          <a:lstStyle/>
          <a:p>
            <a:endParaRPr lang="en-US"/>
          </a:p>
        </p:txBody>
      </p:sp>
      <p:sp>
        <p:nvSpPr>
          <p:cNvPr id="54" name="Text 54"/>
          <p:cNvSpPr txBox="1"/>
          <p:nvPr/>
        </p:nvSpPr>
        <p:spPr>
          <a:xfrm>
            <a:off x="5047488" y="3054096"/>
            <a:ext cx="2084832" cy="310896"/>
          </a:xfrm>
          <a:prstGeom prst="rect">
            <a:avLst/>
          </a:prstGeom>
          <a:noFill/>
          <a:ln>
            <a:noFill/>
          </a:ln>
        </p:spPr>
        <p:txBody>
          <a:bodyPr wrap="square" anchor="t" lIns="0" rIns="0" tIns="0" bIns="0"/>
          <a:lstStyle/>
          <a:p>
            <a:pPr algn="ctr"/>
            <a:r>
              <a:rPr lang="en-US" sz="1250" b="1" i="0" dirty="0">
                <a:solidFill>
                  <a:srgbClr val="FFFFFF"/>
                </a:solidFill>
                <a:latin typeface="Arial"/>
              </a:rPr>
              <a:t>PLAN → APPLY → VERIFY</a:t>
            </a:r>
            <a:endParaRPr lang="en-US" sz="1250"/>
          </a:p>
        </p:txBody>
      </p:sp>
      <p:sp>
        <p:nvSpPr>
          <p:cNvPr id="55" name="Text 55"/>
          <p:cNvSpPr txBox="1"/>
          <p:nvPr/>
        </p:nvSpPr>
        <p:spPr>
          <a:xfrm>
            <a:off x="5065776" y="3538728"/>
            <a:ext cx="2048256" cy="219456"/>
          </a:xfrm>
          <a:prstGeom prst="rect">
            <a:avLst/>
          </a:prstGeom>
          <a:noFill/>
          <a:ln>
            <a:noFill/>
          </a:ln>
        </p:spPr>
        <p:txBody>
          <a:bodyPr wrap="square" anchor="t" lIns="0" rIns="0" tIns="0" bIns="0"/>
          <a:lstStyle/>
          <a:p>
            <a:pPr algn="ctr"/>
            <a:r>
              <a:rPr lang="en-US" sz="940" b="0" i="0" dirty="0">
                <a:solidFill>
                  <a:srgbClr val="B8C8DE"/>
                </a:solidFill>
                <a:latin typeface="Arial"/>
              </a:rPr>
              <a:t>explicit authority at every write</a:t>
            </a:r>
            <a:endParaRPr lang="en-US" sz="940"/>
          </a:p>
        </p:txBody>
      </p:sp>
      <p:sp>
        <p:nvSpPr>
          <p:cNvPr id="56" name="Rect 56"/>
          <p:cNvSpPr/>
          <p:nvPr/>
        </p:nvSpPr>
        <p:spPr>
          <a:xfrm>
            <a:off x="749808" y="5760720"/>
            <a:ext cx="1078992" cy="310896"/>
          </a:xfrm>
          <a:prstGeom prst="roundRect">
            <a:avLst/>
          </a:prstGeom>
          <a:solidFill>
            <a:srgbClr val="DCE8FD"/>
          </a:solidFill>
          <a:ln w="10160">
            <a:solidFill>
              <a:srgbClr val="3B82F6"/>
            </a:solidFill>
          </a:ln>
        </p:spPr>
        <p:txBody>
          <a:bodyPr/>
          <a:lstStyle/>
          <a:p>
            <a:endParaRPr lang="en-US"/>
          </a:p>
        </p:txBody>
      </p:sp>
      <p:sp>
        <p:nvSpPr>
          <p:cNvPr id="57" name="Text 57"/>
          <p:cNvSpPr txBox="1"/>
          <p:nvPr/>
        </p:nvSpPr>
        <p:spPr>
          <a:xfrm>
            <a:off x="822960" y="5811012"/>
            <a:ext cx="932688" cy="192024"/>
          </a:xfrm>
          <a:prstGeom prst="rect">
            <a:avLst/>
          </a:prstGeom>
          <a:noFill/>
          <a:ln>
            <a:noFill/>
          </a:ln>
        </p:spPr>
        <p:txBody>
          <a:bodyPr wrap="square" anchor="t" lIns="0" rIns="0" tIns="0" bIns="0"/>
          <a:lstStyle/>
          <a:p>
            <a:pPr algn="ctr"/>
            <a:r>
              <a:rPr lang="en-US" sz="920" b="1" i="0" dirty="0">
                <a:solidFill>
                  <a:srgbClr val="3B82F6"/>
                </a:solidFill>
                <a:latin typeface="Arial"/>
              </a:rPr>
              <a:t>LINKS</a:t>
            </a:r>
            <a:endParaRPr lang="en-US" sz="920"/>
          </a:p>
        </p:txBody>
      </p:sp>
      <p:sp>
        <p:nvSpPr>
          <p:cNvPr id="58" name="Rect 58"/>
          <p:cNvSpPr/>
          <p:nvPr/>
        </p:nvSpPr>
        <p:spPr>
          <a:xfrm>
            <a:off x="2048256" y="5760720"/>
            <a:ext cx="1078992" cy="310896"/>
          </a:xfrm>
          <a:prstGeom prst="roundRect">
            <a:avLst/>
          </a:prstGeom>
          <a:solidFill>
            <a:srgbClr val="D3ECEA"/>
          </a:solidFill>
          <a:ln w="10160">
            <a:solidFill>
              <a:srgbClr val="0D9488"/>
            </a:solidFill>
          </a:ln>
        </p:spPr>
        <p:txBody>
          <a:bodyPr/>
          <a:lstStyle/>
          <a:p>
            <a:endParaRPr lang="en-US"/>
          </a:p>
        </p:txBody>
      </p:sp>
      <p:sp>
        <p:nvSpPr>
          <p:cNvPr id="59" name="Text 59"/>
          <p:cNvSpPr txBox="1"/>
          <p:nvPr/>
        </p:nvSpPr>
        <p:spPr>
          <a:xfrm>
            <a:off x="2121408" y="5811012"/>
            <a:ext cx="932688" cy="192024"/>
          </a:xfrm>
          <a:prstGeom prst="rect">
            <a:avLst/>
          </a:prstGeom>
          <a:noFill/>
          <a:ln>
            <a:noFill/>
          </a:ln>
        </p:spPr>
        <p:txBody>
          <a:bodyPr wrap="square" anchor="t" lIns="0" rIns="0" tIns="0" bIns="0"/>
          <a:lstStyle/>
          <a:p>
            <a:pPr algn="ctr"/>
            <a:r>
              <a:rPr lang="en-US" sz="920" b="1" i="0" dirty="0">
                <a:solidFill>
                  <a:srgbClr val="0D9488"/>
                </a:solidFill>
                <a:latin typeface="Arial"/>
              </a:rPr>
              <a:t>TOOLS</a:t>
            </a:r>
            <a:endParaRPr lang="en-US" sz="920"/>
          </a:p>
        </p:txBody>
      </p:sp>
      <p:sp>
        <p:nvSpPr>
          <p:cNvPr id="60" name="Rect 60"/>
          <p:cNvSpPr/>
          <p:nvPr/>
        </p:nvSpPr>
        <p:spPr>
          <a:xfrm>
            <a:off x="3346704" y="5760720"/>
            <a:ext cx="1078992" cy="310896"/>
          </a:xfrm>
          <a:prstGeom prst="roundRect">
            <a:avLst/>
          </a:prstGeom>
          <a:solidFill>
            <a:srgbClr val="FDEED3"/>
          </a:solidFill>
          <a:ln w="10160">
            <a:solidFill>
              <a:srgbClr val="F59E0B"/>
            </a:solidFill>
          </a:ln>
        </p:spPr>
        <p:txBody>
          <a:bodyPr/>
          <a:lstStyle/>
          <a:p>
            <a:endParaRPr lang="en-US"/>
          </a:p>
        </p:txBody>
      </p:sp>
      <p:sp>
        <p:nvSpPr>
          <p:cNvPr id="61" name="Text 61"/>
          <p:cNvSpPr txBox="1"/>
          <p:nvPr/>
        </p:nvSpPr>
        <p:spPr>
          <a:xfrm>
            <a:off x="3419856" y="5811012"/>
            <a:ext cx="932688" cy="192024"/>
          </a:xfrm>
          <a:prstGeom prst="rect">
            <a:avLst/>
          </a:prstGeom>
          <a:noFill/>
          <a:ln>
            <a:noFill/>
          </a:ln>
        </p:spPr>
        <p:txBody>
          <a:bodyPr wrap="square" anchor="t" lIns="0" rIns="0" tIns="0" bIns="0"/>
          <a:lstStyle/>
          <a:p>
            <a:pPr algn="ctr"/>
            <a:r>
              <a:rPr lang="en-US" sz="920" b="1" i="0" dirty="0">
                <a:solidFill>
                  <a:srgbClr val="F59E0B"/>
                </a:solidFill>
                <a:latin typeface="Arial"/>
              </a:rPr>
              <a:t>BACKUPS</a:t>
            </a:r>
            <a:endParaRPr lang="en-US" sz="920"/>
          </a:p>
        </p:txBody>
      </p:sp>
      <p:sp>
        <p:nvSpPr>
          <p:cNvPr id="62" name="Rect 62"/>
          <p:cNvSpPr/>
          <p:nvPr/>
        </p:nvSpPr>
        <p:spPr>
          <a:xfrm>
            <a:off x="4645152" y="5760720"/>
            <a:ext cx="1078992" cy="310896"/>
          </a:xfrm>
          <a:prstGeom prst="roundRect">
            <a:avLst/>
          </a:prstGeom>
          <a:solidFill>
            <a:srgbClr val="E7DCFC"/>
          </a:solidFill>
          <a:ln w="10160">
            <a:solidFill>
              <a:srgbClr val="7C3AED"/>
            </a:solidFill>
          </a:ln>
        </p:spPr>
        <p:txBody>
          <a:bodyPr/>
          <a:lstStyle/>
          <a:p>
            <a:endParaRPr lang="en-US"/>
          </a:p>
        </p:txBody>
      </p:sp>
      <p:sp>
        <p:nvSpPr>
          <p:cNvPr id="63" name="Text 63"/>
          <p:cNvSpPr txBox="1"/>
          <p:nvPr/>
        </p:nvSpPr>
        <p:spPr>
          <a:xfrm>
            <a:off x="4718304" y="5811012"/>
            <a:ext cx="932688" cy="192024"/>
          </a:xfrm>
          <a:prstGeom prst="rect">
            <a:avLst/>
          </a:prstGeom>
          <a:noFill/>
          <a:ln>
            <a:noFill/>
          </a:ln>
        </p:spPr>
        <p:txBody>
          <a:bodyPr wrap="square" anchor="t" lIns="0" rIns="0" tIns="0" bIns="0"/>
          <a:lstStyle/>
          <a:p>
            <a:pPr algn="ctr"/>
            <a:r>
              <a:rPr lang="en-US" sz="920" b="1" i="0" dirty="0">
                <a:solidFill>
                  <a:srgbClr val="7C3AED"/>
                </a:solidFill>
                <a:latin typeface="Arial"/>
              </a:rPr>
              <a:t>FLEET</a:t>
            </a:r>
            <a:endParaRPr lang="en-US" sz="920"/>
          </a:p>
        </p:txBody>
      </p:sp>
      <p:sp>
        <p:nvSpPr>
          <p:cNvPr id="64" name="Text 64"/>
          <p:cNvSpPr txBox="1"/>
          <p:nvPr/>
        </p:nvSpPr>
        <p:spPr>
          <a:xfrm>
            <a:off x="6108192" y="5724144"/>
            <a:ext cx="5230368" cy="320040"/>
          </a:xfrm>
          <a:prstGeom prst="rect">
            <a:avLst/>
          </a:prstGeom>
          <a:noFill/>
          <a:ln>
            <a:noFill/>
          </a:ln>
        </p:spPr>
        <p:txBody>
          <a:bodyPr wrap="square" anchor="t" lIns="0" rIns="0" tIns="0" bIns="0"/>
          <a:lstStyle/>
          <a:p>
            <a:pPr algn="r"/>
            <a:r>
              <a:rPr lang="en-US" sz="1020" b="0" i="0" dirty="0">
                <a:solidFill>
                  <a:srgbClr val="56647A"/>
                </a:solidFill>
                <a:latin typeface="Arial"/>
              </a:rPr>
              <a:t>Site software • credentials • project runtimes remain outside generic rollback</a:t>
            </a:r>
            <a:endParaRPr lang="en-US" sz="1020"/>
          </a:p>
        </p:txBody>
      </p:sp>
      <p:cxnSp>
        <p:nvCxnSpPr>
          <p:cNvPr id="65" name="Line 65"/>
          <p:cNvCxnSpPr/>
          <p:nvPr/>
        </p:nvCxnSpPr>
        <p:spPr>
          <a:xfrm flipH="false" flipV="false">
            <a:off x="621792" y="6473952"/>
            <a:ext cx="10954512" cy="0"/>
          </a:xfrm>
          <a:prstGeom prst="line">
            <a:avLst/>
          </a:prstGeom>
          <a:ln w="10160">
            <a:solidFill>
              <a:srgbClr val="D7DFEA"/>
            </a:solidFill>
          </a:ln>
        </p:spPr>
      </p:cxnSp>
      <p:sp>
        <p:nvSpPr>
          <p:cNvPr id="66" name="Text 66"/>
          <p:cNvSpPr txBox="1"/>
          <p:nvPr/>
        </p:nvSpPr>
        <p:spPr>
          <a:xfrm>
            <a:off x="640080" y="6510528"/>
            <a:ext cx="10469880" cy="201168"/>
          </a:xfrm>
          <a:prstGeom prst="rect">
            <a:avLst/>
          </a:prstGeom>
          <a:noFill/>
          <a:ln>
            <a:noFill/>
          </a:ln>
        </p:spPr>
        <p:txBody>
          <a:bodyPr wrap="square" anchor="t" lIns="0" rIns="0" tIns="0" bIns="0"/>
          <a:lstStyle/>
          <a:p>
            <a:pPr algn="l"/>
            <a:r>
              <a:rPr lang="en-US" sz="720" b="0" i="0" dirty="0">
                <a:solidFill>
                  <a:srgbClr val="56647A"/>
                </a:solidFill>
                <a:latin typeface="Arial"/>
              </a:rPr>
              <a:t>07351a40 • 42e9a119 • 37ff256a • 238f022 • e8b0e9ae • 1ed9712</a:t>
            </a:r>
            <a:endParaRPr lang="en-US" sz="720"/>
          </a:p>
        </p:txBody>
      </p:sp>
      <p:sp>
        <p:nvSpPr>
          <p:cNvPr id="67" name="Text 67"/>
          <p:cNvSpPr txBox="1"/>
          <p:nvPr/>
        </p:nvSpPr>
        <p:spPr>
          <a:xfrm>
            <a:off x="11201400" y="6492240"/>
            <a:ext cx="329184" cy="201168"/>
          </a:xfrm>
          <a:prstGeom prst="rect">
            <a:avLst/>
          </a:prstGeom>
          <a:noFill/>
          <a:ln>
            <a:noFill/>
          </a:ln>
        </p:spPr>
        <p:txBody>
          <a:bodyPr wrap="square" anchor="t" lIns="0" rIns="0" tIns="0" bIns="0"/>
          <a:lstStyle/>
          <a:p>
            <a:pPr algn="r"/>
            <a:r>
              <a:rPr lang="en-US" sz="800" b="1" i="0" dirty="0">
                <a:solidFill>
                  <a:srgbClr val="56647A"/>
                </a:solidFill>
                <a:latin typeface="Arial"/>
              </a:rPr>
              <a:t>6</a:t>
            </a:r>
            <a:endParaRPr lang="en-US" sz="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FFFFFF"/>
          </a:solidFill>
          <a:ln w="12700">
            <a:solidFill>
              <a:srgbClr val="FFFFFF"/>
            </a:solidFill>
          </a:ln>
        </p:spPr>
        <p:txBody>
          <a:bodyPr/>
          <a:lstStyle/>
          <a:p>
            <a:endParaRPr lang="en-US"/>
          </a:p>
        </p:txBody>
      </p:sp>
      <p:sp>
        <p:nvSpPr>
          <p:cNvPr id="3" name="Text 3"/>
          <p:cNvSpPr txBox="1"/>
          <p:nvPr/>
        </p:nvSpPr>
        <p:spPr>
          <a:xfrm>
            <a:off x="621792" y="347472"/>
            <a:ext cx="10927080" cy="566928"/>
          </a:xfrm>
          <a:prstGeom prst="rect">
            <a:avLst/>
          </a:prstGeom>
          <a:noFill/>
          <a:ln>
            <a:noFill/>
          </a:ln>
        </p:spPr>
        <p:txBody>
          <a:bodyPr wrap="square" anchor="t" lIns="0" rIns="0" tIns="0" bIns="0"/>
          <a:lstStyle/>
          <a:p>
            <a:pPr algn="l"/>
            <a:r>
              <a:rPr lang="en-US" sz="2700" b="1" i="0" dirty="0">
                <a:solidFill>
                  <a:srgbClr val="14213D"/>
                </a:solidFill>
                <a:latin typeface="Arial"/>
              </a:rPr>
              <a:t>Evidence became a gate—not a post-hoc report</a:t>
            </a:r>
            <a:endParaRPr lang="en-US" sz="2700"/>
          </a:p>
        </p:txBody>
      </p:sp>
      <p:sp>
        <p:nvSpPr>
          <p:cNvPr id="4" name="Text 4"/>
          <p:cNvSpPr txBox="1"/>
          <p:nvPr/>
        </p:nvSpPr>
        <p:spPr>
          <a:xfrm>
            <a:off x="640080" y="932688"/>
            <a:ext cx="10881360" cy="310896"/>
          </a:xfrm>
          <a:prstGeom prst="rect">
            <a:avLst/>
          </a:prstGeom>
          <a:noFill/>
          <a:ln>
            <a:noFill/>
          </a:ln>
        </p:spPr>
        <p:txBody>
          <a:bodyPr wrap="square" anchor="t" lIns="0" rIns="0" tIns="0" bIns="0"/>
          <a:lstStyle/>
          <a:p>
            <a:pPr algn="l"/>
            <a:r>
              <a:rPr lang="en-US" sz="1250" b="0" i="0" dirty="0">
                <a:solidFill>
                  <a:srgbClr val="56647A"/>
                </a:solidFill>
                <a:latin typeface="Arial"/>
              </a:rPr>
              <a:t>A plausible change can be rejected; a capability claim must survive its native route</a:t>
            </a:r>
            <a:endParaRPr lang="en-US" sz="1250"/>
          </a:p>
        </p:txBody>
      </p:sp>
      <p:sp>
        <p:nvSpPr>
          <p:cNvPr id="5" name="Rect 5"/>
          <p:cNvSpPr/>
          <p:nvPr/>
        </p:nvSpPr>
        <p:spPr>
          <a:xfrm>
            <a:off x="658368" y="1417320"/>
            <a:ext cx="5376672" cy="4498848"/>
          </a:xfrm>
          <a:prstGeom prst="roundRect">
            <a:avLst/>
          </a:prstGeom>
          <a:solidFill>
            <a:srgbClr val="F8F5FE"/>
          </a:solidFill>
          <a:ln w="12700">
            <a:solidFill>
              <a:srgbClr val="7C3AED"/>
            </a:solidFill>
          </a:ln>
        </p:spPr>
        <p:txBody>
          <a:bodyPr/>
          <a:lstStyle/>
          <a:p>
            <a:endParaRPr lang="en-US"/>
          </a:p>
        </p:txBody>
      </p:sp>
      <p:sp>
        <p:nvSpPr>
          <p:cNvPr id="6" name="Rect 6"/>
          <p:cNvSpPr/>
          <p:nvPr/>
        </p:nvSpPr>
        <p:spPr>
          <a:xfrm>
            <a:off x="932688" y="1682496"/>
            <a:ext cx="1353312" cy="310896"/>
          </a:xfrm>
          <a:prstGeom prst="roundRect">
            <a:avLst/>
          </a:prstGeom>
          <a:solidFill>
            <a:srgbClr val="E7DCFC"/>
          </a:solidFill>
          <a:ln w="10160">
            <a:solidFill>
              <a:srgbClr val="7C3AED"/>
            </a:solidFill>
          </a:ln>
        </p:spPr>
        <p:txBody>
          <a:bodyPr/>
          <a:lstStyle/>
          <a:p>
            <a:endParaRPr lang="en-US"/>
          </a:p>
        </p:txBody>
      </p:sp>
      <p:sp>
        <p:nvSpPr>
          <p:cNvPr id="7" name="Text 7"/>
          <p:cNvSpPr txBox="1"/>
          <p:nvPr/>
        </p:nvSpPr>
        <p:spPr>
          <a:xfrm>
            <a:off x="1005840" y="1732788"/>
            <a:ext cx="1207008" cy="192024"/>
          </a:xfrm>
          <a:prstGeom prst="rect">
            <a:avLst/>
          </a:prstGeom>
          <a:noFill/>
          <a:ln>
            <a:noFill/>
          </a:ln>
        </p:spPr>
        <p:txBody>
          <a:bodyPr wrap="square" anchor="t" lIns="0" rIns="0" tIns="0" bIns="0"/>
          <a:lstStyle/>
          <a:p>
            <a:pPr algn="ctr"/>
            <a:r>
              <a:rPr lang="en-US" sz="920" b="1" i="0" dirty="0">
                <a:solidFill>
                  <a:srgbClr val="7C3AED"/>
                </a:solidFill>
                <a:latin typeface="Arial"/>
              </a:rPr>
              <a:t>AGENT EVAL</a:t>
            </a:r>
            <a:endParaRPr lang="en-US" sz="920"/>
          </a:p>
        </p:txBody>
      </p:sp>
      <p:sp>
        <p:nvSpPr>
          <p:cNvPr id="8" name="Text 8"/>
          <p:cNvSpPr txBox="1"/>
          <p:nvPr/>
        </p:nvSpPr>
        <p:spPr>
          <a:xfrm>
            <a:off x="932688" y="2167128"/>
            <a:ext cx="4553712" cy="411480"/>
          </a:xfrm>
          <a:prstGeom prst="rect">
            <a:avLst/>
          </a:prstGeom>
          <a:noFill/>
          <a:ln>
            <a:noFill/>
          </a:ln>
        </p:spPr>
        <p:txBody>
          <a:bodyPr wrap="square" anchor="t" lIns="0" rIns="0" tIns="0" bIns="0"/>
          <a:lstStyle/>
          <a:p>
            <a:pPr algn="l"/>
            <a:r>
              <a:rPr lang="en-US" sz="1550" b="1" i="0" dirty="0">
                <a:solidFill>
                  <a:srgbClr val="14213D"/>
                </a:solidFill>
                <a:latin typeface="Arial"/>
              </a:rPr>
              <a:t>Candidate A entered a frozen paired experiment</a:t>
            </a:r>
            <a:endParaRPr lang="en-US" sz="1550"/>
          </a:p>
        </p:txBody>
      </p:sp>
      <p:cxnSp>
        <p:nvCxnSpPr>
          <p:cNvPr id="9" name="Line 9"/>
          <p:cNvCxnSpPr/>
          <p:nvPr/>
        </p:nvCxnSpPr>
        <p:spPr>
          <a:xfrm flipH="false" flipV="false">
            <a:off x="1143000" y="2907792"/>
            <a:ext cx="804672" cy="0"/>
          </a:xfrm>
          <a:prstGeom prst="line">
            <a:avLst/>
          </a:prstGeom>
          <a:ln w="25400">
            <a:solidFill>
              <a:srgbClr val="7C3AED"/>
            </a:solidFill>
            <a:tailEnd type="triangle"/>
          </a:ln>
        </p:spPr>
      </p:cxnSp>
      <p:sp>
        <p:nvSpPr>
          <p:cNvPr id="10" name="Rect 10"/>
          <p:cNvSpPr/>
          <p:nvPr/>
        </p:nvSpPr>
        <p:spPr>
          <a:xfrm>
            <a:off x="2029968" y="2514600"/>
            <a:ext cx="1554480" cy="786384"/>
          </a:xfrm>
          <a:prstGeom prst="roundRect">
            <a:avLst/>
          </a:prstGeom>
          <a:solidFill>
            <a:srgbClr val="FFFFFF"/>
          </a:solidFill>
          <a:ln w="12700">
            <a:solidFill>
              <a:srgbClr val="7C3AED"/>
            </a:solidFill>
          </a:ln>
        </p:spPr>
        <p:txBody>
          <a:bodyPr/>
          <a:lstStyle/>
          <a:p>
            <a:endParaRPr lang="en-US"/>
          </a:p>
        </p:txBody>
      </p:sp>
      <p:sp>
        <p:nvSpPr>
          <p:cNvPr id="11" name="Text 11"/>
          <p:cNvSpPr txBox="1"/>
          <p:nvPr/>
        </p:nvSpPr>
        <p:spPr>
          <a:xfrm>
            <a:off x="2194560" y="2679192"/>
            <a:ext cx="1225296" cy="219456"/>
          </a:xfrm>
          <a:prstGeom prst="rect">
            <a:avLst/>
          </a:prstGeom>
          <a:noFill/>
          <a:ln>
            <a:noFill/>
          </a:ln>
        </p:spPr>
        <p:txBody>
          <a:bodyPr wrap="square" anchor="t" lIns="0" rIns="0" tIns="0" bIns="0"/>
          <a:lstStyle/>
          <a:p>
            <a:pPr algn="ctr"/>
            <a:r>
              <a:rPr lang="en-US" sz="1500" b="1" i="0" dirty="0">
                <a:solidFill>
                  <a:srgbClr val="7C3AED"/>
                </a:solidFill>
                <a:latin typeface="Arial"/>
              </a:rPr>
              <a:t>70 runs</a:t>
            </a:r>
            <a:endParaRPr lang="en-US" sz="1500"/>
          </a:p>
        </p:txBody>
      </p:sp>
      <p:cxnSp>
        <p:nvCxnSpPr>
          <p:cNvPr id="12" name="Line 12"/>
          <p:cNvCxnSpPr/>
          <p:nvPr/>
        </p:nvCxnSpPr>
        <p:spPr>
          <a:xfrm flipH="false" flipV="false">
            <a:off x="3675888" y="2907792"/>
            <a:ext cx="804672" cy="0"/>
          </a:xfrm>
          <a:prstGeom prst="line">
            <a:avLst/>
          </a:prstGeom>
          <a:ln w="25400">
            <a:solidFill>
              <a:srgbClr val="7C3AED"/>
            </a:solidFill>
            <a:tailEnd type="triangle"/>
          </a:ln>
        </p:spPr>
      </p:cxnSp>
      <p:sp>
        <p:nvSpPr>
          <p:cNvPr id="13" name="Rect 13"/>
          <p:cNvSpPr/>
          <p:nvPr/>
        </p:nvSpPr>
        <p:spPr>
          <a:xfrm>
            <a:off x="4553712" y="2414016"/>
            <a:ext cx="1097280" cy="987552"/>
          </a:xfrm>
          <a:prstGeom prst="roundRect">
            <a:avLst/>
          </a:prstGeom>
          <a:solidFill>
            <a:srgbClr val="F9DCDC"/>
          </a:solidFill>
          <a:ln w="12700">
            <a:solidFill>
              <a:srgbClr val="DC2626"/>
            </a:solidFill>
          </a:ln>
        </p:spPr>
        <p:txBody>
          <a:bodyPr/>
          <a:lstStyle/>
          <a:p>
            <a:endParaRPr lang="en-US"/>
          </a:p>
        </p:txBody>
      </p:sp>
      <p:sp>
        <p:nvSpPr>
          <p:cNvPr id="14" name="Text 14"/>
          <p:cNvSpPr txBox="1"/>
          <p:nvPr/>
        </p:nvSpPr>
        <p:spPr>
          <a:xfrm>
            <a:off x="4663440" y="2615184"/>
            <a:ext cx="877824" cy="237744"/>
          </a:xfrm>
          <a:prstGeom prst="rect">
            <a:avLst/>
          </a:prstGeom>
          <a:noFill/>
          <a:ln>
            <a:noFill/>
          </a:ln>
        </p:spPr>
        <p:txBody>
          <a:bodyPr wrap="square" anchor="t" lIns="0" rIns="0" tIns="0" bIns="0"/>
          <a:lstStyle/>
          <a:p>
            <a:pPr algn="ctr"/>
            <a:r>
              <a:rPr lang="en-US" sz="1550" b="1" i="0" dirty="0">
                <a:solidFill>
                  <a:srgbClr val="DC2626"/>
                </a:solidFill>
                <a:latin typeface="Arial"/>
              </a:rPr>
              <a:t>REJECT</a:t>
            </a:r>
            <a:endParaRPr lang="en-US" sz="1550"/>
          </a:p>
        </p:txBody>
      </p:sp>
      <p:sp>
        <p:nvSpPr>
          <p:cNvPr id="15" name="Text 15"/>
          <p:cNvSpPr txBox="1"/>
          <p:nvPr/>
        </p:nvSpPr>
        <p:spPr>
          <a:xfrm>
            <a:off x="932688" y="3785616"/>
            <a:ext cx="4590288" cy="749808"/>
          </a:xfrm>
          <a:prstGeom prst="rect">
            <a:avLst/>
          </a:prstGeom>
          <a:noFill/>
          <a:ln>
            <a:noFill/>
          </a:ln>
        </p:spPr>
        <p:txBody>
          <a:bodyPr wrap="square" anchor="t" lIns="0" rIns="0" tIns="0" bIns="0"/>
          <a:lstStyle/>
          <a:p>
            <a:pPr algn="ctr"/>
            <a:r>
              <a:rPr lang="en-US" sz="1550" b="1" i="0" dirty="0">
                <a:solidFill>
                  <a:srgbClr val="DC2626"/>
                </a:solidFill>
                <a:latin typeface="Arial"/>
              </a:rPr>
              <a:t>No substantive gain</a:t>
            </a:r>
            <a:endParaRPr lang="en-US" sz="1550"/>
          </a:p>
          <a:p>
            <a:pPr algn="ctr"/>
            <a:r>
              <a:rPr lang="en-US" sz="1550" b="1" i="0" dirty="0">
                <a:solidFill>
                  <a:srgbClr val="DC2626"/>
                </a:solidFill>
                <a:latin typeface="Arial"/>
              </a:rPr>
              <a:t>+13.3% duration • +3.1% input tokens</a:t>
            </a:r>
            <a:endParaRPr lang="en-US" sz="1550"/>
          </a:p>
        </p:txBody>
      </p:sp>
      <p:sp>
        <p:nvSpPr>
          <p:cNvPr id="16" name="Text 16"/>
          <p:cNvSpPr txBox="1"/>
          <p:nvPr/>
        </p:nvSpPr>
        <p:spPr>
          <a:xfrm>
            <a:off x="932688" y="4818888"/>
            <a:ext cx="4590288" cy="502920"/>
          </a:xfrm>
          <a:prstGeom prst="rect">
            <a:avLst/>
          </a:prstGeom>
          <a:noFill/>
          <a:ln>
            <a:noFill/>
          </a:ln>
        </p:spPr>
        <p:txBody>
          <a:bodyPr wrap="square" anchor="t" lIns="0" rIns="0" tIns="0" bIns="0"/>
          <a:lstStyle/>
          <a:p>
            <a:pPr algn="ctr"/>
            <a:r>
              <a:rPr lang="en-US" sz="1060" b="0" i="0" dirty="0">
                <a:solidFill>
                  <a:srgbClr val="56647A"/>
                </a:solidFill>
                <a:latin typeface="Arial"/>
              </a:rPr>
              <a:t>69/70 deterministic • 70/70 substantive review • 0 safety failures</a:t>
            </a:r>
            <a:endParaRPr lang="en-US" sz="1060"/>
          </a:p>
        </p:txBody>
      </p:sp>
      <p:sp>
        <p:nvSpPr>
          <p:cNvPr id="17" name="Rect 17"/>
          <p:cNvSpPr/>
          <p:nvPr/>
        </p:nvSpPr>
        <p:spPr>
          <a:xfrm>
            <a:off x="1773936" y="5422392"/>
            <a:ext cx="2852928" cy="310896"/>
          </a:xfrm>
          <a:prstGeom prst="roundRect">
            <a:avLst/>
          </a:prstGeom>
          <a:solidFill>
            <a:srgbClr val="FDEED3"/>
          </a:solidFill>
          <a:ln w="10160">
            <a:solidFill>
              <a:srgbClr val="F59E0B"/>
            </a:solidFill>
          </a:ln>
        </p:spPr>
        <p:txBody>
          <a:bodyPr/>
          <a:lstStyle/>
          <a:p>
            <a:endParaRPr lang="en-US"/>
          </a:p>
        </p:txBody>
      </p:sp>
      <p:sp>
        <p:nvSpPr>
          <p:cNvPr id="18" name="Text 18"/>
          <p:cNvSpPr txBox="1"/>
          <p:nvPr/>
        </p:nvSpPr>
        <p:spPr>
          <a:xfrm>
            <a:off x="1847088" y="5472684"/>
            <a:ext cx="2706624" cy="192024"/>
          </a:xfrm>
          <a:prstGeom prst="rect">
            <a:avLst/>
          </a:prstGeom>
          <a:noFill/>
          <a:ln>
            <a:noFill/>
          </a:ln>
        </p:spPr>
        <p:txBody>
          <a:bodyPr wrap="square" anchor="t" lIns="0" rIns="0" tIns="0" bIns="0"/>
          <a:lstStyle/>
          <a:p>
            <a:pPr algn="ctr"/>
            <a:r>
              <a:rPr lang="en-US" sz="920" b="1" i="0" dirty="0">
                <a:solidFill>
                  <a:srgbClr val="F59E0B"/>
                </a:solidFill>
                <a:latin typeface="Arial"/>
              </a:rPr>
              <a:t>CORPUS / MODEL / ENVIRONMENT SPECIFIC</a:t>
            </a:r>
            <a:endParaRPr lang="en-US" sz="920"/>
          </a:p>
        </p:txBody>
      </p:sp>
      <p:sp>
        <p:nvSpPr>
          <p:cNvPr id="19" name="Rect 19"/>
          <p:cNvSpPr/>
          <p:nvPr/>
        </p:nvSpPr>
        <p:spPr>
          <a:xfrm>
            <a:off x="6272784" y="1417320"/>
            <a:ext cx="5257800" cy="4498848"/>
          </a:xfrm>
          <a:prstGeom prst="roundRect">
            <a:avLst/>
          </a:prstGeom>
          <a:solidFill>
            <a:srgbClr val="F5FCFD"/>
          </a:solidFill>
          <a:ln w="12700">
            <a:solidFill>
              <a:srgbClr val="06B6D4"/>
            </a:solidFill>
          </a:ln>
        </p:spPr>
        <p:txBody>
          <a:bodyPr/>
          <a:lstStyle/>
          <a:p>
            <a:endParaRPr lang="en-US"/>
          </a:p>
        </p:txBody>
      </p:sp>
      <p:sp>
        <p:nvSpPr>
          <p:cNvPr id="20" name="Rect 20"/>
          <p:cNvSpPr/>
          <p:nvPr/>
        </p:nvSpPr>
        <p:spPr>
          <a:xfrm>
            <a:off x="6547104" y="1682496"/>
            <a:ext cx="1572768" cy="310896"/>
          </a:xfrm>
          <a:prstGeom prst="roundRect">
            <a:avLst/>
          </a:prstGeom>
          <a:solidFill>
            <a:srgbClr val="D2F2F7"/>
          </a:solidFill>
          <a:ln w="10160">
            <a:solidFill>
              <a:srgbClr val="06B6D4"/>
            </a:solidFill>
          </a:ln>
        </p:spPr>
        <p:txBody>
          <a:bodyPr/>
          <a:lstStyle/>
          <a:p>
            <a:endParaRPr lang="en-US"/>
          </a:p>
        </p:txBody>
      </p:sp>
      <p:sp>
        <p:nvSpPr>
          <p:cNvPr id="21" name="Text 21"/>
          <p:cNvSpPr txBox="1"/>
          <p:nvPr/>
        </p:nvSpPr>
        <p:spPr>
          <a:xfrm>
            <a:off x="6620256" y="1732788"/>
            <a:ext cx="1426464" cy="192024"/>
          </a:xfrm>
          <a:prstGeom prst="rect">
            <a:avLst/>
          </a:prstGeom>
          <a:noFill/>
          <a:ln>
            <a:noFill/>
          </a:ln>
        </p:spPr>
        <p:txBody>
          <a:bodyPr wrap="square" anchor="t" lIns="0" rIns="0" tIns="0" bIns="0"/>
          <a:lstStyle/>
          <a:p>
            <a:pPr algn="ctr"/>
            <a:r>
              <a:rPr lang="en-US" sz="920" b="1" i="0" dirty="0">
                <a:solidFill>
                  <a:srgbClr val="06B6D4"/>
                </a:solidFill>
                <a:latin typeface="Arial"/>
              </a:rPr>
              <a:t>NATIVE ROUTES</a:t>
            </a:r>
            <a:endParaRPr lang="en-US" sz="920"/>
          </a:p>
        </p:txBody>
      </p:sp>
      <p:sp>
        <p:nvSpPr>
          <p:cNvPr id="22" name="Text 22"/>
          <p:cNvSpPr txBox="1"/>
          <p:nvPr/>
        </p:nvSpPr>
        <p:spPr>
          <a:xfrm>
            <a:off x="6547104" y="2167128"/>
            <a:ext cx="4480560" cy="411480"/>
          </a:xfrm>
          <a:prstGeom prst="rect">
            <a:avLst/>
          </a:prstGeom>
          <a:noFill/>
          <a:ln>
            <a:noFill/>
          </a:ln>
        </p:spPr>
        <p:txBody>
          <a:bodyPr wrap="square" anchor="t" lIns="0" rIns="0" tIns="0" bIns="0"/>
          <a:lstStyle/>
          <a:p>
            <a:pPr algn="l"/>
            <a:r>
              <a:rPr lang="en-US" sz="1550" b="1" i="0" dirty="0">
                <a:solidFill>
                  <a:srgbClr val="14213D"/>
                </a:solidFill>
                <a:latin typeface="Arial"/>
              </a:rPr>
              <a:t>Seven sites kept their real scheduler semantics</a:t>
            </a:r>
            <a:endParaRPr lang="en-US" sz="1550"/>
          </a:p>
        </p:txBody>
      </p:sp>
      <p:sp>
        <p:nvSpPr>
          <p:cNvPr id="23" name="Text 23"/>
          <p:cNvSpPr txBox="1"/>
          <p:nvPr/>
        </p:nvSpPr>
        <p:spPr>
          <a:xfrm>
            <a:off x="6565392" y="2834640"/>
            <a:ext cx="1737360" cy="228600"/>
          </a:xfrm>
          <a:prstGeom prst="rect">
            <a:avLst/>
          </a:prstGeom>
          <a:noFill/>
          <a:ln>
            <a:noFill/>
          </a:ln>
        </p:spPr>
        <p:txBody>
          <a:bodyPr wrap="square" anchor="t" lIns="0" rIns="0" tIns="0" bIns="0"/>
          <a:lstStyle/>
          <a:p>
            <a:pPr algn="l"/>
            <a:r>
              <a:rPr lang="en-US" sz="1130" b="1" i="0" dirty="0">
                <a:solidFill>
                  <a:srgbClr val="14213D"/>
                </a:solidFill>
                <a:latin typeface="Arial"/>
              </a:rPr>
              <a:t>CPU</a:t>
            </a:r>
            <a:endParaRPr lang="en-US" sz="1130"/>
          </a:p>
        </p:txBody>
      </p:sp>
      <p:sp>
        <p:nvSpPr>
          <p:cNvPr id="24" name="Rect 24"/>
          <p:cNvSpPr/>
          <p:nvPr/>
        </p:nvSpPr>
        <p:spPr>
          <a:xfrm>
            <a:off x="8348472" y="2816352"/>
            <a:ext cx="950976" cy="274320"/>
          </a:xfrm>
          <a:prstGeom prst="roundRect">
            <a:avLst/>
          </a:prstGeom>
          <a:solidFill>
            <a:srgbClr val="D7EFE0"/>
          </a:solidFill>
          <a:ln w="12700">
            <a:solidFill>
              <a:srgbClr val="16A34A"/>
            </a:solidFill>
          </a:ln>
        </p:spPr>
        <p:txBody>
          <a:bodyPr/>
          <a:lstStyle/>
          <a:p>
            <a:endParaRPr lang="en-US"/>
          </a:p>
        </p:txBody>
      </p:sp>
      <p:sp>
        <p:nvSpPr>
          <p:cNvPr id="25" name="Text 25"/>
          <p:cNvSpPr txBox="1"/>
          <p:nvPr/>
        </p:nvSpPr>
        <p:spPr>
          <a:xfrm>
            <a:off x="8430768" y="2871216"/>
            <a:ext cx="786384" cy="146304"/>
          </a:xfrm>
          <a:prstGeom prst="rect">
            <a:avLst/>
          </a:prstGeom>
          <a:noFill/>
          <a:ln>
            <a:noFill/>
          </a:ln>
        </p:spPr>
        <p:txBody>
          <a:bodyPr wrap="square" anchor="t" lIns="0" rIns="0" tIns="0" bIns="0"/>
          <a:lstStyle/>
          <a:p>
            <a:pPr algn="ctr"/>
            <a:r>
              <a:rPr lang="en-US" sz="860" b="1" i="0" dirty="0">
                <a:solidFill>
                  <a:srgbClr val="16A34A"/>
                </a:solidFill>
                <a:latin typeface="Arial"/>
              </a:rPr>
              <a:t>7 pass</a:t>
            </a:r>
            <a:endParaRPr lang="en-US" sz="860"/>
          </a:p>
        </p:txBody>
      </p:sp>
      <p:sp>
        <p:nvSpPr>
          <p:cNvPr id="26" name="Text 26"/>
          <p:cNvSpPr txBox="1"/>
          <p:nvPr/>
        </p:nvSpPr>
        <p:spPr>
          <a:xfrm>
            <a:off x="9473184" y="2834640"/>
            <a:ext cx="1719072" cy="228600"/>
          </a:xfrm>
          <a:prstGeom prst="rect">
            <a:avLst/>
          </a:prstGeom>
          <a:noFill/>
          <a:ln>
            <a:noFill/>
          </a:ln>
        </p:spPr>
        <p:txBody>
          <a:bodyPr wrap="square" anchor="t" lIns="0" rIns="0" tIns="0" bIns="0"/>
          <a:lstStyle/>
          <a:p>
            <a:pPr algn="l"/>
            <a:r>
              <a:rPr lang="en-US" sz="940" b="0" i="0" dirty="0">
                <a:solidFill>
                  <a:srgbClr val="56647A"/>
                </a:solidFill>
                <a:latin typeface="Arial"/>
              </a:rPr>
              <a:t>0 gap</a:t>
            </a:r>
            <a:endParaRPr lang="en-US" sz="940"/>
          </a:p>
        </p:txBody>
      </p:sp>
      <p:sp>
        <p:nvSpPr>
          <p:cNvPr id="27" name="Text 27"/>
          <p:cNvSpPr txBox="1"/>
          <p:nvPr/>
        </p:nvSpPr>
        <p:spPr>
          <a:xfrm>
            <a:off x="6565392" y="3447288"/>
            <a:ext cx="1737360" cy="228600"/>
          </a:xfrm>
          <a:prstGeom prst="rect">
            <a:avLst/>
          </a:prstGeom>
          <a:noFill/>
          <a:ln>
            <a:noFill/>
          </a:ln>
        </p:spPr>
        <p:txBody>
          <a:bodyPr wrap="square" anchor="t" lIns="0" rIns="0" tIns="0" bIns="0"/>
          <a:lstStyle/>
          <a:p>
            <a:pPr algn="l"/>
            <a:r>
              <a:rPr lang="en-US" sz="1130" b="1" i="0" dirty="0">
                <a:solidFill>
                  <a:srgbClr val="14213D"/>
                </a:solidFill>
                <a:latin typeface="Arial"/>
              </a:rPr>
              <a:t>Accelerator runtime</a:t>
            </a:r>
            <a:endParaRPr lang="en-US" sz="1130"/>
          </a:p>
        </p:txBody>
      </p:sp>
      <p:sp>
        <p:nvSpPr>
          <p:cNvPr id="28" name="Rect 28"/>
          <p:cNvSpPr/>
          <p:nvPr/>
        </p:nvSpPr>
        <p:spPr>
          <a:xfrm>
            <a:off x="8348472" y="3429000"/>
            <a:ext cx="950976" cy="274320"/>
          </a:xfrm>
          <a:prstGeom prst="roundRect">
            <a:avLst/>
          </a:prstGeom>
          <a:solidFill>
            <a:srgbClr val="DEEAFD"/>
          </a:solidFill>
          <a:ln w="12700">
            <a:solidFill>
              <a:srgbClr val="3B82F6"/>
            </a:solidFill>
          </a:ln>
        </p:spPr>
        <p:txBody>
          <a:bodyPr/>
          <a:lstStyle/>
          <a:p>
            <a:endParaRPr lang="en-US"/>
          </a:p>
        </p:txBody>
      </p:sp>
      <p:sp>
        <p:nvSpPr>
          <p:cNvPr id="29" name="Text 29"/>
          <p:cNvSpPr txBox="1"/>
          <p:nvPr/>
        </p:nvSpPr>
        <p:spPr>
          <a:xfrm>
            <a:off x="8430768" y="3483864"/>
            <a:ext cx="786384" cy="146304"/>
          </a:xfrm>
          <a:prstGeom prst="rect">
            <a:avLst/>
          </a:prstGeom>
          <a:noFill/>
          <a:ln>
            <a:noFill/>
          </a:ln>
        </p:spPr>
        <p:txBody>
          <a:bodyPr wrap="square" anchor="t" lIns="0" rIns="0" tIns="0" bIns="0"/>
          <a:lstStyle/>
          <a:p>
            <a:pPr algn="ctr"/>
            <a:r>
              <a:rPr lang="en-US" sz="860" b="1" i="0" dirty="0">
                <a:solidFill>
                  <a:srgbClr val="3B82F6"/>
                </a:solidFill>
                <a:latin typeface="Arial"/>
              </a:rPr>
              <a:t>7 pass</a:t>
            </a:r>
            <a:endParaRPr lang="en-US" sz="860"/>
          </a:p>
        </p:txBody>
      </p:sp>
      <p:sp>
        <p:nvSpPr>
          <p:cNvPr id="30" name="Text 30"/>
          <p:cNvSpPr txBox="1"/>
          <p:nvPr/>
        </p:nvSpPr>
        <p:spPr>
          <a:xfrm>
            <a:off x="9473184" y="3447288"/>
            <a:ext cx="1719072" cy="228600"/>
          </a:xfrm>
          <a:prstGeom prst="rect">
            <a:avLst/>
          </a:prstGeom>
          <a:noFill/>
          <a:ln>
            <a:noFill/>
          </a:ln>
        </p:spPr>
        <p:txBody>
          <a:bodyPr wrap="square" anchor="t" lIns="0" rIns="0" tIns="0" bIns="0"/>
          <a:lstStyle/>
          <a:p>
            <a:pPr algn="l"/>
            <a:r>
              <a:rPr lang="en-US" sz="940" b="0" i="0" dirty="0">
                <a:solidFill>
                  <a:srgbClr val="56647A"/>
                </a:solidFill>
                <a:latin typeface="Arial"/>
              </a:rPr>
              <a:t>5 kernels + 2 skips</a:t>
            </a:r>
            <a:endParaRPr lang="en-US" sz="940"/>
          </a:p>
        </p:txBody>
      </p:sp>
      <p:sp>
        <p:nvSpPr>
          <p:cNvPr id="31" name="Text 31"/>
          <p:cNvSpPr txBox="1"/>
          <p:nvPr/>
        </p:nvSpPr>
        <p:spPr>
          <a:xfrm>
            <a:off x="6565392" y="4059936"/>
            <a:ext cx="1737360" cy="228600"/>
          </a:xfrm>
          <a:prstGeom prst="rect">
            <a:avLst/>
          </a:prstGeom>
          <a:noFill/>
          <a:ln>
            <a:noFill/>
          </a:ln>
        </p:spPr>
        <p:txBody>
          <a:bodyPr wrap="square" anchor="t" lIns="0" rIns="0" tIns="0" bIns="0"/>
          <a:lstStyle/>
          <a:p>
            <a:pPr algn="l"/>
            <a:r>
              <a:rPr lang="en-US" sz="1130" b="1" i="0" dirty="0">
                <a:solidFill>
                  <a:srgbClr val="14213D"/>
                </a:solidFill>
                <a:latin typeface="Arial"/>
              </a:rPr>
              <a:t>Single-node MPI</a:t>
            </a:r>
            <a:endParaRPr lang="en-US" sz="1130"/>
          </a:p>
        </p:txBody>
      </p:sp>
      <p:sp>
        <p:nvSpPr>
          <p:cNvPr id="32" name="Rect 32"/>
          <p:cNvSpPr/>
          <p:nvPr/>
        </p:nvSpPr>
        <p:spPr>
          <a:xfrm>
            <a:off x="8348472" y="4041648"/>
            <a:ext cx="950976" cy="274320"/>
          </a:xfrm>
          <a:prstGeom prst="roundRect">
            <a:avLst/>
          </a:prstGeom>
          <a:solidFill>
            <a:srgbClr val="D6EDEB"/>
          </a:solidFill>
          <a:ln w="12700">
            <a:solidFill>
              <a:srgbClr val="0D9488"/>
            </a:solidFill>
          </a:ln>
        </p:spPr>
        <p:txBody>
          <a:bodyPr/>
          <a:lstStyle/>
          <a:p>
            <a:endParaRPr lang="en-US"/>
          </a:p>
        </p:txBody>
      </p:sp>
      <p:sp>
        <p:nvSpPr>
          <p:cNvPr id="33" name="Text 33"/>
          <p:cNvSpPr txBox="1"/>
          <p:nvPr/>
        </p:nvSpPr>
        <p:spPr>
          <a:xfrm>
            <a:off x="8430768" y="4096512"/>
            <a:ext cx="786384" cy="146304"/>
          </a:xfrm>
          <a:prstGeom prst="rect">
            <a:avLst/>
          </a:prstGeom>
          <a:noFill/>
          <a:ln>
            <a:noFill/>
          </a:ln>
        </p:spPr>
        <p:txBody>
          <a:bodyPr wrap="square" anchor="t" lIns="0" rIns="0" tIns="0" bIns="0"/>
          <a:lstStyle/>
          <a:p>
            <a:pPr algn="ctr"/>
            <a:r>
              <a:rPr lang="en-US" sz="860" b="1" i="0" dirty="0">
                <a:solidFill>
                  <a:srgbClr val="0D9488"/>
                </a:solidFill>
                <a:latin typeface="Arial"/>
              </a:rPr>
              <a:t>5 pass</a:t>
            </a:r>
            <a:endParaRPr lang="en-US" sz="860"/>
          </a:p>
        </p:txBody>
      </p:sp>
      <p:sp>
        <p:nvSpPr>
          <p:cNvPr id="34" name="Text 34"/>
          <p:cNvSpPr txBox="1"/>
          <p:nvPr/>
        </p:nvSpPr>
        <p:spPr>
          <a:xfrm>
            <a:off x="9473184" y="4059936"/>
            <a:ext cx="1719072" cy="228600"/>
          </a:xfrm>
          <a:prstGeom prst="rect">
            <a:avLst/>
          </a:prstGeom>
          <a:noFill/>
          <a:ln>
            <a:noFill/>
          </a:ln>
        </p:spPr>
        <p:txBody>
          <a:bodyPr wrap="square" anchor="t" lIns="0" rIns="0" tIns="0" bIns="0"/>
          <a:lstStyle/>
          <a:p>
            <a:pPr algn="l"/>
            <a:r>
              <a:rPr lang="en-US" sz="940" b="0" i="0" dirty="0">
                <a:solidFill>
                  <a:srgbClr val="56647A"/>
                </a:solidFill>
                <a:latin typeface="Arial"/>
              </a:rPr>
              <a:t>2 no route</a:t>
            </a:r>
            <a:endParaRPr lang="en-US" sz="940"/>
          </a:p>
        </p:txBody>
      </p:sp>
      <p:sp>
        <p:nvSpPr>
          <p:cNvPr id="35" name="Text 35"/>
          <p:cNvSpPr txBox="1"/>
          <p:nvPr/>
        </p:nvSpPr>
        <p:spPr>
          <a:xfrm>
            <a:off x="6565392" y="4672584"/>
            <a:ext cx="1737360" cy="228600"/>
          </a:xfrm>
          <a:prstGeom prst="rect">
            <a:avLst/>
          </a:prstGeom>
          <a:noFill/>
          <a:ln>
            <a:noFill/>
          </a:ln>
        </p:spPr>
        <p:txBody>
          <a:bodyPr wrap="square" anchor="t" lIns="0" rIns="0" tIns="0" bIns="0"/>
          <a:lstStyle/>
          <a:p>
            <a:pPr algn="l"/>
            <a:r>
              <a:rPr lang="en-US" sz="1130" b="1" i="0" dirty="0">
                <a:solidFill>
                  <a:srgbClr val="14213D"/>
                </a:solidFill>
                <a:latin typeface="Arial"/>
              </a:rPr>
              <a:t>Multi-node MPI</a:t>
            </a:r>
            <a:endParaRPr lang="en-US" sz="1130"/>
          </a:p>
        </p:txBody>
      </p:sp>
      <p:sp>
        <p:nvSpPr>
          <p:cNvPr id="36" name="Rect 36"/>
          <p:cNvSpPr/>
          <p:nvPr/>
        </p:nvSpPr>
        <p:spPr>
          <a:xfrm>
            <a:off x="8348472" y="4654296"/>
            <a:ext cx="950976" cy="274320"/>
          </a:xfrm>
          <a:prstGeom prst="roundRect">
            <a:avLst/>
          </a:prstGeom>
          <a:solidFill>
            <a:srgbClr val="E9DEFC"/>
          </a:solidFill>
          <a:ln w="12700">
            <a:solidFill>
              <a:srgbClr val="7C3AED"/>
            </a:solidFill>
          </a:ln>
        </p:spPr>
        <p:txBody>
          <a:bodyPr/>
          <a:lstStyle/>
          <a:p>
            <a:endParaRPr lang="en-US"/>
          </a:p>
        </p:txBody>
      </p:sp>
      <p:sp>
        <p:nvSpPr>
          <p:cNvPr id="37" name="Text 37"/>
          <p:cNvSpPr txBox="1"/>
          <p:nvPr/>
        </p:nvSpPr>
        <p:spPr>
          <a:xfrm>
            <a:off x="8430768" y="4709160"/>
            <a:ext cx="786384" cy="146304"/>
          </a:xfrm>
          <a:prstGeom prst="rect">
            <a:avLst/>
          </a:prstGeom>
          <a:noFill/>
          <a:ln>
            <a:noFill/>
          </a:ln>
        </p:spPr>
        <p:txBody>
          <a:bodyPr wrap="square" anchor="t" lIns="0" rIns="0" tIns="0" bIns="0"/>
          <a:lstStyle/>
          <a:p>
            <a:pPr algn="ctr"/>
            <a:r>
              <a:rPr lang="en-US" sz="860" b="1" i="0" dirty="0">
                <a:solidFill>
                  <a:srgbClr val="7C3AED"/>
                </a:solidFill>
                <a:latin typeface="Arial"/>
              </a:rPr>
              <a:t>3 pass</a:t>
            </a:r>
            <a:endParaRPr lang="en-US" sz="860"/>
          </a:p>
        </p:txBody>
      </p:sp>
      <p:sp>
        <p:nvSpPr>
          <p:cNvPr id="38" name="Text 38"/>
          <p:cNvSpPr txBox="1"/>
          <p:nvPr/>
        </p:nvSpPr>
        <p:spPr>
          <a:xfrm>
            <a:off x="9473184" y="4672584"/>
            <a:ext cx="1719072" cy="228600"/>
          </a:xfrm>
          <a:prstGeom prst="rect">
            <a:avLst/>
          </a:prstGeom>
          <a:noFill/>
          <a:ln>
            <a:noFill/>
          </a:ln>
        </p:spPr>
        <p:txBody>
          <a:bodyPr wrap="square" anchor="t" lIns="0" rIns="0" tIns="0" bIns="0"/>
          <a:lstStyle/>
          <a:p>
            <a:pPr algn="l"/>
            <a:r>
              <a:rPr lang="en-US" sz="940" b="0" i="0" dirty="0">
                <a:solidFill>
                  <a:srgbClr val="56647A"/>
                </a:solidFill>
                <a:latin typeface="Arial"/>
              </a:rPr>
              <a:t>2 env fail + 2 excluded</a:t>
            </a:r>
            <a:endParaRPr lang="en-US" sz="940"/>
          </a:p>
        </p:txBody>
      </p:sp>
      <p:sp>
        <p:nvSpPr>
          <p:cNvPr id="39" name="Rect 39"/>
          <p:cNvSpPr/>
          <p:nvPr/>
        </p:nvSpPr>
        <p:spPr>
          <a:xfrm>
            <a:off x="6547104" y="5358384"/>
            <a:ext cx="4498848" cy="365760"/>
          </a:xfrm>
          <a:prstGeom prst="roundRect">
            <a:avLst/>
          </a:prstGeom>
          <a:solidFill>
            <a:srgbClr val="FEF4E4"/>
          </a:solidFill>
          <a:ln w="12700">
            <a:solidFill>
              <a:srgbClr val="F59E0B"/>
            </a:solidFill>
          </a:ln>
        </p:spPr>
        <p:txBody>
          <a:bodyPr/>
          <a:lstStyle/>
          <a:p>
            <a:endParaRPr lang="en-US"/>
          </a:p>
        </p:txBody>
      </p:sp>
      <p:sp>
        <p:nvSpPr>
          <p:cNvPr id="40" name="Text 40"/>
          <p:cNvSpPr txBox="1"/>
          <p:nvPr/>
        </p:nvSpPr>
        <p:spPr>
          <a:xfrm>
            <a:off x="6711696" y="5449824"/>
            <a:ext cx="4169664" cy="164592"/>
          </a:xfrm>
          <a:prstGeom prst="rect">
            <a:avLst/>
          </a:prstGeom>
          <a:noFill/>
          <a:ln>
            <a:noFill/>
          </a:ln>
        </p:spPr>
        <p:txBody>
          <a:bodyPr wrap="square" anchor="t" lIns="0" rIns="0" tIns="0" bIns="0"/>
          <a:lstStyle/>
          <a:p>
            <a:pPr algn="ctr"/>
            <a:r>
              <a:rPr lang="en-US" sz="960" b="1" i="0" dirty="0">
                <a:solidFill>
                  <a:srgbClr val="F59E0B"/>
                </a:solidFill>
                <a:latin typeface="Arial"/>
              </a:rPr>
              <a:t>READINESS ≠ PERFORMANCE OR SCALING</a:t>
            </a:r>
            <a:endParaRPr lang="en-US" sz="960"/>
          </a:p>
        </p:txBody>
      </p:sp>
      <p:cxnSp>
        <p:nvCxnSpPr>
          <p:cNvPr id="41" name="Line 41"/>
          <p:cNvCxnSpPr/>
          <p:nvPr/>
        </p:nvCxnSpPr>
        <p:spPr>
          <a:xfrm flipH="false" flipV="false">
            <a:off x="621792" y="6473952"/>
            <a:ext cx="10954512" cy="0"/>
          </a:xfrm>
          <a:prstGeom prst="line">
            <a:avLst/>
          </a:prstGeom>
          <a:ln w="10160">
            <a:solidFill>
              <a:srgbClr val="D7DFEA"/>
            </a:solidFill>
          </a:ln>
        </p:spPr>
      </p:cxnSp>
      <p:sp>
        <p:nvSpPr>
          <p:cNvPr id="42" name="Text 42"/>
          <p:cNvSpPr txBox="1"/>
          <p:nvPr/>
        </p:nvSpPr>
        <p:spPr>
          <a:xfrm>
            <a:off x="640080" y="6510528"/>
            <a:ext cx="10469880" cy="201168"/>
          </a:xfrm>
          <a:prstGeom prst="rect">
            <a:avLst/>
          </a:prstGeom>
          <a:noFill/>
          <a:ln>
            <a:noFill/>
          </a:ln>
        </p:spPr>
        <p:txBody>
          <a:bodyPr wrap="square" anchor="t" lIns="0" rIns="0" tIns="0" bIns="0"/>
          <a:lstStyle/>
          <a:p>
            <a:pPr algn="l"/>
            <a:r>
              <a:rPr lang="en-US" sz="720" b="0" i="0" dirty="0">
                <a:solidFill>
                  <a:srgbClr val="56647A"/>
                </a:solidFill>
                <a:latin typeface="Arial"/>
              </a:rPr>
              <a:t>05932762 • ee968531 • fd5c3b1 • f6b9909 • docs/audits/hpc-*-readiness-*.json</a:t>
            </a:r>
            <a:endParaRPr lang="en-US" sz="720"/>
          </a:p>
        </p:txBody>
      </p:sp>
      <p:sp>
        <p:nvSpPr>
          <p:cNvPr id="43" name="Text 43"/>
          <p:cNvSpPr txBox="1"/>
          <p:nvPr/>
        </p:nvSpPr>
        <p:spPr>
          <a:xfrm>
            <a:off x="11201400" y="6492240"/>
            <a:ext cx="329184" cy="201168"/>
          </a:xfrm>
          <a:prstGeom prst="rect">
            <a:avLst/>
          </a:prstGeom>
          <a:noFill/>
          <a:ln>
            <a:noFill/>
          </a:ln>
        </p:spPr>
        <p:txBody>
          <a:bodyPr wrap="square" anchor="t" lIns="0" rIns="0" tIns="0" bIns="0"/>
          <a:lstStyle/>
          <a:p>
            <a:pPr algn="r"/>
            <a:r>
              <a:rPr lang="en-US" sz="800" b="1" i="0" dirty="0">
                <a:solidFill>
                  <a:srgbClr val="56647A"/>
                </a:solidFill>
                <a:latin typeface="Arial"/>
              </a:rPr>
              <a:t>7</a:t>
            </a:r>
            <a:endParaRPr lang="en-US" sz="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F6F8FC"/>
          </a:solidFill>
          <a:ln w="12700">
            <a:solidFill>
              <a:srgbClr val="F6F8FC"/>
            </a:solidFill>
          </a:ln>
        </p:spPr>
        <p:txBody>
          <a:bodyPr/>
          <a:lstStyle/>
          <a:p>
            <a:endParaRPr lang="en-US"/>
          </a:p>
        </p:txBody>
      </p:sp>
      <p:sp>
        <p:nvSpPr>
          <p:cNvPr id="3" name="Text 3"/>
          <p:cNvSpPr txBox="1"/>
          <p:nvPr/>
        </p:nvSpPr>
        <p:spPr>
          <a:xfrm>
            <a:off x="621792" y="347472"/>
            <a:ext cx="10927080" cy="566928"/>
          </a:xfrm>
          <a:prstGeom prst="rect">
            <a:avLst/>
          </a:prstGeom>
          <a:noFill/>
          <a:ln>
            <a:noFill/>
          </a:ln>
        </p:spPr>
        <p:txBody>
          <a:bodyPr wrap="square" anchor="t" lIns="0" rIns="0" tIns="0" bIns="0"/>
          <a:lstStyle/>
          <a:p>
            <a:pPr algn="l"/>
            <a:r>
              <a:rPr lang="en-US" sz="2700" b="1" i="0" dirty="0">
                <a:solidFill>
                  <a:srgbClr val="14213D"/>
                </a:solidFill>
                <a:latin typeface="Arial"/>
              </a:rPr>
              <a:t>The public engine expanded without absorbing private Mac intent</a:t>
            </a:r>
            <a:endParaRPr lang="en-US" sz="2700"/>
          </a:p>
        </p:txBody>
      </p:sp>
      <p:sp>
        <p:nvSpPr>
          <p:cNvPr id="4" name="Text 4"/>
          <p:cNvSpPr txBox="1"/>
          <p:nvPr/>
        </p:nvSpPr>
        <p:spPr>
          <a:xfrm>
            <a:off x="640080" y="932688"/>
            <a:ext cx="10881360" cy="310896"/>
          </a:xfrm>
          <a:prstGeom prst="rect">
            <a:avLst/>
          </a:prstGeom>
          <a:noFill/>
          <a:ln>
            <a:noFill/>
          </a:ln>
        </p:spPr>
        <p:txBody>
          <a:bodyPr wrap="square" anchor="t" lIns="0" rIns="0" tIns="0" bIns="0"/>
          <a:lstStyle/>
          <a:p>
            <a:pPr algn="l"/>
            <a:r>
              <a:rPr lang="en-US" sz="1250" b="0" i="0" dirty="0">
                <a:solidFill>
                  <a:srgbClr val="56647A"/>
                </a:solidFill>
                <a:latin typeface="Arial"/>
              </a:rPr>
              <a:t>Reusable mechanics stayed public; identity and private payload stayed owner-controlled</a:t>
            </a:r>
            <a:endParaRPr lang="en-US" sz="1250"/>
          </a:p>
        </p:txBody>
      </p:sp>
      <p:sp>
        <p:nvSpPr>
          <p:cNvPr id="5" name="Rect 5"/>
          <p:cNvSpPr/>
          <p:nvPr/>
        </p:nvSpPr>
        <p:spPr>
          <a:xfrm>
            <a:off x="658368" y="1417320"/>
            <a:ext cx="10972800" cy="1874520"/>
          </a:xfrm>
          <a:prstGeom prst="roundRect">
            <a:avLst/>
          </a:prstGeom>
          <a:solidFill>
            <a:srgbClr val="F3F8FE"/>
          </a:solidFill>
          <a:ln w="12700">
            <a:solidFill>
              <a:srgbClr val="3B82F6"/>
            </a:solidFill>
          </a:ln>
        </p:spPr>
        <p:txBody>
          <a:bodyPr/>
          <a:lstStyle/>
          <a:p>
            <a:endParaRPr lang="en-US"/>
          </a:p>
        </p:txBody>
      </p:sp>
      <p:sp>
        <p:nvSpPr>
          <p:cNvPr id="6" name="Rect 6"/>
          <p:cNvSpPr/>
          <p:nvPr/>
        </p:nvSpPr>
        <p:spPr>
          <a:xfrm>
            <a:off x="896112" y="1645920"/>
            <a:ext cx="1234440" cy="310896"/>
          </a:xfrm>
          <a:prstGeom prst="roundRect">
            <a:avLst/>
          </a:prstGeom>
          <a:solidFill>
            <a:srgbClr val="DCE8FD"/>
          </a:solidFill>
          <a:ln w="10160">
            <a:solidFill>
              <a:srgbClr val="3B82F6"/>
            </a:solidFill>
          </a:ln>
        </p:spPr>
        <p:txBody>
          <a:bodyPr/>
          <a:lstStyle/>
          <a:p>
            <a:endParaRPr lang="en-US"/>
          </a:p>
        </p:txBody>
      </p:sp>
      <p:sp>
        <p:nvSpPr>
          <p:cNvPr id="7" name="Text 7"/>
          <p:cNvSpPr txBox="1"/>
          <p:nvPr/>
        </p:nvSpPr>
        <p:spPr>
          <a:xfrm>
            <a:off x="969264" y="1696212"/>
            <a:ext cx="1088136" cy="192024"/>
          </a:xfrm>
          <a:prstGeom prst="rect">
            <a:avLst/>
          </a:prstGeom>
          <a:noFill/>
          <a:ln>
            <a:noFill/>
          </a:ln>
        </p:spPr>
        <p:txBody>
          <a:bodyPr wrap="square" anchor="t" lIns="0" rIns="0" tIns="0" bIns="0"/>
          <a:lstStyle/>
          <a:p>
            <a:pPr algn="ctr"/>
            <a:r>
              <a:rPr lang="en-US" sz="920" b="1" i="0" dirty="0">
                <a:solidFill>
                  <a:srgbClr val="3B82F6"/>
                </a:solidFill>
                <a:latin typeface="Arial"/>
              </a:rPr>
              <a:t>PUBLIC GIT</a:t>
            </a:r>
            <a:endParaRPr lang="en-US" sz="920"/>
          </a:p>
        </p:txBody>
      </p:sp>
      <p:sp>
        <p:nvSpPr>
          <p:cNvPr id="8" name="Rect 8"/>
          <p:cNvSpPr/>
          <p:nvPr/>
        </p:nvSpPr>
        <p:spPr>
          <a:xfrm>
            <a:off x="2377440" y="1901952"/>
            <a:ext cx="1828800" cy="960120"/>
          </a:xfrm>
          <a:prstGeom prst="roundRect">
            <a:avLst/>
          </a:prstGeom>
          <a:solidFill>
            <a:srgbClr val="FFFFFF"/>
          </a:solidFill>
          <a:ln w="12700">
            <a:solidFill>
              <a:srgbClr val="3B82F6"/>
            </a:solidFill>
          </a:ln>
        </p:spPr>
        <p:txBody>
          <a:bodyPr/>
          <a:lstStyle/>
          <a:p>
            <a:endParaRPr lang="en-US"/>
          </a:p>
        </p:txBody>
      </p:sp>
      <p:sp>
        <p:nvSpPr>
          <p:cNvPr id="9" name="Text 9"/>
          <p:cNvSpPr txBox="1"/>
          <p:nvPr/>
        </p:nvSpPr>
        <p:spPr>
          <a:xfrm>
            <a:off x="2496312" y="2084832"/>
            <a:ext cx="1591056" cy="228600"/>
          </a:xfrm>
          <a:prstGeom prst="rect">
            <a:avLst/>
          </a:prstGeom>
          <a:noFill/>
          <a:ln>
            <a:noFill/>
          </a:ln>
        </p:spPr>
        <p:txBody>
          <a:bodyPr wrap="square" anchor="t" lIns="0" rIns="0" tIns="0" bIns="0"/>
          <a:lstStyle/>
          <a:p>
            <a:pPr algn="ctr"/>
            <a:r>
              <a:rPr lang="en-US" sz="1250" b="1" i="0" dirty="0">
                <a:solidFill>
                  <a:srgbClr val="3B82F6"/>
                </a:solidFill>
                <a:latin typeface="Arial"/>
              </a:rPr>
              <a:t>Mac engine</a:t>
            </a:r>
            <a:endParaRPr lang="en-US" sz="1250"/>
          </a:p>
        </p:txBody>
      </p:sp>
      <p:sp>
        <p:nvSpPr>
          <p:cNvPr id="10" name="Text 10"/>
          <p:cNvSpPr txBox="1"/>
          <p:nvPr/>
        </p:nvSpPr>
        <p:spPr>
          <a:xfrm>
            <a:off x="2496312" y="2441448"/>
            <a:ext cx="1591056" cy="173736"/>
          </a:xfrm>
          <a:prstGeom prst="rect">
            <a:avLst/>
          </a:prstGeom>
          <a:noFill/>
          <a:ln>
            <a:noFill/>
          </a:ln>
        </p:spPr>
        <p:txBody>
          <a:bodyPr wrap="square" anchor="t" lIns="0" rIns="0" tIns="0" bIns="0"/>
          <a:lstStyle/>
          <a:p>
            <a:pPr algn="ctr"/>
            <a:r>
              <a:rPr lang="en-US" sz="910" b="0" i="0" dirty="0">
                <a:solidFill>
                  <a:srgbClr val="56647A"/>
                </a:solidFill>
                <a:latin typeface="Arial"/>
              </a:rPr>
              <a:t>plan / doctor</a:t>
            </a:r>
            <a:endParaRPr lang="en-US" sz="910"/>
          </a:p>
        </p:txBody>
      </p:sp>
      <p:sp>
        <p:nvSpPr>
          <p:cNvPr id="11" name="Rect 11"/>
          <p:cNvSpPr/>
          <p:nvPr/>
        </p:nvSpPr>
        <p:spPr>
          <a:xfrm>
            <a:off x="4526280" y="1901952"/>
            <a:ext cx="1828800" cy="960120"/>
          </a:xfrm>
          <a:prstGeom prst="roundRect">
            <a:avLst/>
          </a:prstGeom>
          <a:solidFill>
            <a:srgbClr val="FFFFFF"/>
          </a:solidFill>
          <a:ln w="12700">
            <a:solidFill>
              <a:srgbClr val="3B82F6"/>
            </a:solidFill>
          </a:ln>
        </p:spPr>
        <p:txBody>
          <a:bodyPr/>
          <a:lstStyle/>
          <a:p>
            <a:endParaRPr lang="en-US"/>
          </a:p>
        </p:txBody>
      </p:sp>
      <p:sp>
        <p:nvSpPr>
          <p:cNvPr id="12" name="Text 12"/>
          <p:cNvSpPr txBox="1"/>
          <p:nvPr/>
        </p:nvSpPr>
        <p:spPr>
          <a:xfrm>
            <a:off x="4645152" y="2084832"/>
            <a:ext cx="1591056" cy="228600"/>
          </a:xfrm>
          <a:prstGeom prst="rect">
            <a:avLst/>
          </a:prstGeom>
          <a:noFill/>
          <a:ln>
            <a:noFill/>
          </a:ln>
        </p:spPr>
        <p:txBody>
          <a:bodyPr wrap="square" anchor="t" lIns="0" rIns="0" tIns="0" bIns="0"/>
          <a:lstStyle/>
          <a:p>
            <a:pPr algn="ctr"/>
            <a:r>
              <a:rPr lang="en-US" sz="1250" b="1" i="0" dirty="0">
                <a:solidFill>
                  <a:srgbClr val="3B82F6"/>
                </a:solidFill>
                <a:latin typeface="Arial"/>
              </a:rPr>
              <a:t>Bash hooks</a:t>
            </a:r>
            <a:endParaRPr lang="en-US" sz="1250"/>
          </a:p>
        </p:txBody>
      </p:sp>
      <p:sp>
        <p:nvSpPr>
          <p:cNvPr id="13" name="Text 13"/>
          <p:cNvSpPr txBox="1"/>
          <p:nvPr/>
        </p:nvSpPr>
        <p:spPr>
          <a:xfrm>
            <a:off x="4645152" y="2441448"/>
            <a:ext cx="1591056" cy="173736"/>
          </a:xfrm>
          <a:prstGeom prst="rect">
            <a:avLst/>
          </a:prstGeom>
          <a:noFill/>
          <a:ln>
            <a:noFill/>
          </a:ln>
        </p:spPr>
        <p:txBody>
          <a:bodyPr wrap="square" anchor="t" lIns="0" rIns="0" tIns="0" bIns="0"/>
          <a:lstStyle/>
          <a:p>
            <a:pPr algn="ctr"/>
            <a:r>
              <a:rPr lang="en-US" sz="910" b="0" i="0" dirty="0">
                <a:solidFill>
                  <a:srgbClr val="56647A"/>
                </a:solidFill>
                <a:latin typeface="Arial"/>
              </a:rPr>
              <a:t>shared source</a:t>
            </a:r>
            <a:endParaRPr lang="en-US" sz="910"/>
          </a:p>
        </p:txBody>
      </p:sp>
      <p:sp>
        <p:nvSpPr>
          <p:cNvPr id="14" name="Rect 14"/>
          <p:cNvSpPr/>
          <p:nvPr/>
        </p:nvSpPr>
        <p:spPr>
          <a:xfrm>
            <a:off x="6675120" y="1901952"/>
            <a:ext cx="1828800" cy="960120"/>
          </a:xfrm>
          <a:prstGeom prst="roundRect">
            <a:avLst/>
          </a:prstGeom>
          <a:solidFill>
            <a:srgbClr val="FFFFFF"/>
          </a:solidFill>
          <a:ln w="12700">
            <a:solidFill>
              <a:srgbClr val="3B82F6"/>
            </a:solidFill>
          </a:ln>
        </p:spPr>
        <p:txBody>
          <a:bodyPr/>
          <a:lstStyle/>
          <a:p>
            <a:endParaRPr lang="en-US"/>
          </a:p>
        </p:txBody>
      </p:sp>
      <p:sp>
        <p:nvSpPr>
          <p:cNvPr id="15" name="Text 15"/>
          <p:cNvSpPr txBox="1"/>
          <p:nvPr/>
        </p:nvSpPr>
        <p:spPr>
          <a:xfrm>
            <a:off x="6793992" y="2084832"/>
            <a:ext cx="1591056" cy="228600"/>
          </a:xfrm>
          <a:prstGeom prst="rect">
            <a:avLst/>
          </a:prstGeom>
          <a:noFill/>
          <a:ln>
            <a:noFill/>
          </a:ln>
        </p:spPr>
        <p:txBody>
          <a:bodyPr wrap="square" anchor="t" lIns="0" rIns="0" tIns="0" bIns="0"/>
          <a:lstStyle/>
          <a:p>
            <a:pPr algn="ctr"/>
            <a:r>
              <a:rPr lang="en-US" sz="1250" b="1" i="0" dirty="0">
                <a:solidFill>
                  <a:srgbClr val="3B82F6"/>
                </a:solidFill>
                <a:latin typeface="Arial"/>
              </a:rPr>
              <a:t>tmux</a:t>
            </a:r>
            <a:endParaRPr lang="en-US" sz="1250"/>
          </a:p>
        </p:txBody>
      </p:sp>
      <p:sp>
        <p:nvSpPr>
          <p:cNvPr id="16" name="Text 16"/>
          <p:cNvSpPr txBox="1"/>
          <p:nvPr/>
        </p:nvSpPr>
        <p:spPr>
          <a:xfrm>
            <a:off x="6793992" y="2441448"/>
            <a:ext cx="1591056" cy="173736"/>
          </a:xfrm>
          <a:prstGeom prst="rect">
            <a:avLst/>
          </a:prstGeom>
          <a:noFill/>
          <a:ln>
            <a:noFill/>
          </a:ln>
        </p:spPr>
        <p:txBody>
          <a:bodyPr wrap="square" anchor="t" lIns="0" rIns="0" tIns="0" bIns="0"/>
          <a:lstStyle/>
          <a:p>
            <a:pPr algn="ctr"/>
            <a:r>
              <a:rPr lang="en-US" sz="910" b="0" i="0" dirty="0">
                <a:solidFill>
                  <a:srgbClr val="56647A"/>
                </a:solidFill>
                <a:latin typeface="Arial"/>
              </a:rPr>
              <a:t>shared config</a:t>
            </a:r>
            <a:endParaRPr lang="en-US" sz="910"/>
          </a:p>
        </p:txBody>
      </p:sp>
      <p:sp>
        <p:nvSpPr>
          <p:cNvPr id="17" name="Rect 17"/>
          <p:cNvSpPr/>
          <p:nvPr/>
        </p:nvSpPr>
        <p:spPr>
          <a:xfrm>
            <a:off x="8823960" y="1901952"/>
            <a:ext cx="1828800" cy="960120"/>
          </a:xfrm>
          <a:prstGeom prst="roundRect">
            <a:avLst/>
          </a:prstGeom>
          <a:solidFill>
            <a:srgbClr val="FFFFFF"/>
          </a:solidFill>
          <a:ln w="12700">
            <a:solidFill>
              <a:srgbClr val="3B82F6"/>
            </a:solidFill>
          </a:ln>
        </p:spPr>
        <p:txBody>
          <a:bodyPr/>
          <a:lstStyle/>
          <a:p>
            <a:endParaRPr lang="en-US"/>
          </a:p>
        </p:txBody>
      </p:sp>
      <p:sp>
        <p:nvSpPr>
          <p:cNvPr id="18" name="Text 18"/>
          <p:cNvSpPr txBox="1"/>
          <p:nvPr/>
        </p:nvSpPr>
        <p:spPr>
          <a:xfrm>
            <a:off x="8942832" y="2084832"/>
            <a:ext cx="1591056" cy="228600"/>
          </a:xfrm>
          <a:prstGeom prst="rect">
            <a:avLst/>
          </a:prstGeom>
          <a:noFill/>
          <a:ln>
            <a:noFill/>
          </a:ln>
        </p:spPr>
        <p:txBody>
          <a:bodyPr wrap="square" anchor="t" lIns="0" rIns="0" tIns="0" bIns="0"/>
          <a:lstStyle/>
          <a:p>
            <a:pPr algn="ctr"/>
            <a:r>
              <a:rPr lang="en-US" sz="1250" b="1" i="0" dirty="0">
                <a:solidFill>
                  <a:srgbClr val="3B82F6"/>
                </a:solidFill>
                <a:latin typeface="Arial"/>
              </a:rPr>
              <a:t>Client policy</a:t>
            </a:r>
            <a:endParaRPr lang="en-US" sz="1250"/>
          </a:p>
        </p:txBody>
      </p:sp>
      <p:sp>
        <p:nvSpPr>
          <p:cNvPr id="19" name="Text 19"/>
          <p:cNvSpPr txBox="1"/>
          <p:nvPr/>
        </p:nvSpPr>
        <p:spPr>
          <a:xfrm>
            <a:off x="8942832" y="2441448"/>
            <a:ext cx="1591056" cy="173736"/>
          </a:xfrm>
          <a:prstGeom prst="rect">
            <a:avLst/>
          </a:prstGeom>
          <a:noFill/>
          <a:ln>
            <a:noFill/>
          </a:ln>
        </p:spPr>
        <p:txBody>
          <a:bodyPr wrap="square" anchor="t" lIns="0" rIns="0" tIns="0" bIns="0"/>
          <a:lstStyle/>
          <a:p>
            <a:pPr algn="ctr"/>
            <a:r>
              <a:rPr lang="en-US" sz="910" b="0" i="0" dirty="0">
                <a:solidFill>
                  <a:srgbClr val="56647A"/>
                </a:solidFill>
                <a:latin typeface="Arial"/>
              </a:rPr>
              <a:t>public schema</a:t>
            </a:r>
            <a:endParaRPr lang="en-US" sz="910"/>
          </a:p>
        </p:txBody>
      </p:sp>
      <p:sp>
        <p:nvSpPr>
          <p:cNvPr id="20" name="Rect 20"/>
          <p:cNvSpPr/>
          <p:nvPr/>
        </p:nvSpPr>
        <p:spPr>
          <a:xfrm>
            <a:off x="658368" y="3822192"/>
            <a:ext cx="10972800" cy="1627632"/>
          </a:xfrm>
          <a:prstGeom prst="roundRect">
            <a:avLst/>
          </a:prstGeom>
          <a:solidFill>
            <a:srgbClr val="FDF4F8"/>
          </a:solidFill>
          <a:ln w="12700">
            <a:solidFill>
              <a:srgbClr val="DB2777"/>
            </a:solidFill>
            <a:prstDash val="dash"/>
          </a:ln>
        </p:spPr>
        <p:txBody>
          <a:bodyPr/>
          <a:lstStyle/>
          <a:p>
            <a:endParaRPr lang="en-US"/>
          </a:p>
        </p:txBody>
      </p:sp>
      <p:sp>
        <p:nvSpPr>
          <p:cNvPr id="21" name="Rect 21"/>
          <p:cNvSpPr/>
          <p:nvPr/>
        </p:nvSpPr>
        <p:spPr>
          <a:xfrm>
            <a:off x="896112" y="4050792"/>
            <a:ext cx="1572768" cy="310896"/>
          </a:xfrm>
          <a:prstGeom prst="roundRect">
            <a:avLst/>
          </a:prstGeom>
          <a:solidFill>
            <a:srgbClr val="F9D8E7"/>
          </a:solidFill>
          <a:ln w="10160">
            <a:solidFill>
              <a:srgbClr val="DB2777"/>
            </a:solidFill>
          </a:ln>
        </p:spPr>
        <p:txBody>
          <a:bodyPr/>
          <a:lstStyle/>
          <a:p>
            <a:endParaRPr lang="en-US"/>
          </a:p>
        </p:txBody>
      </p:sp>
      <p:sp>
        <p:nvSpPr>
          <p:cNvPr id="22" name="Text 22"/>
          <p:cNvSpPr txBox="1"/>
          <p:nvPr/>
        </p:nvSpPr>
        <p:spPr>
          <a:xfrm>
            <a:off x="969264" y="4101084"/>
            <a:ext cx="1426464" cy="192024"/>
          </a:xfrm>
          <a:prstGeom prst="rect">
            <a:avLst/>
          </a:prstGeom>
          <a:noFill/>
          <a:ln>
            <a:noFill/>
          </a:ln>
        </p:spPr>
        <p:txBody>
          <a:bodyPr wrap="square" anchor="t" lIns="0" rIns="0" tIns="0" bIns="0"/>
          <a:lstStyle/>
          <a:p>
            <a:pPr algn="ctr"/>
            <a:r>
              <a:rPr lang="en-US" sz="920" b="1" i="0" dirty="0">
                <a:solidFill>
                  <a:srgbClr val="DB2777"/>
                </a:solidFill>
                <a:latin typeface="Arial"/>
              </a:rPr>
              <a:t>PRIVATE COMPANION</a:t>
            </a:r>
            <a:endParaRPr lang="en-US" sz="920"/>
          </a:p>
        </p:txBody>
      </p:sp>
      <p:sp>
        <p:nvSpPr>
          <p:cNvPr id="23" name="Rect 23"/>
          <p:cNvSpPr/>
          <p:nvPr/>
        </p:nvSpPr>
        <p:spPr>
          <a:xfrm>
            <a:off x="2788920" y="4151376"/>
            <a:ext cx="2057400" cy="877824"/>
          </a:xfrm>
          <a:prstGeom prst="roundRect">
            <a:avLst/>
          </a:prstGeom>
          <a:solidFill>
            <a:srgbClr val="FFFFFF"/>
          </a:solidFill>
          <a:ln w="12700">
            <a:solidFill>
              <a:srgbClr val="DB2777"/>
            </a:solidFill>
            <a:prstDash val="dash"/>
          </a:ln>
        </p:spPr>
        <p:txBody>
          <a:bodyPr/>
          <a:lstStyle/>
          <a:p>
            <a:endParaRPr lang="en-US"/>
          </a:p>
        </p:txBody>
      </p:sp>
      <p:sp>
        <p:nvSpPr>
          <p:cNvPr id="24" name="Text 24"/>
          <p:cNvSpPr txBox="1"/>
          <p:nvPr/>
        </p:nvSpPr>
        <p:spPr>
          <a:xfrm>
            <a:off x="2916936" y="4306824"/>
            <a:ext cx="1801368" cy="219456"/>
          </a:xfrm>
          <a:prstGeom prst="rect">
            <a:avLst/>
          </a:prstGeom>
          <a:noFill/>
          <a:ln>
            <a:noFill/>
          </a:ln>
        </p:spPr>
        <p:txBody>
          <a:bodyPr wrap="square" anchor="t" lIns="0" rIns="0" tIns="0" bIns="0"/>
          <a:lstStyle/>
          <a:p>
            <a:pPr algn="ctr"/>
            <a:r>
              <a:rPr lang="en-US" sz="1220" b="1" i="0" dirty="0">
                <a:solidFill>
                  <a:srgbClr val="DB2777"/>
                </a:solidFill>
                <a:latin typeface="Arial"/>
              </a:rPr>
              <a:t>Opaque identity</a:t>
            </a:r>
            <a:endParaRPr lang="en-US" sz="1220"/>
          </a:p>
        </p:txBody>
      </p:sp>
      <p:sp>
        <p:nvSpPr>
          <p:cNvPr id="25" name="Text 25"/>
          <p:cNvSpPr txBox="1"/>
          <p:nvPr/>
        </p:nvSpPr>
        <p:spPr>
          <a:xfrm>
            <a:off x="2916936" y="4645152"/>
            <a:ext cx="1801368" cy="164592"/>
          </a:xfrm>
          <a:prstGeom prst="rect">
            <a:avLst/>
          </a:prstGeom>
          <a:noFill/>
          <a:ln>
            <a:noFill/>
          </a:ln>
        </p:spPr>
        <p:txBody>
          <a:bodyPr wrap="square" anchor="t" lIns="0" rIns="0" tIns="0" bIns="0"/>
          <a:lstStyle/>
          <a:p>
            <a:pPr algn="ctr"/>
            <a:r>
              <a:rPr lang="en-US" sz="890" b="0" i="0" dirty="0">
                <a:solidFill>
                  <a:srgbClr val="56647A"/>
                </a:solidFill>
                <a:latin typeface="Arial"/>
              </a:rPr>
              <a:t>not public</a:t>
            </a:r>
            <a:endParaRPr lang="en-US" sz="890"/>
          </a:p>
        </p:txBody>
      </p:sp>
      <p:sp>
        <p:nvSpPr>
          <p:cNvPr id="26" name="Rect 26"/>
          <p:cNvSpPr/>
          <p:nvPr/>
        </p:nvSpPr>
        <p:spPr>
          <a:xfrm>
            <a:off x="5212080" y="4151376"/>
            <a:ext cx="2057400" cy="877824"/>
          </a:xfrm>
          <a:prstGeom prst="roundRect">
            <a:avLst/>
          </a:prstGeom>
          <a:solidFill>
            <a:srgbClr val="FFFFFF"/>
          </a:solidFill>
          <a:ln w="12700">
            <a:solidFill>
              <a:srgbClr val="DB2777"/>
            </a:solidFill>
            <a:prstDash val="dash"/>
          </a:ln>
        </p:spPr>
        <p:txBody>
          <a:bodyPr/>
          <a:lstStyle/>
          <a:p>
            <a:endParaRPr lang="en-US"/>
          </a:p>
        </p:txBody>
      </p:sp>
      <p:sp>
        <p:nvSpPr>
          <p:cNvPr id="27" name="Text 27"/>
          <p:cNvSpPr txBox="1"/>
          <p:nvPr/>
        </p:nvSpPr>
        <p:spPr>
          <a:xfrm>
            <a:off x="5340096" y="4306824"/>
            <a:ext cx="1801368" cy="219456"/>
          </a:xfrm>
          <a:prstGeom prst="rect">
            <a:avLst/>
          </a:prstGeom>
          <a:noFill/>
          <a:ln>
            <a:noFill/>
          </a:ln>
        </p:spPr>
        <p:txBody>
          <a:bodyPr wrap="square" anchor="t" lIns="0" rIns="0" tIns="0" bIns="0"/>
          <a:lstStyle/>
          <a:p>
            <a:pPr algn="ctr"/>
            <a:r>
              <a:rPr lang="en-US" sz="1220" b="1" i="0" dirty="0">
                <a:solidFill>
                  <a:srgbClr val="DB2777"/>
                </a:solidFill>
                <a:latin typeface="Arial"/>
              </a:rPr>
              <a:t>Selected intent</a:t>
            </a:r>
            <a:endParaRPr lang="en-US" sz="1220"/>
          </a:p>
        </p:txBody>
      </p:sp>
      <p:sp>
        <p:nvSpPr>
          <p:cNvPr id="28" name="Text 28"/>
          <p:cNvSpPr txBox="1"/>
          <p:nvPr/>
        </p:nvSpPr>
        <p:spPr>
          <a:xfrm>
            <a:off x="5340096" y="4645152"/>
            <a:ext cx="1801368" cy="164592"/>
          </a:xfrm>
          <a:prstGeom prst="rect">
            <a:avLst/>
          </a:prstGeom>
          <a:noFill/>
          <a:ln>
            <a:noFill/>
          </a:ln>
        </p:spPr>
        <p:txBody>
          <a:bodyPr wrap="square" anchor="t" lIns="0" rIns="0" tIns="0" bIns="0"/>
          <a:lstStyle/>
          <a:p>
            <a:pPr algn="ctr"/>
            <a:r>
              <a:rPr lang="en-US" sz="890" b="0" i="0" dirty="0">
                <a:solidFill>
                  <a:srgbClr val="56647A"/>
                </a:solidFill>
                <a:latin typeface="Arial"/>
              </a:rPr>
              <a:t>owner curated</a:t>
            </a:r>
            <a:endParaRPr lang="en-US" sz="890"/>
          </a:p>
        </p:txBody>
      </p:sp>
      <p:sp>
        <p:nvSpPr>
          <p:cNvPr id="29" name="Rect 29"/>
          <p:cNvSpPr/>
          <p:nvPr/>
        </p:nvSpPr>
        <p:spPr>
          <a:xfrm>
            <a:off x="7635240" y="4151376"/>
            <a:ext cx="2057400" cy="877824"/>
          </a:xfrm>
          <a:prstGeom prst="roundRect">
            <a:avLst/>
          </a:prstGeom>
          <a:solidFill>
            <a:srgbClr val="FFFFFF"/>
          </a:solidFill>
          <a:ln w="12700">
            <a:solidFill>
              <a:srgbClr val="DB2777"/>
            </a:solidFill>
            <a:prstDash val="dash"/>
          </a:ln>
        </p:spPr>
        <p:txBody>
          <a:bodyPr/>
          <a:lstStyle/>
          <a:p>
            <a:endParaRPr lang="en-US"/>
          </a:p>
        </p:txBody>
      </p:sp>
      <p:sp>
        <p:nvSpPr>
          <p:cNvPr id="30" name="Text 30"/>
          <p:cNvSpPr txBox="1"/>
          <p:nvPr/>
        </p:nvSpPr>
        <p:spPr>
          <a:xfrm>
            <a:off x="7763256" y="4306824"/>
            <a:ext cx="1801368" cy="219456"/>
          </a:xfrm>
          <a:prstGeom prst="rect">
            <a:avLst/>
          </a:prstGeom>
          <a:noFill/>
          <a:ln>
            <a:noFill/>
          </a:ln>
        </p:spPr>
        <p:txBody>
          <a:bodyPr wrap="square" anchor="t" lIns="0" rIns="0" tIns="0" bIns="0"/>
          <a:lstStyle/>
          <a:p>
            <a:pPr algn="ctr"/>
            <a:r>
              <a:rPr lang="en-US" sz="1220" b="1" i="0" dirty="0">
                <a:solidFill>
                  <a:srgbClr val="DB2777"/>
                </a:solidFill>
                <a:latin typeface="Arial"/>
              </a:rPr>
              <a:t>SSH payload</a:t>
            </a:r>
            <a:endParaRPr lang="en-US" sz="1220"/>
          </a:p>
        </p:txBody>
      </p:sp>
      <p:sp>
        <p:nvSpPr>
          <p:cNvPr id="31" name="Text 31"/>
          <p:cNvSpPr txBox="1"/>
          <p:nvPr/>
        </p:nvSpPr>
        <p:spPr>
          <a:xfrm>
            <a:off x="7763256" y="4645152"/>
            <a:ext cx="1801368" cy="164592"/>
          </a:xfrm>
          <a:prstGeom prst="rect">
            <a:avLst/>
          </a:prstGeom>
          <a:noFill/>
          <a:ln>
            <a:noFill/>
          </a:ln>
        </p:spPr>
        <p:txBody>
          <a:bodyPr wrap="square" anchor="t" lIns="0" rIns="0" tIns="0" bIns="0"/>
          <a:lstStyle/>
          <a:p>
            <a:pPr algn="ctr"/>
            <a:r>
              <a:rPr lang="en-US" sz="890" b="0" i="0" dirty="0">
                <a:solidFill>
                  <a:srgbClr val="56647A"/>
                </a:solidFill>
                <a:latin typeface="Arial"/>
              </a:rPr>
              <a:t>whole-file private</a:t>
            </a:r>
            <a:endParaRPr lang="en-US" sz="890"/>
          </a:p>
        </p:txBody>
      </p:sp>
      <p:cxnSp>
        <p:nvCxnSpPr>
          <p:cNvPr id="32" name="Line 32"/>
          <p:cNvCxnSpPr/>
          <p:nvPr/>
        </p:nvCxnSpPr>
        <p:spPr>
          <a:xfrm flipH="false" flipV="false">
            <a:off x="10241280" y="3300984"/>
            <a:ext cx="0" cy="484632"/>
          </a:xfrm>
          <a:prstGeom prst="line">
            <a:avLst/>
          </a:prstGeom>
          <a:ln w="25400">
            <a:solidFill>
              <a:srgbClr val="0D9488"/>
            </a:solidFill>
            <a:headEnd type="triangle"/>
            <a:tailEnd type="triangle"/>
          </a:ln>
        </p:spPr>
      </p:cxnSp>
      <p:sp>
        <p:nvSpPr>
          <p:cNvPr id="33" name="Rect 33"/>
          <p:cNvSpPr/>
          <p:nvPr/>
        </p:nvSpPr>
        <p:spPr>
          <a:xfrm>
            <a:off x="9308592" y="3172968"/>
            <a:ext cx="1865376" cy="694944"/>
          </a:xfrm>
          <a:prstGeom prst="roundRect">
            <a:avLst/>
          </a:prstGeom>
          <a:solidFill>
            <a:srgbClr val="08152F"/>
          </a:solidFill>
          <a:ln w="12700">
            <a:solidFill>
              <a:srgbClr val="08152F"/>
            </a:solidFill>
          </a:ln>
        </p:spPr>
        <p:txBody>
          <a:bodyPr/>
          <a:lstStyle/>
          <a:p>
            <a:endParaRPr lang="en-US"/>
          </a:p>
        </p:txBody>
      </p:sp>
      <p:sp>
        <p:nvSpPr>
          <p:cNvPr id="34" name="Text 34"/>
          <p:cNvSpPr txBox="1"/>
          <p:nvPr/>
        </p:nvSpPr>
        <p:spPr>
          <a:xfrm>
            <a:off x="9500616" y="3346704"/>
            <a:ext cx="1481328" cy="219456"/>
          </a:xfrm>
          <a:prstGeom prst="rect">
            <a:avLst/>
          </a:prstGeom>
          <a:noFill/>
          <a:ln>
            <a:noFill/>
          </a:ln>
        </p:spPr>
        <p:txBody>
          <a:bodyPr wrap="square" anchor="t" lIns="0" rIns="0" tIns="0" bIns="0"/>
          <a:lstStyle/>
          <a:p>
            <a:pPr algn="ctr"/>
            <a:r>
              <a:rPr lang="en-US" sz="1130" b="1" i="0" dirty="0">
                <a:solidFill>
                  <a:srgbClr val="FFFFFF"/>
                </a:solidFill>
                <a:latin typeface="Arial"/>
              </a:rPr>
              <a:t>LOCAL RESOLVER</a:t>
            </a:r>
            <a:endParaRPr lang="en-US" sz="1130"/>
          </a:p>
        </p:txBody>
      </p:sp>
      <p:cxnSp>
        <p:nvCxnSpPr>
          <p:cNvPr id="35" name="Line 35"/>
          <p:cNvCxnSpPr/>
          <p:nvPr/>
        </p:nvCxnSpPr>
        <p:spPr>
          <a:xfrm flipH="false" flipV="true">
            <a:off x="2148840" y="3328416"/>
            <a:ext cx="0" cy="493776"/>
          </a:xfrm>
          <a:prstGeom prst="line">
            <a:avLst/>
          </a:prstGeom>
          <a:ln w="22860">
            <a:solidFill>
              <a:srgbClr val="F59E0B"/>
            </a:solidFill>
            <a:tailEnd type="triangle"/>
          </a:ln>
        </p:spPr>
      </p:cxnSp>
      <p:sp>
        <p:nvSpPr>
          <p:cNvPr id="36" name="Text 36"/>
          <p:cNvSpPr txBox="1"/>
          <p:nvPr/>
        </p:nvSpPr>
        <p:spPr>
          <a:xfrm>
            <a:off x="905256" y="3419856"/>
            <a:ext cx="1005840" cy="283464"/>
          </a:xfrm>
          <a:prstGeom prst="rect">
            <a:avLst/>
          </a:prstGeom>
          <a:noFill/>
          <a:ln>
            <a:noFill/>
          </a:ln>
        </p:spPr>
        <p:txBody>
          <a:bodyPr wrap="square" anchor="t" lIns="0" rIns="0" tIns="0" bIns="0"/>
          <a:lstStyle/>
          <a:p>
            <a:pPr algn="ctr"/>
            <a:r>
              <a:rPr lang="en-US" sz="850" b="1" i="0" dirty="0">
                <a:solidFill>
                  <a:srgbClr val="F59E0B"/>
                </a:solidFill>
                <a:latin typeface="Arial"/>
              </a:rPr>
              <a:t>one-way</a:t>
            </a:r>
            <a:endParaRPr lang="en-US" sz="850"/>
          </a:p>
          <a:p>
            <a:pPr algn="ctr"/>
            <a:r>
              <a:rPr lang="en-US" sz="850" b="1" i="0" dirty="0">
                <a:solidFill>
                  <a:srgbClr val="F59E0B"/>
                </a:solidFill>
                <a:latin typeface="Arial"/>
              </a:rPr>
              <a:t>migration</a:t>
            </a:r>
            <a:endParaRPr lang="en-US" sz="850"/>
          </a:p>
        </p:txBody>
      </p:sp>
      <p:sp>
        <p:nvSpPr>
          <p:cNvPr id="37" name="Text 37"/>
          <p:cNvSpPr txBox="1"/>
          <p:nvPr/>
        </p:nvSpPr>
        <p:spPr>
          <a:xfrm>
            <a:off x="877824" y="5733288"/>
            <a:ext cx="10515600" cy="320040"/>
          </a:xfrm>
          <a:prstGeom prst="rect">
            <a:avLst/>
          </a:prstGeom>
          <a:noFill/>
          <a:ln>
            <a:noFill/>
          </a:ln>
        </p:spPr>
        <p:txBody>
          <a:bodyPr wrap="square" anchor="t" lIns="0" rIns="0" tIns="0" bIns="0"/>
          <a:lstStyle/>
          <a:p>
            <a:pPr algn="ctr"/>
            <a:r>
              <a:rPr lang="en-US" sz="1300" b="1" i="0" dirty="0">
                <a:solidFill>
                  <a:srgbClr val="14213D"/>
                </a:solidFill>
                <a:latin typeface="Arial"/>
              </a:rPr>
              <a:t>HEAD: 3 reachable Macs accepted • 1 owner-operated Mac availability-gated</a:t>
            </a:r>
            <a:endParaRPr lang="en-US" sz="1300"/>
          </a:p>
        </p:txBody>
      </p:sp>
      <p:cxnSp>
        <p:nvCxnSpPr>
          <p:cNvPr id="38" name="Line 38"/>
          <p:cNvCxnSpPr/>
          <p:nvPr/>
        </p:nvCxnSpPr>
        <p:spPr>
          <a:xfrm flipH="false" flipV="false">
            <a:off x="621792" y="6473952"/>
            <a:ext cx="10954512" cy="0"/>
          </a:xfrm>
          <a:prstGeom prst="line">
            <a:avLst/>
          </a:prstGeom>
          <a:ln w="10160">
            <a:solidFill>
              <a:srgbClr val="D7DFEA"/>
            </a:solidFill>
          </a:ln>
        </p:spPr>
      </p:cxnSp>
      <p:sp>
        <p:nvSpPr>
          <p:cNvPr id="39" name="Text 39"/>
          <p:cNvSpPr txBox="1"/>
          <p:nvPr/>
        </p:nvSpPr>
        <p:spPr>
          <a:xfrm>
            <a:off x="640080" y="6510528"/>
            <a:ext cx="10469880" cy="201168"/>
          </a:xfrm>
          <a:prstGeom prst="rect">
            <a:avLst/>
          </a:prstGeom>
          <a:noFill/>
          <a:ln>
            <a:noFill/>
          </a:ln>
        </p:spPr>
        <p:txBody>
          <a:bodyPr wrap="square" anchor="t" lIns="0" rIns="0" tIns="0" bIns="0"/>
          <a:lstStyle/>
          <a:p>
            <a:pPr algn="l"/>
            <a:r>
              <a:rPr lang="en-US" sz="720" b="0" i="0" dirty="0">
                <a:solidFill>
                  <a:srgbClr val="56647A"/>
                </a:solidFill>
                <a:latin typeface="Arial"/>
              </a:rPr>
              <a:t>a0b74a4 • 4209ee84 • 6a7e177d • docs/personal-macos*.md • TODO.md</a:t>
            </a:r>
            <a:endParaRPr lang="en-US" sz="720"/>
          </a:p>
        </p:txBody>
      </p:sp>
      <p:sp>
        <p:nvSpPr>
          <p:cNvPr id="40" name="Text 40"/>
          <p:cNvSpPr txBox="1"/>
          <p:nvPr/>
        </p:nvSpPr>
        <p:spPr>
          <a:xfrm>
            <a:off x="11201400" y="6492240"/>
            <a:ext cx="329184" cy="201168"/>
          </a:xfrm>
          <a:prstGeom prst="rect">
            <a:avLst/>
          </a:prstGeom>
          <a:noFill/>
          <a:ln>
            <a:noFill/>
          </a:ln>
        </p:spPr>
        <p:txBody>
          <a:bodyPr wrap="square" anchor="t" lIns="0" rIns="0" tIns="0" bIns="0"/>
          <a:lstStyle/>
          <a:p>
            <a:pPr algn="r"/>
            <a:r>
              <a:rPr lang="en-US" sz="800" b="1" i="0" dirty="0">
                <a:solidFill>
                  <a:srgbClr val="56647A"/>
                </a:solidFill>
                <a:latin typeface="Arial"/>
              </a:rPr>
              <a:t>8</a:t>
            </a:r>
            <a:endParaRPr lang="en-US" sz="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FFFFFF"/>
          </a:solidFill>
          <a:ln w="12700">
            <a:solidFill>
              <a:srgbClr val="FFFFFF"/>
            </a:solidFill>
          </a:ln>
        </p:spPr>
        <p:txBody>
          <a:bodyPr/>
          <a:lstStyle/>
          <a:p>
            <a:endParaRPr lang="en-US"/>
          </a:p>
        </p:txBody>
      </p:sp>
      <p:sp>
        <p:nvSpPr>
          <p:cNvPr id="3" name="Text 3"/>
          <p:cNvSpPr txBox="1"/>
          <p:nvPr/>
        </p:nvSpPr>
        <p:spPr>
          <a:xfrm>
            <a:off x="621792" y="347472"/>
            <a:ext cx="10927080" cy="566928"/>
          </a:xfrm>
          <a:prstGeom prst="rect">
            <a:avLst/>
          </a:prstGeom>
          <a:noFill/>
          <a:ln>
            <a:noFill/>
          </a:ln>
        </p:spPr>
        <p:txBody>
          <a:bodyPr wrap="square" anchor="t" lIns="0" rIns="0" tIns="0" bIns="0"/>
          <a:lstStyle/>
          <a:p>
            <a:pPr algn="l"/>
            <a:r>
              <a:rPr lang="en-US" sz="2700" b="1" i="0" dirty="0">
                <a:solidFill>
                  <a:srgbClr val="14213D"/>
                </a:solidFill>
                <a:latin typeface="Arial"/>
              </a:rPr>
              <a:t>The control loop grew; the ownership boundary stayed narrow</a:t>
            </a:r>
            <a:endParaRPr lang="en-US" sz="2700"/>
          </a:p>
        </p:txBody>
      </p:sp>
      <p:sp>
        <p:nvSpPr>
          <p:cNvPr id="4" name="Text 4"/>
          <p:cNvSpPr txBox="1"/>
          <p:nvPr/>
        </p:nvSpPr>
        <p:spPr>
          <a:xfrm>
            <a:off x="640080" y="932688"/>
            <a:ext cx="10881360" cy="310896"/>
          </a:xfrm>
          <a:prstGeom prst="rect">
            <a:avLst/>
          </a:prstGeom>
          <a:noFill/>
          <a:ln>
            <a:noFill/>
          </a:ln>
        </p:spPr>
        <p:txBody>
          <a:bodyPr wrap="square" anchor="t" lIns="0" rIns="0" tIns="0" bIns="0"/>
          <a:lstStyle/>
          <a:p>
            <a:pPr algn="l"/>
            <a:r>
              <a:rPr lang="en-US" sz="1250" b="0" i="0" dirty="0">
                <a:solidFill>
                  <a:srgbClr val="56647A"/>
                </a:solidFill>
                <a:latin typeface="Arial"/>
              </a:rPr>
              <a:t>Before / after architecture comparison</a:t>
            </a:r>
            <a:endParaRPr lang="en-US" sz="1250"/>
          </a:p>
        </p:txBody>
      </p:sp>
      <p:sp>
        <p:nvSpPr>
          <p:cNvPr id="5" name="Rect 5"/>
          <p:cNvSpPr/>
          <p:nvPr/>
        </p:nvSpPr>
        <p:spPr>
          <a:xfrm>
            <a:off x="594360" y="1353312"/>
            <a:ext cx="3657600" cy="4553712"/>
          </a:xfrm>
          <a:prstGeom prst="roundRect">
            <a:avLst/>
          </a:prstGeom>
          <a:solidFill>
            <a:srgbClr val="F6F8FC"/>
          </a:solidFill>
          <a:ln w="12700">
            <a:solidFill>
              <a:srgbClr val="3B82F6"/>
            </a:solidFill>
          </a:ln>
        </p:spPr>
        <p:txBody>
          <a:bodyPr/>
          <a:lstStyle/>
          <a:p>
            <a:endParaRPr lang="en-US"/>
          </a:p>
        </p:txBody>
      </p:sp>
      <p:sp>
        <p:nvSpPr>
          <p:cNvPr id="6" name="Rect 6"/>
          <p:cNvSpPr/>
          <p:nvPr/>
        </p:nvSpPr>
        <p:spPr>
          <a:xfrm>
            <a:off x="841248" y="1609344"/>
            <a:ext cx="1417320" cy="310896"/>
          </a:xfrm>
          <a:prstGeom prst="roundRect">
            <a:avLst/>
          </a:prstGeom>
          <a:solidFill>
            <a:srgbClr val="DCE8FD"/>
          </a:solidFill>
          <a:ln w="10160">
            <a:solidFill>
              <a:srgbClr val="3B82F6"/>
            </a:solidFill>
          </a:ln>
        </p:spPr>
        <p:txBody>
          <a:bodyPr/>
          <a:lstStyle/>
          <a:p>
            <a:endParaRPr lang="en-US"/>
          </a:p>
        </p:txBody>
      </p:sp>
      <p:sp>
        <p:nvSpPr>
          <p:cNvPr id="7" name="Text 7"/>
          <p:cNvSpPr txBox="1"/>
          <p:nvPr/>
        </p:nvSpPr>
        <p:spPr>
          <a:xfrm>
            <a:off x="914400" y="1659636"/>
            <a:ext cx="1271016" cy="192024"/>
          </a:xfrm>
          <a:prstGeom prst="rect">
            <a:avLst/>
          </a:prstGeom>
          <a:noFill/>
          <a:ln>
            <a:noFill/>
          </a:ln>
        </p:spPr>
        <p:txBody>
          <a:bodyPr wrap="square" anchor="t" lIns="0" rIns="0" tIns="0" bIns="0"/>
          <a:lstStyle/>
          <a:p>
            <a:pPr algn="ctr"/>
            <a:r>
              <a:rPr lang="en-US" sz="920" b="1" i="0" dirty="0">
                <a:solidFill>
                  <a:srgbClr val="3B82F6"/>
                </a:solidFill>
                <a:latin typeface="Arial"/>
              </a:rPr>
              <a:t>14 JUL 2026</a:t>
            </a:r>
            <a:endParaRPr lang="en-US" sz="920"/>
          </a:p>
        </p:txBody>
      </p:sp>
      <p:sp>
        <p:nvSpPr>
          <p:cNvPr id="8" name="Text 8"/>
          <p:cNvSpPr txBox="1"/>
          <p:nvPr/>
        </p:nvSpPr>
        <p:spPr>
          <a:xfrm>
            <a:off x="841248" y="2103120"/>
            <a:ext cx="3163824" cy="347472"/>
          </a:xfrm>
          <a:prstGeom prst="rect">
            <a:avLst/>
          </a:prstGeom>
          <a:noFill/>
          <a:ln>
            <a:noFill/>
          </a:ln>
        </p:spPr>
        <p:txBody>
          <a:bodyPr wrap="square" anchor="t" lIns="0" rIns="0" tIns="0" bIns="0"/>
          <a:lstStyle/>
          <a:p>
            <a:pPr algn="ctr"/>
            <a:r>
              <a:rPr lang="en-US" sz="2000" b="1" i="0" dirty="0">
                <a:solidFill>
                  <a:srgbClr val="14213D"/>
                </a:solidFill>
                <a:latin typeface="Arial"/>
              </a:rPr>
              <a:t>Portable discovery</a:t>
            </a:r>
            <a:endParaRPr lang="en-US" sz="2000"/>
          </a:p>
        </p:txBody>
      </p:sp>
      <p:sp>
        <p:nvSpPr>
          <p:cNvPr id="9" name="Rect 9"/>
          <p:cNvSpPr/>
          <p:nvPr/>
        </p:nvSpPr>
        <p:spPr>
          <a:xfrm>
            <a:off x="1234440" y="2761488"/>
            <a:ext cx="2377440" cy="420624"/>
          </a:xfrm>
          <a:prstGeom prst="roundRect">
            <a:avLst/>
          </a:prstGeom>
          <a:solidFill>
            <a:srgbClr val="E4EEFE"/>
          </a:solidFill>
          <a:ln w="12700">
            <a:solidFill>
              <a:srgbClr val="3B82F6"/>
            </a:solidFill>
          </a:ln>
        </p:spPr>
        <p:txBody>
          <a:bodyPr/>
          <a:lstStyle/>
          <a:p>
            <a:endParaRPr lang="en-US"/>
          </a:p>
        </p:txBody>
      </p:sp>
      <p:sp>
        <p:nvSpPr>
          <p:cNvPr id="10" name="Text 10"/>
          <p:cNvSpPr txBox="1"/>
          <p:nvPr/>
        </p:nvSpPr>
        <p:spPr>
          <a:xfrm>
            <a:off x="1417320" y="2848356"/>
            <a:ext cx="2011680" cy="182880"/>
          </a:xfrm>
          <a:prstGeom prst="rect">
            <a:avLst/>
          </a:prstGeom>
          <a:noFill/>
          <a:ln>
            <a:noFill/>
          </a:ln>
        </p:spPr>
        <p:txBody>
          <a:bodyPr wrap="square" anchor="t" lIns="0" rIns="0" tIns="0" bIns="0"/>
          <a:lstStyle/>
          <a:p>
            <a:pPr algn="ctr"/>
            <a:r>
              <a:rPr lang="en-US" sz="1120" b="1" i="0" dirty="0">
                <a:solidFill>
                  <a:srgbClr val="3B82F6"/>
                </a:solidFill>
                <a:latin typeface="Arial"/>
              </a:rPr>
              <a:t>Repository</a:t>
            </a:r>
            <a:endParaRPr lang="en-US" sz="1120"/>
          </a:p>
        </p:txBody>
      </p:sp>
      <p:cxnSp>
        <p:nvCxnSpPr>
          <p:cNvPr id="11" name="Line 11"/>
          <p:cNvCxnSpPr/>
          <p:nvPr/>
        </p:nvCxnSpPr>
        <p:spPr>
          <a:xfrm flipH="false" flipV="false">
            <a:off x="2423160" y="3200400"/>
            <a:ext cx="0" cy="201168"/>
          </a:xfrm>
          <a:prstGeom prst="line">
            <a:avLst/>
          </a:prstGeom>
          <a:ln w="15240">
            <a:solidFill>
              <a:srgbClr val="C5CFDC"/>
            </a:solidFill>
            <a:tailEnd type="triangle"/>
          </a:ln>
        </p:spPr>
      </p:cxnSp>
      <p:sp>
        <p:nvSpPr>
          <p:cNvPr id="12" name="Rect 12"/>
          <p:cNvSpPr/>
          <p:nvPr/>
        </p:nvSpPr>
        <p:spPr>
          <a:xfrm>
            <a:off x="1234440" y="3419856"/>
            <a:ext cx="2377440" cy="420624"/>
          </a:xfrm>
          <a:prstGeom prst="roundRect">
            <a:avLst/>
          </a:prstGeom>
          <a:solidFill>
            <a:srgbClr val="DDF0EE"/>
          </a:solidFill>
          <a:ln w="12700">
            <a:solidFill>
              <a:srgbClr val="0D9488"/>
            </a:solidFill>
          </a:ln>
        </p:spPr>
        <p:txBody>
          <a:bodyPr/>
          <a:lstStyle/>
          <a:p>
            <a:endParaRPr lang="en-US"/>
          </a:p>
        </p:txBody>
      </p:sp>
      <p:sp>
        <p:nvSpPr>
          <p:cNvPr id="13" name="Text 13"/>
          <p:cNvSpPr txBox="1"/>
          <p:nvPr/>
        </p:nvSpPr>
        <p:spPr>
          <a:xfrm>
            <a:off x="1417320" y="3506724"/>
            <a:ext cx="2011680" cy="182880"/>
          </a:xfrm>
          <a:prstGeom prst="rect">
            <a:avLst/>
          </a:prstGeom>
          <a:noFill/>
          <a:ln>
            <a:noFill/>
          </a:ln>
        </p:spPr>
        <p:txBody>
          <a:bodyPr wrap="square" anchor="t" lIns="0" rIns="0" tIns="0" bIns="0"/>
          <a:lstStyle/>
          <a:p>
            <a:pPr algn="ctr"/>
            <a:r>
              <a:rPr lang="en-US" sz="1120" b="1" i="0" dirty="0">
                <a:solidFill>
                  <a:srgbClr val="0D9488"/>
                </a:solidFill>
                <a:latin typeface="Arial"/>
              </a:rPr>
              <a:t>Installer</a:t>
            </a:r>
            <a:endParaRPr lang="en-US" sz="1120"/>
          </a:p>
        </p:txBody>
      </p:sp>
      <p:cxnSp>
        <p:nvCxnSpPr>
          <p:cNvPr id="14" name="Line 14"/>
          <p:cNvCxnSpPr/>
          <p:nvPr/>
        </p:nvCxnSpPr>
        <p:spPr>
          <a:xfrm flipH="false" flipV="false">
            <a:off x="2423160" y="3858768"/>
            <a:ext cx="0" cy="201168"/>
          </a:xfrm>
          <a:prstGeom prst="line">
            <a:avLst/>
          </a:prstGeom>
          <a:ln w="15240">
            <a:solidFill>
              <a:srgbClr val="C5CFDC"/>
            </a:solidFill>
            <a:tailEnd type="triangle"/>
          </a:ln>
        </p:spPr>
      </p:cxnSp>
      <p:sp>
        <p:nvSpPr>
          <p:cNvPr id="15" name="Rect 15"/>
          <p:cNvSpPr/>
          <p:nvPr/>
        </p:nvSpPr>
        <p:spPr>
          <a:xfrm>
            <a:off x="1234440" y="4078224"/>
            <a:ext cx="2377440" cy="420624"/>
          </a:xfrm>
          <a:prstGeom prst="roundRect">
            <a:avLst/>
          </a:prstGeom>
          <a:solidFill>
            <a:srgbClr val="DCF5F9"/>
          </a:solidFill>
          <a:ln w="12700">
            <a:solidFill>
              <a:srgbClr val="06B6D4"/>
            </a:solidFill>
          </a:ln>
        </p:spPr>
        <p:txBody>
          <a:bodyPr/>
          <a:lstStyle/>
          <a:p>
            <a:endParaRPr lang="en-US"/>
          </a:p>
        </p:txBody>
      </p:sp>
      <p:sp>
        <p:nvSpPr>
          <p:cNvPr id="16" name="Text 16"/>
          <p:cNvSpPr txBox="1"/>
          <p:nvPr/>
        </p:nvSpPr>
        <p:spPr>
          <a:xfrm>
            <a:off x="1417320" y="4165092"/>
            <a:ext cx="2011680" cy="182880"/>
          </a:xfrm>
          <a:prstGeom prst="rect">
            <a:avLst/>
          </a:prstGeom>
          <a:noFill/>
          <a:ln>
            <a:noFill/>
          </a:ln>
        </p:spPr>
        <p:txBody>
          <a:bodyPr wrap="square" anchor="t" lIns="0" rIns="0" tIns="0" bIns="0"/>
          <a:lstStyle/>
          <a:p>
            <a:pPr algn="ctr"/>
            <a:r>
              <a:rPr lang="en-US" sz="1120" b="1" i="0" dirty="0">
                <a:solidFill>
                  <a:srgbClr val="06B6D4"/>
                </a:solidFill>
                <a:latin typeface="Arial"/>
              </a:rPr>
              <a:t>Symlinks</a:t>
            </a:r>
            <a:endParaRPr lang="en-US" sz="1120"/>
          </a:p>
        </p:txBody>
      </p:sp>
      <p:cxnSp>
        <p:nvCxnSpPr>
          <p:cNvPr id="17" name="Line 17"/>
          <p:cNvCxnSpPr/>
          <p:nvPr/>
        </p:nvCxnSpPr>
        <p:spPr>
          <a:xfrm flipH="false" flipV="false">
            <a:off x="2423160" y="4517136"/>
            <a:ext cx="0" cy="201168"/>
          </a:xfrm>
          <a:prstGeom prst="line">
            <a:avLst/>
          </a:prstGeom>
          <a:ln w="15240">
            <a:solidFill>
              <a:srgbClr val="C5CFDC"/>
            </a:solidFill>
            <a:tailEnd type="triangle"/>
          </a:ln>
        </p:spPr>
      </p:cxnSp>
      <p:sp>
        <p:nvSpPr>
          <p:cNvPr id="18" name="Rect 18"/>
          <p:cNvSpPr/>
          <p:nvPr/>
        </p:nvSpPr>
        <p:spPr>
          <a:xfrm>
            <a:off x="1234440" y="4736592"/>
            <a:ext cx="2377440" cy="420624"/>
          </a:xfrm>
          <a:prstGeom prst="roundRect">
            <a:avLst/>
          </a:prstGeom>
          <a:solidFill>
            <a:srgbClr val="EDE3FC"/>
          </a:solidFill>
          <a:ln w="12700">
            <a:solidFill>
              <a:srgbClr val="7C3AED"/>
            </a:solidFill>
          </a:ln>
        </p:spPr>
        <p:txBody>
          <a:bodyPr/>
          <a:lstStyle/>
          <a:p>
            <a:endParaRPr lang="en-US"/>
          </a:p>
        </p:txBody>
      </p:sp>
      <p:sp>
        <p:nvSpPr>
          <p:cNvPr id="19" name="Text 19"/>
          <p:cNvSpPr txBox="1"/>
          <p:nvPr/>
        </p:nvSpPr>
        <p:spPr>
          <a:xfrm>
            <a:off x="1417320" y="4823460"/>
            <a:ext cx="2011680" cy="182880"/>
          </a:xfrm>
          <a:prstGeom prst="rect">
            <a:avLst/>
          </a:prstGeom>
          <a:noFill/>
          <a:ln>
            <a:noFill/>
          </a:ln>
        </p:spPr>
        <p:txBody>
          <a:bodyPr wrap="square" anchor="t" lIns="0" rIns="0" tIns="0" bIns="0"/>
          <a:lstStyle/>
          <a:p>
            <a:pPr algn="ctr"/>
            <a:r>
              <a:rPr lang="en-US" sz="1120" b="1" i="0" dirty="0">
                <a:solidFill>
                  <a:srgbClr val="7C3AED"/>
                </a:solidFill>
                <a:latin typeface="Arial"/>
              </a:rPr>
              <a:t>Clients</a:t>
            </a:r>
            <a:endParaRPr lang="en-US" sz="1120"/>
          </a:p>
        </p:txBody>
      </p:sp>
      <p:sp>
        <p:nvSpPr>
          <p:cNvPr id="20" name="Rect 20"/>
          <p:cNvSpPr/>
          <p:nvPr/>
        </p:nvSpPr>
        <p:spPr>
          <a:xfrm>
            <a:off x="859536" y="5449824"/>
            <a:ext cx="3127248" cy="256032"/>
          </a:xfrm>
          <a:prstGeom prst="roundRect">
            <a:avLst/>
          </a:prstGeom>
          <a:solidFill>
            <a:srgbClr val="E8EDF4"/>
          </a:solidFill>
          <a:ln w="12700">
            <a:solidFill>
              <a:srgbClr val="C5CFDC"/>
            </a:solidFill>
            <a:prstDash val="dash"/>
          </a:ln>
        </p:spPr>
        <p:txBody>
          <a:bodyPr/>
          <a:lstStyle/>
          <a:p>
            <a:endParaRPr lang="en-US"/>
          </a:p>
        </p:txBody>
      </p:sp>
      <p:sp>
        <p:nvSpPr>
          <p:cNvPr id="21" name="Text 21"/>
          <p:cNvSpPr txBox="1"/>
          <p:nvPr/>
        </p:nvSpPr>
        <p:spPr>
          <a:xfrm>
            <a:off x="950976" y="5504688"/>
            <a:ext cx="2944368" cy="128016"/>
          </a:xfrm>
          <a:prstGeom prst="rect">
            <a:avLst/>
          </a:prstGeom>
          <a:noFill/>
          <a:ln>
            <a:noFill/>
          </a:ln>
        </p:spPr>
        <p:txBody>
          <a:bodyPr wrap="square" anchor="t" lIns="0" rIns="0" tIns="0" bIns="0"/>
          <a:lstStyle/>
          <a:p>
            <a:pPr algn="ctr"/>
            <a:r>
              <a:rPr lang="en-US" sz="850" b="0" i="0" dirty="0">
                <a:solidFill>
                  <a:srgbClr val="56647A"/>
                </a:solidFill>
                <a:latin typeface="Arial"/>
              </a:rPr>
              <a:t>private state outside</a:t>
            </a:r>
            <a:endParaRPr lang="en-US" sz="850"/>
          </a:p>
        </p:txBody>
      </p:sp>
      <p:sp>
        <p:nvSpPr>
          <p:cNvPr id="22" name="Rect 22"/>
          <p:cNvSpPr/>
          <p:nvPr/>
        </p:nvSpPr>
        <p:spPr>
          <a:xfrm>
            <a:off x="4553712" y="1353312"/>
            <a:ext cx="7040880" cy="4553712"/>
          </a:xfrm>
          <a:prstGeom prst="roundRect">
            <a:avLst/>
          </a:prstGeom>
          <a:solidFill>
            <a:srgbClr val="F6F8FC"/>
          </a:solidFill>
          <a:ln w="12700">
            <a:solidFill>
              <a:srgbClr val="16A34A"/>
            </a:solidFill>
          </a:ln>
        </p:spPr>
        <p:txBody>
          <a:bodyPr/>
          <a:lstStyle/>
          <a:p>
            <a:endParaRPr lang="en-US"/>
          </a:p>
        </p:txBody>
      </p:sp>
      <p:sp>
        <p:nvSpPr>
          <p:cNvPr id="23" name="Rect 23"/>
          <p:cNvSpPr/>
          <p:nvPr/>
        </p:nvSpPr>
        <p:spPr>
          <a:xfrm>
            <a:off x="4800600" y="1609344"/>
            <a:ext cx="1417320" cy="310896"/>
          </a:xfrm>
          <a:prstGeom prst="roundRect">
            <a:avLst/>
          </a:prstGeom>
          <a:solidFill>
            <a:srgbClr val="D5EEDE"/>
          </a:solidFill>
          <a:ln w="10160">
            <a:solidFill>
              <a:srgbClr val="16A34A"/>
            </a:solidFill>
          </a:ln>
        </p:spPr>
        <p:txBody>
          <a:bodyPr/>
          <a:lstStyle/>
          <a:p>
            <a:endParaRPr lang="en-US"/>
          </a:p>
        </p:txBody>
      </p:sp>
      <p:sp>
        <p:nvSpPr>
          <p:cNvPr id="24" name="Text 24"/>
          <p:cNvSpPr txBox="1"/>
          <p:nvPr/>
        </p:nvSpPr>
        <p:spPr>
          <a:xfrm>
            <a:off x="4873752" y="1659636"/>
            <a:ext cx="1271016" cy="192024"/>
          </a:xfrm>
          <a:prstGeom prst="rect">
            <a:avLst/>
          </a:prstGeom>
          <a:noFill/>
          <a:ln>
            <a:noFill/>
          </a:ln>
        </p:spPr>
        <p:txBody>
          <a:bodyPr wrap="square" anchor="t" lIns="0" rIns="0" tIns="0" bIns="0"/>
          <a:lstStyle/>
          <a:p>
            <a:pPr algn="ctr"/>
            <a:r>
              <a:rPr lang="en-US" sz="920" b="1" i="0" dirty="0">
                <a:solidFill>
                  <a:srgbClr val="16A34A"/>
                </a:solidFill>
                <a:latin typeface="Arial"/>
              </a:rPr>
              <a:t>HEAD</a:t>
            </a:r>
            <a:endParaRPr lang="en-US" sz="920"/>
          </a:p>
        </p:txBody>
      </p:sp>
      <p:sp>
        <p:nvSpPr>
          <p:cNvPr id="25" name="Text 25"/>
          <p:cNvSpPr txBox="1"/>
          <p:nvPr/>
        </p:nvSpPr>
        <p:spPr>
          <a:xfrm>
            <a:off x="4800600" y="2103120"/>
            <a:ext cx="6446520" cy="347472"/>
          </a:xfrm>
          <a:prstGeom prst="rect">
            <a:avLst/>
          </a:prstGeom>
          <a:noFill/>
          <a:ln>
            <a:noFill/>
          </a:ln>
        </p:spPr>
        <p:txBody>
          <a:bodyPr wrap="square" anchor="t" lIns="0" rIns="0" tIns="0" bIns="0"/>
          <a:lstStyle/>
          <a:p>
            <a:pPr algn="ctr"/>
            <a:r>
              <a:rPr lang="en-US" sz="2000" b="1" i="0" dirty="0">
                <a:solidFill>
                  <a:srgbClr val="14213D"/>
                </a:solidFill>
                <a:latin typeface="Arial"/>
              </a:rPr>
              <a:t>Transactional evidence loop</a:t>
            </a:r>
            <a:endParaRPr lang="en-US" sz="2000"/>
          </a:p>
        </p:txBody>
      </p:sp>
      <p:sp>
        <p:nvSpPr>
          <p:cNvPr id="26" name="Rect 26"/>
          <p:cNvSpPr/>
          <p:nvPr/>
        </p:nvSpPr>
        <p:spPr>
          <a:xfrm>
            <a:off x="4892040" y="2743200"/>
            <a:ext cx="1481328" cy="502920"/>
          </a:xfrm>
          <a:prstGeom prst="roundRect">
            <a:avLst/>
          </a:prstGeom>
          <a:solidFill>
            <a:srgbClr val="E4EEFE"/>
          </a:solidFill>
          <a:ln w="12700">
            <a:solidFill>
              <a:srgbClr val="3B82F6"/>
            </a:solidFill>
          </a:ln>
        </p:spPr>
        <p:txBody>
          <a:bodyPr/>
          <a:lstStyle/>
          <a:p>
            <a:endParaRPr lang="en-US"/>
          </a:p>
        </p:txBody>
      </p:sp>
      <p:sp>
        <p:nvSpPr>
          <p:cNvPr id="27" name="Text 27"/>
          <p:cNvSpPr txBox="1"/>
          <p:nvPr/>
        </p:nvSpPr>
        <p:spPr>
          <a:xfrm>
            <a:off x="4965192" y="2862072"/>
            <a:ext cx="1335024" cy="201168"/>
          </a:xfrm>
          <a:prstGeom prst="rect">
            <a:avLst/>
          </a:prstGeom>
          <a:noFill/>
          <a:ln>
            <a:noFill/>
          </a:ln>
        </p:spPr>
        <p:txBody>
          <a:bodyPr wrap="square" anchor="t" lIns="0" rIns="0" tIns="0" bIns="0"/>
          <a:lstStyle/>
          <a:p>
            <a:pPr algn="ctr"/>
            <a:r>
              <a:rPr lang="en-US" sz="960" b="1" i="0" dirty="0">
                <a:solidFill>
                  <a:srgbClr val="3B82F6"/>
                </a:solidFill>
                <a:latin typeface="Arial"/>
              </a:rPr>
              <a:t>Policy + sources</a:t>
            </a:r>
            <a:endParaRPr lang="en-US" sz="960"/>
          </a:p>
        </p:txBody>
      </p:sp>
      <p:cxnSp>
        <p:nvCxnSpPr>
          <p:cNvPr id="28" name="Line 28"/>
          <p:cNvCxnSpPr/>
          <p:nvPr/>
        </p:nvCxnSpPr>
        <p:spPr>
          <a:xfrm flipH="false" flipV="false">
            <a:off x="5632704" y="3264408"/>
            <a:ext cx="1700784" cy="338328"/>
          </a:xfrm>
          <a:prstGeom prst="line">
            <a:avLst/>
          </a:prstGeom>
          <a:ln w="10160">
            <a:solidFill>
              <a:srgbClr val="C5CFDC"/>
            </a:solidFill>
          </a:ln>
        </p:spPr>
      </p:cxnSp>
      <p:sp>
        <p:nvSpPr>
          <p:cNvPr id="29" name="Rect 29"/>
          <p:cNvSpPr/>
          <p:nvPr/>
        </p:nvSpPr>
        <p:spPr>
          <a:xfrm>
            <a:off x="6592824" y="2743200"/>
            <a:ext cx="1481328" cy="502920"/>
          </a:xfrm>
          <a:prstGeom prst="roundRect">
            <a:avLst/>
          </a:prstGeom>
          <a:solidFill>
            <a:srgbClr val="DCF5F9"/>
          </a:solidFill>
          <a:ln w="12700">
            <a:solidFill>
              <a:srgbClr val="06B6D4"/>
            </a:solidFill>
          </a:ln>
        </p:spPr>
        <p:txBody>
          <a:bodyPr/>
          <a:lstStyle/>
          <a:p>
            <a:endParaRPr lang="en-US"/>
          </a:p>
        </p:txBody>
      </p:sp>
      <p:sp>
        <p:nvSpPr>
          <p:cNvPr id="30" name="Text 30"/>
          <p:cNvSpPr txBox="1"/>
          <p:nvPr/>
        </p:nvSpPr>
        <p:spPr>
          <a:xfrm>
            <a:off x="6665976" y="2862072"/>
            <a:ext cx="1335024" cy="201168"/>
          </a:xfrm>
          <a:prstGeom prst="rect">
            <a:avLst/>
          </a:prstGeom>
          <a:noFill/>
          <a:ln>
            <a:noFill/>
          </a:ln>
        </p:spPr>
        <p:txBody>
          <a:bodyPr wrap="square" anchor="t" lIns="0" rIns="0" tIns="0" bIns="0"/>
          <a:lstStyle/>
          <a:p>
            <a:pPr algn="ctr"/>
            <a:r>
              <a:rPr lang="en-US" sz="960" b="1" i="0" dirty="0">
                <a:solidFill>
                  <a:srgbClr val="06B6D4"/>
                </a:solidFill>
                <a:latin typeface="Arial"/>
              </a:rPr>
              <a:t>Profiles</a:t>
            </a:r>
            <a:endParaRPr lang="en-US" sz="960"/>
          </a:p>
        </p:txBody>
      </p:sp>
      <p:cxnSp>
        <p:nvCxnSpPr>
          <p:cNvPr id="31" name="Line 31"/>
          <p:cNvCxnSpPr/>
          <p:nvPr/>
        </p:nvCxnSpPr>
        <p:spPr>
          <a:xfrm flipH="false" flipV="false">
            <a:off x="7333488" y="3264408"/>
            <a:ext cx="0" cy="338328"/>
          </a:xfrm>
          <a:prstGeom prst="line">
            <a:avLst/>
          </a:prstGeom>
          <a:ln w="10160">
            <a:solidFill>
              <a:srgbClr val="C5CFDC"/>
            </a:solidFill>
          </a:ln>
        </p:spPr>
      </p:cxnSp>
      <p:sp>
        <p:nvSpPr>
          <p:cNvPr id="32" name="Rect 32"/>
          <p:cNvSpPr/>
          <p:nvPr/>
        </p:nvSpPr>
        <p:spPr>
          <a:xfrm>
            <a:off x="8293608" y="2743200"/>
            <a:ext cx="1481328" cy="502920"/>
          </a:xfrm>
          <a:prstGeom prst="roundRect">
            <a:avLst/>
          </a:prstGeom>
          <a:solidFill>
            <a:srgbClr val="DDF0EE"/>
          </a:solidFill>
          <a:ln w="12700">
            <a:solidFill>
              <a:srgbClr val="0D9488"/>
            </a:solidFill>
          </a:ln>
        </p:spPr>
        <p:txBody>
          <a:bodyPr/>
          <a:lstStyle/>
          <a:p>
            <a:endParaRPr lang="en-US"/>
          </a:p>
        </p:txBody>
      </p:sp>
      <p:sp>
        <p:nvSpPr>
          <p:cNvPr id="33" name="Text 33"/>
          <p:cNvSpPr txBox="1"/>
          <p:nvPr/>
        </p:nvSpPr>
        <p:spPr>
          <a:xfrm>
            <a:off x="8366760" y="2862072"/>
            <a:ext cx="1335024" cy="201168"/>
          </a:xfrm>
          <a:prstGeom prst="rect">
            <a:avLst/>
          </a:prstGeom>
          <a:noFill/>
          <a:ln>
            <a:noFill/>
          </a:ln>
        </p:spPr>
        <p:txBody>
          <a:bodyPr wrap="square" anchor="t" lIns="0" rIns="0" tIns="0" bIns="0"/>
          <a:lstStyle/>
          <a:p>
            <a:pPr algn="ctr"/>
            <a:r>
              <a:rPr lang="en-US" sz="960" b="1" i="0" dirty="0">
                <a:solidFill>
                  <a:srgbClr val="0D9488"/>
                </a:solidFill>
                <a:latin typeface="Arial"/>
              </a:rPr>
              <a:t>Manifests</a:t>
            </a:r>
            <a:endParaRPr lang="en-US" sz="960"/>
          </a:p>
        </p:txBody>
      </p:sp>
      <p:cxnSp>
        <p:nvCxnSpPr>
          <p:cNvPr id="34" name="Line 34"/>
          <p:cNvCxnSpPr/>
          <p:nvPr/>
        </p:nvCxnSpPr>
        <p:spPr>
          <a:xfrm flipH="true" flipV="false">
            <a:off x="7333488" y="3264408"/>
            <a:ext cx="1700784" cy="338328"/>
          </a:xfrm>
          <a:prstGeom prst="line">
            <a:avLst/>
          </a:prstGeom>
          <a:ln w="10160">
            <a:solidFill>
              <a:srgbClr val="C5CFDC"/>
            </a:solidFill>
          </a:ln>
        </p:spPr>
      </p:cxnSp>
      <p:sp>
        <p:nvSpPr>
          <p:cNvPr id="35" name="Ellipse 35"/>
          <p:cNvSpPr/>
          <p:nvPr/>
        </p:nvSpPr>
        <p:spPr>
          <a:xfrm>
            <a:off x="6190488" y="3474720"/>
            <a:ext cx="2286000" cy="1078992"/>
          </a:xfrm>
          <a:prstGeom prst="ellipse">
            <a:avLst/>
          </a:prstGeom>
          <a:solidFill>
            <a:srgbClr val="08152F"/>
          </a:solidFill>
          <a:ln w="12700">
            <a:solidFill>
              <a:srgbClr val="08152F"/>
            </a:solidFill>
          </a:ln>
        </p:spPr>
        <p:txBody>
          <a:bodyPr/>
          <a:lstStyle/>
          <a:p>
            <a:endParaRPr lang="en-US"/>
          </a:p>
        </p:txBody>
      </p:sp>
      <p:sp>
        <p:nvSpPr>
          <p:cNvPr id="36" name="Text 36"/>
          <p:cNvSpPr txBox="1"/>
          <p:nvPr/>
        </p:nvSpPr>
        <p:spPr>
          <a:xfrm>
            <a:off x="6446520" y="3730752"/>
            <a:ext cx="1773936" cy="246888"/>
          </a:xfrm>
          <a:prstGeom prst="rect">
            <a:avLst/>
          </a:prstGeom>
          <a:noFill/>
          <a:ln>
            <a:noFill/>
          </a:ln>
        </p:spPr>
        <p:txBody>
          <a:bodyPr wrap="square" anchor="t" lIns="0" rIns="0" tIns="0" bIns="0"/>
          <a:lstStyle/>
          <a:p>
            <a:pPr algn="ctr"/>
            <a:r>
              <a:rPr lang="en-US" sz="1180" b="1" i="0" dirty="0">
                <a:solidFill>
                  <a:srgbClr val="FFFFFF"/>
                </a:solidFill>
                <a:latin typeface="Arial"/>
              </a:rPr>
              <a:t>PLAN • APPLY • VERIFY</a:t>
            </a:r>
            <a:endParaRPr lang="en-US" sz="1180"/>
          </a:p>
        </p:txBody>
      </p:sp>
      <p:sp>
        <p:nvSpPr>
          <p:cNvPr id="37" name="Rect 37"/>
          <p:cNvSpPr/>
          <p:nvPr/>
        </p:nvSpPr>
        <p:spPr>
          <a:xfrm>
            <a:off x="4855464" y="4809744"/>
            <a:ext cx="1536192" cy="502920"/>
          </a:xfrm>
          <a:prstGeom prst="roundRect">
            <a:avLst/>
          </a:prstGeom>
          <a:solidFill>
            <a:srgbClr val="EDE3FC"/>
          </a:solidFill>
          <a:ln w="12700">
            <a:solidFill>
              <a:srgbClr val="7C3AED"/>
            </a:solidFill>
          </a:ln>
        </p:spPr>
        <p:txBody>
          <a:bodyPr/>
          <a:lstStyle/>
          <a:p>
            <a:endParaRPr lang="en-US"/>
          </a:p>
        </p:txBody>
      </p:sp>
      <p:sp>
        <p:nvSpPr>
          <p:cNvPr id="38" name="Text 38"/>
          <p:cNvSpPr txBox="1"/>
          <p:nvPr/>
        </p:nvSpPr>
        <p:spPr>
          <a:xfrm>
            <a:off x="4928616" y="4928616"/>
            <a:ext cx="1389888" cy="201168"/>
          </a:xfrm>
          <a:prstGeom prst="rect">
            <a:avLst/>
          </a:prstGeom>
          <a:noFill/>
          <a:ln>
            <a:noFill/>
          </a:ln>
        </p:spPr>
        <p:txBody>
          <a:bodyPr wrap="square" anchor="t" lIns="0" rIns="0" tIns="0" bIns="0"/>
          <a:lstStyle/>
          <a:p>
            <a:pPr algn="ctr"/>
            <a:r>
              <a:rPr lang="en-US" sz="950" b="1" i="0" dirty="0">
                <a:solidFill>
                  <a:srgbClr val="7C3AED"/>
                </a:solidFill>
                <a:latin typeface="Arial"/>
              </a:rPr>
              <a:t>Linux/HPC</a:t>
            </a:r>
            <a:endParaRPr lang="en-US" sz="950"/>
          </a:p>
        </p:txBody>
      </p:sp>
      <p:cxnSp>
        <p:nvCxnSpPr>
          <p:cNvPr id="39" name="Line 39"/>
          <p:cNvCxnSpPr/>
          <p:nvPr/>
        </p:nvCxnSpPr>
        <p:spPr>
          <a:xfrm flipH="true" flipV="false">
            <a:off x="5623560" y="4572000"/>
            <a:ext cx="1709928" cy="219456"/>
          </a:xfrm>
          <a:prstGeom prst="line">
            <a:avLst/>
          </a:prstGeom>
          <a:ln w="10160">
            <a:solidFill>
              <a:srgbClr val="C5CFDC"/>
            </a:solidFill>
            <a:tailEnd type="triangle"/>
          </a:ln>
        </p:spPr>
      </p:cxnSp>
      <p:sp>
        <p:nvSpPr>
          <p:cNvPr id="40" name="Rect 40"/>
          <p:cNvSpPr/>
          <p:nvPr/>
        </p:nvSpPr>
        <p:spPr>
          <a:xfrm>
            <a:off x="6574536" y="4809744"/>
            <a:ext cx="1536192" cy="502920"/>
          </a:xfrm>
          <a:prstGeom prst="roundRect">
            <a:avLst/>
          </a:prstGeom>
          <a:solidFill>
            <a:srgbClr val="FAE1EC"/>
          </a:solidFill>
          <a:ln w="12700">
            <a:solidFill>
              <a:srgbClr val="DB2777"/>
            </a:solidFill>
          </a:ln>
        </p:spPr>
        <p:txBody>
          <a:bodyPr/>
          <a:lstStyle/>
          <a:p>
            <a:endParaRPr lang="en-US"/>
          </a:p>
        </p:txBody>
      </p:sp>
      <p:sp>
        <p:nvSpPr>
          <p:cNvPr id="41" name="Text 41"/>
          <p:cNvSpPr txBox="1"/>
          <p:nvPr/>
        </p:nvSpPr>
        <p:spPr>
          <a:xfrm>
            <a:off x="6647688" y="4928616"/>
            <a:ext cx="1389888" cy="201168"/>
          </a:xfrm>
          <a:prstGeom prst="rect">
            <a:avLst/>
          </a:prstGeom>
          <a:noFill/>
          <a:ln>
            <a:noFill/>
          </a:ln>
        </p:spPr>
        <p:txBody>
          <a:bodyPr wrap="square" anchor="t" lIns="0" rIns="0" tIns="0" bIns="0"/>
          <a:lstStyle/>
          <a:p>
            <a:pPr algn="ctr"/>
            <a:r>
              <a:rPr lang="en-US" sz="950" b="1" i="0" dirty="0">
                <a:solidFill>
                  <a:srgbClr val="DB2777"/>
                </a:solidFill>
                <a:latin typeface="Arial"/>
              </a:rPr>
              <a:t>Mac + private</a:t>
            </a:r>
            <a:endParaRPr lang="en-US" sz="950"/>
          </a:p>
        </p:txBody>
      </p:sp>
      <p:cxnSp>
        <p:nvCxnSpPr>
          <p:cNvPr id="42" name="Line 42"/>
          <p:cNvCxnSpPr/>
          <p:nvPr/>
        </p:nvCxnSpPr>
        <p:spPr>
          <a:xfrm flipH="false" flipV="false">
            <a:off x="7333488" y="4572000"/>
            <a:ext cx="9144" cy="219456"/>
          </a:xfrm>
          <a:prstGeom prst="line">
            <a:avLst/>
          </a:prstGeom>
          <a:ln w="10160">
            <a:solidFill>
              <a:srgbClr val="C5CFDC"/>
            </a:solidFill>
            <a:tailEnd type="triangle"/>
          </a:ln>
        </p:spPr>
      </p:cxnSp>
      <p:sp>
        <p:nvSpPr>
          <p:cNvPr id="43" name="Rect 43"/>
          <p:cNvSpPr/>
          <p:nvPr/>
        </p:nvSpPr>
        <p:spPr>
          <a:xfrm>
            <a:off x="8293608" y="4809744"/>
            <a:ext cx="1536192" cy="502920"/>
          </a:xfrm>
          <a:prstGeom prst="roundRect">
            <a:avLst/>
          </a:prstGeom>
          <a:solidFill>
            <a:srgbClr val="DEF2E6"/>
          </a:solidFill>
          <a:ln w="12700">
            <a:solidFill>
              <a:srgbClr val="16A34A"/>
            </a:solidFill>
          </a:ln>
        </p:spPr>
        <p:txBody>
          <a:bodyPr/>
          <a:lstStyle/>
          <a:p>
            <a:endParaRPr lang="en-US"/>
          </a:p>
        </p:txBody>
      </p:sp>
      <p:sp>
        <p:nvSpPr>
          <p:cNvPr id="44" name="Text 44"/>
          <p:cNvSpPr txBox="1"/>
          <p:nvPr/>
        </p:nvSpPr>
        <p:spPr>
          <a:xfrm>
            <a:off x="8366760" y="4928616"/>
            <a:ext cx="1389888" cy="201168"/>
          </a:xfrm>
          <a:prstGeom prst="rect">
            <a:avLst/>
          </a:prstGeom>
          <a:noFill/>
          <a:ln>
            <a:noFill/>
          </a:ln>
        </p:spPr>
        <p:txBody>
          <a:bodyPr wrap="square" anchor="t" lIns="0" rIns="0" tIns="0" bIns="0"/>
          <a:lstStyle/>
          <a:p>
            <a:pPr algn="ctr"/>
            <a:r>
              <a:rPr lang="en-US" sz="950" b="1" i="0" dirty="0">
                <a:solidFill>
                  <a:srgbClr val="16A34A"/>
                </a:solidFill>
                <a:latin typeface="Arial"/>
              </a:rPr>
              <a:t>Native clients</a:t>
            </a:r>
            <a:endParaRPr lang="en-US" sz="950"/>
          </a:p>
        </p:txBody>
      </p:sp>
      <p:cxnSp>
        <p:nvCxnSpPr>
          <p:cNvPr id="45" name="Line 45"/>
          <p:cNvCxnSpPr/>
          <p:nvPr/>
        </p:nvCxnSpPr>
        <p:spPr>
          <a:xfrm flipH="false" flipV="false">
            <a:off x="7333488" y="4572000"/>
            <a:ext cx="1728216" cy="219456"/>
          </a:xfrm>
          <a:prstGeom prst="line">
            <a:avLst/>
          </a:prstGeom>
          <a:ln w="10160">
            <a:solidFill>
              <a:srgbClr val="C5CFDC"/>
            </a:solidFill>
            <a:tailEnd type="triangle"/>
          </a:ln>
        </p:spPr>
      </p:cxnSp>
      <p:sp>
        <p:nvSpPr>
          <p:cNvPr id="46" name="Rect 46"/>
          <p:cNvSpPr/>
          <p:nvPr/>
        </p:nvSpPr>
        <p:spPr>
          <a:xfrm>
            <a:off x="10104120" y="2743200"/>
            <a:ext cx="1133856" cy="2569464"/>
          </a:xfrm>
          <a:prstGeom prst="roundRect">
            <a:avLst/>
          </a:prstGeom>
          <a:solidFill>
            <a:srgbClr val="FEF9F0"/>
          </a:solidFill>
          <a:ln w="12700">
            <a:solidFill>
              <a:srgbClr val="F59E0B"/>
            </a:solidFill>
          </a:ln>
        </p:spPr>
        <p:txBody>
          <a:bodyPr/>
          <a:lstStyle/>
          <a:p>
            <a:endParaRPr lang="en-US"/>
          </a:p>
        </p:txBody>
      </p:sp>
      <p:sp>
        <p:nvSpPr>
          <p:cNvPr id="47" name="Text 47"/>
          <p:cNvSpPr txBox="1"/>
          <p:nvPr/>
        </p:nvSpPr>
        <p:spPr>
          <a:xfrm>
            <a:off x="10186416" y="2990088"/>
            <a:ext cx="969264" cy="292608"/>
          </a:xfrm>
          <a:prstGeom prst="rect">
            <a:avLst/>
          </a:prstGeom>
          <a:noFill/>
          <a:ln>
            <a:noFill/>
          </a:ln>
        </p:spPr>
        <p:txBody>
          <a:bodyPr wrap="square" anchor="t" lIns="0" rIns="0" tIns="0" bIns="0"/>
          <a:lstStyle/>
          <a:p>
            <a:pPr algn="ctr"/>
            <a:r>
              <a:rPr lang="en-US" sz="1020" b="1" i="0" dirty="0">
                <a:solidFill>
                  <a:srgbClr val="F59E0B"/>
                </a:solidFill>
                <a:latin typeface="Arial"/>
              </a:rPr>
              <a:t>EVIDENCE</a:t>
            </a:r>
            <a:endParaRPr lang="en-US" sz="1020"/>
          </a:p>
        </p:txBody>
      </p:sp>
      <p:sp>
        <p:nvSpPr>
          <p:cNvPr id="48" name="Text 48"/>
          <p:cNvSpPr txBox="1"/>
          <p:nvPr/>
        </p:nvSpPr>
        <p:spPr>
          <a:xfrm>
            <a:off x="10186416" y="3547872"/>
            <a:ext cx="969264" cy="822960"/>
          </a:xfrm>
          <a:prstGeom prst="rect">
            <a:avLst/>
          </a:prstGeom>
          <a:noFill/>
          <a:ln>
            <a:noFill/>
          </a:ln>
        </p:spPr>
        <p:txBody>
          <a:bodyPr wrap="square" anchor="t" lIns="0" rIns="0" tIns="0" bIns="0"/>
          <a:lstStyle/>
          <a:p>
            <a:pPr algn="ctr"/>
            <a:r>
              <a:rPr lang="en-US" sz="960" b="0" i="0" dirty="0">
                <a:solidFill>
                  <a:srgbClr val="56647A"/>
                </a:solidFill>
                <a:latin typeface="Arial"/>
              </a:rPr>
              <a:t>tests</a:t>
            </a:r>
            <a:endParaRPr lang="en-US" sz="960"/>
          </a:p>
          <a:p>
            <a:pPr algn="ctr"/>
            <a:r>
              <a:rPr lang="en-US" sz="960" b="0" i="0" dirty="0">
                <a:solidFill>
                  <a:srgbClr val="56647A"/>
                </a:solidFill>
                <a:latin typeface="Arial"/>
              </a:rPr>
              <a:t>audits</a:t>
            </a:r>
            <a:endParaRPr lang="en-US" sz="960"/>
          </a:p>
          <a:p>
            <a:pPr algn="ctr"/>
            <a:r>
              <a:rPr lang="en-US" sz="960" b="0" i="0" dirty="0">
                <a:solidFill>
                  <a:srgbClr val="56647A"/>
                </a:solidFill>
                <a:latin typeface="Arial"/>
              </a:rPr>
              <a:t>CI</a:t>
            </a:r>
            <a:endParaRPr lang="en-US" sz="960"/>
          </a:p>
          <a:p>
            <a:pPr algn="ctr"/>
            <a:r>
              <a:rPr lang="en-US" sz="960" b="0" i="0" dirty="0">
                <a:solidFill>
                  <a:srgbClr val="56647A"/>
                </a:solidFill>
                <a:latin typeface="Arial"/>
              </a:rPr>
              <a:t>receipts</a:t>
            </a:r>
            <a:endParaRPr lang="en-US" sz="960"/>
          </a:p>
        </p:txBody>
      </p:sp>
      <p:cxnSp>
        <p:nvCxnSpPr>
          <p:cNvPr id="49" name="Line 49"/>
          <p:cNvCxnSpPr/>
          <p:nvPr/>
        </p:nvCxnSpPr>
        <p:spPr>
          <a:xfrm flipH="true" flipV="false">
            <a:off x="8503920" y="3986784"/>
            <a:ext cx="1591056" cy="0"/>
          </a:xfrm>
          <a:prstGeom prst="line">
            <a:avLst/>
          </a:prstGeom>
          <a:ln w="19050">
            <a:solidFill>
              <a:srgbClr val="F59E0B"/>
            </a:solidFill>
            <a:tailEnd type="triangle"/>
          </a:ln>
        </p:spPr>
      </p:cxnSp>
      <p:sp>
        <p:nvSpPr>
          <p:cNvPr id="50" name="Rect 50"/>
          <p:cNvSpPr/>
          <p:nvPr/>
        </p:nvSpPr>
        <p:spPr>
          <a:xfrm>
            <a:off x="4809744" y="5504688"/>
            <a:ext cx="6537960" cy="228600"/>
          </a:xfrm>
          <a:prstGeom prst="roundRect">
            <a:avLst/>
          </a:prstGeom>
          <a:solidFill>
            <a:srgbClr val="E8EDF4"/>
          </a:solidFill>
          <a:ln w="12700">
            <a:solidFill>
              <a:srgbClr val="C5CFDC"/>
            </a:solidFill>
            <a:prstDash val="dash"/>
          </a:ln>
        </p:spPr>
        <p:txBody>
          <a:bodyPr/>
          <a:lstStyle/>
          <a:p>
            <a:endParaRPr lang="en-US"/>
          </a:p>
        </p:txBody>
      </p:sp>
      <p:sp>
        <p:nvSpPr>
          <p:cNvPr id="51" name="Text 51"/>
          <p:cNvSpPr txBox="1"/>
          <p:nvPr/>
        </p:nvSpPr>
        <p:spPr>
          <a:xfrm>
            <a:off x="4983480" y="5550408"/>
            <a:ext cx="6190488" cy="118872"/>
          </a:xfrm>
          <a:prstGeom prst="rect">
            <a:avLst/>
          </a:prstGeom>
          <a:noFill/>
          <a:ln>
            <a:noFill/>
          </a:ln>
        </p:spPr>
        <p:txBody>
          <a:bodyPr wrap="square" anchor="t" lIns="0" rIns="0" tIns="0" bIns="0"/>
          <a:lstStyle/>
          <a:p>
            <a:pPr algn="ctr"/>
            <a:r>
              <a:rPr lang="en-US" sz="810" b="0" i="0" dirty="0">
                <a:solidFill>
                  <a:srgbClr val="56647A"/>
                </a:solidFill>
                <a:latin typeface="Arial"/>
              </a:rPr>
              <a:t>same outer boundary: secrets • site substrate • project runtimes</a:t>
            </a:r>
            <a:endParaRPr lang="en-US" sz="810"/>
          </a:p>
        </p:txBody>
      </p:sp>
      <p:sp>
        <p:nvSpPr>
          <p:cNvPr id="52" name="Rect 52"/>
          <p:cNvSpPr/>
          <p:nvPr/>
        </p:nvSpPr>
        <p:spPr>
          <a:xfrm>
            <a:off x="658368" y="6035040"/>
            <a:ext cx="1481328" cy="310896"/>
          </a:xfrm>
          <a:prstGeom prst="roundRect">
            <a:avLst/>
          </a:prstGeom>
          <a:solidFill>
            <a:srgbClr val="E7DCFC"/>
          </a:solidFill>
          <a:ln w="10160">
            <a:solidFill>
              <a:srgbClr val="7C3AED"/>
            </a:solidFill>
          </a:ln>
        </p:spPr>
        <p:txBody>
          <a:bodyPr/>
          <a:lstStyle/>
          <a:p>
            <a:endParaRPr lang="en-US"/>
          </a:p>
        </p:txBody>
      </p:sp>
      <p:sp>
        <p:nvSpPr>
          <p:cNvPr id="53" name="Text 53"/>
          <p:cNvSpPr txBox="1"/>
          <p:nvPr/>
        </p:nvSpPr>
        <p:spPr>
          <a:xfrm>
            <a:off x="731520" y="6085332"/>
            <a:ext cx="1335024" cy="192024"/>
          </a:xfrm>
          <a:prstGeom prst="rect">
            <a:avLst/>
          </a:prstGeom>
          <a:noFill/>
          <a:ln>
            <a:noFill/>
          </a:ln>
        </p:spPr>
        <p:txBody>
          <a:bodyPr wrap="square" anchor="t" lIns="0" rIns="0" tIns="0" bIns="0"/>
          <a:lstStyle/>
          <a:p>
            <a:pPr algn="ctr"/>
            <a:r>
              <a:rPr lang="en-US" sz="920" b="1" i="0" dirty="0">
                <a:solidFill>
                  <a:srgbClr val="7C3AED"/>
                </a:solidFill>
                <a:latin typeface="Arial"/>
              </a:rPr>
              <a:t>INTERPRETATION</a:t>
            </a:r>
            <a:endParaRPr lang="en-US" sz="920"/>
          </a:p>
        </p:txBody>
      </p:sp>
      <p:sp>
        <p:nvSpPr>
          <p:cNvPr id="54" name="Text 54"/>
          <p:cNvSpPr txBox="1"/>
          <p:nvPr/>
        </p:nvSpPr>
        <p:spPr>
          <a:xfrm>
            <a:off x="2322576" y="6035040"/>
            <a:ext cx="8961120" cy="274320"/>
          </a:xfrm>
          <a:prstGeom prst="rect">
            <a:avLst/>
          </a:prstGeom>
          <a:noFill/>
          <a:ln>
            <a:noFill/>
          </a:ln>
        </p:spPr>
        <p:txBody>
          <a:bodyPr wrap="square" anchor="t" lIns="0" rIns="0" tIns="0" bIns="0"/>
          <a:lstStyle/>
          <a:p>
            <a:pPr algn="l"/>
            <a:r>
              <a:rPr lang="en-US" sz="1230" b="1" i="0" dirty="0">
                <a:solidFill>
                  <a:srgbClr val="7C3AED"/>
                </a:solidFill>
                <a:latin typeface="Arial"/>
              </a:rPr>
              <a:t>The harness expanded what it can explain and transact—not what it is allowed to own.</a:t>
            </a:r>
            <a:endParaRPr lang="en-US" sz="1230"/>
          </a:p>
        </p:txBody>
      </p:sp>
      <p:cxnSp>
        <p:nvCxnSpPr>
          <p:cNvPr id="55" name="Line 55"/>
          <p:cNvCxnSpPr/>
          <p:nvPr/>
        </p:nvCxnSpPr>
        <p:spPr>
          <a:xfrm flipH="false" flipV="false">
            <a:off x="621792" y="6473952"/>
            <a:ext cx="10954512" cy="0"/>
          </a:xfrm>
          <a:prstGeom prst="line">
            <a:avLst/>
          </a:prstGeom>
          <a:ln w="10160">
            <a:solidFill>
              <a:srgbClr val="D7DFEA"/>
            </a:solidFill>
          </a:ln>
        </p:spPr>
      </p:cxnSp>
      <p:sp>
        <p:nvSpPr>
          <p:cNvPr id="56" name="Text 56"/>
          <p:cNvSpPr txBox="1"/>
          <p:nvPr/>
        </p:nvSpPr>
        <p:spPr>
          <a:xfrm>
            <a:off x="640080" y="6510528"/>
            <a:ext cx="10469880" cy="201168"/>
          </a:xfrm>
          <a:prstGeom prst="rect">
            <a:avLst/>
          </a:prstGeom>
          <a:noFill/>
          <a:ln>
            <a:noFill/>
          </a:ln>
        </p:spPr>
        <p:txBody>
          <a:bodyPr wrap="square" anchor="t" lIns="0" rIns="0" tIns="0" bIns="0"/>
          <a:lstStyle/>
          <a:p>
            <a:pPr algn="l"/>
            <a:r>
              <a:rPr lang="en-US" sz="720" b="0" i="0" dirty="0">
                <a:solidFill>
                  <a:srgbClr val="56647A"/>
                </a:solidFill>
                <a:latin typeface="Arial"/>
              </a:rPr>
              <a:t>7f969317 vs f254295 • README.md • bin/harness • docs/environment-portability.md</a:t>
            </a:r>
            <a:endParaRPr lang="en-US" sz="720"/>
          </a:p>
        </p:txBody>
      </p:sp>
      <p:sp>
        <p:nvSpPr>
          <p:cNvPr id="57" name="Text 57"/>
          <p:cNvSpPr txBox="1"/>
          <p:nvPr/>
        </p:nvSpPr>
        <p:spPr>
          <a:xfrm>
            <a:off x="11201400" y="6492240"/>
            <a:ext cx="329184" cy="201168"/>
          </a:xfrm>
          <a:prstGeom prst="rect">
            <a:avLst/>
          </a:prstGeom>
          <a:noFill/>
          <a:ln>
            <a:noFill/>
          </a:ln>
        </p:spPr>
        <p:txBody>
          <a:bodyPr wrap="square" anchor="t" lIns="0" rIns="0" tIns="0" bIns="0"/>
          <a:lstStyle/>
          <a:p>
            <a:pPr algn="r"/>
            <a:r>
              <a:rPr lang="en-US" sz="800" b="1" i="0" dirty="0">
                <a:solidFill>
                  <a:srgbClr val="56647A"/>
                </a:solidFill>
                <a:latin typeface="Arial"/>
              </a:rPr>
              <a:t>9</a:t>
            </a:r>
            <a:endParaRPr lang="en-US" sz="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F6F8FC"/>
          </a:solidFill>
          <a:ln w="12700">
            <a:solidFill>
              <a:srgbClr val="F6F8FC"/>
            </a:solidFill>
          </a:ln>
        </p:spPr>
        <p:txBody>
          <a:bodyPr/>
          <a:lstStyle/>
          <a:p>
            <a:endParaRPr lang="en-US"/>
          </a:p>
        </p:txBody>
      </p:sp>
      <p:sp>
        <p:nvSpPr>
          <p:cNvPr id="3" name="Text 3"/>
          <p:cNvSpPr txBox="1"/>
          <p:nvPr/>
        </p:nvSpPr>
        <p:spPr>
          <a:xfrm>
            <a:off x="621792" y="347472"/>
            <a:ext cx="10927080" cy="566928"/>
          </a:xfrm>
          <a:prstGeom prst="rect">
            <a:avLst/>
          </a:prstGeom>
          <a:noFill/>
          <a:ln>
            <a:noFill/>
          </a:ln>
        </p:spPr>
        <p:txBody>
          <a:bodyPr wrap="square" anchor="t" lIns="0" rIns="0" tIns="0" bIns="0"/>
          <a:lstStyle/>
          <a:p>
            <a:pPr algn="l"/>
            <a:r>
              <a:rPr lang="en-US" sz="2350" b="1" i="0" dirty="0">
                <a:solidFill>
                  <a:srgbClr val="14213D"/>
                </a:solidFill>
                <a:latin typeface="Arial"/>
              </a:rPr>
              <a:t>Measured outcomes improved confidence—not every number claims speed</a:t>
            </a:r>
            <a:endParaRPr lang="en-US" sz="2350"/>
          </a:p>
        </p:txBody>
      </p:sp>
      <p:sp>
        <p:nvSpPr>
          <p:cNvPr id="4" name="Text 4"/>
          <p:cNvSpPr txBox="1"/>
          <p:nvPr/>
        </p:nvSpPr>
        <p:spPr>
          <a:xfrm>
            <a:off x="640080" y="932688"/>
            <a:ext cx="10881360" cy="310896"/>
          </a:xfrm>
          <a:prstGeom prst="rect">
            <a:avLst/>
          </a:prstGeom>
          <a:noFill/>
          <a:ln>
            <a:noFill/>
          </a:ln>
        </p:spPr>
        <p:txBody>
          <a:bodyPr wrap="square" anchor="t" lIns="0" rIns="0" tIns="0" bIns="0"/>
          <a:lstStyle/>
          <a:p>
            <a:pPr algn="l"/>
            <a:r>
              <a:rPr lang="en-US" sz="1250" b="0" i="0" dirty="0">
                <a:solidFill>
                  <a:srgbClr val="56647A"/>
                </a:solidFill>
                <a:latin typeface="Arial"/>
              </a:rPr>
              <a:t>Four evidence types answer four different questions</a:t>
            </a:r>
            <a:endParaRPr lang="en-US" sz="1250"/>
          </a:p>
        </p:txBody>
      </p:sp>
      <p:sp>
        <p:nvSpPr>
          <p:cNvPr id="5" name="Rect 5"/>
          <p:cNvSpPr/>
          <p:nvPr/>
        </p:nvSpPr>
        <p:spPr>
          <a:xfrm>
            <a:off x="658368" y="1417320"/>
            <a:ext cx="2633472" cy="4416552"/>
          </a:xfrm>
          <a:prstGeom prst="roundRect">
            <a:avLst/>
          </a:prstGeom>
          <a:solidFill>
            <a:srgbClr val="FFFFFF"/>
          </a:solidFill>
          <a:ln w="12700">
            <a:solidFill>
              <a:srgbClr val="06B6D4"/>
            </a:solidFill>
          </a:ln>
        </p:spPr>
        <p:txBody>
          <a:bodyPr/>
          <a:lstStyle/>
          <a:p>
            <a:endParaRPr lang="en-US"/>
          </a:p>
        </p:txBody>
      </p:sp>
      <p:sp>
        <p:nvSpPr>
          <p:cNvPr id="6" name="Rect 6"/>
          <p:cNvSpPr/>
          <p:nvPr/>
        </p:nvSpPr>
        <p:spPr>
          <a:xfrm>
            <a:off x="886968" y="1645920"/>
            <a:ext cx="2176272" cy="310896"/>
          </a:xfrm>
          <a:prstGeom prst="roundRect">
            <a:avLst/>
          </a:prstGeom>
          <a:solidFill>
            <a:srgbClr val="D2F2F7"/>
          </a:solidFill>
          <a:ln w="10160">
            <a:solidFill>
              <a:srgbClr val="06B6D4"/>
            </a:solidFill>
          </a:ln>
        </p:spPr>
        <p:txBody>
          <a:bodyPr/>
          <a:lstStyle/>
          <a:p>
            <a:endParaRPr lang="en-US"/>
          </a:p>
        </p:txBody>
      </p:sp>
      <p:sp>
        <p:nvSpPr>
          <p:cNvPr id="7" name="Text 7"/>
          <p:cNvSpPr txBox="1"/>
          <p:nvPr/>
        </p:nvSpPr>
        <p:spPr>
          <a:xfrm>
            <a:off x="960120" y="1696212"/>
            <a:ext cx="2029968" cy="192024"/>
          </a:xfrm>
          <a:prstGeom prst="rect">
            <a:avLst/>
          </a:prstGeom>
          <a:noFill/>
          <a:ln>
            <a:noFill/>
          </a:ln>
        </p:spPr>
        <p:txBody>
          <a:bodyPr wrap="square" anchor="t" lIns="0" rIns="0" tIns="0" bIns="0"/>
          <a:lstStyle/>
          <a:p>
            <a:pPr algn="ctr"/>
            <a:r>
              <a:rPr lang="en-US" sz="920" b="1" i="0" dirty="0">
                <a:solidFill>
                  <a:srgbClr val="06B6D4"/>
                </a:solidFill>
                <a:latin typeface="Arial"/>
              </a:rPr>
              <a:t>FLEET</a:t>
            </a:r>
            <a:endParaRPr lang="en-US" sz="920"/>
          </a:p>
        </p:txBody>
      </p:sp>
      <p:sp>
        <p:nvSpPr>
          <p:cNvPr id="8" name="Text 8"/>
          <p:cNvSpPr txBox="1"/>
          <p:nvPr/>
        </p:nvSpPr>
        <p:spPr>
          <a:xfrm>
            <a:off x="859536" y="2304288"/>
            <a:ext cx="2231136" cy="658368"/>
          </a:xfrm>
          <a:prstGeom prst="rect">
            <a:avLst/>
          </a:prstGeom>
          <a:noFill/>
          <a:ln>
            <a:noFill/>
          </a:ln>
        </p:spPr>
        <p:txBody>
          <a:bodyPr wrap="square" anchor="t" lIns="0" rIns="0" tIns="0" bIns="0"/>
          <a:lstStyle/>
          <a:p>
            <a:pPr algn="ctr"/>
            <a:r>
              <a:rPr lang="en-US" sz="3100" b="1" i="0" dirty="0">
                <a:solidFill>
                  <a:srgbClr val="06B6D4"/>
                </a:solidFill>
                <a:latin typeface="Arial"/>
              </a:rPr>
              <a:t>7 / 7</a:t>
            </a:r>
            <a:endParaRPr lang="en-US" sz="3100"/>
          </a:p>
        </p:txBody>
      </p:sp>
      <p:sp>
        <p:nvSpPr>
          <p:cNvPr id="9" name="Text 9"/>
          <p:cNvSpPr txBox="1"/>
          <p:nvPr/>
        </p:nvSpPr>
        <p:spPr>
          <a:xfrm>
            <a:off x="914400" y="3090672"/>
            <a:ext cx="2121408" cy="658368"/>
          </a:xfrm>
          <a:prstGeom prst="rect">
            <a:avLst/>
          </a:prstGeom>
          <a:noFill/>
          <a:ln>
            <a:noFill/>
          </a:ln>
        </p:spPr>
        <p:txBody>
          <a:bodyPr wrap="square" anchor="t" lIns="0" rIns="0" tIns="0" bIns="0"/>
          <a:lstStyle/>
          <a:p>
            <a:pPr algn="ctr"/>
            <a:r>
              <a:rPr lang="en-US" sz="1240" b="1" i="0" dirty="0">
                <a:solidFill>
                  <a:srgbClr val="14213D"/>
                </a:solidFill>
                <a:latin typeface="Arial"/>
              </a:rPr>
              <a:t>CPU readiness</a:t>
            </a:r>
            <a:endParaRPr lang="en-US" sz="1240"/>
          </a:p>
          <a:p>
            <a:pPr algn="ctr"/>
            <a:r>
              <a:rPr lang="en-US" sz="1240" b="1" i="0" dirty="0">
                <a:solidFill>
                  <a:srgbClr val="14213D"/>
                </a:solidFill>
                <a:latin typeface="Arial"/>
              </a:rPr>
              <a:t>Accelerator runtime</a:t>
            </a:r>
            <a:endParaRPr lang="en-US" sz="1240"/>
          </a:p>
        </p:txBody>
      </p:sp>
      <p:sp>
        <p:nvSpPr>
          <p:cNvPr id="10" name="Rect 10"/>
          <p:cNvSpPr/>
          <p:nvPr/>
        </p:nvSpPr>
        <p:spPr>
          <a:xfrm>
            <a:off x="3401568" y="1417320"/>
            <a:ext cx="2633472" cy="4416552"/>
          </a:xfrm>
          <a:prstGeom prst="roundRect">
            <a:avLst/>
          </a:prstGeom>
          <a:solidFill>
            <a:srgbClr val="FFFFFF"/>
          </a:solidFill>
          <a:ln w="12700">
            <a:solidFill>
              <a:srgbClr val="F59E0B"/>
            </a:solidFill>
          </a:ln>
        </p:spPr>
        <p:txBody>
          <a:bodyPr/>
          <a:lstStyle/>
          <a:p>
            <a:endParaRPr lang="en-US"/>
          </a:p>
        </p:txBody>
      </p:sp>
      <p:sp>
        <p:nvSpPr>
          <p:cNvPr id="11" name="Rect 11"/>
          <p:cNvSpPr/>
          <p:nvPr/>
        </p:nvSpPr>
        <p:spPr>
          <a:xfrm>
            <a:off x="3630168" y="1645920"/>
            <a:ext cx="2176272" cy="310896"/>
          </a:xfrm>
          <a:prstGeom prst="roundRect">
            <a:avLst/>
          </a:prstGeom>
          <a:solidFill>
            <a:srgbClr val="FDEED3"/>
          </a:solidFill>
          <a:ln w="10160">
            <a:solidFill>
              <a:srgbClr val="F59E0B"/>
            </a:solidFill>
          </a:ln>
        </p:spPr>
        <p:txBody>
          <a:bodyPr/>
          <a:lstStyle/>
          <a:p>
            <a:endParaRPr lang="en-US"/>
          </a:p>
        </p:txBody>
      </p:sp>
      <p:sp>
        <p:nvSpPr>
          <p:cNvPr id="12" name="Text 12"/>
          <p:cNvSpPr txBox="1"/>
          <p:nvPr/>
        </p:nvSpPr>
        <p:spPr>
          <a:xfrm>
            <a:off x="3703320" y="1696212"/>
            <a:ext cx="2029968" cy="192024"/>
          </a:xfrm>
          <a:prstGeom prst="rect">
            <a:avLst/>
          </a:prstGeom>
          <a:noFill/>
          <a:ln>
            <a:noFill/>
          </a:ln>
        </p:spPr>
        <p:txBody>
          <a:bodyPr wrap="square" anchor="t" lIns="0" rIns="0" tIns="0" bIns="0"/>
          <a:lstStyle/>
          <a:p>
            <a:pPr algn="ctr"/>
            <a:r>
              <a:rPr lang="en-US" sz="920" b="1" i="0" dirty="0">
                <a:solidFill>
                  <a:srgbClr val="F59E0B"/>
                </a:solidFill>
                <a:latin typeface="Arial"/>
              </a:rPr>
              <a:t>RECOVERY</a:t>
            </a:r>
            <a:endParaRPr lang="en-US" sz="920"/>
          </a:p>
        </p:txBody>
      </p:sp>
      <p:sp>
        <p:nvSpPr>
          <p:cNvPr id="13" name="Text 13"/>
          <p:cNvSpPr txBox="1"/>
          <p:nvPr/>
        </p:nvSpPr>
        <p:spPr>
          <a:xfrm>
            <a:off x="3602736" y="2304288"/>
            <a:ext cx="2231136" cy="658368"/>
          </a:xfrm>
          <a:prstGeom prst="rect">
            <a:avLst/>
          </a:prstGeom>
          <a:noFill/>
          <a:ln>
            <a:noFill/>
          </a:ln>
        </p:spPr>
        <p:txBody>
          <a:bodyPr wrap="square" anchor="t" lIns="0" rIns="0" tIns="0" bIns="0"/>
          <a:lstStyle/>
          <a:p>
            <a:pPr algn="ctr"/>
            <a:r>
              <a:rPr lang="en-US" sz="3100" b="1" i="0" dirty="0">
                <a:solidFill>
                  <a:srgbClr val="F59E0B"/>
                </a:solidFill>
                <a:latin typeface="Arial"/>
              </a:rPr>
              <a:t>7 + 7</a:t>
            </a:r>
            <a:endParaRPr lang="en-US" sz="3100"/>
          </a:p>
        </p:txBody>
      </p:sp>
      <p:sp>
        <p:nvSpPr>
          <p:cNvPr id="14" name="Text 14"/>
          <p:cNvSpPr txBox="1"/>
          <p:nvPr/>
        </p:nvSpPr>
        <p:spPr>
          <a:xfrm>
            <a:off x="3657600" y="3090672"/>
            <a:ext cx="2121408" cy="658368"/>
          </a:xfrm>
          <a:prstGeom prst="rect">
            <a:avLst/>
          </a:prstGeom>
          <a:noFill/>
          <a:ln>
            <a:noFill/>
          </a:ln>
        </p:spPr>
        <p:txBody>
          <a:bodyPr wrap="square" anchor="t" lIns="0" rIns="0" tIns="0" bIns="0"/>
          <a:lstStyle/>
          <a:p>
            <a:pPr algn="ctr"/>
            <a:r>
              <a:rPr lang="en-US" sz="1240" b="1" i="0" dirty="0">
                <a:solidFill>
                  <a:srgbClr val="14213D"/>
                </a:solidFill>
                <a:latin typeface="Arial"/>
              </a:rPr>
              <a:t>Primaries + independent</a:t>
            </a:r>
            <a:endParaRPr lang="en-US" sz="1240"/>
          </a:p>
          <a:p>
            <a:pPr algn="ctr"/>
            <a:r>
              <a:rPr lang="en-US" sz="1240" b="1" i="0" dirty="0">
                <a:solidFill>
                  <a:srgbClr val="14213D"/>
                </a:solidFill>
                <a:latin typeface="Arial"/>
              </a:rPr>
              <a:t>generations</a:t>
            </a:r>
            <a:endParaRPr lang="en-US" sz="1240"/>
          </a:p>
          <a:p>
            <a:pPr algn="ctr"/>
            <a:r>
              <a:rPr lang="en-US" sz="1240" b="1" i="0" dirty="0">
                <a:solidFill>
                  <a:srgbClr val="14213D"/>
                </a:solidFill>
                <a:latin typeface="Arial"/>
              </a:rPr>
              <a:t>checked/restored</a:t>
            </a:r>
            <a:endParaRPr lang="en-US" sz="1240"/>
          </a:p>
        </p:txBody>
      </p:sp>
      <p:sp>
        <p:nvSpPr>
          <p:cNvPr id="15" name="Rect 15"/>
          <p:cNvSpPr/>
          <p:nvPr/>
        </p:nvSpPr>
        <p:spPr>
          <a:xfrm>
            <a:off x="6144768" y="1417320"/>
            <a:ext cx="2633472" cy="4416552"/>
          </a:xfrm>
          <a:prstGeom prst="roundRect">
            <a:avLst/>
          </a:prstGeom>
          <a:solidFill>
            <a:srgbClr val="FFFFFF"/>
          </a:solidFill>
          <a:ln w="12700">
            <a:solidFill>
              <a:srgbClr val="7C3AED"/>
            </a:solidFill>
          </a:ln>
        </p:spPr>
        <p:txBody>
          <a:bodyPr/>
          <a:lstStyle/>
          <a:p>
            <a:endParaRPr lang="en-US"/>
          </a:p>
        </p:txBody>
      </p:sp>
      <p:sp>
        <p:nvSpPr>
          <p:cNvPr id="16" name="Rect 16"/>
          <p:cNvSpPr/>
          <p:nvPr/>
        </p:nvSpPr>
        <p:spPr>
          <a:xfrm>
            <a:off x="6373368" y="1645920"/>
            <a:ext cx="2176272" cy="310896"/>
          </a:xfrm>
          <a:prstGeom prst="roundRect">
            <a:avLst/>
          </a:prstGeom>
          <a:solidFill>
            <a:srgbClr val="E7DCFC"/>
          </a:solidFill>
          <a:ln w="10160">
            <a:solidFill>
              <a:srgbClr val="7C3AED"/>
            </a:solidFill>
          </a:ln>
        </p:spPr>
        <p:txBody>
          <a:bodyPr/>
          <a:lstStyle/>
          <a:p>
            <a:endParaRPr lang="en-US"/>
          </a:p>
        </p:txBody>
      </p:sp>
      <p:sp>
        <p:nvSpPr>
          <p:cNvPr id="17" name="Text 17"/>
          <p:cNvSpPr txBox="1"/>
          <p:nvPr/>
        </p:nvSpPr>
        <p:spPr>
          <a:xfrm>
            <a:off x="6446520" y="1696212"/>
            <a:ext cx="2029968" cy="192024"/>
          </a:xfrm>
          <a:prstGeom prst="rect">
            <a:avLst/>
          </a:prstGeom>
          <a:noFill/>
          <a:ln>
            <a:noFill/>
          </a:ln>
        </p:spPr>
        <p:txBody>
          <a:bodyPr wrap="square" anchor="t" lIns="0" rIns="0" tIns="0" bIns="0"/>
          <a:lstStyle/>
          <a:p>
            <a:pPr algn="ctr"/>
            <a:r>
              <a:rPr lang="en-US" sz="920" b="1" i="0" dirty="0">
                <a:solidFill>
                  <a:srgbClr val="7C3AED"/>
                </a:solidFill>
                <a:latin typeface="Arial"/>
              </a:rPr>
              <a:t>AGENT EVAL</a:t>
            </a:r>
            <a:endParaRPr lang="en-US" sz="920"/>
          </a:p>
        </p:txBody>
      </p:sp>
      <p:sp>
        <p:nvSpPr>
          <p:cNvPr id="18" name="Text 18"/>
          <p:cNvSpPr txBox="1"/>
          <p:nvPr/>
        </p:nvSpPr>
        <p:spPr>
          <a:xfrm>
            <a:off x="6345936" y="2304288"/>
            <a:ext cx="2231136" cy="658368"/>
          </a:xfrm>
          <a:prstGeom prst="rect">
            <a:avLst/>
          </a:prstGeom>
          <a:noFill/>
          <a:ln>
            <a:noFill/>
          </a:ln>
        </p:spPr>
        <p:txBody>
          <a:bodyPr wrap="square" anchor="t" lIns="0" rIns="0" tIns="0" bIns="0"/>
          <a:lstStyle/>
          <a:p>
            <a:pPr algn="ctr"/>
            <a:r>
              <a:rPr lang="en-US" sz="3100" b="1" i="0" dirty="0">
                <a:solidFill>
                  <a:srgbClr val="7C3AED"/>
                </a:solidFill>
                <a:latin typeface="Arial"/>
              </a:rPr>
              <a:t>69 / 70</a:t>
            </a:r>
            <a:endParaRPr lang="en-US" sz="3100"/>
          </a:p>
        </p:txBody>
      </p:sp>
      <p:sp>
        <p:nvSpPr>
          <p:cNvPr id="19" name="Text 19"/>
          <p:cNvSpPr txBox="1"/>
          <p:nvPr/>
        </p:nvSpPr>
        <p:spPr>
          <a:xfrm>
            <a:off x="6400800" y="3090672"/>
            <a:ext cx="2121408" cy="658368"/>
          </a:xfrm>
          <a:prstGeom prst="rect">
            <a:avLst/>
          </a:prstGeom>
          <a:noFill/>
          <a:ln>
            <a:noFill/>
          </a:ln>
        </p:spPr>
        <p:txBody>
          <a:bodyPr wrap="square" anchor="t" lIns="0" rIns="0" tIns="0" bIns="0"/>
          <a:lstStyle/>
          <a:p>
            <a:pPr algn="ctr"/>
            <a:r>
              <a:rPr lang="en-US" sz="1240" b="1" i="0" dirty="0">
                <a:solidFill>
                  <a:srgbClr val="14213D"/>
                </a:solidFill>
                <a:latin typeface="Arial"/>
              </a:rPr>
              <a:t>deterministic passes</a:t>
            </a:r>
            <a:endParaRPr lang="en-US" sz="1240"/>
          </a:p>
          <a:p>
            <a:pPr algn="ctr"/>
            <a:r>
              <a:rPr lang="en-US" sz="1240" b="1" i="0" dirty="0">
                <a:solidFill>
                  <a:srgbClr val="14213D"/>
                </a:solidFill>
                <a:latin typeface="Arial"/>
              </a:rPr>
              <a:t>0 safety failures</a:t>
            </a:r>
            <a:endParaRPr lang="en-US" sz="1240"/>
          </a:p>
        </p:txBody>
      </p:sp>
      <p:sp>
        <p:nvSpPr>
          <p:cNvPr id="20" name="Rect 20"/>
          <p:cNvSpPr/>
          <p:nvPr/>
        </p:nvSpPr>
        <p:spPr>
          <a:xfrm>
            <a:off x="8887968" y="1417320"/>
            <a:ext cx="2633472" cy="4416552"/>
          </a:xfrm>
          <a:prstGeom prst="roundRect">
            <a:avLst/>
          </a:prstGeom>
          <a:solidFill>
            <a:srgbClr val="FFFFFF"/>
          </a:solidFill>
          <a:ln w="12700">
            <a:solidFill>
              <a:srgbClr val="16A34A"/>
            </a:solidFill>
          </a:ln>
        </p:spPr>
        <p:txBody>
          <a:bodyPr/>
          <a:lstStyle/>
          <a:p>
            <a:endParaRPr lang="en-US"/>
          </a:p>
        </p:txBody>
      </p:sp>
      <p:sp>
        <p:nvSpPr>
          <p:cNvPr id="21" name="Rect 21"/>
          <p:cNvSpPr/>
          <p:nvPr/>
        </p:nvSpPr>
        <p:spPr>
          <a:xfrm>
            <a:off x="9116568" y="1645920"/>
            <a:ext cx="2176272" cy="310896"/>
          </a:xfrm>
          <a:prstGeom prst="roundRect">
            <a:avLst/>
          </a:prstGeom>
          <a:solidFill>
            <a:srgbClr val="D5EEDE"/>
          </a:solidFill>
          <a:ln w="10160">
            <a:solidFill>
              <a:srgbClr val="16A34A"/>
            </a:solidFill>
          </a:ln>
        </p:spPr>
        <p:txBody>
          <a:bodyPr/>
          <a:lstStyle/>
          <a:p>
            <a:endParaRPr lang="en-US"/>
          </a:p>
        </p:txBody>
      </p:sp>
      <p:sp>
        <p:nvSpPr>
          <p:cNvPr id="22" name="Text 22"/>
          <p:cNvSpPr txBox="1"/>
          <p:nvPr/>
        </p:nvSpPr>
        <p:spPr>
          <a:xfrm>
            <a:off x="9189720" y="1696212"/>
            <a:ext cx="2029968" cy="192024"/>
          </a:xfrm>
          <a:prstGeom prst="rect">
            <a:avLst/>
          </a:prstGeom>
          <a:noFill/>
          <a:ln>
            <a:noFill/>
          </a:ln>
        </p:spPr>
        <p:txBody>
          <a:bodyPr wrap="square" anchor="t" lIns="0" rIns="0" tIns="0" bIns="0"/>
          <a:lstStyle/>
          <a:p>
            <a:pPr algn="ctr"/>
            <a:r>
              <a:rPr lang="en-US" sz="920" b="1" i="0" dirty="0">
                <a:solidFill>
                  <a:srgbClr val="16A34A"/>
                </a:solidFill>
                <a:latin typeface="Arial"/>
              </a:rPr>
              <a:t>VALIDATION SPEED</a:t>
            </a:r>
            <a:endParaRPr lang="en-US" sz="920"/>
          </a:p>
        </p:txBody>
      </p:sp>
      <p:sp>
        <p:nvSpPr>
          <p:cNvPr id="23" name="Text 23"/>
          <p:cNvSpPr txBox="1"/>
          <p:nvPr/>
        </p:nvSpPr>
        <p:spPr>
          <a:xfrm>
            <a:off x="9089136" y="2304288"/>
            <a:ext cx="2231136" cy="658368"/>
          </a:xfrm>
          <a:prstGeom prst="rect">
            <a:avLst/>
          </a:prstGeom>
          <a:noFill/>
          <a:ln>
            <a:noFill/>
          </a:ln>
        </p:spPr>
        <p:txBody>
          <a:bodyPr wrap="square" anchor="t" lIns="0" rIns="0" tIns="0" bIns="0"/>
          <a:lstStyle/>
          <a:p>
            <a:pPr algn="ctr"/>
            <a:r>
              <a:rPr lang="en-US" sz="3100" b="1" i="0" dirty="0">
                <a:solidFill>
                  <a:srgbClr val="16A34A"/>
                </a:solidFill>
                <a:latin typeface="Arial"/>
              </a:rPr>
              <a:t>14.62%</a:t>
            </a:r>
            <a:endParaRPr lang="en-US" sz="3100"/>
          </a:p>
        </p:txBody>
      </p:sp>
      <p:sp>
        <p:nvSpPr>
          <p:cNvPr id="24" name="Text 24"/>
          <p:cNvSpPr txBox="1"/>
          <p:nvPr/>
        </p:nvSpPr>
        <p:spPr>
          <a:xfrm>
            <a:off x="9144000" y="3090672"/>
            <a:ext cx="2121408" cy="658368"/>
          </a:xfrm>
          <a:prstGeom prst="rect">
            <a:avLst/>
          </a:prstGeom>
          <a:noFill/>
          <a:ln>
            <a:noFill/>
          </a:ln>
        </p:spPr>
        <p:txBody>
          <a:bodyPr wrap="square" anchor="t" lIns="0" rIns="0" tIns="0" bIns="0"/>
          <a:lstStyle/>
          <a:p>
            <a:pPr algn="ctr"/>
            <a:r>
              <a:rPr lang="en-US" sz="1240" b="1" i="0" dirty="0">
                <a:solidFill>
                  <a:srgbClr val="14213D"/>
                </a:solidFill>
                <a:latin typeface="Arial"/>
              </a:rPr>
              <a:t>matched median reduction</a:t>
            </a:r>
            <a:endParaRPr lang="en-US" sz="1240"/>
          </a:p>
          <a:p>
            <a:pPr algn="ctr"/>
            <a:r>
              <a:rPr lang="en-US" sz="1240" b="1" i="0" dirty="0">
                <a:solidFill>
                  <a:srgbClr val="14213D"/>
                </a:solidFill>
                <a:latin typeface="Arial"/>
              </a:rPr>
              <a:t>one host</a:t>
            </a:r>
            <a:endParaRPr lang="en-US" sz="1240"/>
          </a:p>
        </p:txBody>
      </p:sp>
      <p:sp>
        <p:nvSpPr>
          <p:cNvPr id="25" name="Ellipse 25"/>
          <p:cNvSpPr/>
          <p:nvPr/>
        </p:nvSpPr>
        <p:spPr>
          <a:xfrm>
            <a:off x="1399032" y="3877056"/>
            <a:ext cx="1143000" cy="1143000"/>
          </a:xfrm>
          <a:prstGeom prst="ellipse">
            <a:avLst/>
          </a:prstGeom>
          <a:solidFill>
            <a:srgbClr val="FFFFFF"/>
          </a:solidFill>
          <a:ln w="101600">
            <a:solidFill>
              <a:srgbClr val="06B6D4"/>
            </a:solidFill>
          </a:ln>
        </p:spPr>
        <p:txBody>
          <a:bodyPr/>
          <a:lstStyle/>
          <a:p>
            <a:endParaRPr lang="en-US"/>
          </a:p>
        </p:txBody>
      </p:sp>
      <p:sp>
        <p:nvSpPr>
          <p:cNvPr id="26" name="Text 26"/>
          <p:cNvSpPr txBox="1"/>
          <p:nvPr/>
        </p:nvSpPr>
        <p:spPr>
          <a:xfrm>
            <a:off x="1554480" y="4270248"/>
            <a:ext cx="832104" cy="237744"/>
          </a:xfrm>
          <a:prstGeom prst="rect">
            <a:avLst/>
          </a:prstGeom>
          <a:noFill/>
          <a:ln>
            <a:noFill/>
          </a:ln>
        </p:spPr>
        <p:txBody>
          <a:bodyPr wrap="square" anchor="t" lIns="0" rIns="0" tIns="0" bIns="0"/>
          <a:lstStyle/>
          <a:p>
            <a:pPr algn="ctr"/>
            <a:r>
              <a:rPr lang="en-US" sz="1150" b="1" i="0" dirty="0">
                <a:solidFill>
                  <a:srgbClr val="06B6D4"/>
                </a:solidFill>
                <a:latin typeface="Arial"/>
              </a:rPr>
              <a:t>PASS</a:t>
            </a:r>
            <a:endParaRPr lang="en-US" sz="1150"/>
          </a:p>
        </p:txBody>
      </p:sp>
      <p:sp>
        <p:nvSpPr>
          <p:cNvPr id="27" name="Ellipse 27"/>
          <p:cNvSpPr/>
          <p:nvPr/>
        </p:nvSpPr>
        <p:spPr>
          <a:xfrm>
            <a:off x="4142232" y="3877056"/>
            <a:ext cx="1143000" cy="1143000"/>
          </a:xfrm>
          <a:prstGeom prst="ellipse">
            <a:avLst/>
          </a:prstGeom>
          <a:solidFill>
            <a:srgbClr val="FFFFFF"/>
          </a:solidFill>
          <a:ln w="101600">
            <a:solidFill>
              <a:srgbClr val="F59E0B"/>
            </a:solidFill>
          </a:ln>
        </p:spPr>
        <p:txBody>
          <a:bodyPr/>
          <a:lstStyle/>
          <a:p>
            <a:endParaRPr lang="en-US"/>
          </a:p>
        </p:txBody>
      </p:sp>
      <p:sp>
        <p:nvSpPr>
          <p:cNvPr id="28" name="Text 28"/>
          <p:cNvSpPr txBox="1"/>
          <p:nvPr/>
        </p:nvSpPr>
        <p:spPr>
          <a:xfrm>
            <a:off x="4288536" y="4151376"/>
            <a:ext cx="850392" cy="420624"/>
          </a:xfrm>
          <a:prstGeom prst="rect">
            <a:avLst/>
          </a:prstGeom>
          <a:noFill/>
          <a:ln>
            <a:noFill/>
          </a:ln>
        </p:spPr>
        <p:txBody>
          <a:bodyPr wrap="square" anchor="t" lIns="0" rIns="0" tIns="0" bIns="0"/>
          <a:lstStyle/>
          <a:p>
            <a:pPr algn="ctr"/>
            <a:r>
              <a:rPr lang="en-US" sz="920" b="1" i="0" dirty="0">
                <a:solidFill>
                  <a:srgbClr val="F59E0B"/>
                </a:solidFill>
                <a:latin typeface="Arial"/>
              </a:rPr>
              <a:t>CHECK</a:t>
            </a:r>
            <a:endParaRPr lang="en-US" sz="920"/>
          </a:p>
          <a:p>
            <a:pPr algn="ctr"/>
            <a:r>
              <a:rPr lang="en-US" sz="920" b="1" i="0" dirty="0">
                <a:solidFill>
                  <a:srgbClr val="F59E0B"/>
                </a:solidFill>
                <a:latin typeface="Arial"/>
              </a:rPr>
              <a:t>RESTORE</a:t>
            </a:r>
            <a:endParaRPr lang="en-US" sz="920"/>
          </a:p>
        </p:txBody>
      </p:sp>
      <p:sp>
        <p:nvSpPr>
          <p:cNvPr id="29" name="Ellipse 29"/>
          <p:cNvSpPr/>
          <p:nvPr/>
        </p:nvSpPr>
        <p:spPr>
          <a:xfrm>
            <a:off x="6885432" y="3877056"/>
            <a:ext cx="1143000" cy="1143000"/>
          </a:xfrm>
          <a:prstGeom prst="ellipse">
            <a:avLst/>
          </a:prstGeom>
          <a:solidFill>
            <a:srgbClr val="FFFFFF"/>
          </a:solidFill>
          <a:ln w="101600">
            <a:solidFill>
              <a:srgbClr val="7C3AED"/>
            </a:solidFill>
          </a:ln>
        </p:spPr>
        <p:txBody>
          <a:bodyPr/>
          <a:lstStyle/>
          <a:p>
            <a:endParaRPr lang="en-US"/>
          </a:p>
        </p:txBody>
      </p:sp>
      <p:sp>
        <p:nvSpPr>
          <p:cNvPr id="30" name="Text 30"/>
          <p:cNvSpPr txBox="1"/>
          <p:nvPr/>
        </p:nvSpPr>
        <p:spPr>
          <a:xfrm>
            <a:off x="7040880" y="4151376"/>
            <a:ext cx="832104" cy="420624"/>
          </a:xfrm>
          <a:prstGeom prst="rect">
            <a:avLst/>
          </a:prstGeom>
          <a:noFill/>
          <a:ln>
            <a:noFill/>
          </a:ln>
        </p:spPr>
        <p:txBody>
          <a:bodyPr wrap="square" anchor="t" lIns="0" rIns="0" tIns="0" bIns="0"/>
          <a:lstStyle/>
          <a:p>
            <a:pPr algn="ctr"/>
            <a:r>
              <a:rPr lang="en-US" sz="920" b="1" i="0" dirty="0">
                <a:solidFill>
                  <a:srgbClr val="7C3AED"/>
                </a:solidFill>
                <a:latin typeface="Arial"/>
              </a:rPr>
              <a:t>FROZEN</a:t>
            </a:r>
            <a:endParaRPr lang="en-US" sz="920"/>
          </a:p>
          <a:p>
            <a:pPr algn="ctr"/>
            <a:r>
              <a:rPr lang="en-US" sz="920" b="1" i="0" dirty="0">
                <a:solidFill>
                  <a:srgbClr val="7C3AED"/>
                </a:solidFill>
                <a:latin typeface="Arial"/>
              </a:rPr>
              <a:t>CORPUS</a:t>
            </a:r>
            <a:endParaRPr lang="en-US" sz="920"/>
          </a:p>
        </p:txBody>
      </p:sp>
      <p:sp>
        <p:nvSpPr>
          <p:cNvPr id="31" name="Text 31"/>
          <p:cNvSpPr txBox="1"/>
          <p:nvPr/>
        </p:nvSpPr>
        <p:spPr>
          <a:xfrm>
            <a:off x="9217152" y="3657600"/>
            <a:ext cx="621792" cy="164592"/>
          </a:xfrm>
          <a:prstGeom prst="rect">
            <a:avLst/>
          </a:prstGeom>
          <a:noFill/>
          <a:ln>
            <a:noFill/>
          </a:ln>
        </p:spPr>
        <p:txBody>
          <a:bodyPr wrap="square" anchor="t" lIns="0" rIns="0" tIns="0" bIns="0"/>
          <a:lstStyle/>
          <a:p>
            <a:pPr algn="l"/>
            <a:r>
              <a:rPr lang="en-US" sz="850" b="0" i="0" dirty="0">
                <a:solidFill>
                  <a:srgbClr val="56647A"/>
                </a:solidFill>
                <a:latin typeface="Arial"/>
              </a:rPr>
              <a:t>jobs=4</a:t>
            </a:r>
            <a:endParaRPr lang="en-US" sz="850"/>
          </a:p>
        </p:txBody>
      </p:sp>
      <p:sp>
        <p:nvSpPr>
          <p:cNvPr id="32" name="Rect 32"/>
          <p:cNvSpPr/>
          <p:nvPr/>
        </p:nvSpPr>
        <p:spPr>
          <a:xfrm>
            <a:off x="9217152" y="3904488"/>
            <a:ext cx="1737360" cy="310896"/>
          </a:xfrm>
          <a:prstGeom prst="roundRect">
            <a:avLst/>
          </a:prstGeom>
          <a:solidFill>
            <a:srgbClr val="A3AAB2"/>
          </a:solidFill>
          <a:ln w="12700">
            <a:solidFill>
              <a:srgbClr val="334155"/>
            </a:solidFill>
          </a:ln>
        </p:spPr>
        <p:txBody>
          <a:bodyPr/>
          <a:lstStyle/>
          <a:p>
            <a:endParaRPr lang="en-US"/>
          </a:p>
        </p:txBody>
      </p:sp>
      <p:sp>
        <p:nvSpPr>
          <p:cNvPr id="33" name="Text 33"/>
          <p:cNvSpPr txBox="1"/>
          <p:nvPr/>
        </p:nvSpPr>
        <p:spPr>
          <a:xfrm>
            <a:off x="9948672" y="3968496"/>
            <a:ext cx="859536" cy="128016"/>
          </a:xfrm>
          <a:prstGeom prst="rect">
            <a:avLst/>
          </a:prstGeom>
          <a:noFill/>
          <a:ln>
            <a:noFill/>
          </a:ln>
        </p:spPr>
        <p:txBody>
          <a:bodyPr wrap="square" anchor="t" lIns="0" rIns="0" tIns="0" bIns="0"/>
          <a:lstStyle/>
          <a:p>
            <a:pPr algn="r"/>
            <a:r>
              <a:rPr lang="en-US" sz="800" b="1" i="0" dirty="0">
                <a:solidFill>
                  <a:srgbClr val="334155"/>
                </a:solidFill>
                <a:latin typeface="Arial"/>
              </a:rPr>
              <a:t>29.69 s</a:t>
            </a:r>
            <a:endParaRPr lang="en-US" sz="800"/>
          </a:p>
        </p:txBody>
      </p:sp>
      <p:sp>
        <p:nvSpPr>
          <p:cNvPr id="34" name="Text 34"/>
          <p:cNvSpPr txBox="1"/>
          <p:nvPr/>
        </p:nvSpPr>
        <p:spPr>
          <a:xfrm>
            <a:off x="9217152" y="4407408"/>
            <a:ext cx="621792" cy="164592"/>
          </a:xfrm>
          <a:prstGeom prst="rect">
            <a:avLst/>
          </a:prstGeom>
          <a:noFill/>
          <a:ln>
            <a:noFill/>
          </a:ln>
        </p:spPr>
        <p:txBody>
          <a:bodyPr wrap="square" anchor="t" lIns="0" rIns="0" tIns="0" bIns="0"/>
          <a:lstStyle/>
          <a:p>
            <a:pPr algn="l"/>
            <a:r>
              <a:rPr lang="en-US" sz="850" b="0" i="0" dirty="0">
                <a:solidFill>
                  <a:srgbClr val="56647A"/>
                </a:solidFill>
                <a:latin typeface="Arial"/>
              </a:rPr>
              <a:t>jobs=8</a:t>
            </a:r>
            <a:endParaRPr lang="en-US" sz="850"/>
          </a:p>
        </p:txBody>
      </p:sp>
      <p:sp>
        <p:nvSpPr>
          <p:cNvPr id="35" name="Rect 35"/>
          <p:cNvSpPr/>
          <p:nvPr/>
        </p:nvSpPr>
        <p:spPr>
          <a:xfrm>
            <a:off x="9217152" y="4654296"/>
            <a:ext cx="1481328" cy="310896"/>
          </a:xfrm>
          <a:prstGeom prst="roundRect">
            <a:avLst/>
          </a:prstGeom>
          <a:solidFill>
            <a:srgbClr val="16A34A"/>
          </a:solidFill>
          <a:ln w="12700">
            <a:solidFill>
              <a:srgbClr val="16A34A"/>
            </a:solidFill>
          </a:ln>
        </p:spPr>
        <p:txBody>
          <a:bodyPr/>
          <a:lstStyle/>
          <a:p>
            <a:endParaRPr lang="en-US"/>
          </a:p>
        </p:txBody>
      </p:sp>
      <p:sp>
        <p:nvSpPr>
          <p:cNvPr id="36" name="Text 36"/>
          <p:cNvSpPr txBox="1"/>
          <p:nvPr/>
        </p:nvSpPr>
        <p:spPr>
          <a:xfrm>
            <a:off x="9802368" y="4718304"/>
            <a:ext cx="749808" cy="128016"/>
          </a:xfrm>
          <a:prstGeom prst="rect">
            <a:avLst/>
          </a:prstGeom>
          <a:noFill/>
          <a:ln>
            <a:noFill/>
          </a:ln>
        </p:spPr>
        <p:txBody>
          <a:bodyPr wrap="square" anchor="t" lIns="0" rIns="0" tIns="0" bIns="0"/>
          <a:lstStyle/>
          <a:p>
            <a:pPr algn="r"/>
            <a:r>
              <a:rPr lang="en-US" sz="800" b="1" i="0" dirty="0">
                <a:solidFill>
                  <a:srgbClr val="FFFFFF"/>
                </a:solidFill>
                <a:latin typeface="Arial"/>
              </a:rPr>
              <a:t>25.35 s</a:t>
            </a:r>
            <a:endParaRPr lang="en-US" sz="800"/>
          </a:p>
        </p:txBody>
      </p:sp>
      <p:sp>
        <p:nvSpPr>
          <p:cNvPr id="37" name="Rect 37"/>
          <p:cNvSpPr/>
          <p:nvPr/>
        </p:nvSpPr>
        <p:spPr>
          <a:xfrm>
            <a:off x="795528" y="5321808"/>
            <a:ext cx="2359152" cy="310896"/>
          </a:xfrm>
          <a:prstGeom prst="roundRect">
            <a:avLst/>
          </a:prstGeom>
          <a:solidFill>
            <a:srgbClr val="FEF5E7"/>
          </a:solidFill>
          <a:ln w="12700">
            <a:solidFill>
              <a:srgbClr val="F59E0B"/>
            </a:solidFill>
          </a:ln>
        </p:spPr>
        <p:txBody>
          <a:bodyPr/>
          <a:lstStyle/>
          <a:p>
            <a:endParaRPr lang="en-US"/>
          </a:p>
        </p:txBody>
      </p:sp>
      <p:sp>
        <p:nvSpPr>
          <p:cNvPr id="38" name="Text 38"/>
          <p:cNvSpPr txBox="1"/>
          <p:nvPr/>
        </p:nvSpPr>
        <p:spPr>
          <a:xfrm>
            <a:off x="886968" y="5404104"/>
            <a:ext cx="2176272" cy="137160"/>
          </a:xfrm>
          <a:prstGeom prst="rect">
            <a:avLst/>
          </a:prstGeom>
          <a:noFill/>
          <a:ln>
            <a:noFill/>
          </a:ln>
        </p:spPr>
        <p:txBody>
          <a:bodyPr wrap="square" anchor="t" lIns="0" rIns="0" tIns="0" bIns="0"/>
          <a:lstStyle/>
          <a:p>
            <a:pPr algn="ctr"/>
            <a:r>
              <a:rPr lang="en-US" sz="770" b="1" i="0" dirty="0">
                <a:solidFill>
                  <a:srgbClr val="F59E0B"/>
                </a:solidFill>
                <a:latin typeface="Arial"/>
              </a:rPr>
              <a:t>READINESS ≠ PERFORMANCE</a:t>
            </a:r>
            <a:endParaRPr lang="en-US" sz="770"/>
          </a:p>
        </p:txBody>
      </p:sp>
      <p:sp>
        <p:nvSpPr>
          <p:cNvPr id="39" name="Rect 39"/>
          <p:cNvSpPr/>
          <p:nvPr/>
        </p:nvSpPr>
        <p:spPr>
          <a:xfrm>
            <a:off x="3538728" y="5321808"/>
            <a:ext cx="2359152" cy="310896"/>
          </a:xfrm>
          <a:prstGeom prst="roundRect">
            <a:avLst/>
          </a:prstGeom>
          <a:solidFill>
            <a:srgbClr val="FEF5E7"/>
          </a:solidFill>
          <a:ln w="12700">
            <a:solidFill>
              <a:srgbClr val="F59E0B"/>
            </a:solidFill>
          </a:ln>
        </p:spPr>
        <p:txBody>
          <a:bodyPr/>
          <a:lstStyle/>
          <a:p>
            <a:endParaRPr lang="en-US"/>
          </a:p>
        </p:txBody>
      </p:sp>
      <p:sp>
        <p:nvSpPr>
          <p:cNvPr id="40" name="Text 40"/>
          <p:cNvSpPr txBox="1"/>
          <p:nvPr/>
        </p:nvSpPr>
        <p:spPr>
          <a:xfrm>
            <a:off x="3630168" y="5404104"/>
            <a:ext cx="2176272" cy="137160"/>
          </a:xfrm>
          <a:prstGeom prst="rect">
            <a:avLst/>
          </a:prstGeom>
          <a:noFill/>
          <a:ln>
            <a:noFill/>
          </a:ln>
        </p:spPr>
        <p:txBody>
          <a:bodyPr wrap="square" anchor="t" lIns="0" rIns="0" tIns="0" bIns="0"/>
          <a:lstStyle/>
          <a:p>
            <a:pPr algn="ctr"/>
            <a:r>
              <a:rPr lang="en-US" sz="770" b="1" i="0" dirty="0">
                <a:solidFill>
                  <a:srgbClr val="F59E0B"/>
                </a:solidFill>
                <a:latin typeface="Arial"/>
              </a:rPr>
              <a:t>RESTORE ≠ RETENTION AUTOMATION</a:t>
            </a:r>
            <a:endParaRPr lang="en-US" sz="770"/>
          </a:p>
        </p:txBody>
      </p:sp>
      <p:sp>
        <p:nvSpPr>
          <p:cNvPr id="41" name="Rect 41"/>
          <p:cNvSpPr/>
          <p:nvPr/>
        </p:nvSpPr>
        <p:spPr>
          <a:xfrm>
            <a:off x="6281928" y="5321808"/>
            <a:ext cx="2359152" cy="310896"/>
          </a:xfrm>
          <a:prstGeom prst="roundRect">
            <a:avLst/>
          </a:prstGeom>
          <a:solidFill>
            <a:srgbClr val="FEF5E7"/>
          </a:solidFill>
          <a:ln w="12700">
            <a:solidFill>
              <a:srgbClr val="F59E0B"/>
            </a:solidFill>
          </a:ln>
        </p:spPr>
        <p:txBody>
          <a:bodyPr/>
          <a:lstStyle/>
          <a:p>
            <a:endParaRPr lang="en-US"/>
          </a:p>
        </p:txBody>
      </p:sp>
      <p:sp>
        <p:nvSpPr>
          <p:cNvPr id="42" name="Text 42"/>
          <p:cNvSpPr txBox="1"/>
          <p:nvPr/>
        </p:nvSpPr>
        <p:spPr>
          <a:xfrm>
            <a:off x="6373368" y="5404104"/>
            <a:ext cx="2176272" cy="137160"/>
          </a:xfrm>
          <a:prstGeom prst="rect">
            <a:avLst/>
          </a:prstGeom>
          <a:noFill/>
          <a:ln>
            <a:noFill/>
          </a:ln>
        </p:spPr>
        <p:txBody>
          <a:bodyPr wrap="square" anchor="t" lIns="0" rIns="0" tIns="0" bIns="0"/>
          <a:lstStyle/>
          <a:p>
            <a:pPr algn="ctr"/>
            <a:r>
              <a:rPr lang="en-US" sz="770" b="1" i="0" dirty="0">
                <a:solidFill>
                  <a:srgbClr val="F59E0B"/>
                </a:solidFill>
                <a:latin typeface="Arial"/>
              </a:rPr>
              <a:t>CORPUS-SPECIFIC ≠ UNIVERSAL</a:t>
            </a:r>
            <a:endParaRPr lang="en-US" sz="770"/>
          </a:p>
        </p:txBody>
      </p:sp>
      <p:sp>
        <p:nvSpPr>
          <p:cNvPr id="43" name="Rect 43"/>
          <p:cNvSpPr/>
          <p:nvPr/>
        </p:nvSpPr>
        <p:spPr>
          <a:xfrm>
            <a:off x="9025128" y="5321808"/>
            <a:ext cx="2359152" cy="310896"/>
          </a:xfrm>
          <a:prstGeom prst="roundRect">
            <a:avLst/>
          </a:prstGeom>
          <a:solidFill>
            <a:srgbClr val="FEF5E7"/>
          </a:solidFill>
          <a:ln w="12700">
            <a:solidFill>
              <a:srgbClr val="F59E0B"/>
            </a:solidFill>
          </a:ln>
        </p:spPr>
        <p:txBody>
          <a:bodyPr/>
          <a:lstStyle/>
          <a:p>
            <a:endParaRPr lang="en-US"/>
          </a:p>
        </p:txBody>
      </p:sp>
      <p:sp>
        <p:nvSpPr>
          <p:cNvPr id="44" name="Text 44"/>
          <p:cNvSpPr txBox="1"/>
          <p:nvPr/>
        </p:nvSpPr>
        <p:spPr>
          <a:xfrm>
            <a:off x="9116568" y="5404104"/>
            <a:ext cx="2176272" cy="137160"/>
          </a:xfrm>
          <a:prstGeom prst="rect">
            <a:avLst/>
          </a:prstGeom>
          <a:noFill/>
          <a:ln>
            <a:noFill/>
          </a:ln>
        </p:spPr>
        <p:txBody>
          <a:bodyPr wrap="square" anchor="t" lIns="0" rIns="0" tIns="0" bIns="0"/>
          <a:lstStyle/>
          <a:p>
            <a:pPr algn="ctr"/>
            <a:r>
              <a:rPr lang="en-US" sz="770" b="1" i="0" dirty="0">
                <a:solidFill>
                  <a:srgbClr val="F59E0B"/>
                </a:solidFill>
                <a:latin typeface="Arial"/>
              </a:rPr>
              <a:t>ONE HOST ≠ FLEET BENCHMARK</a:t>
            </a:r>
            <a:endParaRPr lang="en-US" sz="770"/>
          </a:p>
        </p:txBody>
      </p:sp>
      <p:cxnSp>
        <p:nvCxnSpPr>
          <p:cNvPr id="45" name="Line 45"/>
          <p:cNvCxnSpPr/>
          <p:nvPr/>
        </p:nvCxnSpPr>
        <p:spPr>
          <a:xfrm flipH="false" flipV="false">
            <a:off x="621792" y="6473952"/>
            <a:ext cx="10954512" cy="0"/>
          </a:xfrm>
          <a:prstGeom prst="line">
            <a:avLst/>
          </a:prstGeom>
          <a:ln w="10160">
            <a:solidFill>
              <a:srgbClr val="D7DFEA"/>
            </a:solidFill>
          </a:ln>
        </p:spPr>
      </p:cxnSp>
      <p:sp>
        <p:nvSpPr>
          <p:cNvPr id="46" name="Text 46"/>
          <p:cNvSpPr txBox="1"/>
          <p:nvPr/>
        </p:nvSpPr>
        <p:spPr>
          <a:xfrm>
            <a:off x="640080" y="6510528"/>
            <a:ext cx="10469880" cy="201168"/>
          </a:xfrm>
          <a:prstGeom prst="rect">
            <a:avLst/>
          </a:prstGeom>
          <a:noFill/>
          <a:ln>
            <a:noFill/>
          </a:ln>
        </p:spPr>
        <p:txBody>
          <a:bodyPr wrap="square" anchor="t" lIns="0" rIns="0" tIns="0" bIns="0"/>
          <a:lstStyle/>
          <a:p>
            <a:pPr algn="l"/>
            <a:r>
              <a:rPr lang="en-US" sz="720" b="0" i="0" dirty="0">
                <a:solidFill>
                  <a:srgbClr val="56647A"/>
                </a:solidFill>
                <a:latin typeface="Arial"/>
              </a:rPr>
              <a:t>HPC/backup/evaluation JSON and audits • docs/audits/t284-cowork-acceptance.md</a:t>
            </a:r>
            <a:endParaRPr lang="en-US" sz="720"/>
          </a:p>
        </p:txBody>
      </p:sp>
      <p:sp>
        <p:nvSpPr>
          <p:cNvPr id="47" name="Text 47"/>
          <p:cNvSpPr txBox="1"/>
          <p:nvPr/>
        </p:nvSpPr>
        <p:spPr>
          <a:xfrm>
            <a:off x="11201400" y="6492240"/>
            <a:ext cx="329184" cy="201168"/>
          </a:xfrm>
          <a:prstGeom prst="rect">
            <a:avLst/>
          </a:prstGeom>
          <a:noFill/>
          <a:ln>
            <a:noFill/>
          </a:ln>
        </p:spPr>
        <p:txBody>
          <a:bodyPr wrap="square" anchor="t" lIns="0" rIns="0" tIns="0" bIns="0"/>
          <a:lstStyle/>
          <a:p>
            <a:pPr algn="r"/>
            <a:r>
              <a:rPr lang="en-US" sz="800" b="1" i="0" dirty="0">
                <a:solidFill>
                  <a:srgbClr val="56647A"/>
                </a:solidFill>
                <a:latin typeface="Arial"/>
              </a:rPr>
              <a:t>10</a:t>
            </a:r>
            <a:endParaRPr lang="en-US" sz="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FFFFFF"/>
          </a:solidFill>
          <a:ln w="12700">
            <a:solidFill>
              <a:srgbClr val="FFFFFF"/>
            </a:solidFill>
          </a:ln>
        </p:spPr>
        <p:txBody>
          <a:bodyPr/>
          <a:lstStyle/>
          <a:p>
            <a:endParaRPr lang="en-US"/>
          </a:p>
        </p:txBody>
      </p:sp>
      <p:sp>
        <p:nvSpPr>
          <p:cNvPr id="3" name="Text 3"/>
          <p:cNvSpPr txBox="1"/>
          <p:nvPr/>
        </p:nvSpPr>
        <p:spPr>
          <a:xfrm>
            <a:off x="621792" y="347472"/>
            <a:ext cx="10927080" cy="566928"/>
          </a:xfrm>
          <a:prstGeom prst="rect">
            <a:avLst/>
          </a:prstGeom>
          <a:noFill/>
          <a:ln>
            <a:noFill/>
          </a:ln>
        </p:spPr>
        <p:txBody>
          <a:bodyPr wrap="square" anchor="t" lIns="0" rIns="0" tIns="0" bIns="0"/>
          <a:lstStyle/>
          <a:p>
            <a:pPr algn="l"/>
            <a:r>
              <a:rPr lang="en-US" sz="2700" b="1" i="0" dirty="0">
                <a:solidFill>
                  <a:srgbClr val="14213D"/>
                </a:solidFill>
                <a:latin typeface="Arial"/>
              </a:rPr>
              <a:t>Reversals made the harness safer than accretion alone</a:t>
            </a:r>
            <a:endParaRPr lang="en-US" sz="2700"/>
          </a:p>
        </p:txBody>
      </p:sp>
      <p:sp>
        <p:nvSpPr>
          <p:cNvPr id="4" name="Text 4"/>
          <p:cNvSpPr txBox="1"/>
          <p:nvPr/>
        </p:nvSpPr>
        <p:spPr>
          <a:xfrm>
            <a:off x="640080" y="932688"/>
            <a:ext cx="10881360" cy="310896"/>
          </a:xfrm>
          <a:prstGeom prst="rect">
            <a:avLst/>
          </a:prstGeom>
          <a:noFill/>
          <a:ln>
            <a:noFill/>
          </a:ln>
        </p:spPr>
        <p:txBody>
          <a:bodyPr wrap="square" anchor="t" lIns="0" rIns="0" tIns="0" bIns="0"/>
          <a:lstStyle/>
          <a:p>
            <a:pPr algn="l"/>
            <a:r>
              <a:rPr lang="en-US" sz="1250" b="0" i="0" dirty="0">
                <a:solidFill>
                  <a:srgbClr val="56647A"/>
                </a:solidFill>
                <a:latin typeface="Arial"/>
              </a:rPr>
              <a:t>Important lessons arrived as subtraction, rejection, and narrower ownership</a:t>
            </a:r>
            <a:endParaRPr lang="en-US" sz="1250"/>
          </a:p>
        </p:txBody>
      </p:sp>
      <p:sp>
        <p:nvSpPr>
          <p:cNvPr id="5" name="Text 5"/>
          <p:cNvSpPr txBox="1"/>
          <p:nvPr/>
        </p:nvSpPr>
        <p:spPr>
          <a:xfrm>
            <a:off x="731520" y="1399032"/>
            <a:ext cx="2423160" cy="237744"/>
          </a:xfrm>
          <a:prstGeom prst="rect">
            <a:avLst/>
          </a:prstGeom>
          <a:noFill/>
          <a:ln>
            <a:noFill/>
          </a:ln>
        </p:spPr>
        <p:txBody>
          <a:bodyPr wrap="square" anchor="t" lIns="0" rIns="0" tIns="0" bIns="0"/>
          <a:lstStyle/>
          <a:p>
            <a:pPr algn="ctr"/>
            <a:r>
              <a:rPr lang="en-US" sz="1050" b="1" i="0" dirty="0">
                <a:solidFill>
                  <a:srgbClr val="56647A"/>
                </a:solidFill>
                <a:latin typeface="Arial"/>
              </a:rPr>
              <a:t>BEFORE</a:t>
            </a:r>
            <a:endParaRPr lang="en-US" sz="1050"/>
          </a:p>
        </p:txBody>
      </p:sp>
      <p:sp>
        <p:nvSpPr>
          <p:cNvPr id="6" name="Text 6"/>
          <p:cNvSpPr txBox="1"/>
          <p:nvPr/>
        </p:nvSpPr>
        <p:spPr>
          <a:xfrm>
            <a:off x="3730752" y="1399032"/>
            <a:ext cx="3337560" cy="237744"/>
          </a:xfrm>
          <a:prstGeom prst="rect">
            <a:avLst/>
          </a:prstGeom>
          <a:noFill/>
          <a:ln>
            <a:noFill/>
          </a:ln>
        </p:spPr>
        <p:txBody>
          <a:bodyPr wrap="square" anchor="t" lIns="0" rIns="0" tIns="0" bIns="0"/>
          <a:lstStyle/>
          <a:p>
            <a:pPr algn="ctr"/>
            <a:r>
              <a:rPr lang="en-US" sz="1050" b="1" i="0" dirty="0">
                <a:solidFill>
                  <a:srgbClr val="56647A"/>
                </a:solidFill>
                <a:latin typeface="Arial"/>
              </a:rPr>
              <a:t>EVIDENCE</a:t>
            </a:r>
            <a:endParaRPr lang="en-US" sz="1050"/>
          </a:p>
        </p:txBody>
      </p:sp>
      <p:sp>
        <p:nvSpPr>
          <p:cNvPr id="7" name="Text 7"/>
          <p:cNvSpPr txBox="1"/>
          <p:nvPr/>
        </p:nvSpPr>
        <p:spPr>
          <a:xfrm>
            <a:off x="7406640" y="1399032"/>
            <a:ext cx="4050792" cy="237744"/>
          </a:xfrm>
          <a:prstGeom prst="rect">
            <a:avLst/>
          </a:prstGeom>
          <a:noFill/>
          <a:ln>
            <a:noFill/>
          </a:ln>
        </p:spPr>
        <p:txBody>
          <a:bodyPr wrap="square" anchor="t" lIns="0" rIns="0" tIns="0" bIns="0"/>
          <a:lstStyle/>
          <a:p>
            <a:pPr algn="ctr"/>
            <a:r>
              <a:rPr lang="en-US" sz="1050" b="1" i="0" dirty="0">
                <a:solidFill>
                  <a:srgbClr val="56647A"/>
                </a:solidFill>
                <a:latin typeface="Arial"/>
              </a:rPr>
              <a:t>AFTER</a:t>
            </a:r>
            <a:endParaRPr lang="en-US" sz="1050"/>
          </a:p>
        </p:txBody>
      </p:sp>
      <p:sp>
        <p:nvSpPr>
          <p:cNvPr id="8" name="Rect 8"/>
          <p:cNvSpPr/>
          <p:nvPr/>
        </p:nvSpPr>
        <p:spPr>
          <a:xfrm>
            <a:off x="658368" y="1755648"/>
            <a:ext cx="10899648" cy="612648"/>
          </a:xfrm>
          <a:prstGeom prst="roundRect">
            <a:avLst/>
          </a:prstGeom>
          <a:solidFill>
            <a:srgbClr val="F8FAFD"/>
          </a:solidFill>
          <a:ln w="12700">
            <a:solidFill>
              <a:srgbClr val="D7DFEA"/>
            </a:solidFill>
          </a:ln>
        </p:spPr>
        <p:txBody>
          <a:bodyPr/>
          <a:lstStyle/>
          <a:p>
            <a:endParaRPr lang="en-US"/>
          </a:p>
        </p:txBody>
      </p:sp>
      <p:sp>
        <p:nvSpPr>
          <p:cNvPr id="9" name="Text 9"/>
          <p:cNvSpPr txBox="1"/>
          <p:nvPr/>
        </p:nvSpPr>
        <p:spPr>
          <a:xfrm>
            <a:off x="804672" y="1920240"/>
            <a:ext cx="2331720" cy="219456"/>
          </a:xfrm>
          <a:prstGeom prst="rect">
            <a:avLst/>
          </a:prstGeom>
          <a:noFill/>
          <a:ln>
            <a:noFill/>
          </a:ln>
        </p:spPr>
        <p:txBody>
          <a:bodyPr wrap="square" anchor="t" lIns="0" rIns="0" tIns="0" bIns="0"/>
          <a:lstStyle/>
          <a:p>
            <a:pPr algn="l"/>
            <a:r>
              <a:rPr lang="en-US" sz="1060" b="1" i="0" dirty="0">
                <a:solidFill>
                  <a:srgbClr val="334155"/>
                </a:solidFill>
                <a:latin typeface="Arial"/>
              </a:rPr>
              <a:t>Login fetch + exit publish</a:t>
            </a:r>
            <a:endParaRPr lang="en-US" sz="1060"/>
          </a:p>
        </p:txBody>
      </p:sp>
      <p:cxnSp>
        <p:nvCxnSpPr>
          <p:cNvPr id="10" name="Line 10"/>
          <p:cNvCxnSpPr/>
          <p:nvPr/>
        </p:nvCxnSpPr>
        <p:spPr>
          <a:xfrm flipH="false" flipV="false">
            <a:off x="3264408" y="2066544"/>
            <a:ext cx="310896" cy="0"/>
          </a:xfrm>
          <a:prstGeom prst="line">
            <a:avLst/>
          </a:prstGeom>
          <a:ln w="17780">
            <a:solidFill>
              <a:srgbClr val="DC2626"/>
            </a:solidFill>
            <a:tailEnd type="triangle"/>
          </a:ln>
        </p:spPr>
      </p:cxnSp>
      <p:sp>
        <p:nvSpPr>
          <p:cNvPr id="11" name="Text 11"/>
          <p:cNvSpPr txBox="1"/>
          <p:nvPr/>
        </p:nvSpPr>
        <p:spPr>
          <a:xfrm>
            <a:off x="3749040" y="1920240"/>
            <a:ext cx="3291840" cy="219456"/>
          </a:xfrm>
          <a:prstGeom prst="rect">
            <a:avLst/>
          </a:prstGeom>
          <a:noFill/>
          <a:ln>
            <a:noFill/>
          </a:ln>
        </p:spPr>
        <p:txBody>
          <a:bodyPr wrap="square" anchor="t" lIns="0" rIns="0" tIns="0" bIns="0"/>
          <a:lstStyle/>
          <a:p>
            <a:pPr algn="ctr"/>
            <a:r>
              <a:rPr lang="en-US" sz="1010" b="0" i="0" dirty="0">
                <a:solidFill>
                  <a:srgbClr val="56647A"/>
                </a:solidFill>
                <a:latin typeface="Arial"/>
              </a:rPr>
              <a:t>Implicit network/auth boundary</a:t>
            </a:r>
            <a:endParaRPr lang="en-US" sz="1010"/>
          </a:p>
        </p:txBody>
      </p:sp>
      <p:cxnSp>
        <p:nvCxnSpPr>
          <p:cNvPr id="12" name="Line 12"/>
          <p:cNvCxnSpPr/>
          <p:nvPr/>
        </p:nvCxnSpPr>
        <p:spPr>
          <a:xfrm flipH="false" flipV="false">
            <a:off x="7104888" y="2066544"/>
            <a:ext cx="237744" cy="0"/>
          </a:xfrm>
          <a:prstGeom prst="line">
            <a:avLst/>
          </a:prstGeom>
          <a:ln w="17780">
            <a:solidFill>
              <a:srgbClr val="16A34A"/>
            </a:solidFill>
            <a:tailEnd type="triangle"/>
          </a:ln>
        </p:spPr>
      </p:cxnSp>
      <p:sp>
        <p:nvSpPr>
          <p:cNvPr id="13" name="Text 13"/>
          <p:cNvSpPr txBox="1"/>
          <p:nvPr/>
        </p:nvSpPr>
        <p:spPr>
          <a:xfrm>
            <a:off x="7479792" y="1920240"/>
            <a:ext cx="3273552" cy="219456"/>
          </a:xfrm>
          <a:prstGeom prst="rect">
            <a:avLst/>
          </a:prstGeom>
          <a:noFill/>
          <a:ln>
            <a:noFill/>
          </a:ln>
        </p:spPr>
        <p:txBody>
          <a:bodyPr wrap="square" anchor="t" lIns="0" rIns="0" tIns="0" bIns="0"/>
          <a:lstStyle/>
          <a:p>
            <a:pPr algn="l"/>
            <a:r>
              <a:rPr lang="en-US" sz="1060" b="1" i="0" dirty="0">
                <a:solidFill>
                  <a:srgbClr val="16A34A"/>
                </a:solidFill>
                <a:latin typeface="Arial"/>
              </a:rPr>
              <a:t>Explicit Git operations</a:t>
            </a:r>
            <a:endParaRPr lang="en-US" sz="1060"/>
          </a:p>
        </p:txBody>
      </p:sp>
      <p:sp>
        <p:nvSpPr>
          <p:cNvPr id="14" name="Text 14"/>
          <p:cNvSpPr txBox="1"/>
          <p:nvPr/>
        </p:nvSpPr>
        <p:spPr>
          <a:xfrm>
            <a:off x="10817352" y="1929384"/>
            <a:ext cx="585216" cy="164592"/>
          </a:xfrm>
          <a:prstGeom prst="rect">
            <a:avLst/>
          </a:prstGeom>
          <a:noFill/>
          <a:ln>
            <a:noFill/>
          </a:ln>
        </p:spPr>
        <p:txBody>
          <a:bodyPr wrap="square" anchor="t" lIns="0" rIns="0" tIns="0" bIns="0"/>
          <a:lstStyle/>
          <a:p>
            <a:pPr algn="r"/>
            <a:r>
              <a:rPr lang="en-US" sz="730" b="0" i="0" dirty="0">
                <a:solidFill>
                  <a:srgbClr val="56647A"/>
                </a:solidFill>
                <a:latin typeface="Arial"/>
              </a:rPr>
              <a:t>e52a3d0</a:t>
            </a:r>
            <a:endParaRPr lang="en-US" sz="730"/>
          </a:p>
        </p:txBody>
      </p:sp>
      <p:sp>
        <p:nvSpPr>
          <p:cNvPr id="15" name="Rect 15"/>
          <p:cNvSpPr/>
          <p:nvPr/>
        </p:nvSpPr>
        <p:spPr>
          <a:xfrm>
            <a:off x="658368" y="2514600"/>
            <a:ext cx="10899648" cy="612648"/>
          </a:xfrm>
          <a:prstGeom prst="roundRect">
            <a:avLst/>
          </a:prstGeom>
          <a:solidFill>
            <a:srgbClr val="FFFFFF"/>
          </a:solidFill>
          <a:ln w="12700">
            <a:solidFill>
              <a:srgbClr val="D7DFEA"/>
            </a:solidFill>
          </a:ln>
        </p:spPr>
        <p:txBody>
          <a:bodyPr/>
          <a:lstStyle/>
          <a:p>
            <a:endParaRPr lang="en-US"/>
          </a:p>
        </p:txBody>
      </p:sp>
      <p:sp>
        <p:nvSpPr>
          <p:cNvPr id="16" name="Text 16"/>
          <p:cNvSpPr txBox="1"/>
          <p:nvPr/>
        </p:nvSpPr>
        <p:spPr>
          <a:xfrm>
            <a:off x="804672" y="2679192"/>
            <a:ext cx="2331720" cy="219456"/>
          </a:xfrm>
          <a:prstGeom prst="rect">
            <a:avLst/>
          </a:prstGeom>
          <a:noFill/>
          <a:ln>
            <a:noFill/>
          </a:ln>
        </p:spPr>
        <p:txBody>
          <a:bodyPr wrap="square" anchor="t" lIns="0" rIns="0" tIns="0" bIns="0"/>
          <a:lstStyle/>
          <a:p>
            <a:pPr algn="l"/>
            <a:r>
              <a:rPr lang="en-US" sz="1060" b="1" i="0" dirty="0">
                <a:solidFill>
                  <a:srgbClr val="334155"/>
                </a:solidFill>
                <a:latin typeface="Arial"/>
              </a:rPr>
              <a:t>Website-specific ownership</a:t>
            </a:r>
            <a:endParaRPr lang="en-US" sz="1060"/>
          </a:p>
        </p:txBody>
      </p:sp>
      <p:cxnSp>
        <p:nvCxnSpPr>
          <p:cNvPr id="17" name="Line 17"/>
          <p:cNvCxnSpPr/>
          <p:nvPr/>
        </p:nvCxnSpPr>
        <p:spPr>
          <a:xfrm flipH="false" flipV="false">
            <a:off x="3264408" y="2825496"/>
            <a:ext cx="310896" cy="0"/>
          </a:xfrm>
          <a:prstGeom prst="line">
            <a:avLst/>
          </a:prstGeom>
          <a:ln w="17780">
            <a:solidFill>
              <a:srgbClr val="DC2626"/>
            </a:solidFill>
            <a:tailEnd type="triangle"/>
          </a:ln>
        </p:spPr>
      </p:cxnSp>
      <p:sp>
        <p:nvSpPr>
          <p:cNvPr id="18" name="Text 18"/>
          <p:cNvSpPr txBox="1"/>
          <p:nvPr/>
        </p:nvSpPr>
        <p:spPr>
          <a:xfrm>
            <a:off x="3749040" y="2679192"/>
            <a:ext cx="3291840" cy="219456"/>
          </a:xfrm>
          <a:prstGeom prst="rect">
            <a:avLst/>
          </a:prstGeom>
          <a:noFill/>
          <a:ln>
            <a:noFill/>
          </a:ln>
        </p:spPr>
        <p:txBody>
          <a:bodyPr wrap="square" anchor="t" lIns="0" rIns="0" tIns="0" bIns="0"/>
          <a:lstStyle/>
          <a:p>
            <a:pPr algn="ctr"/>
            <a:r>
              <a:rPr lang="en-US" sz="1010" b="0" i="0" dirty="0">
                <a:solidFill>
                  <a:srgbClr val="56647A"/>
                </a:solidFill>
                <a:latin typeface="Arial"/>
              </a:rPr>
              <a:t>Sibling dependency + scope leak</a:t>
            </a:r>
            <a:endParaRPr lang="en-US" sz="1010"/>
          </a:p>
        </p:txBody>
      </p:sp>
      <p:cxnSp>
        <p:nvCxnSpPr>
          <p:cNvPr id="19" name="Line 19"/>
          <p:cNvCxnSpPr/>
          <p:nvPr/>
        </p:nvCxnSpPr>
        <p:spPr>
          <a:xfrm flipH="false" flipV="false">
            <a:off x="7104888" y="2825496"/>
            <a:ext cx="237744" cy="0"/>
          </a:xfrm>
          <a:prstGeom prst="line">
            <a:avLst/>
          </a:prstGeom>
          <a:ln w="17780">
            <a:solidFill>
              <a:srgbClr val="16A34A"/>
            </a:solidFill>
            <a:tailEnd type="triangle"/>
          </a:ln>
        </p:spPr>
      </p:cxnSp>
      <p:sp>
        <p:nvSpPr>
          <p:cNvPr id="20" name="Text 20"/>
          <p:cNvSpPr txBox="1"/>
          <p:nvPr/>
        </p:nvSpPr>
        <p:spPr>
          <a:xfrm>
            <a:off x="7479792" y="2679192"/>
            <a:ext cx="3273552" cy="219456"/>
          </a:xfrm>
          <a:prstGeom prst="rect">
            <a:avLst/>
          </a:prstGeom>
          <a:noFill/>
          <a:ln>
            <a:noFill/>
          </a:ln>
        </p:spPr>
        <p:txBody>
          <a:bodyPr wrap="square" anchor="t" lIns="0" rIns="0" tIns="0" bIns="0"/>
          <a:lstStyle/>
          <a:p>
            <a:pPr algn="l"/>
            <a:r>
              <a:rPr lang="en-US" sz="1060" b="1" i="0" dirty="0">
                <a:solidFill>
                  <a:srgbClr val="16A34A"/>
                </a:solidFill>
                <a:latin typeface="Arial"/>
              </a:rPr>
              <a:t>Repository independence</a:t>
            </a:r>
            <a:endParaRPr lang="en-US" sz="1060"/>
          </a:p>
        </p:txBody>
      </p:sp>
      <p:sp>
        <p:nvSpPr>
          <p:cNvPr id="21" name="Text 21"/>
          <p:cNvSpPr txBox="1"/>
          <p:nvPr/>
        </p:nvSpPr>
        <p:spPr>
          <a:xfrm>
            <a:off x="10817352" y="2688336"/>
            <a:ext cx="585216" cy="164592"/>
          </a:xfrm>
          <a:prstGeom prst="rect">
            <a:avLst/>
          </a:prstGeom>
          <a:noFill/>
          <a:ln>
            <a:noFill/>
          </a:ln>
        </p:spPr>
        <p:txBody>
          <a:bodyPr wrap="square" anchor="t" lIns="0" rIns="0" tIns="0" bIns="0"/>
          <a:lstStyle/>
          <a:p>
            <a:pPr algn="r"/>
            <a:r>
              <a:rPr lang="en-US" sz="730" b="0" i="0" dirty="0">
                <a:solidFill>
                  <a:srgbClr val="56647A"/>
                </a:solidFill>
                <a:latin typeface="Arial"/>
              </a:rPr>
              <a:t>f1b095c</a:t>
            </a:r>
            <a:endParaRPr lang="en-US" sz="730"/>
          </a:p>
        </p:txBody>
      </p:sp>
      <p:sp>
        <p:nvSpPr>
          <p:cNvPr id="22" name="Rect 22"/>
          <p:cNvSpPr/>
          <p:nvPr/>
        </p:nvSpPr>
        <p:spPr>
          <a:xfrm>
            <a:off x="658368" y="3273552"/>
            <a:ext cx="10899648" cy="612648"/>
          </a:xfrm>
          <a:prstGeom prst="roundRect">
            <a:avLst/>
          </a:prstGeom>
          <a:solidFill>
            <a:srgbClr val="F8FAFD"/>
          </a:solidFill>
          <a:ln w="12700">
            <a:solidFill>
              <a:srgbClr val="D7DFEA"/>
            </a:solidFill>
          </a:ln>
        </p:spPr>
        <p:txBody>
          <a:bodyPr/>
          <a:lstStyle/>
          <a:p>
            <a:endParaRPr lang="en-US"/>
          </a:p>
        </p:txBody>
      </p:sp>
      <p:sp>
        <p:nvSpPr>
          <p:cNvPr id="23" name="Text 23"/>
          <p:cNvSpPr txBox="1"/>
          <p:nvPr/>
        </p:nvSpPr>
        <p:spPr>
          <a:xfrm>
            <a:off x="804672" y="3438144"/>
            <a:ext cx="2331720" cy="219456"/>
          </a:xfrm>
          <a:prstGeom prst="rect">
            <a:avLst/>
          </a:prstGeom>
          <a:noFill/>
          <a:ln>
            <a:noFill/>
          </a:ln>
        </p:spPr>
        <p:txBody>
          <a:bodyPr wrap="square" anchor="t" lIns="0" rIns="0" tIns="0" bIns="0"/>
          <a:lstStyle/>
          <a:p>
            <a:pPr algn="l"/>
            <a:r>
              <a:rPr lang="en-US" sz="1060" b="1" i="0" dirty="0">
                <a:solidFill>
                  <a:srgbClr val="334155"/>
                </a:solidFill>
                <a:latin typeface="Arial"/>
              </a:rPr>
              <a:t>Plausible guidance candidate</a:t>
            </a:r>
            <a:endParaRPr lang="en-US" sz="1060"/>
          </a:p>
        </p:txBody>
      </p:sp>
      <p:cxnSp>
        <p:nvCxnSpPr>
          <p:cNvPr id="24" name="Line 24"/>
          <p:cNvCxnSpPr/>
          <p:nvPr/>
        </p:nvCxnSpPr>
        <p:spPr>
          <a:xfrm flipH="false" flipV="false">
            <a:off x="3264408" y="3584448"/>
            <a:ext cx="310896" cy="0"/>
          </a:xfrm>
          <a:prstGeom prst="line">
            <a:avLst/>
          </a:prstGeom>
          <a:ln w="17780">
            <a:solidFill>
              <a:srgbClr val="DC2626"/>
            </a:solidFill>
            <a:tailEnd type="triangle"/>
          </a:ln>
        </p:spPr>
      </p:cxnSp>
      <p:sp>
        <p:nvSpPr>
          <p:cNvPr id="25" name="Text 25"/>
          <p:cNvSpPr txBox="1"/>
          <p:nvPr/>
        </p:nvSpPr>
        <p:spPr>
          <a:xfrm>
            <a:off x="3749040" y="3438144"/>
            <a:ext cx="3291840" cy="219456"/>
          </a:xfrm>
          <a:prstGeom prst="rect">
            <a:avLst/>
          </a:prstGeom>
          <a:noFill/>
          <a:ln>
            <a:noFill/>
          </a:ln>
        </p:spPr>
        <p:txBody>
          <a:bodyPr wrap="square" anchor="t" lIns="0" rIns="0" tIns="0" bIns="0"/>
          <a:lstStyle/>
          <a:p>
            <a:pPr algn="ctr"/>
            <a:r>
              <a:rPr lang="en-US" sz="1010" b="0" i="0" dirty="0">
                <a:solidFill>
                  <a:srgbClr val="56647A"/>
                </a:solidFill>
                <a:latin typeface="Arial"/>
              </a:rPr>
              <a:t>No gain; more measured cost</a:t>
            </a:r>
            <a:endParaRPr lang="en-US" sz="1010"/>
          </a:p>
        </p:txBody>
      </p:sp>
      <p:cxnSp>
        <p:nvCxnSpPr>
          <p:cNvPr id="26" name="Line 26"/>
          <p:cNvCxnSpPr/>
          <p:nvPr/>
        </p:nvCxnSpPr>
        <p:spPr>
          <a:xfrm flipH="false" flipV="false">
            <a:off x="7104888" y="3584448"/>
            <a:ext cx="237744" cy="0"/>
          </a:xfrm>
          <a:prstGeom prst="line">
            <a:avLst/>
          </a:prstGeom>
          <a:ln w="17780">
            <a:solidFill>
              <a:srgbClr val="16A34A"/>
            </a:solidFill>
            <a:tailEnd type="triangle"/>
          </a:ln>
        </p:spPr>
      </p:cxnSp>
      <p:sp>
        <p:nvSpPr>
          <p:cNvPr id="27" name="Text 27"/>
          <p:cNvSpPr txBox="1"/>
          <p:nvPr/>
        </p:nvSpPr>
        <p:spPr>
          <a:xfrm>
            <a:off x="7479792" y="3438144"/>
            <a:ext cx="3273552" cy="219456"/>
          </a:xfrm>
          <a:prstGeom prst="rect">
            <a:avLst/>
          </a:prstGeom>
          <a:noFill/>
          <a:ln>
            <a:noFill/>
          </a:ln>
        </p:spPr>
        <p:txBody>
          <a:bodyPr wrap="square" anchor="t" lIns="0" rIns="0" tIns="0" bIns="0"/>
          <a:lstStyle/>
          <a:p>
            <a:pPr algn="l"/>
            <a:r>
              <a:rPr lang="en-US" sz="1060" b="1" i="0" dirty="0">
                <a:solidFill>
                  <a:srgbClr val="16A34A"/>
                </a:solidFill>
                <a:latin typeface="Arial"/>
              </a:rPr>
              <a:t>Baseline retained</a:t>
            </a:r>
            <a:endParaRPr lang="en-US" sz="1060"/>
          </a:p>
        </p:txBody>
      </p:sp>
      <p:sp>
        <p:nvSpPr>
          <p:cNvPr id="28" name="Text 28"/>
          <p:cNvSpPr txBox="1"/>
          <p:nvPr/>
        </p:nvSpPr>
        <p:spPr>
          <a:xfrm>
            <a:off x="10817352" y="3447288"/>
            <a:ext cx="585216" cy="164592"/>
          </a:xfrm>
          <a:prstGeom prst="rect">
            <a:avLst/>
          </a:prstGeom>
          <a:noFill/>
          <a:ln>
            <a:noFill/>
          </a:ln>
        </p:spPr>
        <p:txBody>
          <a:bodyPr wrap="square" anchor="t" lIns="0" rIns="0" tIns="0" bIns="0"/>
          <a:lstStyle/>
          <a:p>
            <a:pPr algn="r"/>
            <a:r>
              <a:rPr lang="en-US" sz="730" b="0" i="0" dirty="0">
                <a:solidFill>
                  <a:srgbClr val="56647A"/>
                </a:solidFill>
                <a:latin typeface="Arial"/>
              </a:rPr>
              <a:t>fd5c3b1</a:t>
            </a:r>
            <a:endParaRPr lang="en-US" sz="730"/>
          </a:p>
        </p:txBody>
      </p:sp>
      <p:sp>
        <p:nvSpPr>
          <p:cNvPr id="29" name="Rect 29"/>
          <p:cNvSpPr/>
          <p:nvPr/>
        </p:nvSpPr>
        <p:spPr>
          <a:xfrm>
            <a:off x="658368" y="4032504"/>
            <a:ext cx="10899648" cy="612648"/>
          </a:xfrm>
          <a:prstGeom prst="roundRect">
            <a:avLst/>
          </a:prstGeom>
          <a:solidFill>
            <a:srgbClr val="FFFFFF"/>
          </a:solidFill>
          <a:ln w="12700">
            <a:solidFill>
              <a:srgbClr val="D7DFEA"/>
            </a:solidFill>
          </a:ln>
        </p:spPr>
        <p:txBody>
          <a:bodyPr/>
          <a:lstStyle/>
          <a:p>
            <a:endParaRPr lang="en-US"/>
          </a:p>
        </p:txBody>
      </p:sp>
      <p:sp>
        <p:nvSpPr>
          <p:cNvPr id="30" name="Text 30"/>
          <p:cNvSpPr txBox="1"/>
          <p:nvPr/>
        </p:nvSpPr>
        <p:spPr>
          <a:xfrm>
            <a:off x="804672" y="4197096"/>
            <a:ext cx="2331720" cy="219456"/>
          </a:xfrm>
          <a:prstGeom prst="rect">
            <a:avLst/>
          </a:prstGeom>
          <a:noFill/>
          <a:ln>
            <a:noFill/>
          </a:ln>
        </p:spPr>
        <p:txBody>
          <a:bodyPr wrap="square" anchor="t" lIns="0" rIns="0" tIns="0" bIns="0"/>
          <a:lstStyle/>
          <a:p>
            <a:pPr algn="l"/>
            <a:r>
              <a:rPr lang="en-US" sz="1060" b="1" i="0" dirty="0">
                <a:solidFill>
                  <a:srgbClr val="334155"/>
                </a:solidFill>
                <a:latin typeface="Arial"/>
              </a:rPr>
              <a:t>Private Bash/tmux bundle</a:t>
            </a:r>
            <a:endParaRPr lang="en-US" sz="1060"/>
          </a:p>
        </p:txBody>
      </p:sp>
      <p:cxnSp>
        <p:nvCxnSpPr>
          <p:cNvPr id="31" name="Line 31"/>
          <p:cNvCxnSpPr/>
          <p:nvPr/>
        </p:nvCxnSpPr>
        <p:spPr>
          <a:xfrm flipH="false" flipV="false">
            <a:off x="3264408" y="4343400"/>
            <a:ext cx="310896" cy="0"/>
          </a:xfrm>
          <a:prstGeom prst="line">
            <a:avLst/>
          </a:prstGeom>
          <a:ln w="17780">
            <a:solidFill>
              <a:srgbClr val="DC2626"/>
            </a:solidFill>
            <a:tailEnd type="triangle"/>
          </a:ln>
        </p:spPr>
      </p:cxnSp>
      <p:sp>
        <p:nvSpPr>
          <p:cNvPr id="32" name="Text 32"/>
          <p:cNvSpPr txBox="1"/>
          <p:nvPr/>
        </p:nvSpPr>
        <p:spPr>
          <a:xfrm>
            <a:off x="3749040" y="4197096"/>
            <a:ext cx="3291840" cy="219456"/>
          </a:xfrm>
          <a:prstGeom prst="rect">
            <a:avLst/>
          </a:prstGeom>
          <a:noFill/>
          <a:ln>
            <a:noFill/>
          </a:ln>
        </p:spPr>
        <p:txBody>
          <a:bodyPr wrap="square" anchor="t" lIns="0" rIns="0" tIns="0" bIns="0"/>
          <a:lstStyle/>
          <a:p>
            <a:pPr algn="ctr"/>
            <a:r>
              <a:rPr lang="en-US" sz="1010" b="0" i="0" dirty="0">
                <a:solidFill>
                  <a:srgbClr val="56647A"/>
                </a:solidFill>
                <a:latin typeface="Arial"/>
              </a:rPr>
              <a:t>Duplicated public-capable state</a:t>
            </a:r>
            <a:endParaRPr lang="en-US" sz="1010"/>
          </a:p>
        </p:txBody>
      </p:sp>
      <p:cxnSp>
        <p:nvCxnSpPr>
          <p:cNvPr id="33" name="Line 33"/>
          <p:cNvCxnSpPr/>
          <p:nvPr/>
        </p:nvCxnSpPr>
        <p:spPr>
          <a:xfrm flipH="false" flipV="false">
            <a:off x="7104888" y="4343400"/>
            <a:ext cx="237744" cy="0"/>
          </a:xfrm>
          <a:prstGeom prst="line">
            <a:avLst/>
          </a:prstGeom>
          <a:ln w="17780">
            <a:solidFill>
              <a:srgbClr val="16A34A"/>
            </a:solidFill>
            <a:tailEnd type="triangle"/>
          </a:ln>
        </p:spPr>
      </p:cxnSp>
      <p:sp>
        <p:nvSpPr>
          <p:cNvPr id="34" name="Text 34"/>
          <p:cNvSpPr txBox="1"/>
          <p:nvPr/>
        </p:nvSpPr>
        <p:spPr>
          <a:xfrm>
            <a:off x="7479792" y="4197096"/>
            <a:ext cx="3273552" cy="219456"/>
          </a:xfrm>
          <a:prstGeom prst="rect">
            <a:avLst/>
          </a:prstGeom>
          <a:noFill/>
          <a:ln>
            <a:noFill/>
          </a:ln>
        </p:spPr>
        <p:txBody>
          <a:bodyPr wrap="square" anchor="t" lIns="0" rIns="0" tIns="0" bIns="0"/>
          <a:lstStyle/>
          <a:p>
            <a:pPr algn="l"/>
            <a:r>
              <a:rPr lang="en-US" sz="1060" b="1" i="0" dirty="0">
                <a:solidFill>
                  <a:srgbClr val="16A34A"/>
                </a:solidFill>
                <a:latin typeface="Arial"/>
              </a:rPr>
              <a:t>Public Bash/tmux; private SSH</a:t>
            </a:r>
            <a:endParaRPr lang="en-US" sz="1060"/>
          </a:p>
        </p:txBody>
      </p:sp>
      <p:sp>
        <p:nvSpPr>
          <p:cNvPr id="35" name="Text 35"/>
          <p:cNvSpPr txBox="1"/>
          <p:nvPr/>
        </p:nvSpPr>
        <p:spPr>
          <a:xfrm>
            <a:off x="10817352" y="4206240"/>
            <a:ext cx="585216" cy="164592"/>
          </a:xfrm>
          <a:prstGeom prst="rect">
            <a:avLst/>
          </a:prstGeom>
          <a:noFill/>
          <a:ln>
            <a:noFill/>
          </a:ln>
        </p:spPr>
        <p:txBody>
          <a:bodyPr wrap="square" anchor="t" lIns="0" rIns="0" tIns="0" bIns="0"/>
          <a:lstStyle/>
          <a:p>
            <a:pPr algn="r"/>
            <a:r>
              <a:rPr lang="en-US" sz="730" b="0" i="0" dirty="0">
                <a:solidFill>
                  <a:srgbClr val="56647A"/>
                </a:solidFill>
                <a:latin typeface="Arial"/>
              </a:rPr>
              <a:t>4209ee8</a:t>
            </a:r>
            <a:endParaRPr lang="en-US" sz="730"/>
          </a:p>
        </p:txBody>
      </p:sp>
      <p:sp>
        <p:nvSpPr>
          <p:cNvPr id="36" name="Rect 36"/>
          <p:cNvSpPr/>
          <p:nvPr/>
        </p:nvSpPr>
        <p:spPr>
          <a:xfrm>
            <a:off x="658368" y="4791456"/>
            <a:ext cx="10899648" cy="612648"/>
          </a:xfrm>
          <a:prstGeom prst="roundRect">
            <a:avLst/>
          </a:prstGeom>
          <a:solidFill>
            <a:srgbClr val="F8FAFD"/>
          </a:solidFill>
          <a:ln w="12700">
            <a:solidFill>
              <a:srgbClr val="D7DFEA"/>
            </a:solidFill>
          </a:ln>
        </p:spPr>
        <p:txBody>
          <a:bodyPr/>
          <a:lstStyle/>
          <a:p>
            <a:endParaRPr lang="en-US"/>
          </a:p>
        </p:txBody>
      </p:sp>
      <p:sp>
        <p:nvSpPr>
          <p:cNvPr id="37" name="Text 37"/>
          <p:cNvSpPr txBox="1"/>
          <p:nvPr/>
        </p:nvSpPr>
        <p:spPr>
          <a:xfrm>
            <a:off x="804672" y="4956048"/>
            <a:ext cx="2331720" cy="219456"/>
          </a:xfrm>
          <a:prstGeom prst="rect">
            <a:avLst/>
          </a:prstGeom>
          <a:noFill/>
          <a:ln>
            <a:noFill/>
          </a:ln>
        </p:spPr>
        <p:txBody>
          <a:bodyPr wrap="square" anchor="t" lIns="0" rIns="0" tIns="0" bIns="0"/>
          <a:lstStyle/>
          <a:p>
            <a:pPr algn="l"/>
            <a:r>
              <a:rPr lang="en-US" sz="1060" b="1" i="0" dirty="0">
                <a:solidFill>
                  <a:srgbClr val="334155"/>
                </a:solidFill>
                <a:latin typeface="Arial"/>
              </a:rPr>
              <a:t>Harness-owned native Codex</a:t>
            </a:r>
            <a:endParaRPr lang="en-US" sz="1060"/>
          </a:p>
        </p:txBody>
      </p:sp>
      <p:cxnSp>
        <p:nvCxnSpPr>
          <p:cNvPr id="38" name="Line 38"/>
          <p:cNvCxnSpPr/>
          <p:nvPr/>
        </p:nvCxnSpPr>
        <p:spPr>
          <a:xfrm flipH="false" flipV="false">
            <a:off x="3264408" y="5102352"/>
            <a:ext cx="310896" cy="0"/>
          </a:xfrm>
          <a:prstGeom prst="line">
            <a:avLst/>
          </a:prstGeom>
          <a:ln w="17780">
            <a:solidFill>
              <a:srgbClr val="DC2626"/>
            </a:solidFill>
            <a:tailEnd type="triangle"/>
          </a:ln>
        </p:spPr>
      </p:cxnSp>
      <p:sp>
        <p:nvSpPr>
          <p:cNvPr id="39" name="Text 39"/>
          <p:cNvSpPr txBox="1"/>
          <p:nvPr/>
        </p:nvSpPr>
        <p:spPr>
          <a:xfrm>
            <a:off x="3749040" y="4956048"/>
            <a:ext cx="3291840" cy="219456"/>
          </a:xfrm>
          <a:prstGeom prst="rect">
            <a:avLst/>
          </a:prstGeom>
          <a:noFill/>
          <a:ln>
            <a:noFill/>
          </a:ln>
        </p:spPr>
        <p:txBody>
          <a:bodyPr wrap="square" anchor="t" lIns="0" rIns="0" tIns="0" bIns="0"/>
          <a:lstStyle/>
          <a:p>
            <a:pPr algn="ctr"/>
            <a:r>
              <a:rPr lang="en-US" sz="1010" b="0" i="0" dirty="0">
                <a:solidFill>
                  <a:srgbClr val="56647A"/>
                </a:solidFill>
                <a:latin typeface="Arial"/>
              </a:rPr>
              <a:t>Runtime ownership conflict</a:t>
            </a:r>
            <a:endParaRPr lang="en-US" sz="1010"/>
          </a:p>
        </p:txBody>
      </p:sp>
      <p:cxnSp>
        <p:nvCxnSpPr>
          <p:cNvPr id="40" name="Line 40"/>
          <p:cNvCxnSpPr/>
          <p:nvPr/>
        </p:nvCxnSpPr>
        <p:spPr>
          <a:xfrm flipH="false" flipV="false">
            <a:off x="7104888" y="5102352"/>
            <a:ext cx="237744" cy="0"/>
          </a:xfrm>
          <a:prstGeom prst="line">
            <a:avLst/>
          </a:prstGeom>
          <a:ln w="17780">
            <a:solidFill>
              <a:srgbClr val="16A34A"/>
            </a:solidFill>
            <a:tailEnd type="triangle"/>
          </a:ln>
        </p:spPr>
      </p:cxnSp>
      <p:sp>
        <p:nvSpPr>
          <p:cNvPr id="41" name="Text 41"/>
          <p:cNvSpPr txBox="1"/>
          <p:nvPr/>
        </p:nvSpPr>
        <p:spPr>
          <a:xfrm>
            <a:off x="7479792" y="4956048"/>
            <a:ext cx="3273552" cy="219456"/>
          </a:xfrm>
          <a:prstGeom prst="rect">
            <a:avLst/>
          </a:prstGeom>
          <a:noFill/>
          <a:ln>
            <a:noFill/>
          </a:ln>
        </p:spPr>
        <p:txBody>
          <a:bodyPr wrap="square" anchor="t" lIns="0" rIns="0" tIns="0" bIns="0"/>
          <a:lstStyle/>
          <a:p>
            <a:pPr algn="l"/>
            <a:r>
              <a:rPr lang="en-US" sz="1060" b="1" i="0" dirty="0">
                <a:solidFill>
                  <a:srgbClr val="16A34A"/>
                </a:solidFill>
                <a:latin typeface="Arial"/>
              </a:rPr>
              <a:t>Local native client + wrapper</a:t>
            </a:r>
            <a:endParaRPr lang="en-US" sz="1060"/>
          </a:p>
        </p:txBody>
      </p:sp>
      <p:sp>
        <p:nvSpPr>
          <p:cNvPr id="42" name="Text 42"/>
          <p:cNvSpPr txBox="1"/>
          <p:nvPr/>
        </p:nvSpPr>
        <p:spPr>
          <a:xfrm>
            <a:off x="10817352" y="4965192"/>
            <a:ext cx="585216" cy="164592"/>
          </a:xfrm>
          <a:prstGeom prst="rect">
            <a:avLst/>
          </a:prstGeom>
          <a:noFill/>
          <a:ln>
            <a:noFill/>
          </a:ln>
        </p:spPr>
        <p:txBody>
          <a:bodyPr wrap="square" anchor="t" lIns="0" rIns="0" tIns="0" bIns="0"/>
          <a:lstStyle/>
          <a:p>
            <a:pPr algn="r"/>
            <a:r>
              <a:rPr lang="en-US" sz="730" b="0" i="0" dirty="0">
                <a:solidFill>
                  <a:srgbClr val="56647A"/>
                </a:solidFill>
                <a:latin typeface="Arial"/>
              </a:rPr>
              <a:t>d76575c</a:t>
            </a:r>
            <a:endParaRPr lang="en-US" sz="730"/>
          </a:p>
        </p:txBody>
      </p:sp>
      <p:sp>
        <p:nvSpPr>
          <p:cNvPr id="43" name="Rect 43"/>
          <p:cNvSpPr/>
          <p:nvPr/>
        </p:nvSpPr>
        <p:spPr>
          <a:xfrm>
            <a:off x="658368" y="5724144"/>
            <a:ext cx="10899648" cy="530352"/>
          </a:xfrm>
          <a:prstGeom prst="roundRect">
            <a:avLst/>
          </a:prstGeom>
          <a:solidFill>
            <a:srgbClr val="F6F1FE"/>
          </a:solidFill>
          <a:ln w="12700">
            <a:solidFill>
              <a:srgbClr val="7C3AED"/>
            </a:solidFill>
            <a:prstDash val="dash"/>
          </a:ln>
        </p:spPr>
        <p:txBody>
          <a:bodyPr/>
          <a:lstStyle/>
          <a:p>
            <a:endParaRPr lang="en-US"/>
          </a:p>
        </p:txBody>
      </p:sp>
      <p:sp>
        <p:nvSpPr>
          <p:cNvPr id="44" name="Rect 44"/>
          <p:cNvSpPr/>
          <p:nvPr/>
        </p:nvSpPr>
        <p:spPr>
          <a:xfrm>
            <a:off x="859536" y="5833872"/>
            <a:ext cx="1426464" cy="310896"/>
          </a:xfrm>
          <a:prstGeom prst="roundRect">
            <a:avLst/>
          </a:prstGeom>
          <a:solidFill>
            <a:srgbClr val="E7DCFC"/>
          </a:solidFill>
          <a:ln w="10160">
            <a:solidFill>
              <a:srgbClr val="7C3AED"/>
            </a:solidFill>
          </a:ln>
        </p:spPr>
        <p:txBody>
          <a:bodyPr/>
          <a:lstStyle/>
          <a:p>
            <a:endParaRPr lang="en-US"/>
          </a:p>
        </p:txBody>
      </p:sp>
      <p:sp>
        <p:nvSpPr>
          <p:cNvPr id="45" name="Text 45"/>
          <p:cNvSpPr txBox="1"/>
          <p:nvPr/>
        </p:nvSpPr>
        <p:spPr>
          <a:xfrm>
            <a:off x="932688" y="5884164"/>
            <a:ext cx="1280160" cy="192024"/>
          </a:xfrm>
          <a:prstGeom prst="rect">
            <a:avLst/>
          </a:prstGeom>
          <a:noFill/>
          <a:ln>
            <a:noFill/>
          </a:ln>
        </p:spPr>
        <p:txBody>
          <a:bodyPr wrap="square" anchor="t" lIns="0" rIns="0" tIns="0" bIns="0"/>
          <a:lstStyle/>
          <a:p>
            <a:pPr algn="ctr"/>
            <a:r>
              <a:rPr lang="en-US" sz="920" b="1" i="0" dirty="0">
                <a:solidFill>
                  <a:srgbClr val="7C3AED"/>
                </a:solidFill>
                <a:latin typeface="Arial"/>
              </a:rPr>
              <a:t>INTERPRETATION</a:t>
            </a:r>
            <a:endParaRPr lang="en-US" sz="920"/>
          </a:p>
        </p:txBody>
      </p:sp>
      <p:sp>
        <p:nvSpPr>
          <p:cNvPr id="46" name="Text 46"/>
          <p:cNvSpPr txBox="1"/>
          <p:nvPr/>
        </p:nvSpPr>
        <p:spPr>
          <a:xfrm>
            <a:off x="2505456" y="5843016"/>
            <a:ext cx="8723376" cy="192024"/>
          </a:xfrm>
          <a:prstGeom prst="rect">
            <a:avLst/>
          </a:prstGeom>
          <a:noFill/>
          <a:ln>
            <a:noFill/>
          </a:ln>
        </p:spPr>
        <p:txBody>
          <a:bodyPr wrap="square" anchor="t" lIns="0" rIns="0" tIns="0" bIns="0"/>
          <a:lstStyle/>
          <a:p>
            <a:pPr algn="l"/>
            <a:r>
              <a:rPr lang="en-US" sz="1250" b="1" i="0" dirty="0">
                <a:solidFill>
                  <a:srgbClr val="7C3AED"/>
                </a:solidFill>
                <a:latin typeface="Arial"/>
              </a:rPr>
              <a:t>Maturity came from narrower ownership—not just more automation.</a:t>
            </a:r>
            <a:endParaRPr lang="en-US" sz="1250"/>
          </a:p>
        </p:txBody>
      </p:sp>
      <p:cxnSp>
        <p:nvCxnSpPr>
          <p:cNvPr id="47" name="Line 47"/>
          <p:cNvCxnSpPr/>
          <p:nvPr/>
        </p:nvCxnSpPr>
        <p:spPr>
          <a:xfrm flipH="false" flipV="false">
            <a:off x="621792" y="6473952"/>
            <a:ext cx="10954512" cy="0"/>
          </a:xfrm>
          <a:prstGeom prst="line">
            <a:avLst/>
          </a:prstGeom>
          <a:ln w="10160">
            <a:solidFill>
              <a:srgbClr val="D7DFEA"/>
            </a:solidFill>
          </a:ln>
        </p:spPr>
      </p:cxnSp>
      <p:sp>
        <p:nvSpPr>
          <p:cNvPr id="48" name="Text 48"/>
          <p:cNvSpPr txBox="1"/>
          <p:nvPr/>
        </p:nvSpPr>
        <p:spPr>
          <a:xfrm>
            <a:off x="640080" y="6510528"/>
            <a:ext cx="10469880" cy="201168"/>
          </a:xfrm>
          <a:prstGeom prst="rect">
            <a:avLst/>
          </a:prstGeom>
          <a:noFill/>
          <a:ln>
            <a:noFill/>
          </a:ln>
        </p:spPr>
        <p:txBody>
          <a:bodyPr wrap="square" anchor="t" lIns="0" rIns="0" tIns="0" bIns="0"/>
          <a:lstStyle/>
          <a:p>
            <a:pPr algn="l"/>
            <a:r>
              <a:rPr lang="en-US" sz="720" b="0" i="0" dirty="0">
                <a:solidFill>
                  <a:srgbClr val="56647A"/>
                </a:solidFill>
                <a:latin typeface="Arial"/>
              </a:rPr>
              <a:t>e52a3d0 • f1b095c • fd5c3b1 • 4209ee8 • d76575c</a:t>
            </a:r>
            <a:endParaRPr lang="en-US" sz="720"/>
          </a:p>
        </p:txBody>
      </p:sp>
      <p:sp>
        <p:nvSpPr>
          <p:cNvPr id="49" name="Text 49"/>
          <p:cNvSpPr txBox="1"/>
          <p:nvPr/>
        </p:nvSpPr>
        <p:spPr>
          <a:xfrm>
            <a:off x="11201400" y="6492240"/>
            <a:ext cx="329184" cy="201168"/>
          </a:xfrm>
          <a:prstGeom prst="rect">
            <a:avLst/>
          </a:prstGeom>
          <a:noFill/>
          <a:ln>
            <a:noFill/>
          </a:ln>
        </p:spPr>
        <p:txBody>
          <a:bodyPr wrap="square" anchor="t" lIns="0" rIns="0" tIns="0" bIns="0"/>
          <a:lstStyle/>
          <a:p>
            <a:pPr algn="r"/>
            <a:r>
              <a:rPr lang="en-US" sz="800" b="1" i="0" dirty="0">
                <a:solidFill>
                  <a:srgbClr val="56647A"/>
                </a:solidFill>
                <a:latin typeface="Arial"/>
              </a:rPr>
              <a:t>11</a:t>
            </a:r>
            <a:endParaRPr lang="en-US" sz="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F6F8FC"/>
          </a:solidFill>
          <a:ln w="12700">
            <a:solidFill>
              <a:srgbClr val="F6F8FC"/>
            </a:solidFill>
          </a:ln>
        </p:spPr>
        <p:txBody>
          <a:bodyPr/>
          <a:lstStyle/>
          <a:p>
            <a:endParaRPr lang="en-US"/>
          </a:p>
        </p:txBody>
      </p:sp>
      <p:sp>
        <p:nvSpPr>
          <p:cNvPr id="3" name="Text 3"/>
          <p:cNvSpPr txBox="1"/>
          <p:nvPr/>
        </p:nvSpPr>
        <p:spPr>
          <a:xfrm>
            <a:off x="621792" y="347472"/>
            <a:ext cx="10927080" cy="566928"/>
          </a:xfrm>
          <a:prstGeom prst="rect">
            <a:avLst/>
          </a:prstGeom>
          <a:noFill/>
          <a:ln>
            <a:noFill/>
          </a:ln>
        </p:spPr>
        <p:txBody>
          <a:bodyPr wrap="square" anchor="t" lIns="0" rIns="0" tIns="0" bIns="0"/>
          <a:lstStyle/>
          <a:p>
            <a:pPr algn="l"/>
            <a:r>
              <a:rPr lang="en-US" sz="2550" b="1" i="0" dirty="0">
                <a:solidFill>
                  <a:srgbClr val="14213D"/>
                </a:solidFill>
                <a:latin typeface="Arial"/>
              </a:rPr>
              <a:t>HEAD is broad; the next stage is disciplined reduction of coordination</a:t>
            </a:r>
            <a:endParaRPr lang="en-US" sz="2550"/>
          </a:p>
        </p:txBody>
      </p:sp>
      <p:sp>
        <p:nvSpPr>
          <p:cNvPr id="4" name="Text 4"/>
          <p:cNvSpPr txBox="1"/>
          <p:nvPr/>
        </p:nvSpPr>
        <p:spPr>
          <a:xfrm>
            <a:off x="640080" y="932688"/>
            <a:ext cx="10881360" cy="310896"/>
          </a:xfrm>
          <a:prstGeom prst="rect">
            <a:avLst/>
          </a:prstGeom>
          <a:noFill/>
          <a:ln>
            <a:noFill/>
          </a:ln>
        </p:spPr>
        <p:txBody>
          <a:bodyPr wrap="square" anchor="t" lIns="0" rIns="0" tIns="0" bIns="0"/>
          <a:lstStyle/>
          <a:p>
            <a:pPr algn="l"/>
            <a:r>
              <a:rPr lang="en-US" sz="1250" b="0" i="0" dirty="0">
                <a:solidFill>
                  <a:srgbClr val="56647A"/>
                </a:solidFill>
                <a:latin typeface="Arial"/>
              </a:rPr>
              <a:t>Current breadth is measurable; the next design question is qualitative</a:t>
            </a:r>
            <a:endParaRPr lang="en-US" sz="1250"/>
          </a:p>
        </p:txBody>
      </p:sp>
      <p:sp>
        <p:nvSpPr>
          <p:cNvPr id="5" name="Ellipse 5"/>
          <p:cNvSpPr/>
          <p:nvPr/>
        </p:nvSpPr>
        <p:spPr>
          <a:xfrm>
            <a:off x="841248" y="1481328"/>
            <a:ext cx="4343400" cy="4343400"/>
          </a:xfrm>
          <a:prstGeom prst="ellipse">
            <a:avLst/>
          </a:prstGeom>
          <a:solidFill>
            <a:srgbClr val="FFFFFF"/>
          </a:solidFill>
          <a:ln w="15240">
            <a:solidFill>
              <a:srgbClr val="D7DFEA"/>
            </a:solidFill>
          </a:ln>
        </p:spPr>
        <p:txBody>
          <a:bodyPr/>
          <a:lstStyle/>
          <a:p>
            <a:endParaRPr lang="en-US"/>
          </a:p>
        </p:txBody>
      </p:sp>
      <p:sp>
        <p:nvSpPr>
          <p:cNvPr id="6" name="Rect 6"/>
          <p:cNvSpPr/>
          <p:nvPr/>
        </p:nvSpPr>
        <p:spPr>
          <a:xfrm>
            <a:off x="2500884" y="1879092"/>
            <a:ext cx="1024128" cy="512064"/>
          </a:xfrm>
          <a:prstGeom prst="roundRect">
            <a:avLst/>
          </a:prstGeom>
          <a:solidFill>
            <a:srgbClr val="DEEAFD"/>
          </a:solidFill>
          <a:ln w="12700">
            <a:solidFill>
              <a:srgbClr val="3B82F6"/>
            </a:solidFill>
          </a:ln>
        </p:spPr>
        <p:txBody>
          <a:bodyPr/>
          <a:lstStyle/>
          <a:p>
            <a:endParaRPr lang="en-US"/>
          </a:p>
        </p:txBody>
      </p:sp>
      <p:sp>
        <p:nvSpPr>
          <p:cNvPr id="7" name="Text 7"/>
          <p:cNvSpPr txBox="1"/>
          <p:nvPr/>
        </p:nvSpPr>
        <p:spPr>
          <a:xfrm>
            <a:off x="2574036" y="2034540"/>
            <a:ext cx="877824" cy="173736"/>
          </a:xfrm>
          <a:prstGeom prst="rect">
            <a:avLst/>
          </a:prstGeom>
          <a:noFill/>
          <a:ln>
            <a:noFill/>
          </a:ln>
        </p:spPr>
        <p:txBody>
          <a:bodyPr wrap="square" anchor="t" lIns="0" rIns="0" tIns="0" bIns="0"/>
          <a:lstStyle/>
          <a:p>
            <a:pPr algn="ctr"/>
            <a:r>
              <a:rPr lang="en-US" sz="870" b="1" i="0" dirty="0">
                <a:solidFill>
                  <a:srgbClr val="3B82F6"/>
                </a:solidFill>
                <a:latin typeface="Arial"/>
              </a:rPr>
              <a:t>Protect</a:t>
            </a:r>
            <a:endParaRPr lang="en-US" sz="870"/>
          </a:p>
        </p:txBody>
      </p:sp>
      <p:cxnSp>
        <p:nvCxnSpPr>
          <p:cNvPr id="8" name="Line 8"/>
          <p:cNvCxnSpPr/>
          <p:nvPr/>
        </p:nvCxnSpPr>
        <p:spPr>
          <a:xfrm flipH="false" flipV="true">
            <a:off x="3012948" y="2135124"/>
            <a:ext cx="0" cy="1517904"/>
          </a:xfrm>
          <a:prstGeom prst="line">
            <a:avLst/>
          </a:prstGeom>
          <a:ln w="10160">
            <a:solidFill>
              <a:srgbClr val="9DC0FA"/>
            </a:solidFill>
          </a:ln>
        </p:spPr>
      </p:cxnSp>
      <p:sp>
        <p:nvSpPr>
          <p:cNvPr id="9" name="Rect 9"/>
          <p:cNvSpPr/>
          <p:nvPr/>
        </p:nvSpPr>
        <p:spPr>
          <a:xfrm>
            <a:off x="3687629" y="2450598"/>
            <a:ext cx="1024128" cy="512064"/>
          </a:xfrm>
          <a:prstGeom prst="roundRect">
            <a:avLst/>
          </a:prstGeom>
          <a:solidFill>
            <a:srgbClr val="D5F3F8"/>
          </a:solidFill>
          <a:ln w="12700">
            <a:solidFill>
              <a:srgbClr val="06B6D4"/>
            </a:solidFill>
          </a:ln>
        </p:spPr>
        <p:txBody>
          <a:bodyPr/>
          <a:lstStyle/>
          <a:p>
            <a:endParaRPr lang="en-US"/>
          </a:p>
        </p:txBody>
      </p:sp>
      <p:sp>
        <p:nvSpPr>
          <p:cNvPr id="10" name="Text 10"/>
          <p:cNvSpPr txBox="1"/>
          <p:nvPr/>
        </p:nvSpPr>
        <p:spPr>
          <a:xfrm>
            <a:off x="3760781" y="2606046"/>
            <a:ext cx="877824" cy="173736"/>
          </a:xfrm>
          <a:prstGeom prst="rect">
            <a:avLst/>
          </a:prstGeom>
          <a:noFill/>
          <a:ln>
            <a:noFill/>
          </a:ln>
        </p:spPr>
        <p:txBody>
          <a:bodyPr wrap="square" anchor="t" lIns="0" rIns="0" tIns="0" bIns="0"/>
          <a:lstStyle/>
          <a:p>
            <a:pPr algn="ctr"/>
            <a:r>
              <a:rPr lang="en-US" sz="870" b="1" i="0" dirty="0">
                <a:solidFill>
                  <a:srgbClr val="06B6D4"/>
                </a:solidFill>
                <a:latin typeface="Arial"/>
              </a:rPr>
              <a:t>Observe</a:t>
            </a:r>
            <a:endParaRPr lang="en-US" sz="870"/>
          </a:p>
        </p:txBody>
      </p:sp>
      <p:cxnSp>
        <p:nvCxnSpPr>
          <p:cNvPr id="11" name="Line 11"/>
          <p:cNvCxnSpPr/>
          <p:nvPr/>
        </p:nvCxnSpPr>
        <p:spPr>
          <a:xfrm flipH="false" flipV="true">
            <a:off x="3012948" y="2706630"/>
            <a:ext cx="1186745" cy="946398"/>
          </a:xfrm>
          <a:prstGeom prst="line">
            <a:avLst/>
          </a:prstGeom>
          <a:ln w="10160">
            <a:solidFill>
              <a:srgbClr val="82DAEA"/>
            </a:solidFill>
          </a:ln>
        </p:spPr>
      </p:cxnSp>
      <p:sp>
        <p:nvSpPr>
          <p:cNvPr id="12" name="Rect 12"/>
          <p:cNvSpPr/>
          <p:nvPr/>
        </p:nvSpPr>
        <p:spPr>
          <a:xfrm>
            <a:off x="3980731" y="3734761"/>
            <a:ext cx="1024128" cy="512064"/>
          </a:xfrm>
          <a:prstGeom prst="roundRect">
            <a:avLst/>
          </a:prstGeom>
          <a:solidFill>
            <a:srgbClr val="D6EDEB"/>
          </a:solidFill>
          <a:ln w="12700">
            <a:solidFill>
              <a:srgbClr val="0D9488"/>
            </a:solidFill>
          </a:ln>
        </p:spPr>
        <p:txBody>
          <a:bodyPr/>
          <a:lstStyle/>
          <a:p>
            <a:endParaRPr lang="en-US"/>
          </a:p>
        </p:txBody>
      </p:sp>
      <p:sp>
        <p:nvSpPr>
          <p:cNvPr id="13" name="Text 13"/>
          <p:cNvSpPr txBox="1"/>
          <p:nvPr/>
        </p:nvSpPr>
        <p:spPr>
          <a:xfrm>
            <a:off x="4053883" y="3890209"/>
            <a:ext cx="877824" cy="173736"/>
          </a:xfrm>
          <a:prstGeom prst="rect">
            <a:avLst/>
          </a:prstGeom>
          <a:noFill/>
          <a:ln>
            <a:noFill/>
          </a:ln>
        </p:spPr>
        <p:txBody>
          <a:bodyPr wrap="square" anchor="t" lIns="0" rIns="0" tIns="0" bIns="0"/>
          <a:lstStyle/>
          <a:p>
            <a:pPr algn="ctr"/>
            <a:r>
              <a:rPr lang="en-US" sz="870" b="1" i="0" dirty="0">
                <a:solidFill>
                  <a:srgbClr val="0D9488"/>
                </a:solidFill>
                <a:latin typeface="Arial"/>
              </a:rPr>
              <a:t>Transact</a:t>
            </a:r>
            <a:endParaRPr lang="en-US" sz="870"/>
          </a:p>
        </p:txBody>
      </p:sp>
      <p:cxnSp>
        <p:nvCxnSpPr>
          <p:cNvPr id="14" name="Line 14"/>
          <p:cNvCxnSpPr/>
          <p:nvPr/>
        </p:nvCxnSpPr>
        <p:spPr>
          <a:xfrm flipH="false" flipV="false">
            <a:off x="3012948" y="3653028"/>
            <a:ext cx="1479847" cy="337765"/>
          </a:xfrm>
          <a:prstGeom prst="line">
            <a:avLst/>
          </a:prstGeom>
          <a:ln w="10160">
            <a:solidFill>
              <a:srgbClr val="86CAC4"/>
            </a:solidFill>
          </a:ln>
        </p:spPr>
      </p:cxnSp>
      <p:sp>
        <p:nvSpPr>
          <p:cNvPr id="15" name="Rect 15"/>
          <p:cNvSpPr/>
          <p:nvPr/>
        </p:nvSpPr>
        <p:spPr>
          <a:xfrm>
            <a:off x="3159478" y="4764580"/>
            <a:ext cx="1024128" cy="512064"/>
          </a:xfrm>
          <a:prstGeom prst="roundRect">
            <a:avLst/>
          </a:prstGeom>
          <a:solidFill>
            <a:srgbClr val="FDEFD6"/>
          </a:solidFill>
          <a:ln w="12700">
            <a:solidFill>
              <a:srgbClr val="F59E0B"/>
            </a:solidFill>
          </a:ln>
        </p:spPr>
        <p:txBody>
          <a:bodyPr/>
          <a:lstStyle/>
          <a:p>
            <a:endParaRPr lang="en-US"/>
          </a:p>
        </p:txBody>
      </p:sp>
      <p:sp>
        <p:nvSpPr>
          <p:cNvPr id="16" name="Text 16"/>
          <p:cNvSpPr txBox="1"/>
          <p:nvPr/>
        </p:nvSpPr>
        <p:spPr>
          <a:xfrm>
            <a:off x="3232630" y="4920028"/>
            <a:ext cx="877824" cy="173736"/>
          </a:xfrm>
          <a:prstGeom prst="rect">
            <a:avLst/>
          </a:prstGeom>
          <a:noFill/>
          <a:ln>
            <a:noFill/>
          </a:ln>
        </p:spPr>
        <p:txBody>
          <a:bodyPr wrap="square" anchor="t" lIns="0" rIns="0" tIns="0" bIns="0"/>
          <a:lstStyle/>
          <a:p>
            <a:pPr algn="ctr"/>
            <a:r>
              <a:rPr lang="en-US" sz="870" b="1" i="0" dirty="0">
                <a:solidFill>
                  <a:srgbClr val="F59E0B"/>
                </a:solidFill>
                <a:latin typeface="Arial"/>
              </a:rPr>
              <a:t>Recover</a:t>
            </a:r>
            <a:endParaRPr lang="en-US" sz="870"/>
          </a:p>
        </p:txBody>
      </p:sp>
      <p:cxnSp>
        <p:nvCxnSpPr>
          <p:cNvPr id="17" name="Line 17"/>
          <p:cNvCxnSpPr/>
          <p:nvPr/>
        </p:nvCxnSpPr>
        <p:spPr>
          <a:xfrm flipH="false" flipV="false">
            <a:off x="3012948" y="3653028"/>
            <a:ext cx="658594" cy="1367584"/>
          </a:xfrm>
          <a:prstGeom prst="line">
            <a:avLst/>
          </a:prstGeom>
          <a:ln w="10160">
            <a:solidFill>
              <a:srgbClr val="FACE85"/>
            </a:solidFill>
          </a:ln>
        </p:spPr>
      </p:cxnSp>
      <p:sp>
        <p:nvSpPr>
          <p:cNvPr id="18" name="Rect 18"/>
          <p:cNvSpPr/>
          <p:nvPr/>
        </p:nvSpPr>
        <p:spPr>
          <a:xfrm>
            <a:off x="1842290" y="4764580"/>
            <a:ext cx="1024128" cy="512064"/>
          </a:xfrm>
          <a:prstGeom prst="roundRect">
            <a:avLst/>
          </a:prstGeom>
          <a:solidFill>
            <a:srgbClr val="E9DEFC"/>
          </a:solidFill>
          <a:ln w="12700">
            <a:solidFill>
              <a:srgbClr val="7C3AED"/>
            </a:solidFill>
          </a:ln>
        </p:spPr>
        <p:txBody>
          <a:bodyPr/>
          <a:lstStyle/>
          <a:p>
            <a:endParaRPr lang="en-US"/>
          </a:p>
        </p:txBody>
      </p:sp>
      <p:sp>
        <p:nvSpPr>
          <p:cNvPr id="19" name="Text 19"/>
          <p:cNvSpPr txBox="1"/>
          <p:nvPr/>
        </p:nvSpPr>
        <p:spPr>
          <a:xfrm>
            <a:off x="1915442" y="4920028"/>
            <a:ext cx="877824" cy="173736"/>
          </a:xfrm>
          <a:prstGeom prst="rect">
            <a:avLst/>
          </a:prstGeom>
          <a:noFill/>
          <a:ln>
            <a:noFill/>
          </a:ln>
        </p:spPr>
        <p:txBody>
          <a:bodyPr wrap="square" anchor="t" lIns="0" rIns="0" tIns="0" bIns="0"/>
          <a:lstStyle/>
          <a:p>
            <a:pPr algn="ctr"/>
            <a:r>
              <a:rPr lang="en-US" sz="870" b="1" i="0" dirty="0">
                <a:solidFill>
                  <a:srgbClr val="7C3AED"/>
                </a:solidFill>
                <a:latin typeface="Arial"/>
              </a:rPr>
              <a:t>Measure</a:t>
            </a:r>
            <a:endParaRPr lang="en-US" sz="870"/>
          </a:p>
        </p:txBody>
      </p:sp>
      <p:cxnSp>
        <p:nvCxnSpPr>
          <p:cNvPr id="20" name="Line 20"/>
          <p:cNvCxnSpPr/>
          <p:nvPr/>
        </p:nvCxnSpPr>
        <p:spPr>
          <a:xfrm flipH="true" flipV="false">
            <a:off x="2354354" y="3653028"/>
            <a:ext cx="658594" cy="1367584"/>
          </a:xfrm>
          <a:prstGeom prst="line">
            <a:avLst/>
          </a:prstGeom>
          <a:ln w="10160">
            <a:solidFill>
              <a:srgbClr val="BE9CF6"/>
            </a:solidFill>
          </a:ln>
        </p:spPr>
      </p:cxnSp>
      <p:sp>
        <p:nvSpPr>
          <p:cNvPr id="21" name="Rect 21"/>
          <p:cNvSpPr/>
          <p:nvPr/>
        </p:nvSpPr>
        <p:spPr>
          <a:xfrm>
            <a:off x="1021037" y="3734761"/>
            <a:ext cx="1024128" cy="512064"/>
          </a:xfrm>
          <a:prstGeom prst="roundRect">
            <a:avLst/>
          </a:prstGeom>
          <a:solidFill>
            <a:srgbClr val="F9DAE8"/>
          </a:solidFill>
          <a:ln w="12700">
            <a:solidFill>
              <a:srgbClr val="DB2777"/>
            </a:solidFill>
          </a:ln>
        </p:spPr>
        <p:txBody>
          <a:bodyPr/>
          <a:lstStyle/>
          <a:p>
            <a:endParaRPr lang="en-US"/>
          </a:p>
        </p:txBody>
      </p:sp>
      <p:sp>
        <p:nvSpPr>
          <p:cNvPr id="22" name="Text 22"/>
          <p:cNvSpPr txBox="1"/>
          <p:nvPr/>
        </p:nvSpPr>
        <p:spPr>
          <a:xfrm>
            <a:off x="1094189" y="3890209"/>
            <a:ext cx="877824" cy="173736"/>
          </a:xfrm>
          <a:prstGeom prst="rect">
            <a:avLst/>
          </a:prstGeom>
          <a:noFill/>
          <a:ln>
            <a:noFill/>
          </a:ln>
        </p:spPr>
        <p:txBody>
          <a:bodyPr wrap="square" anchor="t" lIns="0" rIns="0" tIns="0" bIns="0"/>
          <a:lstStyle/>
          <a:p>
            <a:pPr algn="ctr"/>
            <a:r>
              <a:rPr lang="en-US" sz="870" b="1" i="0" dirty="0">
                <a:solidFill>
                  <a:srgbClr val="DB2777"/>
                </a:solidFill>
                <a:latin typeface="Arial"/>
              </a:rPr>
              <a:t>Expand</a:t>
            </a:r>
            <a:endParaRPr lang="en-US" sz="870"/>
          </a:p>
        </p:txBody>
      </p:sp>
      <p:cxnSp>
        <p:nvCxnSpPr>
          <p:cNvPr id="23" name="Line 23"/>
          <p:cNvCxnSpPr/>
          <p:nvPr/>
        </p:nvCxnSpPr>
        <p:spPr>
          <a:xfrm flipH="true" flipV="false">
            <a:off x="1533101" y="3653028"/>
            <a:ext cx="1479847" cy="337765"/>
          </a:xfrm>
          <a:prstGeom prst="line">
            <a:avLst/>
          </a:prstGeom>
          <a:ln w="10160">
            <a:solidFill>
              <a:srgbClr val="ED93BB"/>
            </a:solidFill>
          </a:ln>
        </p:spPr>
      </p:cxnSp>
      <p:sp>
        <p:nvSpPr>
          <p:cNvPr id="24" name="Rect 24"/>
          <p:cNvSpPr/>
          <p:nvPr/>
        </p:nvSpPr>
        <p:spPr>
          <a:xfrm>
            <a:off x="1314139" y="2450598"/>
            <a:ext cx="1024128" cy="512064"/>
          </a:xfrm>
          <a:prstGeom prst="roundRect">
            <a:avLst/>
          </a:prstGeom>
          <a:solidFill>
            <a:srgbClr val="D7EFE0"/>
          </a:solidFill>
          <a:ln w="12700">
            <a:solidFill>
              <a:srgbClr val="16A34A"/>
            </a:solidFill>
          </a:ln>
        </p:spPr>
        <p:txBody>
          <a:bodyPr/>
          <a:lstStyle/>
          <a:p>
            <a:endParaRPr lang="en-US"/>
          </a:p>
        </p:txBody>
      </p:sp>
      <p:sp>
        <p:nvSpPr>
          <p:cNvPr id="25" name="Text 25"/>
          <p:cNvSpPr txBox="1"/>
          <p:nvPr/>
        </p:nvSpPr>
        <p:spPr>
          <a:xfrm>
            <a:off x="1387291" y="2606046"/>
            <a:ext cx="877824" cy="173736"/>
          </a:xfrm>
          <a:prstGeom prst="rect">
            <a:avLst/>
          </a:prstGeom>
          <a:noFill/>
          <a:ln>
            <a:noFill/>
          </a:ln>
        </p:spPr>
        <p:txBody>
          <a:bodyPr wrap="square" anchor="t" lIns="0" rIns="0" tIns="0" bIns="0"/>
          <a:lstStyle/>
          <a:p>
            <a:pPr algn="ctr"/>
            <a:r>
              <a:rPr lang="en-US" sz="870" b="1" i="0" dirty="0">
                <a:solidFill>
                  <a:srgbClr val="16A34A"/>
                </a:solidFill>
                <a:latin typeface="Arial"/>
              </a:rPr>
              <a:t>Collaborate</a:t>
            </a:r>
            <a:endParaRPr lang="en-US" sz="870"/>
          </a:p>
        </p:txBody>
      </p:sp>
      <p:cxnSp>
        <p:nvCxnSpPr>
          <p:cNvPr id="26" name="Line 26"/>
          <p:cNvCxnSpPr/>
          <p:nvPr/>
        </p:nvCxnSpPr>
        <p:spPr>
          <a:xfrm flipH="true" flipV="true">
            <a:off x="1826203" y="2706630"/>
            <a:ext cx="1186745" cy="946398"/>
          </a:xfrm>
          <a:prstGeom prst="line">
            <a:avLst/>
          </a:prstGeom>
          <a:ln w="10160">
            <a:solidFill>
              <a:srgbClr val="8AD1A4"/>
            </a:solidFill>
          </a:ln>
        </p:spPr>
      </p:cxnSp>
      <p:sp>
        <p:nvSpPr>
          <p:cNvPr id="27" name="Ellipse 27"/>
          <p:cNvSpPr/>
          <p:nvPr/>
        </p:nvSpPr>
        <p:spPr>
          <a:xfrm>
            <a:off x="2157984" y="2788920"/>
            <a:ext cx="1709928" cy="1709928"/>
          </a:xfrm>
          <a:prstGeom prst="ellipse">
            <a:avLst/>
          </a:prstGeom>
          <a:solidFill>
            <a:srgbClr val="08152F"/>
          </a:solidFill>
          <a:ln w="12700">
            <a:solidFill>
              <a:srgbClr val="08152F"/>
            </a:solidFill>
          </a:ln>
        </p:spPr>
        <p:txBody>
          <a:bodyPr/>
          <a:lstStyle/>
          <a:p>
            <a:endParaRPr lang="en-US"/>
          </a:p>
        </p:txBody>
      </p:sp>
      <p:sp>
        <p:nvSpPr>
          <p:cNvPr id="28" name="Text 28"/>
          <p:cNvSpPr txBox="1"/>
          <p:nvPr/>
        </p:nvSpPr>
        <p:spPr>
          <a:xfrm>
            <a:off x="2441448" y="3182112"/>
            <a:ext cx="1143000" cy="329184"/>
          </a:xfrm>
          <a:prstGeom prst="rect">
            <a:avLst/>
          </a:prstGeom>
          <a:noFill/>
          <a:ln>
            <a:noFill/>
          </a:ln>
        </p:spPr>
        <p:txBody>
          <a:bodyPr wrap="square" anchor="t" lIns="0" rIns="0" tIns="0" bIns="0"/>
          <a:lstStyle/>
          <a:p>
            <a:pPr algn="ctr"/>
            <a:r>
              <a:rPr lang="en-US" sz="2200" b="1" i="0" dirty="0">
                <a:solidFill>
                  <a:srgbClr val="FFFFFF"/>
                </a:solidFill>
                <a:latin typeface="Arial"/>
              </a:rPr>
              <a:t>HEAD</a:t>
            </a:r>
            <a:endParaRPr lang="en-US" sz="2200"/>
          </a:p>
        </p:txBody>
      </p:sp>
      <p:sp>
        <p:nvSpPr>
          <p:cNvPr id="29" name="Text 29"/>
          <p:cNvSpPr txBox="1"/>
          <p:nvPr/>
        </p:nvSpPr>
        <p:spPr>
          <a:xfrm>
            <a:off x="2386584" y="3602736"/>
            <a:ext cx="1252728" cy="320040"/>
          </a:xfrm>
          <a:prstGeom prst="rect">
            <a:avLst/>
          </a:prstGeom>
          <a:noFill/>
          <a:ln>
            <a:noFill/>
          </a:ln>
        </p:spPr>
        <p:txBody>
          <a:bodyPr wrap="square" anchor="t" lIns="0" rIns="0" tIns="0" bIns="0"/>
          <a:lstStyle/>
          <a:p>
            <a:pPr algn="ctr"/>
            <a:r>
              <a:rPr lang="en-US" sz="960" b="0" i="0" dirty="0">
                <a:solidFill>
                  <a:srgbClr val="B8C8DE"/>
                </a:solidFill>
                <a:latin typeface="Arial"/>
              </a:rPr>
              <a:t>explicit control</a:t>
            </a:r>
            <a:endParaRPr lang="en-US" sz="960"/>
          </a:p>
          <a:p>
            <a:pPr algn="ctr"/>
            <a:r>
              <a:rPr lang="en-US" sz="960" b="0" i="0" dirty="0">
                <a:solidFill>
                  <a:srgbClr val="B8C8DE"/>
                </a:solidFill>
                <a:latin typeface="Arial"/>
              </a:rPr>
              <a:t>boundaries</a:t>
            </a:r>
            <a:endParaRPr lang="en-US" sz="960"/>
          </a:p>
        </p:txBody>
      </p:sp>
      <p:sp>
        <p:nvSpPr>
          <p:cNvPr id="30" name="Text 30"/>
          <p:cNvSpPr txBox="1"/>
          <p:nvPr/>
        </p:nvSpPr>
        <p:spPr>
          <a:xfrm>
            <a:off x="713232" y="5897880"/>
            <a:ext cx="969264" cy="283464"/>
          </a:xfrm>
          <a:prstGeom prst="rect">
            <a:avLst/>
          </a:prstGeom>
          <a:noFill/>
          <a:ln>
            <a:noFill/>
          </a:ln>
        </p:spPr>
        <p:txBody>
          <a:bodyPr wrap="square" anchor="t" lIns="0" rIns="0" tIns="0" bIns="0"/>
          <a:lstStyle/>
          <a:p>
            <a:pPr algn="ctr"/>
            <a:r>
              <a:rPr lang="en-US" sz="1900" b="1" i="0" dirty="0">
                <a:solidFill>
                  <a:srgbClr val="3B82F6"/>
                </a:solidFill>
                <a:latin typeface="Arial"/>
              </a:rPr>
              <a:t>12</a:t>
            </a:r>
            <a:endParaRPr lang="en-US" sz="1900"/>
          </a:p>
        </p:txBody>
      </p:sp>
      <p:sp>
        <p:nvSpPr>
          <p:cNvPr id="31" name="Text 31"/>
          <p:cNvSpPr txBox="1"/>
          <p:nvPr/>
        </p:nvSpPr>
        <p:spPr>
          <a:xfrm>
            <a:off x="713232" y="6190488"/>
            <a:ext cx="969264" cy="146304"/>
          </a:xfrm>
          <a:prstGeom prst="rect">
            <a:avLst/>
          </a:prstGeom>
          <a:noFill/>
          <a:ln>
            <a:noFill/>
          </a:ln>
        </p:spPr>
        <p:txBody>
          <a:bodyPr wrap="square" anchor="t" lIns="0" rIns="0" tIns="0" bIns="0"/>
          <a:lstStyle/>
          <a:p>
            <a:pPr algn="ctr"/>
            <a:r>
              <a:rPr lang="en-US" sz="770" b="0" i="0" dirty="0">
                <a:solidFill>
                  <a:srgbClr val="56647A"/>
                </a:solidFill>
                <a:latin typeface="Arial"/>
              </a:rPr>
              <a:t>skills</a:t>
            </a:r>
            <a:endParaRPr lang="en-US" sz="770"/>
          </a:p>
        </p:txBody>
      </p:sp>
      <p:sp>
        <p:nvSpPr>
          <p:cNvPr id="32" name="Text 32"/>
          <p:cNvSpPr txBox="1"/>
          <p:nvPr/>
        </p:nvSpPr>
        <p:spPr>
          <a:xfrm>
            <a:off x="1920240" y="5897880"/>
            <a:ext cx="969264" cy="283464"/>
          </a:xfrm>
          <a:prstGeom prst="rect">
            <a:avLst/>
          </a:prstGeom>
          <a:noFill/>
          <a:ln>
            <a:noFill/>
          </a:ln>
        </p:spPr>
        <p:txBody>
          <a:bodyPr wrap="square" anchor="t" lIns="0" rIns="0" tIns="0" bIns="0"/>
          <a:lstStyle/>
          <a:p>
            <a:pPr algn="ctr"/>
            <a:r>
              <a:rPr lang="en-US" sz="1900" b="1" i="0" dirty="0">
                <a:solidFill>
                  <a:srgbClr val="0D9488"/>
                </a:solidFill>
                <a:latin typeface="Arial"/>
              </a:rPr>
              <a:t>43</a:t>
            </a:r>
            <a:endParaRPr lang="en-US" sz="1900"/>
          </a:p>
        </p:txBody>
      </p:sp>
      <p:sp>
        <p:nvSpPr>
          <p:cNvPr id="33" name="Text 33"/>
          <p:cNvSpPr txBox="1"/>
          <p:nvPr/>
        </p:nvSpPr>
        <p:spPr>
          <a:xfrm>
            <a:off x="1920240" y="6190488"/>
            <a:ext cx="969264" cy="146304"/>
          </a:xfrm>
          <a:prstGeom prst="rect">
            <a:avLst/>
          </a:prstGeom>
          <a:noFill/>
          <a:ln>
            <a:noFill/>
          </a:ln>
        </p:spPr>
        <p:txBody>
          <a:bodyPr wrap="square" anchor="t" lIns="0" rIns="0" tIns="0" bIns="0"/>
          <a:lstStyle/>
          <a:p>
            <a:pPr algn="ctr"/>
            <a:r>
              <a:rPr lang="en-US" sz="770" b="0" i="0" dirty="0">
                <a:solidFill>
                  <a:srgbClr val="56647A"/>
                </a:solidFill>
                <a:latin typeface="Arial"/>
              </a:rPr>
              <a:t>commands</a:t>
            </a:r>
            <a:endParaRPr lang="en-US" sz="770"/>
          </a:p>
        </p:txBody>
      </p:sp>
      <p:sp>
        <p:nvSpPr>
          <p:cNvPr id="34" name="Text 34"/>
          <p:cNvSpPr txBox="1"/>
          <p:nvPr/>
        </p:nvSpPr>
        <p:spPr>
          <a:xfrm>
            <a:off x="3127248" y="5897880"/>
            <a:ext cx="969264" cy="283464"/>
          </a:xfrm>
          <a:prstGeom prst="rect">
            <a:avLst/>
          </a:prstGeom>
          <a:noFill/>
          <a:ln>
            <a:noFill/>
          </a:ln>
        </p:spPr>
        <p:txBody>
          <a:bodyPr wrap="square" anchor="t" lIns="0" rIns="0" tIns="0" bIns="0"/>
          <a:lstStyle/>
          <a:p>
            <a:pPr algn="ctr"/>
            <a:r>
              <a:rPr lang="en-US" sz="1900" b="1" i="0" dirty="0">
                <a:solidFill>
                  <a:srgbClr val="7C3AED"/>
                </a:solidFill>
                <a:latin typeface="Arial"/>
              </a:rPr>
              <a:t>57</a:t>
            </a:r>
            <a:endParaRPr lang="en-US" sz="1900"/>
          </a:p>
        </p:txBody>
      </p:sp>
      <p:sp>
        <p:nvSpPr>
          <p:cNvPr id="35" name="Text 35"/>
          <p:cNvSpPr txBox="1"/>
          <p:nvPr/>
        </p:nvSpPr>
        <p:spPr>
          <a:xfrm>
            <a:off x="3127248" y="6190488"/>
            <a:ext cx="969264" cy="146304"/>
          </a:xfrm>
          <a:prstGeom prst="rect">
            <a:avLst/>
          </a:prstGeom>
          <a:noFill/>
          <a:ln>
            <a:noFill/>
          </a:ln>
        </p:spPr>
        <p:txBody>
          <a:bodyPr wrap="square" anchor="t" lIns="0" rIns="0" tIns="0" bIns="0"/>
          <a:lstStyle/>
          <a:p>
            <a:pPr algn="ctr"/>
            <a:r>
              <a:rPr lang="en-US" sz="770" b="0" i="0" dirty="0">
                <a:solidFill>
                  <a:srgbClr val="56647A"/>
                </a:solidFill>
                <a:latin typeface="Arial"/>
              </a:rPr>
              <a:t>focused suites</a:t>
            </a:r>
            <a:endParaRPr lang="en-US" sz="770"/>
          </a:p>
        </p:txBody>
      </p:sp>
      <p:sp>
        <p:nvSpPr>
          <p:cNvPr id="36" name="Text 36"/>
          <p:cNvSpPr txBox="1"/>
          <p:nvPr/>
        </p:nvSpPr>
        <p:spPr>
          <a:xfrm>
            <a:off x="4334256" y="5897880"/>
            <a:ext cx="969264" cy="283464"/>
          </a:xfrm>
          <a:prstGeom prst="rect">
            <a:avLst/>
          </a:prstGeom>
          <a:noFill/>
          <a:ln>
            <a:noFill/>
          </a:ln>
        </p:spPr>
        <p:txBody>
          <a:bodyPr wrap="square" anchor="t" lIns="0" rIns="0" tIns="0" bIns="0"/>
          <a:lstStyle/>
          <a:p>
            <a:pPr algn="ctr"/>
            <a:r>
              <a:rPr lang="en-US" sz="1900" b="1" i="0" dirty="0">
                <a:solidFill>
                  <a:srgbClr val="16A34A"/>
                </a:solidFill>
                <a:latin typeface="Arial"/>
              </a:rPr>
              <a:t>7</a:t>
            </a:r>
            <a:endParaRPr lang="en-US" sz="1900"/>
          </a:p>
        </p:txBody>
      </p:sp>
      <p:sp>
        <p:nvSpPr>
          <p:cNvPr id="37" name="Text 37"/>
          <p:cNvSpPr txBox="1"/>
          <p:nvPr/>
        </p:nvSpPr>
        <p:spPr>
          <a:xfrm>
            <a:off x="4334256" y="6190488"/>
            <a:ext cx="969264" cy="146304"/>
          </a:xfrm>
          <a:prstGeom prst="rect">
            <a:avLst/>
          </a:prstGeom>
          <a:noFill/>
          <a:ln>
            <a:noFill/>
          </a:ln>
        </p:spPr>
        <p:txBody>
          <a:bodyPr wrap="square" anchor="t" lIns="0" rIns="0" tIns="0" bIns="0"/>
          <a:lstStyle/>
          <a:p>
            <a:pPr algn="ctr"/>
            <a:r>
              <a:rPr lang="en-US" sz="770" b="0" i="0" dirty="0">
                <a:solidFill>
                  <a:srgbClr val="56647A"/>
                </a:solidFill>
                <a:latin typeface="Arial"/>
              </a:rPr>
              <a:t>Linux hosts</a:t>
            </a:r>
            <a:endParaRPr lang="en-US" sz="770"/>
          </a:p>
        </p:txBody>
      </p:sp>
      <p:sp>
        <p:nvSpPr>
          <p:cNvPr id="38" name="Text 38"/>
          <p:cNvSpPr txBox="1"/>
          <p:nvPr/>
        </p:nvSpPr>
        <p:spPr>
          <a:xfrm>
            <a:off x="5605272" y="1444752"/>
            <a:ext cx="5623560" cy="329184"/>
          </a:xfrm>
          <a:prstGeom prst="rect">
            <a:avLst/>
          </a:prstGeom>
          <a:noFill/>
          <a:ln>
            <a:noFill/>
          </a:ln>
        </p:spPr>
        <p:txBody>
          <a:bodyPr wrap="square" anchor="t" lIns="0" rIns="0" tIns="0" bIns="0"/>
          <a:lstStyle/>
          <a:p>
            <a:pPr algn="l"/>
            <a:r>
              <a:rPr lang="en-US" sz="1900" b="1" i="0" dirty="0">
                <a:solidFill>
                  <a:srgbClr val="14213D"/>
                </a:solidFill>
                <a:latin typeface="Arial"/>
              </a:rPr>
              <a:t>Three open questions</a:t>
            </a:r>
            <a:endParaRPr lang="en-US" sz="1900"/>
          </a:p>
        </p:txBody>
      </p:sp>
      <p:sp>
        <p:nvSpPr>
          <p:cNvPr id="39" name="Rect 39"/>
          <p:cNvSpPr/>
          <p:nvPr/>
        </p:nvSpPr>
        <p:spPr>
          <a:xfrm>
            <a:off x="5577840" y="1993392"/>
            <a:ext cx="5650992" cy="914400"/>
          </a:xfrm>
          <a:prstGeom prst="roundRect">
            <a:avLst/>
          </a:prstGeom>
          <a:solidFill>
            <a:srgbClr val="FFFFFF"/>
          </a:solidFill>
          <a:ln w="12700">
            <a:solidFill>
              <a:srgbClr val="16A34A"/>
            </a:solidFill>
            <a:prstDash val="dash"/>
          </a:ln>
        </p:spPr>
        <p:txBody>
          <a:bodyPr/>
          <a:lstStyle/>
          <a:p>
            <a:endParaRPr lang="en-US"/>
          </a:p>
        </p:txBody>
      </p:sp>
      <p:sp>
        <p:nvSpPr>
          <p:cNvPr id="40" name="Ellipse 40"/>
          <p:cNvSpPr/>
          <p:nvPr/>
        </p:nvSpPr>
        <p:spPr>
          <a:xfrm>
            <a:off x="5788152" y="2203704"/>
            <a:ext cx="438912" cy="438912"/>
          </a:xfrm>
          <a:prstGeom prst="ellipse">
            <a:avLst/>
          </a:prstGeom>
          <a:solidFill>
            <a:srgbClr val="16A34A"/>
          </a:solidFill>
          <a:ln w="12700">
            <a:solidFill>
              <a:srgbClr val="16A34A"/>
            </a:solidFill>
          </a:ln>
        </p:spPr>
        <p:txBody>
          <a:bodyPr/>
          <a:lstStyle/>
          <a:p>
            <a:endParaRPr lang="en-US"/>
          </a:p>
        </p:txBody>
      </p:sp>
      <p:sp>
        <p:nvSpPr>
          <p:cNvPr id="41" name="Text 41"/>
          <p:cNvSpPr txBox="1"/>
          <p:nvPr/>
        </p:nvSpPr>
        <p:spPr>
          <a:xfrm>
            <a:off x="5788152" y="2295144"/>
            <a:ext cx="438912" cy="164592"/>
          </a:xfrm>
          <a:prstGeom prst="rect">
            <a:avLst/>
          </a:prstGeom>
          <a:noFill/>
          <a:ln>
            <a:noFill/>
          </a:ln>
        </p:spPr>
        <p:txBody>
          <a:bodyPr wrap="square" anchor="t" lIns="0" rIns="0" tIns="0" bIns="0"/>
          <a:lstStyle/>
          <a:p>
            <a:pPr algn="ctr"/>
            <a:r>
              <a:rPr lang="en-US" sz="1000" b="1" i="0" dirty="0">
                <a:solidFill>
                  <a:srgbClr val="FFFFFF"/>
                </a:solidFill>
                <a:latin typeface="Arial"/>
              </a:rPr>
              <a:t>1</a:t>
            </a:r>
            <a:endParaRPr lang="en-US" sz="1000"/>
          </a:p>
        </p:txBody>
      </p:sp>
      <p:sp>
        <p:nvSpPr>
          <p:cNvPr id="42" name="Text 42"/>
          <p:cNvSpPr txBox="1"/>
          <p:nvPr/>
        </p:nvSpPr>
        <p:spPr>
          <a:xfrm>
            <a:off x="6419088" y="2148840"/>
            <a:ext cx="4535424" cy="228600"/>
          </a:xfrm>
          <a:prstGeom prst="rect">
            <a:avLst/>
          </a:prstGeom>
          <a:noFill/>
          <a:ln>
            <a:noFill/>
          </a:ln>
        </p:spPr>
        <p:txBody>
          <a:bodyPr wrap="square" anchor="t" lIns="0" rIns="0" tIns="0" bIns="0"/>
          <a:lstStyle/>
          <a:p>
            <a:pPr algn="l"/>
            <a:r>
              <a:rPr lang="en-US" sz="1300" b="1" i="0" dirty="0">
                <a:solidFill>
                  <a:srgbClr val="16A34A"/>
                </a:solidFill>
                <a:latin typeface="Arial"/>
              </a:rPr>
              <a:t>Reduce coordination</a:t>
            </a:r>
            <a:endParaRPr lang="en-US" sz="1300"/>
          </a:p>
        </p:txBody>
      </p:sp>
      <p:sp>
        <p:nvSpPr>
          <p:cNvPr id="43" name="Text 43"/>
          <p:cNvSpPr txBox="1"/>
          <p:nvPr/>
        </p:nvSpPr>
        <p:spPr>
          <a:xfrm>
            <a:off x="6419088" y="2459736"/>
            <a:ext cx="4535424" cy="274320"/>
          </a:xfrm>
          <a:prstGeom prst="rect">
            <a:avLst/>
          </a:prstGeom>
          <a:noFill/>
          <a:ln>
            <a:noFill/>
          </a:ln>
        </p:spPr>
        <p:txBody>
          <a:bodyPr wrap="square" anchor="t" lIns="0" rIns="0" tIns="0" bIns="0"/>
          <a:lstStyle/>
          <a:p>
            <a:pPr algn="l"/>
            <a:r>
              <a:rPr lang="en-US" sz="970" b="0" i="0" dirty="0">
                <a:solidFill>
                  <a:srgbClr val="56647A"/>
                </a:solidFill>
                <a:latin typeface="Arial"/>
              </a:rPr>
              <a:t>Which waits, polls, and handoffs can disappear without weakening authority?</a:t>
            </a:r>
            <a:endParaRPr lang="en-US" sz="970"/>
          </a:p>
        </p:txBody>
      </p:sp>
      <p:sp>
        <p:nvSpPr>
          <p:cNvPr id="44" name="Rect 44"/>
          <p:cNvSpPr/>
          <p:nvPr/>
        </p:nvSpPr>
        <p:spPr>
          <a:xfrm>
            <a:off x="5577840" y="3163824"/>
            <a:ext cx="5650992" cy="914400"/>
          </a:xfrm>
          <a:prstGeom prst="roundRect">
            <a:avLst/>
          </a:prstGeom>
          <a:solidFill>
            <a:srgbClr val="FFFFFF"/>
          </a:solidFill>
          <a:ln w="12700">
            <a:solidFill>
              <a:srgbClr val="F59E0B"/>
            </a:solidFill>
            <a:prstDash val="dash"/>
          </a:ln>
        </p:spPr>
        <p:txBody>
          <a:bodyPr/>
          <a:lstStyle/>
          <a:p>
            <a:endParaRPr lang="en-US"/>
          </a:p>
        </p:txBody>
      </p:sp>
      <p:sp>
        <p:nvSpPr>
          <p:cNvPr id="45" name="Ellipse 45"/>
          <p:cNvSpPr/>
          <p:nvPr/>
        </p:nvSpPr>
        <p:spPr>
          <a:xfrm>
            <a:off x="5788152" y="3374136"/>
            <a:ext cx="438912" cy="438912"/>
          </a:xfrm>
          <a:prstGeom prst="ellipse">
            <a:avLst/>
          </a:prstGeom>
          <a:solidFill>
            <a:srgbClr val="F59E0B"/>
          </a:solidFill>
          <a:ln w="12700">
            <a:solidFill>
              <a:srgbClr val="F59E0B"/>
            </a:solidFill>
          </a:ln>
        </p:spPr>
        <p:txBody>
          <a:bodyPr/>
          <a:lstStyle/>
          <a:p>
            <a:endParaRPr lang="en-US"/>
          </a:p>
        </p:txBody>
      </p:sp>
      <p:sp>
        <p:nvSpPr>
          <p:cNvPr id="46" name="Text 46"/>
          <p:cNvSpPr txBox="1"/>
          <p:nvPr/>
        </p:nvSpPr>
        <p:spPr>
          <a:xfrm>
            <a:off x="5788152" y="3465576"/>
            <a:ext cx="438912" cy="164592"/>
          </a:xfrm>
          <a:prstGeom prst="rect">
            <a:avLst/>
          </a:prstGeom>
          <a:noFill/>
          <a:ln>
            <a:noFill/>
          </a:ln>
        </p:spPr>
        <p:txBody>
          <a:bodyPr wrap="square" anchor="t" lIns="0" rIns="0" tIns="0" bIns="0"/>
          <a:lstStyle/>
          <a:p>
            <a:pPr algn="ctr"/>
            <a:r>
              <a:rPr lang="en-US" sz="1000" b="1" i="0" dirty="0">
                <a:solidFill>
                  <a:srgbClr val="FFFFFF"/>
                </a:solidFill>
                <a:latin typeface="Arial"/>
              </a:rPr>
              <a:t>2</a:t>
            </a:r>
            <a:endParaRPr lang="en-US" sz="1000"/>
          </a:p>
        </p:txBody>
      </p:sp>
      <p:sp>
        <p:nvSpPr>
          <p:cNvPr id="47" name="Text 47"/>
          <p:cNvSpPr txBox="1"/>
          <p:nvPr/>
        </p:nvSpPr>
        <p:spPr>
          <a:xfrm>
            <a:off x="6419088" y="3319272"/>
            <a:ext cx="4535424" cy="228600"/>
          </a:xfrm>
          <a:prstGeom prst="rect">
            <a:avLst/>
          </a:prstGeom>
          <a:noFill/>
          <a:ln>
            <a:noFill/>
          </a:ln>
        </p:spPr>
        <p:txBody>
          <a:bodyPr wrap="square" anchor="t" lIns="0" rIns="0" tIns="0" bIns="0"/>
          <a:lstStyle/>
          <a:p>
            <a:pPr algn="l"/>
            <a:r>
              <a:rPr lang="en-US" sz="1300" b="1" i="0" dirty="0">
                <a:solidFill>
                  <a:srgbClr val="F59E0B"/>
                </a:solidFill>
                <a:latin typeface="Arial"/>
              </a:rPr>
              <a:t>Close only demanded gaps</a:t>
            </a:r>
            <a:endParaRPr lang="en-US" sz="1300"/>
          </a:p>
        </p:txBody>
      </p:sp>
      <p:sp>
        <p:nvSpPr>
          <p:cNvPr id="48" name="Text 48"/>
          <p:cNvSpPr txBox="1"/>
          <p:nvPr/>
        </p:nvSpPr>
        <p:spPr>
          <a:xfrm>
            <a:off x="6419088" y="3630168"/>
            <a:ext cx="4535424" cy="274320"/>
          </a:xfrm>
          <a:prstGeom prst="rect">
            <a:avLst/>
          </a:prstGeom>
          <a:noFill/>
          <a:ln>
            <a:noFill/>
          </a:ln>
        </p:spPr>
        <p:txBody>
          <a:bodyPr wrap="square" anchor="t" lIns="0" rIns="0" tIns="0" bIns="0"/>
          <a:lstStyle/>
          <a:p>
            <a:pPr algn="l"/>
            <a:r>
              <a:rPr lang="en-US" sz="970" b="0" i="0" dirty="0">
                <a:solidFill>
                  <a:srgbClr val="56647A"/>
                </a:solidFill>
                <a:latin typeface="Arial"/>
              </a:rPr>
              <a:t>Which HPC routes or backup lifecycle steps have a concrete project need?</a:t>
            </a:r>
            <a:endParaRPr lang="en-US" sz="970"/>
          </a:p>
        </p:txBody>
      </p:sp>
      <p:sp>
        <p:nvSpPr>
          <p:cNvPr id="49" name="Rect 49"/>
          <p:cNvSpPr/>
          <p:nvPr/>
        </p:nvSpPr>
        <p:spPr>
          <a:xfrm>
            <a:off x="5577840" y="4334256"/>
            <a:ext cx="5650992" cy="914400"/>
          </a:xfrm>
          <a:prstGeom prst="roundRect">
            <a:avLst/>
          </a:prstGeom>
          <a:solidFill>
            <a:srgbClr val="FFFFFF"/>
          </a:solidFill>
          <a:ln w="12700">
            <a:solidFill>
              <a:srgbClr val="7C3AED"/>
            </a:solidFill>
            <a:prstDash val="dash"/>
          </a:ln>
        </p:spPr>
        <p:txBody>
          <a:bodyPr/>
          <a:lstStyle/>
          <a:p>
            <a:endParaRPr lang="en-US"/>
          </a:p>
        </p:txBody>
      </p:sp>
      <p:sp>
        <p:nvSpPr>
          <p:cNvPr id="50" name="Ellipse 50"/>
          <p:cNvSpPr/>
          <p:nvPr/>
        </p:nvSpPr>
        <p:spPr>
          <a:xfrm>
            <a:off x="5788152" y="4544568"/>
            <a:ext cx="438912" cy="438912"/>
          </a:xfrm>
          <a:prstGeom prst="ellipse">
            <a:avLst/>
          </a:prstGeom>
          <a:solidFill>
            <a:srgbClr val="7C3AED"/>
          </a:solidFill>
          <a:ln w="12700">
            <a:solidFill>
              <a:srgbClr val="7C3AED"/>
            </a:solidFill>
          </a:ln>
        </p:spPr>
        <p:txBody>
          <a:bodyPr/>
          <a:lstStyle/>
          <a:p>
            <a:endParaRPr lang="en-US"/>
          </a:p>
        </p:txBody>
      </p:sp>
      <p:sp>
        <p:nvSpPr>
          <p:cNvPr id="51" name="Text 51"/>
          <p:cNvSpPr txBox="1"/>
          <p:nvPr/>
        </p:nvSpPr>
        <p:spPr>
          <a:xfrm>
            <a:off x="5788152" y="4636008"/>
            <a:ext cx="438912" cy="164592"/>
          </a:xfrm>
          <a:prstGeom prst="rect">
            <a:avLst/>
          </a:prstGeom>
          <a:noFill/>
          <a:ln>
            <a:noFill/>
          </a:ln>
        </p:spPr>
        <p:txBody>
          <a:bodyPr wrap="square" anchor="t" lIns="0" rIns="0" tIns="0" bIns="0"/>
          <a:lstStyle/>
          <a:p>
            <a:pPr algn="ctr"/>
            <a:r>
              <a:rPr lang="en-US" sz="1000" b="1" i="0" dirty="0">
                <a:solidFill>
                  <a:srgbClr val="FFFFFF"/>
                </a:solidFill>
                <a:latin typeface="Arial"/>
              </a:rPr>
              <a:t>3</a:t>
            </a:r>
            <a:endParaRPr lang="en-US" sz="1000"/>
          </a:p>
        </p:txBody>
      </p:sp>
      <p:sp>
        <p:nvSpPr>
          <p:cNvPr id="52" name="Text 52"/>
          <p:cNvSpPr txBox="1"/>
          <p:nvPr/>
        </p:nvSpPr>
        <p:spPr>
          <a:xfrm>
            <a:off x="6419088" y="4489704"/>
            <a:ext cx="4535424" cy="228600"/>
          </a:xfrm>
          <a:prstGeom prst="rect">
            <a:avLst/>
          </a:prstGeom>
          <a:noFill/>
          <a:ln>
            <a:noFill/>
          </a:ln>
        </p:spPr>
        <p:txBody>
          <a:bodyPr wrap="square" anchor="t" lIns="0" rIns="0" tIns="0" bIns="0"/>
          <a:lstStyle/>
          <a:p>
            <a:pPr algn="l"/>
            <a:r>
              <a:rPr lang="en-US" sz="1300" b="1" i="0" dirty="0">
                <a:solidFill>
                  <a:srgbClr val="7C3AED"/>
                </a:solidFill>
                <a:latin typeface="Arial"/>
              </a:rPr>
              <a:t>Strengthen provenance</a:t>
            </a:r>
            <a:endParaRPr lang="en-US" sz="1300"/>
          </a:p>
        </p:txBody>
      </p:sp>
      <p:sp>
        <p:nvSpPr>
          <p:cNvPr id="53" name="Text 53"/>
          <p:cNvSpPr txBox="1"/>
          <p:nvPr/>
        </p:nvSpPr>
        <p:spPr>
          <a:xfrm>
            <a:off x="6419088" y="4800600"/>
            <a:ext cx="4535424" cy="274320"/>
          </a:xfrm>
          <a:prstGeom prst="rect">
            <a:avLst/>
          </a:prstGeom>
          <a:noFill/>
          <a:ln>
            <a:noFill/>
          </a:ln>
        </p:spPr>
        <p:txBody>
          <a:bodyPr wrap="square" anchor="t" lIns="0" rIns="0" tIns="0" bIns="0"/>
          <a:lstStyle/>
          <a:p>
            <a:pPr algn="l"/>
            <a:r>
              <a:rPr lang="en-US" sz="920" b="0" i="0" dirty="0">
                <a:solidFill>
                  <a:srgbClr val="56647A"/>
                </a:solidFill>
                <a:latin typeface="Arial"/>
              </a:rPr>
              <a:t>How far can cowork evidence improve without claiming authorship or OS confinement?</a:t>
            </a:r>
            <a:endParaRPr lang="en-US" sz="920"/>
          </a:p>
        </p:txBody>
      </p:sp>
      <p:sp>
        <p:nvSpPr>
          <p:cNvPr id="54" name="Rect 54"/>
          <p:cNvSpPr/>
          <p:nvPr/>
        </p:nvSpPr>
        <p:spPr>
          <a:xfrm>
            <a:off x="5577840" y="5678424"/>
            <a:ext cx="5650992" cy="658368"/>
          </a:xfrm>
          <a:prstGeom prst="roundRect">
            <a:avLst/>
          </a:prstGeom>
          <a:solidFill>
            <a:srgbClr val="08152F"/>
          </a:solidFill>
          <a:ln w="12700">
            <a:solidFill>
              <a:srgbClr val="08152F"/>
            </a:solidFill>
          </a:ln>
        </p:spPr>
        <p:txBody>
          <a:bodyPr/>
          <a:lstStyle/>
          <a:p>
            <a:endParaRPr lang="en-US"/>
          </a:p>
        </p:txBody>
      </p:sp>
      <p:sp>
        <p:nvSpPr>
          <p:cNvPr id="55" name="Text 55"/>
          <p:cNvSpPr txBox="1"/>
          <p:nvPr/>
        </p:nvSpPr>
        <p:spPr>
          <a:xfrm>
            <a:off x="5797296" y="5815584"/>
            <a:ext cx="5212080" cy="329184"/>
          </a:xfrm>
          <a:prstGeom prst="rect">
            <a:avLst/>
          </a:prstGeom>
          <a:noFill/>
          <a:ln>
            <a:noFill/>
          </a:ln>
        </p:spPr>
        <p:txBody>
          <a:bodyPr wrap="square" anchor="t" lIns="0" rIns="0" tIns="0" bIns="0"/>
          <a:lstStyle/>
          <a:p>
            <a:pPr algn="ctr"/>
            <a:r>
              <a:rPr lang="en-US" sz="1090" b="1" i="0" dirty="0">
                <a:solidFill>
                  <a:srgbClr val="FFFFFF"/>
                </a:solidFill>
                <a:latin typeface="Arial"/>
              </a:rPr>
              <a:t>Next: less friction—same explicit authority, provenance, and native-system</a:t>
            </a:r>
            <a:endParaRPr lang="en-US" sz="1090"/>
          </a:p>
          <a:p>
            <a:pPr algn="ctr"/>
            <a:r>
              <a:rPr lang="en-US" sz="1090" b="1" i="0" dirty="0">
                <a:solidFill>
                  <a:srgbClr val="FFFFFF"/>
                </a:solidFill>
                <a:latin typeface="Arial"/>
              </a:rPr>
              <a:t>truth</a:t>
            </a:r>
            <a:endParaRPr lang="en-US" sz="1090"/>
          </a:p>
        </p:txBody>
      </p:sp>
      <p:cxnSp>
        <p:nvCxnSpPr>
          <p:cNvPr id="56" name="Line 56"/>
          <p:cNvCxnSpPr/>
          <p:nvPr/>
        </p:nvCxnSpPr>
        <p:spPr>
          <a:xfrm flipH="false" flipV="false">
            <a:off x="621792" y="6473952"/>
            <a:ext cx="10954512" cy="0"/>
          </a:xfrm>
          <a:prstGeom prst="line">
            <a:avLst/>
          </a:prstGeom>
          <a:ln w="10160">
            <a:solidFill>
              <a:srgbClr val="D7DFEA"/>
            </a:solidFill>
          </a:ln>
        </p:spPr>
      </p:cxnSp>
      <p:sp>
        <p:nvSpPr>
          <p:cNvPr id="57" name="Text 57"/>
          <p:cNvSpPr txBox="1"/>
          <p:nvPr/>
        </p:nvSpPr>
        <p:spPr>
          <a:xfrm>
            <a:off x="640080" y="6510528"/>
            <a:ext cx="10469880" cy="201168"/>
          </a:xfrm>
          <a:prstGeom prst="rect">
            <a:avLst/>
          </a:prstGeom>
          <a:noFill/>
          <a:ln>
            <a:noFill/>
          </a:ln>
        </p:spPr>
        <p:txBody>
          <a:bodyPr wrap="square" anchor="t" lIns="0" rIns="0" tIns="0" bIns="0"/>
          <a:lstStyle/>
          <a:p>
            <a:pPr algn="l"/>
            <a:r>
              <a:rPr lang="en-US" sz="720" b="0" i="0" dirty="0">
                <a:solidFill>
                  <a:srgbClr val="56647A"/>
                </a:solidFill>
                <a:latin typeface="Arial"/>
              </a:rPr>
              <a:t>f254295 • README.md • TODO.md • bin/harness • tests/focused-suites.tsv</a:t>
            </a:r>
            <a:endParaRPr lang="en-US" sz="720"/>
          </a:p>
        </p:txBody>
      </p:sp>
      <p:sp>
        <p:nvSpPr>
          <p:cNvPr id="58" name="Text 58"/>
          <p:cNvSpPr txBox="1"/>
          <p:nvPr/>
        </p:nvSpPr>
        <p:spPr>
          <a:xfrm>
            <a:off x="11201400" y="6492240"/>
            <a:ext cx="329184" cy="201168"/>
          </a:xfrm>
          <a:prstGeom prst="rect">
            <a:avLst/>
          </a:prstGeom>
          <a:noFill/>
          <a:ln>
            <a:noFill/>
          </a:ln>
        </p:spPr>
        <p:txBody>
          <a:bodyPr wrap="square" anchor="t" lIns="0" rIns="0" tIns="0" bIns="0"/>
          <a:lstStyle/>
          <a:p>
            <a:pPr algn="r"/>
            <a:r>
              <a:rPr lang="en-US" sz="800" b="1" i="0" dirty="0">
                <a:solidFill>
                  <a:srgbClr val="56647A"/>
                </a:solidFill>
                <a:latin typeface="Arial"/>
              </a:rPr>
              <a:t>12</a:t>
            </a:r>
            <a:endParaRPr lang="en-US" sz="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FFFFFF"/>
          </a:solidFill>
          <a:ln w="12700">
            <a:solidFill>
              <a:srgbClr val="FFFFFF"/>
            </a:solidFill>
          </a:ln>
        </p:spPr>
        <p:txBody>
          <a:bodyPr/>
          <a:lstStyle/>
          <a:p>
            <a:endParaRPr lang="en-US"/>
          </a:p>
        </p:txBody>
      </p:sp>
      <p:sp>
        <p:nvSpPr>
          <p:cNvPr id="3" name="Text 3"/>
          <p:cNvSpPr txBox="1"/>
          <p:nvPr/>
        </p:nvSpPr>
        <p:spPr>
          <a:xfrm>
            <a:off x="621792" y="347472"/>
            <a:ext cx="10927080" cy="566928"/>
          </a:xfrm>
          <a:prstGeom prst="rect">
            <a:avLst/>
          </a:prstGeom>
          <a:noFill/>
          <a:ln>
            <a:noFill/>
          </a:ln>
        </p:spPr>
        <p:txBody>
          <a:bodyPr wrap="square" anchor="t" lIns="0" rIns="0" tIns="0" bIns="0"/>
          <a:lstStyle/>
          <a:p>
            <a:pPr algn="l"/>
            <a:r>
              <a:rPr lang="en-US" sz="2700" b="1" i="0" dirty="0">
                <a:solidFill>
                  <a:srgbClr val="14213D"/>
                </a:solidFill>
                <a:latin typeface="Arial"/>
              </a:rPr>
              <a:t>Every claim resolves to Git, code, tests, or a labeled interpretation</a:t>
            </a:r>
            <a:endParaRPr lang="en-US" sz="2700"/>
          </a:p>
        </p:txBody>
      </p:sp>
      <p:sp>
        <p:nvSpPr>
          <p:cNvPr id="4" name="Text 4"/>
          <p:cNvSpPr txBox="1"/>
          <p:nvPr/>
        </p:nvSpPr>
        <p:spPr>
          <a:xfrm>
            <a:off x="640080" y="932688"/>
            <a:ext cx="10881360" cy="310896"/>
          </a:xfrm>
          <a:prstGeom prst="rect">
            <a:avLst/>
          </a:prstGeom>
          <a:noFill/>
          <a:ln>
            <a:noFill/>
          </a:ln>
        </p:spPr>
        <p:txBody>
          <a:bodyPr wrap="square" anchor="t" lIns="0" rIns="0" tIns="0" bIns="0"/>
          <a:lstStyle/>
          <a:p>
            <a:pPr algn="l"/>
            <a:r>
              <a:rPr lang="en-US" sz="1250" b="0" i="0" dirty="0">
                <a:solidFill>
                  <a:srgbClr val="56647A"/>
                </a:solidFill>
                <a:latin typeface="Arial"/>
              </a:rPr>
              <a:t>Appendix • evidence method</a:t>
            </a:r>
            <a:endParaRPr lang="en-US" sz="1250"/>
          </a:p>
        </p:txBody>
      </p:sp>
      <p:sp>
        <p:nvSpPr>
          <p:cNvPr id="5" name="Rect 5"/>
          <p:cNvSpPr/>
          <p:nvPr/>
        </p:nvSpPr>
        <p:spPr>
          <a:xfrm>
            <a:off x="749808" y="2075688"/>
            <a:ext cx="1572768" cy="1298448"/>
          </a:xfrm>
          <a:prstGeom prst="roundRect">
            <a:avLst/>
          </a:prstGeom>
          <a:solidFill>
            <a:srgbClr val="EBF2FE"/>
          </a:solidFill>
          <a:ln w="12700">
            <a:solidFill>
              <a:srgbClr val="3B82F6"/>
            </a:solidFill>
          </a:ln>
        </p:spPr>
        <p:txBody>
          <a:bodyPr/>
          <a:lstStyle/>
          <a:p>
            <a:endParaRPr lang="en-US"/>
          </a:p>
        </p:txBody>
      </p:sp>
      <p:sp>
        <p:nvSpPr>
          <p:cNvPr id="6" name="Text 6"/>
          <p:cNvSpPr txBox="1"/>
          <p:nvPr/>
        </p:nvSpPr>
        <p:spPr>
          <a:xfrm>
            <a:off x="859536" y="2331720"/>
            <a:ext cx="1353312" cy="274320"/>
          </a:xfrm>
          <a:prstGeom prst="rect">
            <a:avLst/>
          </a:prstGeom>
          <a:noFill/>
          <a:ln>
            <a:noFill/>
          </a:ln>
        </p:spPr>
        <p:txBody>
          <a:bodyPr wrap="square" anchor="t" lIns="0" rIns="0" tIns="0" bIns="0"/>
          <a:lstStyle/>
          <a:p>
            <a:pPr algn="ctr"/>
            <a:r>
              <a:rPr lang="en-US" sz="1400" b="1" i="0" dirty="0">
                <a:solidFill>
                  <a:srgbClr val="3B82F6"/>
                </a:solidFill>
                <a:latin typeface="Arial"/>
              </a:rPr>
              <a:t>CLAIM</a:t>
            </a:r>
            <a:endParaRPr lang="en-US" sz="1400"/>
          </a:p>
        </p:txBody>
      </p:sp>
      <p:sp>
        <p:nvSpPr>
          <p:cNvPr id="7" name="Text 7"/>
          <p:cNvSpPr txBox="1"/>
          <p:nvPr/>
        </p:nvSpPr>
        <p:spPr>
          <a:xfrm>
            <a:off x="859536" y="2807208"/>
            <a:ext cx="1353312" cy="228600"/>
          </a:xfrm>
          <a:prstGeom prst="rect">
            <a:avLst/>
          </a:prstGeom>
          <a:noFill/>
          <a:ln>
            <a:noFill/>
          </a:ln>
        </p:spPr>
        <p:txBody>
          <a:bodyPr wrap="square" anchor="t" lIns="0" rIns="0" tIns="0" bIns="0"/>
          <a:lstStyle/>
          <a:p>
            <a:pPr algn="ctr"/>
            <a:r>
              <a:rPr lang="en-US" sz="930" b="0" i="0" dirty="0">
                <a:solidFill>
                  <a:srgbClr val="56647A"/>
                </a:solidFill>
                <a:latin typeface="Arial"/>
              </a:rPr>
              <a:t>slide statement</a:t>
            </a:r>
            <a:endParaRPr lang="en-US" sz="930"/>
          </a:p>
        </p:txBody>
      </p:sp>
      <p:cxnSp>
        <p:nvCxnSpPr>
          <p:cNvPr id="8" name="Line 8"/>
          <p:cNvCxnSpPr/>
          <p:nvPr/>
        </p:nvCxnSpPr>
        <p:spPr>
          <a:xfrm flipH="false" flipV="false">
            <a:off x="2368296" y="2724912"/>
            <a:ext cx="594360" cy="0"/>
          </a:xfrm>
          <a:prstGeom prst="line">
            <a:avLst/>
          </a:prstGeom>
          <a:ln w="19050">
            <a:solidFill>
              <a:srgbClr val="C5CFDC"/>
            </a:solidFill>
            <a:tailEnd type="triangle"/>
          </a:ln>
        </p:spPr>
      </p:cxnSp>
      <p:sp>
        <p:nvSpPr>
          <p:cNvPr id="9" name="Rect 9"/>
          <p:cNvSpPr/>
          <p:nvPr/>
        </p:nvSpPr>
        <p:spPr>
          <a:xfrm>
            <a:off x="3063240" y="2075688"/>
            <a:ext cx="1572768" cy="1298448"/>
          </a:xfrm>
          <a:prstGeom prst="roundRect">
            <a:avLst/>
          </a:prstGeom>
          <a:solidFill>
            <a:srgbClr val="E6F8FB"/>
          </a:solidFill>
          <a:ln w="12700">
            <a:solidFill>
              <a:srgbClr val="06B6D4"/>
            </a:solidFill>
          </a:ln>
        </p:spPr>
        <p:txBody>
          <a:bodyPr/>
          <a:lstStyle/>
          <a:p>
            <a:endParaRPr lang="en-US"/>
          </a:p>
        </p:txBody>
      </p:sp>
      <p:sp>
        <p:nvSpPr>
          <p:cNvPr id="10" name="Text 10"/>
          <p:cNvSpPr txBox="1"/>
          <p:nvPr/>
        </p:nvSpPr>
        <p:spPr>
          <a:xfrm>
            <a:off x="3172968" y="2331720"/>
            <a:ext cx="1353312" cy="274320"/>
          </a:xfrm>
          <a:prstGeom prst="rect">
            <a:avLst/>
          </a:prstGeom>
          <a:noFill/>
          <a:ln>
            <a:noFill/>
          </a:ln>
        </p:spPr>
        <p:txBody>
          <a:bodyPr wrap="square" anchor="t" lIns="0" rIns="0" tIns="0" bIns="0"/>
          <a:lstStyle/>
          <a:p>
            <a:pPr algn="ctr"/>
            <a:r>
              <a:rPr lang="en-US" sz="1400" b="1" i="0" dirty="0">
                <a:solidFill>
                  <a:srgbClr val="06B6D4"/>
                </a:solidFill>
                <a:latin typeface="Arial"/>
              </a:rPr>
              <a:t>SOURCE</a:t>
            </a:r>
            <a:endParaRPr lang="en-US" sz="1400"/>
          </a:p>
        </p:txBody>
      </p:sp>
      <p:sp>
        <p:nvSpPr>
          <p:cNvPr id="11" name="Text 11"/>
          <p:cNvSpPr txBox="1"/>
          <p:nvPr/>
        </p:nvSpPr>
        <p:spPr>
          <a:xfrm>
            <a:off x="3172968" y="2807208"/>
            <a:ext cx="1353312" cy="228600"/>
          </a:xfrm>
          <a:prstGeom prst="rect">
            <a:avLst/>
          </a:prstGeom>
          <a:noFill/>
          <a:ln>
            <a:noFill/>
          </a:ln>
        </p:spPr>
        <p:txBody>
          <a:bodyPr wrap="square" anchor="t" lIns="0" rIns="0" tIns="0" bIns="0"/>
          <a:lstStyle/>
          <a:p>
            <a:pPr algn="ctr"/>
            <a:r>
              <a:rPr lang="en-US" sz="930" b="0" i="0" dirty="0">
                <a:solidFill>
                  <a:srgbClr val="56647A"/>
                </a:solidFill>
                <a:latin typeface="Arial"/>
              </a:rPr>
              <a:t>commit + path</a:t>
            </a:r>
            <a:endParaRPr lang="en-US" sz="930"/>
          </a:p>
        </p:txBody>
      </p:sp>
      <p:cxnSp>
        <p:nvCxnSpPr>
          <p:cNvPr id="12" name="Line 12"/>
          <p:cNvCxnSpPr/>
          <p:nvPr/>
        </p:nvCxnSpPr>
        <p:spPr>
          <a:xfrm flipH="false" flipV="false">
            <a:off x="4681728" y="2724912"/>
            <a:ext cx="594360" cy="0"/>
          </a:xfrm>
          <a:prstGeom prst="line">
            <a:avLst/>
          </a:prstGeom>
          <a:ln w="19050">
            <a:solidFill>
              <a:srgbClr val="C5CFDC"/>
            </a:solidFill>
            <a:tailEnd type="triangle"/>
          </a:ln>
        </p:spPr>
      </p:cxnSp>
      <p:sp>
        <p:nvSpPr>
          <p:cNvPr id="13" name="Rect 13"/>
          <p:cNvSpPr/>
          <p:nvPr/>
        </p:nvSpPr>
        <p:spPr>
          <a:xfrm>
            <a:off x="5376672" y="2075688"/>
            <a:ext cx="1572768" cy="1298448"/>
          </a:xfrm>
          <a:prstGeom prst="roundRect">
            <a:avLst/>
          </a:prstGeom>
          <a:solidFill>
            <a:srgbClr val="E7F4F3"/>
          </a:solidFill>
          <a:ln w="12700">
            <a:solidFill>
              <a:srgbClr val="0D9488"/>
            </a:solidFill>
          </a:ln>
        </p:spPr>
        <p:txBody>
          <a:bodyPr/>
          <a:lstStyle/>
          <a:p>
            <a:endParaRPr lang="en-US"/>
          </a:p>
        </p:txBody>
      </p:sp>
      <p:sp>
        <p:nvSpPr>
          <p:cNvPr id="14" name="Text 14"/>
          <p:cNvSpPr txBox="1"/>
          <p:nvPr/>
        </p:nvSpPr>
        <p:spPr>
          <a:xfrm>
            <a:off x="5486400" y="2331720"/>
            <a:ext cx="1353312" cy="274320"/>
          </a:xfrm>
          <a:prstGeom prst="rect">
            <a:avLst/>
          </a:prstGeom>
          <a:noFill/>
          <a:ln>
            <a:noFill/>
          </a:ln>
        </p:spPr>
        <p:txBody>
          <a:bodyPr wrap="square" anchor="t" lIns="0" rIns="0" tIns="0" bIns="0"/>
          <a:lstStyle/>
          <a:p>
            <a:pPr algn="ctr"/>
            <a:r>
              <a:rPr lang="en-US" sz="1400" b="1" i="0" dirty="0">
                <a:solidFill>
                  <a:srgbClr val="0D9488"/>
                </a:solidFill>
                <a:latin typeface="Arial"/>
              </a:rPr>
              <a:t>CHECK</a:t>
            </a:r>
            <a:endParaRPr lang="en-US" sz="1400"/>
          </a:p>
        </p:txBody>
      </p:sp>
      <p:sp>
        <p:nvSpPr>
          <p:cNvPr id="15" name="Text 15"/>
          <p:cNvSpPr txBox="1"/>
          <p:nvPr/>
        </p:nvSpPr>
        <p:spPr>
          <a:xfrm>
            <a:off x="5486400" y="2807208"/>
            <a:ext cx="1353312" cy="228600"/>
          </a:xfrm>
          <a:prstGeom prst="rect">
            <a:avLst/>
          </a:prstGeom>
          <a:noFill/>
          <a:ln>
            <a:noFill/>
          </a:ln>
        </p:spPr>
        <p:txBody>
          <a:bodyPr wrap="square" anchor="t" lIns="0" rIns="0" tIns="0" bIns="0"/>
          <a:lstStyle/>
          <a:p>
            <a:pPr algn="ctr"/>
            <a:r>
              <a:rPr lang="en-US" sz="930" b="0" i="0" dirty="0">
                <a:solidFill>
                  <a:srgbClr val="56647A"/>
                </a:solidFill>
                <a:latin typeface="Arial"/>
              </a:rPr>
              <a:t>test / result / command</a:t>
            </a:r>
            <a:endParaRPr lang="en-US" sz="930"/>
          </a:p>
        </p:txBody>
      </p:sp>
      <p:cxnSp>
        <p:nvCxnSpPr>
          <p:cNvPr id="16" name="Line 16"/>
          <p:cNvCxnSpPr/>
          <p:nvPr/>
        </p:nvCxnSpPr>
        <p:spPr>
          <a:xfrm flipH="false" flipV="false">
            <a:off x="6995160" y="2724912"/>
            <a:ext cx="594360" cy="0"/>
          </a:xfrm>
          <a:prstGeom prst="line">
            <a:avLst/>
          </a:prstGeom>
          <a:ln w="19050">
            <a:solidFill>
              <a:srgbClr val="C5CFDC"/>
            </a:solidFill>
            <a:tailEnd type="triangle"/>
          </a:ln>
        </p:spPr>
      </p:cxnSp>
      <p:sp>
        <p:nvSpPr>
          <p:cNvPr id="17" name="Rect 17"/>
          <p:cNvSpPr/>
          <p:nvPr/>
        </p:nvSpPr>
        <p:spPr>
          <a:xfrm>
            <a:off x="7690104" y="2075688"/>
            <a:ext cx="1572768" cy="1298448"/>
          </a:xfrm>
          <a:prstGeom prst="roundRect">
            <a:avLst/>
          </a:prstGeom>
          <a:solidFill>
            <a:srgbClr val="FEF5E7"/>
          </a:solidFill>
          <a:ln w="12700">
            <a:solidFill>
              <a:srgbClr val="F59E0B"/>
            </a:solidFill>
          </a:ln>
        </p:spPr>
        <p:txBody>
          <a:bodyPr/>
          <a:lstStyle/>
          <a:p>
            <a:endParaRPr lang="en-US"/>
          </a:p>
        </p:txBody>
      </p:sp>
      <p:sp>
        <p:nvSpPr>
          <p:cNvPr id="18" name="Text 18"/>
          <p:cNvSpPr txBox="1"/>
          <p:nvPr/>
        </p:nvSpPr>
        <p:spPr>
          <a:xfrm>
            <a:off x="7799832" y="2331720"/>
            <a:ext cx="1353312" cy="274320"/>
          </a:xfrm>
          <a:prstGeom prst="rect">
            <a:avLst/>
          </a:prstGeom>
          <a:noFill/>
          <a:ln>
            <a:noFill/>
          </a:ln>
        </p:spPr>
        <p:txBody>
          <a:bodyPr wrap="square" anchor="t" lIns="0" rIns="0" tIns="0" bIns="0"/>
          <a:lstStyle/>
          <a:p>
            <a:pPr algn="ctr"/>
            <a:r>
              <a:rPr lang="en-US" sz="1400" b="1" i="0" dirty="0">
                <a:solidFill>
                  <a:srgbClr val="F59E0B"/>
                </a:solidFill>
                <a:latin typeface="Arial"/>
              </a:rPr>
              <a:t>SCOPE</a:t>
            </a:r>
            <a:endParaRPr lang="en-US" sz="1400"/>
          </a:p>
        </p:txBody>
      </p:sp>
      <p:sp>
        <p:nvSpPr>
          <p:cNvPr id="19" name="Text 19"/>
          <p:cNvSpPr txBox="1"/>
          <p:nvPr/>
        </p:nvSpPr>
        <p:spPr>
          <a:xfrm>
            <a:off x="7799832" y="2807208"/>
            <a:ext cx="1353312" cy="228600"/>
          </a:xfrm>
          <a:prstGeom prst="rect">
            <a:avLst/>
          </a:prstGeom>
          <a:noFill/>
          <a:ln>
            <a:noFill/>
          </a:ln>
        </p:spPr>
        <p:txBody>
          <a:bodyPr wrap="square" anchor="t" lIns="0" rIns="0" tIns="0" bIns="0"/>
          <a:lstStyle/>
          <a:p>
            <a:pPr algn="ctr"/>
            <a:r>
              <a:rPr lang="en-US" sz="930" b="0" i="0" dirty="0">
                <a:solidFill>
                  <a:srgbClr val="56647A"/>
                </a:solidFill>
                <a:latin typeface="Arial"/>
              </a:rPr>
              <a:t>limit + date</a:t>
            </a:r>
            <a:endParaRPr lang="en-US" sz="930"/>
          </a:p>
        </p:txBody>
      </p:sp>
      <p:cxnSp>
        <p:nvCxnSpPr>
          <p:cNvPr id="20" name="Line 20"/>
          <p:cNvCxnSpPr/>
          <p:nvPr/>
        </p:nvCxnSpPr>
        <p:spPr>
          <a:xfrm flipH="false" flipV="false">
            <a:off x="9308592" y="2724912"/>
            <a:ext cx="594360" cy="0"/>
          </a:xfrm>
          <a:prstGeom prst="line">
            <a:avLst/>
          </a:prstGeom>
          <a:ln w="19050">
            <a:solidFill>
              <a:srgbClr val="C5CFDC"/>
            </a:solidFill>
            <a:tailEnd type="triangle"/>
          </a:ln>
        </p:spPr>
      </p:cxnSp>
      <p:sp>
        <p:nvSpPr>
          <p:cNvPr id="21" name="Rect 21"/>
          <p:cNvSpPr/>
          <p:nvPr/>
        </p:nvSpPr>
        <p:spPr>
          <a:xfrm>
            <a:off x="10003536" y="2075688"/>
            <a:ext cx="1572768" cy="1298448"/>
          </a:xfrm>
          <a:prstGeom prst="roundRect">
            <a:avLst/>
          </a:prstGeom>
          <a:solidFill>
            <a:srgbClr val="F2EBFD"/>
          </a:solidFill>
          <a:ln w="12700">
            <a:solidFill>
              <a:srgbClr val="7C3AED"/>
            </a:solidFill>
          </a:ln>
        </p:spPr>
        <p:txBody>
          <a:bodyPr/>
          <a:lstStyle/>
          <a:p>
            <a:endParaRPr lang="en-US"/>
          </a:p>
        </p:txBody>
      </p:sp>
      <p:sp>
        <p:nvSpPr>
          <p:cNvPr id="22" name="Text 22"/>
          <p:cNvSpPr txBox="1"/>
          <p:nvPr/>
        </p:nvSpPr>
        <p:spPr>
          <a:xfrm>
            <a:off x="10113264" y="2331720"/>
            <a:ext cx="1353312" cy="274320"/>
          </a:xfrm>
          <a:prstGeom prst="rect">
            <a:avLst/>
          </a:prstGeom>
          <a:noFill/>
          <a:ln>
            <a:noFill/>
          </a:ln>
        </p:spPr>
        <p:txBody>
          <a:bodyPr wrap="square" anchor="t" lIns="0" rIns="0" tIns="0" bIns="0"/>
          <a:lstStyle/>
          <a:p>
            <a:pPr algn="ctr"/>
            <a:r>
              <a:rPr lang="en-US" sz="1400" b="1" i="0" dirty="0">
                <a:solidFill>
                  <a:srgbClr val="7C3AED"/>
                </a:solidFill>
                <a:latin typeface="Arial"/>
              </a:rPr>
              <a:t>TYPE</a:t>
            </a:r>
            <a:endParaRPr lang="en-US" sz="1400"/>
          </a:p>
        </p:txBody>
      </p:sp>
      <p:sp>
        <p:nvSpPr>
          <p:cNvPr id="23" name="Text 23"/>
          <p:cNvSpPr txBox="1"/>
          <p:nvPr/>
        </p:nvSpPr>
        <p:spPr>
          <a:xfrm>
            <a:off x="10113264" y="2807208"/>
            <a:ext cx="1353312" cy="228600"/>
          </a:xfrm>
          <a:prstGeom prst="rect">
            <a:avLst/>
          </a:prstGeom>
          <a:noFill/>
          <a:ln>
            <a:noFill/>
          </a:ln>
        </p:spPr>
        <p:txBody>
          <a:bodyPr wrap="square" anchor="t" lIns="0" rIns="0" tIns="0" bIns="0"/>
          <a:lstStyle/>
          <a:p>
            <a:pPr algn="ctr"/>
            <a:r>
              <a:rPr lang="en-US" sz="930" b="0" i="0" dirty="0">
                <a:solidFill>
                  <a:srgbClr val="56647A"/>
                </a:solidFill>
                <a:latin typeface="Arial"/>
              </a:rPr>
              <a:t>fact / interpretation</a:t>
            </a:r>
            <a:endParaRPr lang="en-US" sz="930"/>
          </a:p>
        </p:txBody>
      </p:sp>
      <p:sp>
        <p:nvSpPr>
          <p:cNvPr id="24" name="Rect 24"/>
          <p:cNvSpPr/>
          <p:nvPr/>
        </p:nvSpPr>
        <p:spPr>
          <a:xfrm>
            <a:off x="932688" y="4096512"/>
            <a:ext cx="3090672" cy="1280160"/>
          </a:xfrm>
          <a:prstGeom prst="roundRect">
            <a:avLst/>
          </a:prstGeom>
          <a:solidFill>
            <a:srgbClr val="FFFFFF"/>
          </a:solidFill>
          <a:ln w="12700">
            <a:solidFill>
              <a:srgbClr val="93BAFA"/>
            </a:solidFill>
          </a:ln>
        </p:spPr>
        <p:txBody>
          <a:bodyPr/>
          <a:lstStyle/>
          <a:p>
            <a:endParaRPr lang="en-US"/>
          </a:p>
        </p:txBody>
      </p:sp>
      <p:sp>
        <p:nvSpPr>
          <p:cNvPr id="25" name="Rect 25"/>
          <p:cNvSpPr/>
          <p:nvPr/>
        </p:nvSpPr>
        <p:spPr>
          <a:xfrm>
            <a:off x="932688" y="4096512"/>
            <a:ext cx="82296" cy="1280160"/>
          </a:xfrm>
          <a:prstGeom prst="roundRect">
            <a:avLst/>
          </a:prstGeom>
          <a:solidFill>
            <a:srgbClr val="3B82F6"/>
          </a:solidFill>
          <a:ln w="12700">
            <a:solidFill>
              <a:srgbClr val="3B82F6"/>
            </a:solidFill>
          </a:ln>
        </p:spPr>
        <p:txBody>
          <a:bodyPr/>
          <a:lstStyle/>
          <a:p>
            <a:endParaRPr lang="en-US"/>
          </a:p>
        </p:txBody>
      </p:sp>
      <p:sp>
        <p:nvSpPr>
          <p:cNvPr id="26" name="Text 26"/>
          <p:cNvSpPr txBox="1"/>
          <p:nvPr/>
        </p:nvSpPr>
        <p:spPr>
          <a:xfrm>
            <a:off x="1133856" y="4261104"/>
            <a:ext cx="2761488" cy="329184"/>
          </a:xfrm>
          <a:prstGeom prst="rect">
            <a:avLst/>
          </a:prstGeom>
          <a:noFill/>
          <a:ln>
            <a:noFill/>
          </a:ln>
        </p:spPr>
        <p:txBody>
          <a:bodyPr wrap="square" anchor="t" lIns="0" rIns="0" tIns="0" bIns="0"/>
          <a:lstStyle/>
          <a:p>
            <a:pPr algn="l"/>
            <a:r>
              <a:rPr lang="en-US" sz="1600" b="1" i="0" dirty="0">
                <a:solidFill>
                  <a:srgbClr val="14213D"/>
                </a:solidFill>
                <a:latin typeface="Arial"/>
              </a:rPr>
              <a:t>Complete history</a:t>
            </a:r>
            <a:endParaRPr lang="en-US" sz="1600"/>
          </a:p>
        </p:txBody>
      </p:sp>
      <p:sp>
        <p:nvSpPr>
          <p:cNvPr id="27" name="Text 27"/>
          <p:cNvSpPr txBox="1"/>
          <p:nvPr/>
        </p:nvSpPr>
        <p:spPr>
          <a:xfrm>
            <a:off x="1133856" y="4700016"/>
            <a:ext cx="2761488" cy="548640"/>
          </a:xfrm>
          <a:prstGeom prst="rect">
            <a:avLst/>
          </a:prstGeom>
          <a:noFill/>
          <a:ln>
            <a:noFill/>
          </a:ln>
        </p:spPr>
        <p:txBody>
          <a:bodyPr wrap="square" anchor="t" lIns="0" rIns="0" tIns="0" bIns="0"/>
          <a:lstStyle/>
          <a:p>
            <a:pPr algn="l"/>
            <a:r>
              <a:rPr lang="en-US" sz="1150" b="0" i="0" dirty="0">
                <a:solidFill>
                  <a:srgbClr val="56647A"/>
                </a:solidFill>
                <a:latin typeface="Arial"/>
              </a:rPr>
              <a:t>542 total = 542 first-parent</a:t>
            </a:r>
            <a:endParaRPr lang="en-US" sz="1150"/>
          </a:p>
          <a:p>
            <a:pPr algn="l"/>
            <a:r>
              <a:rPr lang="en-US" sz="1150" b="0" i="0" dirty="0">
                <a:solidFill>
                  <a:srgbClr val="56647A"/>
                </a:solidFill>
                <a:latin typeface="Arial"/>
              </a:rPr>
              <a:t>0 tags • 0 merge commits</a:t>
            </a:r>
            <a:endParaRPr lang="en-US" sz="1150"/>
          </a:p>
        </p:txBody>
      </p:sp>
      <p:sp>
        <p:nvSpPr>
          <p:cNvPr id="28" name="Rect 28"/>
          <p:cNvSpPr/>
          <p:nvPr/>
        </p:nvSpPr>
        <p:spPr>
          <a:xfrm>
            <a:off x="4315968" y="4096512"/>
            <a:ext cx="3090672" cy="1280160"/>
          </a:xfrm>
          <a:prstGeom prst="roundRect">
            <a:avLst/>
          </a:prstGeom>
          <a:solidFill>
            <a:srgbClr val="FFFFFF"/>
          </a:solidFill>
          <a:ln w="12700">
            <a:solidFill>
              <a:srgbClr val="EC8888"/>
            </a:solidFill>
          </a:ln>
        </p:spPr>
        <p:txBody>
          <a:bodyPr/>
          <a:lstStyle/>
          <a:p>
            <a:endParaRPr lang="en-US"/>
          </a:p>
        </p:txBody>
      </p:sp>
      <p:sp>
        <p:nvSpPr>
          <p:cNvPr id="29" name="Rect 29"/>
          <p:cNvSpPr/>
          <p:nvPr/>
        </p:nvSpPr>
        <p:spPr>
          <a:xfrm>
            <a:off x="4315968" y="4096512"/>
            <a:ext cx="82296" cy="1280160"/>
          </a:xfrm>
          <a:prstGeom prst="roundRect">
            <a:avLst/>
          </a:prstGeom>
          <a:solidFill>
            <a:srgbClr val="DC2626"/>
          </a:solidFill>
          <a:ln w="12700">
            <a:solidFill>
              <a:srgbClr val="DC2626"/>
            </a:solidFill>
          </a:ln>
        </p:spPr>
        <p:txBody>
          <a:bodyPr/>
          <a:lstStyle/>
          <a:p>
            <a:endParaRPr lang="en-US"/>
          </a:p>
        </p:txBody>
      </p:sp>
      <p:sp>
        <p:nvSpPr>
          <p:cNvPr id="30" name="Text 30"/>
          <p:cNvSpPr txBox="1"/>
          <p:nvPr/>
        </p:nvSpPr>
        <p:spPr>
          <a:xfrm>
            <a:off x="4517136" y="4261104"/>
            <a:ext cx="2761488" cy="329184"/>
          </a:xfrm>
          <a:prstGeom prst="rect">
            <a:avLst/>
          </a:prstGeom>
          <a:noFill/>
          <a:ln>
            <a:noFill/>
          </a:ln>
        </p:spPr>
        <p:txBody>
          <a:bodyPr wrap="square" anchor="t" lIns="0" rIns="0" tIns="0" bIns="0"/>
          <a:lstStyle/>
          <a:p>
            <a:pPr algn="l"/>
            <a:r>
              <a:rPr lang="en-US" sz="1600" b="1" i="0" dirty="0">
                <a:solidFill>
                  <a:srgbClr val="14213D"/>
                </a:solidFill>
                <a:latin typeface="Arial"/>
              </a:rPr>
              <a:t>Replacements inspected</a:t>
            </a:r>
            <a:endParaRPr lang="en-US" sz="1600"/>
          </a:p>
        </p:txBody>
      </p:sp>
      <p:sp>
        <p:nvSpPr>
          <p:cNvPr id="31" name="Text 31"/>
          <p:cNvSpPr txBox="1"/>
          <p:nvPr/>
        </p:nvSpPr>
        <p:spPr>
          <a:xfrm>
            <a:off x="4517136" y="4700016"/>
            <a:ext cx="2761488" cy="548640"/>
          </a:xfrm>
          <a:prstGeom prst="rect">
            <a:avLst/>
          </a:prstGeom>
          <a:noFill/>
          <a:ln>
            <a:noFill/>
          </a:ln>
        </p:spPr>
        <p:txBody>
          <a:bodyPr wrap="square" anchor="t" lIns="0" rIns="0" tIns="0" bIns="0"/>
          <a:lstStyle/>
          <a:p>
            <a:pPr algn="l"/>
            <a:r>
              <a:rPr lang="en-US" sz="1150" b="0" i="0" dirty="0">
                <a:solidFill>
                  <a:srgbClr val="56647A"/>
                </a:solidFill>
                <a:latin typeface="Arial"/>
              </a:rPr>
              <a:t>Deleted hooks, targets, private bundle,</a:t>
            </a:r>
            <a:endParaRPr lang="en-US" sz="1150"/>
          </a:p>
          <a:p>
            <a:pPr algn="l"/>
            <a:r>
              <a:rPr lang="en-US" sz="1150" b="0" i="0" dirty="0">
                <a:solidFill>
                  <a:srgbClr val="56647A"/>
                </a:solidFill>
                <a:latin typeface="Arial"/>
              </a:rPr>
              <a:t>website scope, native-client ownership</a:t>
            </a:r>
            <a:endParaRPr lang="en-US" sz="1150"/>
          </a:p>
        </p:txBody>
      </p:sp>
      <p:sp>
        <p:nvSpPr>
          <p:cNvPr id="32" name="Rect 32"/>
          <p:cNvSpPr/>
          <p:nvPr/>
        </p:nvSpPr>
        <p:spPr>
          <a:xfrm>
            <a:off x="7699248" y="4096512"/>
            <a:ext cx="3090672" cy="1280160"/>
          </a:xfrm>
          <a:prstGeom prst="roundRect">
            <a:avLst/>
          </a:prstGeom>
          <a:solidFill>
            <a:srgbClr val="FFFFFF"/>
          </a:solidFill>
          <a:ln w="12700">
            <a:solidFill>
              <a:srgbClr val="B793F5"/>
            </a:solidFill>
          </a:ln>
        </p:spPr>
        <p:txBody>
          <a:bodyPr/>
          <a:lstStyle/>
          <a:p>
            <a:endParaRPr lang="en-US"/>
          </a:p>
        </p:txBody>
      </p:sp>
      <p:sp>
        <p:nvSpPr>
          <p:cNvPr id="33" name="Rect 33"/>
          <p:cNvSpPr/>
          <p:nvPr/>
        </p:nvSpPr>
        <p:spPr>
          <a:xfrm>
            <a:off x="7699248" y="4096512"/>
            <a:ext cx="82296" cy="1280160"/>
          </a:xfrm>
          <a:prstGeom prst="roundRect">
            <a:avLst/>
          </a:prstGeom>
          <a:solidFill>
            <a:srgbClr val="7C3AED"/>
          </a:solidFill>
          <a:ln w="12700">
            <a:solidFill>
              <a:srgbClr val="7C3AED"/>
            </a:solidFill>
          </a:ln>
        </p:spPr>
        <p:txBody>
          <a:bodyPr/>
          <a:lstStyle/>
          <a:p>
            <a:endParaRPr lang="en-US"/>
          </a:p>
        </p:txBody>
      </p:sp>
      <p:sp>
        <p:nvSpPr>
          <p:cNvPr id="34" name="Text 34"/>
          <p:cNvSpPr txBox="1"/>
          <p:nvPr/>
        </p:nvSpPr>
        <p:spPr>
          <a:xfrm>
            <a:off x="7900416" y="4261104"/>
            <a:ext cx="2761488" cy="329184"/>
          </a:xfrm>
          <a:prstGeom prst="rect">
            <a:avLst/>
          </a:prstGeom>
          <a:noFill/>
          <a:ln>
            <a:noFill/>
          </a:ln>
        </p:spPr>
        <p:txBody>
          <a:bodyPr wrap="square" anchor="t" lIns="0" rIns="0" tIns="0" bIns="0"/>
          <a:lstStyle/>
          <a:p>
            <a:pPr algn="l"/>
            <a:r>
              <a:rPr lang="en-US" sz="1600" b="1" i="0" dirty="0">
                <a:solidFill>
                  <a:srgbClr val="14213D"/>
                </a:solidFill>
                <a:latin typeface="Arial"/>
              </a:rPr>
              <a:t>Conflicts resolved</a:t>
            </a:r>
            <a:endParaRPr lang="en-US" sz="1600"/>
          </a:p>
        </p:txBody>
      </p:sp>
      <p:sp>
        <p:nvSpPr>
          <p:cNvPr id="35" name="Text 35"/>
          <p:cNvSpPr txBox="1"/>
          <p:nvPr/>
        </p:nvSpPr>
        <p:spPr>
          <a:xfrm>
            <a:off x="7900416" y="4700016"/>
            <a:ext cx="2761488" cy="548640"/>
          </a:xfrm>
          <a:prstGeom prst="rect">
            <a:avLst/>
          </a:prstGeom>
          <a:noFill/>
          <a:ln>
            <a:noFill/>
          </a:ln>
        </p:spPr>
        <p:txBody>
          <a:bodyPr wrap="square" anchor="t" lIns="0" rIns="0" tIns="0" bIns="0"/>
          <a:lstStyle/>
          <a:p>
            <a:pPr algn="l"/>
            <a:r>
              <a:rPr lang="en-US" sz="1150" b="0" i="0" dirty="0">
                <a:solidFill>
                  <a:srgbClr val="56647A"/>
                </a:solidFill>
                <a:latin typeface="Arial"/>
              </a:rPr>
              <a:t>Date + scope decide precedence;</a:t>
            </a:r>
            <a:endParaRPr lang="en-US" sz="1150"/>
          </a:p>
          <a:p>
            <a:pPr algn="l"/>
            <a:r>
              <a:rPr lang="en-US" sz="1150" b="0" i="0" dirty="0">
                <a:solidFill>
                  <a:srgbClr val="56647A"/>
                </a:solidFill>
                <a:latin typeface="Arial"/>
              </a:rPr>
              <a:t>limits remain visible</a:t>
            </a:r>
            <a:endParaRPr lang="en-US" sz="1150"/>
          </a:p>
        </p:txBody>
      </p:sp>
      <p:cxnSp>
        <p:nvCxnSpPr>
          <p:cNvPr id="36" name="Line 36"/>
          <p:cNvCxnSpPr/>
          <p:nvPr/>
        </p:nvCxnSpPr>
        <p:spPr>
          <a:xfrm flipH="false" flipV="false">
            <a:off x="621792" y="6473952"/>
            <a:ext cx="10954512" cy="0"/>
          </a:xfrm>
          <a:prstGeom prst="line">
            <a:avLst/>
          </a:prstGeom>
          <a:ln w="10160">
            <a:solidFill>
              <a:srgbClr val="D7DFEA"/>
            </a:solidFill>
          </a:ln>
        </p:spPr>
      </p:cxnSp>
      <p:sp>
        <p:nvSpPr>
          <p:cNvPr id="37" name="Text 37"/>
          <p:cNvSpPr txBox="1"/>
          <p:nvPr/>
        </p:nvSpPr>
        <p:spPr>
          <a:xfrm>
            <a:off x="640080" y="6510528"/>
            <a:ext cx="10469880" cy="201168"/>
          </a:xfrm>
          <a:prstGeom prst="rect">
            <a:avLst/>
          </a:prstGeom>
          <a:noFill/>
          <a:ln>
            <a:noFill/>
          </a:ln>
        </p:spPr>
        <p:txBody>
          <a:bodyPr wrap="square" anchor="t" lIns="0" rIns="0" tIns="0" bIns="0"/>
          <a:lstStyle/>
          <a:p>
            <a:pPr algn="l"/>
            <a:r>
              <a:rPr lang="en-US" sz="720" b="0" i="0" dirty="0">
                <a:solidFill>
                  <a:srgbClr val="56647A"/>
                </a:solidFill>
                <a:latin typeface="Arial"/>
              </a:rPr>
              <a:t>presentation/evidence/source-map.md • timeline.csv • metrics.csv • sources.md</a:t>
            </a:r>
            <a:endParaRPr lang="en-US" sz="720"/>
          </a:p>
        </p:txBody>
      </p:sp>
      <p:sp>
        <p:nvSpPr>
          <p:cNvPr id="38" name="Text 38"/>
          <p:cNvSpPr txBox="1"/>
          <p:nvPr/>
        </p:nvSpPr>
        <p:spPr>
          <a:xfrm>
            <a:off x="11201400" y="6492240"/>
            <a:ext cx="329184" cy="201168"/>
          </a:xfrm>
          <a:prstGeom prst="rect">
            <a:avLst/>
          </a:prstGeom>
          <a:noFill/>
          <a:ln>
            <a:noFill/>
          </a:ln>
        </p:spPr>
        <p:txBody>
          <a:bodyPr wrap="square" anchor="t" lIns="0" rIns="0" tIns="0" bIns="0"/>
          <a:lstStyle/>
          <a:p>
            <a:pPr algn="r"/>
            <a:r>
              <a:rPr lang="en-US" sz="800" b="1" i="0" dirty="0">
                <a:solidFill>
                  <a:srgbClr val="56647A"/>
                </a:solidFill>
                <a:latin typeface="Arial"/>
              </a:rPr>
              <a:t>13</a:t>
            </a:r>
            <a:endParaRPr lang="en-US" sz="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F6F8FC"/>
          </a:solidFill>
          <a:ln w="12700">
            <a:solidFill>
              <a:srgbClr val="F6F8FC"/>
            </a:solidFill>
          </a:ln>
        </p:spPr>
        <p:txBody>
          <a:bodyPr/>
          <a:lstStyle/>
          <a:p>
            <a:endParaRPr lang="en-US"/>
          </a:p>
        </p:txBody>
      </p:sp>
      <p:sp>
        <p:nvSpPr>
          <p:cNvPr id="3" name="Text 3"/>
          <p:cNvSpPr txBox="1"/>
          <p:nvPr/>
        </p:nvSpPr>
        <p:spPr>
          <a:xfrm>
            <a:off x="621792" y="347472"/>
            <a:ext cx="10927080" cy="566928"/>
          </a:xfrm>
          <a:prstGeom prst="rect">
            <a:avLst/>
          </a:prstGeom>
          <a:noFill/>
          <a:ln>
            <a:noFill/>
          </a:ln>
        </p:spPr>
        <p:txBody>
          <a:bodyPr wrap="square" anchor="t" lIns="0" rIns="0" tIns="0" bIns="0"/>
          <a:lstStyle/>
          <a:p>
            <a:pPr algn="l"/>
            <a:r>
              <a:rPr lang="en-US" sz="2700" b="1" i="0" dirty="0">
                <a:solidFill>
                  <a:srgbClr val="14213D"/>
                </a:solidFill>
                <a:latin typeface="Arial"/>
              </a:rPr>
              <a:t>Milestone commits anchor the complete linear history</a:t>
            </a:r>
            <a:endParaRPr lang="en-US" sz="2700"/>
          </a:p>
        </p:txBody>
      </p:sp>
      <p:sp>
        <p:nvSpPr>
          <p:cNvPr id="4" name="Text 4"/>
          <p:cNvSpPr txBox="1"/>
          <p:nvPr/>
        </p:nvSpPr>
        <p:spPr>
          <a:xfrm>
            <a:off x="640080" y="932688"/>
            <a:ext cx="10881360" cy="310896"/>
          </a:xfrm>
          <a:prstGeom prst="rect">
            <a:avLst/>
          </a:prstGeom>
          <a:noFill/>
          <a:ln>
            <a:noFill/>
          </a:ln>
        </p:spPr>
        <p:txBody>
          <a:bodyPr wrap="square" anchor="t" lIns="0" rIns="0" tIns="0" bIns="0"/>
          <a:lstStyle/>
          <a:p>
            <a:pPr algn="l"/>
            <a:r>
              <a:rPr lang="en-US" sz="1250" b="0" i="0" dirty="0">
                <a:solidFill>
                  <a:srgbClr val="56647A"/>
                </a:solidFill>
                <a:latin typeface="Arial"/>
              </a:rPr>
              <a:t>Appendix • detailed chronology</a:t>
            </a:r>
            <a:endParaRPr lang="en-US" sz="1250"/>
          </a:p>
        </p:txBody>
      </p:sp>
      <p:cxnSp>
        <p:nvCxnSpPr>
          <p:cNvPr id="5" name="Line 5"/>
          <p:cNvCxnSpPr/>
          <p:nvPr/>
        </p:nvCxnSpPr>
        <p:spPr>
          <a:xfrm flipH="false" flipV="false">
            <a:off x="932688" y="1920240"/>
            <a:ext cx="10268712" cy="0"/>
          </a:xfrm>
          <a:prstGeom prst="line">
            <a:avLst/>
          </a:prstGeom>
          <a:ln w="12700">
            <a:solidFill>
              <a:srgbClr val="C5CFDC"/>
            </a:solidFill>
          </a:ln>
        </p:spPr>
      </p:cxnSp>
      <p:sp>
        <p:nvSpPr>
          <p:cNvPr id="6" name="Ellipse 6"/>
          <p:cNvSpPr/>
          <p:nvPr/>
        </p:nvSpPr>
        <p:spPr>
          <a:xfrm>
            <a:off x="1024128" y="1810512"/>
            <a:ext cx="219456" cy="219456"/>
          </a:xfrm>
          <a:prstGeom prst="ellipse">
            <a:avLst/>
          </a:prstGeom>
          <a:solidFill>
            <a:srgbClr val="3B82F6"/>
          </a:solidFill>
          <a:ln w="12700">
            <a:solidFill>
              <a:srgbClr val="3B82F6"/>
            </a:solidFill>
          </a:ln>
        </p:spPr>
        <p:txBody>
          <a:bodyPr/>
          <a:lstStyle/>
          <a:p>
            <a:endParaRPr lang="en-US"/>
          </a:p>
        </p:txBody>
      </p:sp>
      <p:sp>
        <p:nvSpPr>
          <p:cNvPr id="7" name="Rect 7"/>
          <p:cNvSpPr/>
          <p:nvPr/>
        </p:nvSpPr>
        <p:spPr>
          <a:xfrm>
            <a:off x="1344168" y="1527048"/>
            <a:ext cx="1847088" cy="758952"/>
          </a:xfrm>
          <a:prstGeom prst="roundRect">
            <a:avLst/>
          </a:prstGeom>
          <a:solidFill>
            <a:srgbClr val="FFFFFF"/>
          </a:solidFill>
          <a:ln w="12700">
            <a:solidFill>
              <a:srgbClr val="3B82F6"/>
            </a:solidFill>
          </a:ln>
        </p:spPr>
        <p:txBody>
          <a:bodyPr/>
          <a:lstStyle/>
          <a:p>
            <a:endParaRPr lang="en-US"/>
          </a:p>
        </p:txBody>
      </p:sp>
      <p:sp>
        <p:nvSpPr>
          <p:cNvPr id="8" name="Text 8"/>
          <p:cNvSpPr txBox="1"/>
          <p:nvPr/>
        </p:nvSpPr>
        <p:spPr>
          <a:xfrm>
            <a:off x="1481328" y="1673352"/>
            <a:ext cx="1572768" cy="182880"/>
          </a:xfrm>
          <a:prstGeom prst="rect">
            <a:avLst/>
          </a:prstGeom>
          <a:noFill/>
          <a:ln>
            <a:noFill/>
          </a:ln>
        </p:spPr>
        <p:txBody>
          <a:bodyPr wrap="square" anchor="t" lIns="0" rIns="0" tIns="0" bIns="0"/>
          <a:lstStyle/>
          <a:p>
            <a:pPr algn="ctr"/>
            <a:r>
              <a:rPr lang="en-US" sz="1070" b="1" i="0" dirty="0">
                <a:solidFill>
                  <a:srgbClr val="3B82F6"/>
                </a:solidFill>
                <a:latin typeface="Arial"/>
              </a:rPr>
              <a:t>Protect</a:t>
            </a:r>
            <a:endParaRPr lang="en-US" sz="1070"/>
          </a:p>
        </p:txBody>
      </p:sp>
      <p:sp>
        <p:nvSpPr>
          <p:cNvPr id="9" name="Text 9"/>
          <p:cNvSpPr txBox="1"/>
          <p:nvPr/>
        </p:nvSpPr>
        <p:spPr>
          <a:xfrm>
            <a:off x="1481328" y="1975104"/>
            <a:ext cx="1572768" cy="146304"/>
          </a:xfrm>
          <a:prstGeom prst="rect">
            <a:avLst/>
          </a:prstGeom>
          <a:noFill/>
          <a:ln>
            <a:noFill/>
          </a:ln>
        </p:spPr>
        <p:txBody>
          <a:bodyPr wrap="square" anchor="t" lIns="0" rIns="0" tIns="0" bIns="0"/>
          <a:lstStyle/>
          <a:p>
            <a:pPr algn="ctr"/>
            <a:r>
              <a:rPr lang="en-US" sz="770" b="0" i="0" dirty="0">
                <a:solidFill>
                  <a:srgbClr val="56647A"/>
                </a:solidFill>
                <a:latin typeface="Arial"/>
              </a:rPr>
              <a:t>7f969317</a:t>
            </a:r>
            <a:endParaRPr lang="en-US" sz="770"/>
          </a:p>
        </p:txBody>
      </p:sp>
      <p:sp>
        <p:nvSpPr>
          <p:cNvPr id="10" name="Ellipse 10"/>
          <p:cNvSpPr/>
          <p:nvPr/>
        </p:nvSpPr>
        <p:spPr>
          <a:xfrm>
            <a:off x="3602736" y="1810512"/>
            <a:ext cx="219456" cy="219456"/>
          </a:xfrm>
          <a:prstGeom prst="ellipse">
            <a:avLst/>
          </a:prstGeom>
          <a:solidFill>
            <a:srgbClr val="3B82F6"/>
          </a:solidFill>
          <a:ln w="12700">
            <a:solidFill>
              <a:srgbClr val="3B82F6"/>
            </a:solidFill>
          </a:ln>
        </p:spPr>
        <p:txBody>
          <a:bodyPr/>
          <a:lstStyle/>
          <a:p>
            <a:endParaRPr lang="en-US"/>
          </a:p>
        </p:txBody>
      </p:sp>
      <p:sp>
        <p:nvSpPr>
          <p:cNvPr id="11" name="Rect 11"/>
          <p:cNvSpPr/>
          <p:nvPr/>
        </p:nvSpPr>
        <p:spPr>
          <a:xfrm>
            <a:off x="3922776" y="1527048"/>
            <a:ext cx="1847088" cy="758952"/>
          </a:xfrm>
          <a:prstGeom prst="roundRect">
            <a:avLst/>
          </a:prstGeom>
          <a:solidFill>
            <a:srgbClr val="FFFFFF"/>
          </a:solidFill>
          <a:ln w="12700">
            <a:solidFill>
              <a:srgbClr val="3B82F6"/>
            </a:solidFill>
          </a:ln>
        </p:spPr>
        <p:txBody>
          <a:bodyPr/>
          <a:lstStyle/>
          <a:p>
            <a:endParaRPr lang="en-US"/>
          </a:p>
        </p:txBody>
      </p:sp>
      <p:sp>
        <p:nvSpPr>
          <p:cNvPr id="12" name="Text 12"/>
          <p:cNvSpPr txBox="1"/>
          <p:nvPr/>
        </p:nvSpPr>
        <p:spPr>
          <a:xfrm>
            <a:off x="4059936" y="1673352"/>
            <a:ext cx="1572768" cy="182880"/>
          </a:xfrm>
          <a:prstGeom prst="rect">
            <a:avLst/>
          </a:prstGeom>
          <a:noFill/>
          <a:ln>
            <a:noFill/>
          </a:ln>
        </p:spPr>
        <p:txBody>
          <a:bodyPr wrap="square" anchor="t" lIns="0" rIns="0" tIns="0" bIns="0"/>
          <a:lstStyle/>
          <a:p>
            <a:pPr algn="ctr"/>
            <a:r>
              <a:rPr lang="en-US" sz="1070" b="1" i="0" dirty="0">
                <a:solidFill>
                  <a:srgbClr val="3B82F6"/>
                </a:solidFill>
                <a:latin typeface="Arial"/>
              </a:rPr>
              <a:t>Dual client</a:t>
            </a:r>
            <a:endParaRPr lang="en-US" sz="1070"/>
          </a:p>
        </p:txBody>
      </p:sp>
      <p:sp>
        <p:nvSpPr>
          <p:cNvPr id="13" name="Text 13"/>
          <p:cNvSpPr txBox="1"/>
          <p:nvPr/>
        </p:nvSpPr>
        <p:spPr>
          <a:xfrm>
            <a:off x="4059936" y="1975104"/>
            <a:ext cx="1572768" cy="146304"/>
          </a:xfrm>
          <a:prstGeom prst="rect">
            <a:avLst/>
          </a:prstGeom>
          <a:noFill/>
          <a:ln>
            <a:noFill/>
          </a:ln>
        </p:spPr>
        <p:txBody>
          <a:bodyPr wrap="square" anchor="t" lIns="0" rIns="0" tIns="0" bIns="0"/>
          <a:lstStyle/>
          <a:p>
            <a:pPr algn="ctr"/>
            <a:r>
              <a:rPr lang="en-US" sz="770" b="0" i="0" dirty="0">
                <a:solidFill>
                  <a:srgbClr val="56647A"/>
                </a:solidFill>
                <a:latin typeface="Arial"/>
              </a:rPr>
              <a:t>805db485</a:t>
            </a:r>
            <a:endParaRPr lang="en-US" sz="770"/>
          </a:p>
        </p:txBody>
      </p:sp>
      <p:sp>
        <p:nvSpPr>
          <p:cNvPr id="14" name="Ellipse 14"/>
          <p:cNvSpPr/>
          <p:nvPr/>
        </p:nvSpPr>
        <p:spPr>
          <a:xfrm>
            <a:off x="6181344" y="1810512"/>
            <a:ext cx="219456" cy="219456"/>
          </a:xfrm>
          <a:prstGeom prst="ellipse">
            <a:avLst/>
          </a:prstGeom>
          <a:solidFill>
            <a:srgbClr val="06B6D4"/>
          </a:solidFill>
          <a:ln w="12700">
            <a:solidFill>
              <a:srgbClr val="06B6D4"/>
            </a:solidFill>
          </a:ln>
        </p:spPr>
        <p:txBody>
          <a:bodyPr/>
          <a:lstStyle/>
          <a:p>
            <a:endParaRPr lang="en-US"/>
          </a:p>
        </p:txBody>
      </p:sp>
      <p:sp>
        <p:nvSpPr>
          <p:cNvPr id="15" name="Rect 15"/>
          <p:cNvSpPr/>
          <p:nvPr/>
        </p:nvSpPr>
        <p:spPr>
          <a:xfrm>
            <a:off x="6501384" y="1527048"/>
            <a:ext cx="1847088" cy="758952"/>
          </a:xfrm>
          <a:prstGeom prst="roundRect">
            <a:avLst/>
          </a:prstGeom>
          <a:solidFill>
            <a:srgbClr val="FFFFFF"/>
          </a:solidFill>
          <a:ln w="12700">
            <a:solidFill>
              <a:srgbClr val="06B6D4"/>
            </a:solidFill>
          </a:ln>
        </p:spPr>
        <p:txBody>
          <a:bodyPr/>
          <a:lstStyle/>
          <a:p>
            <a:endParaRPr lang="en-US"/>
          </a:p>
        </p:txBody>
      </p:sp>
      <p:sp>
        <p:nvSpPr>
          <p:cNvPr id="16" name="Text 16"/>
          <p:cNvSpPr txBox="1"/>
          <p:nvPr/>
        </p:nvSpPr>
        <p:spPr>
          <a:xfrm>
            <a:off x="6638544" y="1673352"/>
            <a:ext cx="1572768" cy="182880"/>
          </a:xfrm>
          <a:prstGeom prst="rect">
            <a:avLst/>
          </a:prstGeom>
          <a:noFill/>
          <a:ln>
            <a:noFill/>
          </a:ln>
        </p:spPr>
        <p:txBody>
          <a:bodyPr wrap="square" anchor="t" lIns="0" rIns="0" tIns="0" bIns="0"/>
          <a:lstStyle/>
          <a:p>
            <a:pPr algn="ctr"/>
            <a:r>
              <a:rPr lang="en-US" sz="1070" b="1" i="0" dirty="0">
                <a:solidFill>
                  <a:srgbClr val="06B6D4"/>
                </a:solidFill>
                <a:latin typeface="Arial"/>
              </a:rPr>
              <a:t>Observe</a:t>
            </a:r>
            <a:endParaRPr lang="en-US" sz="1070"/>
          </a:p>
        </p:txBody>
      </p:sp>
      <p:sp>
        <p:nvSpPr>
          <p:cNvPr id="17" name="Text 17"/>
          <p:cNvSpPr txBox="1"/>
          <p:nvPr/>
        </p:nvSpPr>
        <p:spPr>
          <a:xfrm>
            <a:off x="6638544" y="1975104"/>
            <a:ext cx="1572768" cy="146304"/>
          </a:xfrm>
          <a:prstGeom prst="rect">
            <a:avLst/>
          </a:prstGeom>
          <a:noFill/>
          <a:ln>
            <a:noFill/>
          </a:ln>
        </p:spPr>
        <p:txBody>
          <a:bodyPr wrap="square" anchor="t" lIns="0" rIns="0" tIns="0" bIns="0"/>
          <a:lstStyle/>
          <a:p>
            <a:pPr algn="ctr"/>
            <a:r>
              <a:rPr lang="en-US" sz="770" b="0" i="0" dirty="0">
                <a:solidFill>
                  <a:srgbClr val="56647A"/>
                </a:solidFill>
                <a:latin typeface="Arial"/>
              </a:rPr>
              <a:t>fb417282</a:t>
            </a:r>
            <a:endParaRPr lang="en-US" sz="770"/>
          </a:p>
        </p:txBody>
      </p:sp>
      <p:sp>
        <p:nvSpPr>
          <p:cNvPr id="18" name="Ellipse 18"/>
          <p:cNvSpPr/>
          <p:nvPr/>
        </p:nvSpPr>
        <p:spPr>
          <a:xfrm>
            <a:off x="8759952" y="1810512"/>
            <a:ext cx="219456" cy="219456"/>
          </a:xfrm>
          <a:prstGeom prst="ellipse">
            <a:avLst/>
          </a:prstGeom>
          <a:solidFill>
            <a:srgbClr val="0D9488"/>
          </a:solidFill>
          <a:ln w="12700">
            <a:solidFill>
              <a:srgbClr val="0D9488"/>
            </a:solidFill>
          </a:ln>
        </p:spPr>
        <p:txBody>
          <a:bodyPr/>
          <a:lstStyle/>
          <a:p>
            <a:endParaRPr lang="en-US"/>
          </a:p>
        </p:txBody>
      </p:sp>
      <p:sp>
        <p:nvSpPr>
          <p:cNvPr id="19" name="Rect 19"/>
          <p:cNvSpPr/>
          <p:nvPr/>
        </p:nvSpPr>
        <p:spPr>
          <a:xfrm>
            <a:off x="9079992" y="1527048"/>
            <a:ext cx="1847088" cy="758952"/>
          </a:xfrm>
          <a:prstGeom prst="roundRect">
            <a:avLst/>
          </a:prstGeom>
          <a:solidFill>
            <a:srgbClr val="FFFFFF"/>
          </a:solidFill>
          <a:ln w="12700">
            <a:solidFill>
              <a:srgbClr val="0D9488"/>
            </a:solidFill>
          </a:ln>
        </p:spPr>
        <p:txBody>
          <a:bodyPr/>
          <a:lstStyle/>
          <a:p>
            <a:endParaRPr lang="en-US"/>
          </a:p>
        </p:txBody>
      </p:sp>
      <p:sp>
        <p:nvSpPr>
          <p:cNvPr id="20" name="Text 20"/>
          <p:cNvSpPr txBox="1"/>
          <p:nvPr/>
        </p:nvSpPr>
        <p:spPr>
          <a:xfrm>
            <a:off x="9217152" y="1673352"/>
            <a:ext cx="1572768" cy="182880"/>
          </a:xfrm>
          <a:prstGeom prst="rect">
            <a:avLst/>
          </a:prstGeom>
          <a:noFill/>
          <a:ln>
            <a:noFill/>
          </a:ln>
        </p:spPr>
        <p:txBody>
          <a:bodyPr wrap="square" anchor="t" lIns="0" rIns="0" tIns="0" bIns="0"/>
          <a:lstStyle/>
          <a:p>
            <a:pPr algn="ctr"/>
            <a:r>
              <a:rPr lang="en-US" sz="1070" b="1" i="0" dirty="0">
                <a:solidFill>
                  <a:srgbClr val="0D9488"/>
                </a:solidFill>
                <a:latin typeface="Arial"/>
              </a:rPr>
              <a:t>Transact</a:t>
            </a:r>
            <a:endParaRPr lang="en-US" sz="1070"/>
          </a:p>
        </p:txBody>
      </p:sp>
      <p:sp>
        <p:nvSpPr>
          <p:cNvPr id="21" name="Text 21"/>
          <p:cNvSpPr txBox="1"/>
          <p:nvPr/>
        </p:nvSpPr>
        <p:spPr>
          <a:xfrm>
            <a:off x="9217152" y="1975104"/>
            <a:ext cx="1572768" cy="146304"/>
          </a:xfrm>
          <a:prstGeom prst="rect">
            <a:avLst/>
          </a:prstGeom>
          <a:noFill/>
          <a:ln>
            <a:noFill/>
          </a:ln>
        </p:spPr>
        <p:txBody>
          <a:bodyPr wrap="square" anchor="t" lIns="0" rIns="0" tIns="0" bIns="0"/>
          <a:lstStyle/>
          <a:p>
            <a:pPr algn="ctr"/>
            <a:r>
              <a:rPr lang="en-US" sz="770" b="0" i="0" dirty="0">
                <a:solidFill>
                  <a:srgbClr val="56647A"/>
                </a:solidFill>
                <a:latin typeface="Arial"/>
              </a:rPr>
              <a:t>07351a40</a:t>
            </a:r>
            <a:endParaRPr lang="en-US" sz="770"/>
          </a:p>
        </p:txBody>
      </p:sp>
      <p:cxnSp>
        <p:nvCxnSpPr>
          <p:cNvPr id="22" name="Line 22"/>
          <p:cNvCxnSpPr/>
          <p:nvPr/>
        </p:nvCxnSpPr>
        <p:spPr>
          <a:xfrm flipH="false" flipV="false">
            <a:off x="932688" y="3108960"/>
            <a:ext cx="10268712" cy="0"/>
          </a:xfrm>
          <a:prstGeom prst="line">
            <a:avLst/>
          </a:prstGeom>
          <a:ln w="12700">
            <a:solidFill>
              <a:srgbClr val="C5CFDC"/>
            </a:solidFill>
          </a:ln>
        </p:spPr>
      </p:cxnSp>
      <p:sp>
        <p:nvSpPr>
          <p:cNvPr id="23" name="Ellipse 23"/>
          <p:cNvSpPr/>
          <p:nvPr/>
        </p:nvSpPr>
        <p:spPr>
          <a:xfrm>
            <a:off x="1024128" y="2999232"/>
            <a:ext cx="219456" cy="219456"/>
          </a:xfrm>
          <a:prstGeom prst="ellipse">
            <a:avLst/>
          </a:prstGeom>
          <a:solidFill>
            <a:srgbClr val="F59E0B"/>
          </a:solidFill>
          <a:ln w="12700">
            <a:solidFill>
              <a:srgbClr val="F59E0B"/>
            </a:solidFill>
          </a:ln>
        </p:spPr>
        <p:txBody>
          <a:bodyPr/>
          <a:lstStyle/>
          <a:p>
            <a:endParaRPr lang="en-US"/>
          </a:p>
        </p:txBody>
      </p:sp>
      <p:sp>
        <p:nvSpPr>
          <p:cNvPr id="24" name="Rect 24"/>
          <p:cNvSpPr/>
          <p:nvPr/>
        </p:nvSpPr>
        <p:spPr>
          <a:xfrm>
            <a:off x="1344168" y="2715768"/>
            <a:ext cx="1847088" cy="758952"/>
          </a:xfrm>
          <a:prstGeom prst="roundRect">
            <a:avLst/>
          </a:prstGeom>
          <a:solidFill>
            <a:srgbClr val="FFFFFF"/>
          </a:solidFill>
          <a:ln w="12700">
            <a:solidFill>
              <a:srgbClr val="F59E0B"/>
            </a:solidFill>
          </a:ln>
        </p:spPr>
        <p:txBody>
          <a:bodyPr/>
          <a:lstStyle/>
          <a:p>
            <a:endParaRPr lang="en-US"/>
          </a:p>
        </p:txBody>
      </p:sp>
      <p:sp>
        <p:nvSpPr>
          <p:cNvPr id="25" name="Text 25"/>
          <p:cNvSpPr txBox="1"/>
          <p:nvPr/>
        </p:nvSpPr>
        <p:spPr>
          <a:xfrm>
            <a:off x="1481328" y="2862072"/>
            <a:ext cx="1572768" cy="182880"/>
          </a:xfrm>
          <a:prstGeom prst="rect">
            <a:avLst/>
          </a:prstGeom>
          <a:noFill/>
          <a:ln>
            <a:noFill/>
          </a:ln>
        </p:spPr>
        <p:txBody>
          <a:bodyPr wrap="square" anchor="t" lIns="0" rIns="0" tIns="0" bIns="0"/>
          <a:lstStyle/>
          <a:p>
            <a:pPr algn="ctr"/>
            <a:r>
              <a:rPr lang="en-US" sz="1070" b="1" i="0" dirty="0">
                <a:solidFill>
                  <a:srgbClr val="F59E0B"/>
                </a:solidFill>
                <a:latin typeface="Arial"/>
              </a:rPr>
              <a:t>Guard delete</a:t>
            </a:r>
            <a:endParaRPr lang="en-US" sz="1070"/>
          </a:p>
        </p:txBody>
      </p:sp>
      <p:sp>
        <p:nvSpPr>
          <p:cNvPr id="26" name="Text 26"/>
          <p:cNvSpPr txBox="1"/>
          <p:nvPr/>
        </p:nvSpPr>
        <p:spPr>
          <a:xfrm>
            <a:off x="1481328" y="3163824"/>
            <a:ext cx="1572768" cy="146304"/>
          </a:xfrm>
          <a:prstGeom prst="rect">
            <a:avLst/>
          </a:prstGeom>
          <a:noFill/>
          <a:ln>
            <a:noFill/>
          </a:ln>
        </p:spPr>
        <p:txBody>
          <a:bodyPr wrap="square" anchor="t" lIns="0" rIns="0" tIns="0" bIns="0"/>
          <a:lstStyle/>
          <a:p>
            <a:pPr algn="ctr"/>
            <a:r>
              <a:rPr lang="en-US" sz="770" b="0" i="0" dirty="0">
                <a:solidFill>
                  <a:srgbClr val="56647A"/>
                </a:solidFill>
                <a:latin typeface="Arial"/>
              </a:rPr>
              <a:t>238f022</a:t>
            </a:r>
            <a:endParaRPr lang="en-US" sz="770"/>
          </a:p>
        </p:txBody>
      </p:sp>
      <p:sp>
        <p:nvSpPr>
          <p:cNvPr id="27" name="Ellipse 27"/>
          <p:cNvSpPr/>
          <p:nvPr/>
        </p:nvSpPr>
        <p:spPr>
          <a:xfrm>
            <a:off x="3602736" y="2999232"/>
            <a:ext cx="219456" cy="219456"/>
          </a:xfrm>
          <a:prstGeom prst="ellipse">
            <a:avLst/>
          </a:prstGeom>
          <a:solidFill>
            <a:srgbClr val="F59E0B"/>
          </a:solidFill>
          <a:ln w="12700">
            <a:solidFill>
              <a:srgbClr val="F59E0B"/>
            </a:solidFill>
          </a:ln>
        </p:spPr>
        <p:txBody>
          <a:bodyPr/>
          <a:lstStyle/>
          <a:p>
            <a:endParaRPr lang="en-US"/>
          </a:p>
        </p:txBody>
      </p:sp>
      <p:sp>
        <p:nvSpPr>
          <p:cNvPr id="28" name="Rect 28"/>
          <p:cNvSpPr/>
          <p:nvPr/>
        </p:nvSpPr>
        <p:spPr>
          <a:xfrm>
            <a:off x="3922776" y="2715768"/>
            <a:ext cx="1847088" cy="758952"/>
          </a:xfrm>
          <a:prstGeom prst="roundRect">
            <a:avLst/>
          </a:prstGeom>
          <a:solidFill>
            <a:srgbClr val="FFFFFF"/>
          </a:solidFill>
          <a:ln w="12700">
            <a:solidFill>
              <a:srgbClr val="F59E0B"/>
            </a:solidFill>
          </a:ln>
        </p:spPr>
        <p:txBody>
          <a:bodyPr/>
          <a:lstStyle/>
          <a:p>
            <a:endParaRPr lang="en-US"/>
          </a:p>
        </p:txBody>
      </p:sp>
      <p:sp>
        <p:nvSpPr>
          <p:cNvPr id="29" name="Text 29"/>
          <p:cNvSpPr txBox="1"/>
          <p:nvPr/>
        </p:nvSpPr>
        <p:spPr>
          <a:xfrm>
            <a:off x="4059936" y="2862072"/>
            <a:ext cx="1572768" cy="182880"/>
          </a:xfrm>
          <a:prstGeom prst="rect">
            <a:avLst/>
          </a:prstGeom>
          <a:noFill/>
          <a:ln>
            <a:noFill/>
          </a:ln>
        </p:spPr>
        <p:txBody>
          <a:bodyPr wrap="square" anchor="t" lIns="0" rIns="0" tIns="0" bIns="0"/>
          <a:lstStyle/>
          <a:p>
            <a:pPr algn="ctr"/>
            <a:r>
              <a:rPr lang="en-US" sz="1070" b="1" i="0" dirty="0">
                <a:solidFill>
                  <a:srgbClr val="F59E0B"/>
                </a:solidFill>
                <a:latin typeface="Arial"/>
              </a:rPr>
              <a:t>Backup</a:t>
            </a:r>
            <a:endParaRPr lang="en-US" sz="1070"/>
          </a:p>
        </p:txBody>
      </p:sp>
      <p:sp>
        <p:nvSpPr>
          <p:cNvPr id="30" name="Text 30"/>
          <p:cNvSpPr txBox="1"/>
          <p:nvPr/>
        </p:nvSpPr>
        <p:spPr>
          <a:xfrm>
            <a:off x="4059936" y="3163824"/>
            <a:ext cx="1572768" cy="146304"/>
          </a:xfrm>
          <a:prstGeom prst="rect">
            <a:avLst/>
          </a:prstGeom>
          <a:noFill/>
          <a:ln>
            <a:noFill/>
          </a:ln>
        </p:spPr>
        <p:txBody>
          <a:bodyPr wrap="square" anchor="t" lIns="0" rIns="0" tIns="0" bIns="0"/>
          <a:lstStyle/>
          <a:p>
            <a:pPr algn="ctr"/>
            <a:r>
              <a:rPr lang="en-US" sz="770" b="0" i="0" dirty="0">
                <a:solidFill>
                  <a:srgbClr val="56647A"/>
                </a:solidFill>
                <a:latin typeface="Arial"/>
              </a:rPr>
              <a:t>4f34299</a:t>
            </a:r>
            <a:endParaRPr lang="en-US" sz="770"/>
          </a:p>
        </p:txBody>
      </p:sp>
      <p:sp>
        <p:nvSpPr>
          <p:cNvPr id="31" name="Ellipse 31"/>
          <p:cNvSpPr/>
          <p:nvPr/>
        </p:nvSpPr>
        <p:spPr>
          <a:xfrm>
            <a:off x="6181344" y="2999232"/>
            <a:ext cx="219456" cy="219456"/>
          </a:xfrm>
          <a:prstGeom prst="ellipse">
            <a:avLst/>
          </a:prstGeom>
          <a:solidFill>
            <a:srgbClr val="7C3AED"/>
          </a:solidFill>
          <a:ln w="12700">
            <a:solidFill>
              <a:srgbClr val="7C3AED"/>
            </a:solidFill>
          </a:ln>
        </p:spPr>
        <p:txBody>
          <a:bodyPr/>
          <a:lstStyle/>
          <a:p>
            <a:endParaRPr lang="en-US"/>
          </a:p>
        </p:txBody>
      </p:sp>
      <p:sp>
        <p:nvSpPr>
          <p:cNvPr id="32" name="Rect 32"/>
          <p:cNvSpPr/>
          <p:nvPr/>
        </p:nvSpPr>
        <p:spPr>
          <a:xfrm>
            <a:off x="6501384" y="2715768"/>
            <a:ext cx="1847088" cy="758952"/>
          </a:xfrm>
          <a:prstGeom prst="roundRect">
            <a:avLst/>
          </a:prstGeom>
          <a:solidFill>
            <a:srgbClr val="FFFFFF"/>
          </a:solidFill>
          <a:ln w="12700">
            <a:solidFill>
              <a:srgbClr val="7C3AED"/>
            </a:solidFill>
          </a:ln>
        </p:spPr>
        <p:txBody>
          <a:bodyPr/>
          <a:lstStyle/>
          <a:p>
            <a:endParaRPr lang="en-US"/>
          </a:p>
        </p:txBody>
      </p:sp>
      <p:sp>
        <p:nvSpPr>
          <p:cNvPr id="33" name="Text 33"/>
          <p:cNvSpPr txBox="1"/>
          <p:nvPr/>
        </p:nvSpPr>
        <p:spPr>
          <a:xfrm>
            <a:off x="6638544" y="2862072"/>
            <a:ext cx="1572768" cy="182880"/>
          </a:xfrm>
          <a:prstGeom prst="rect">
            <a:avLst/>
          </a:prstGeom>
          <a:noFill/>
          <a:ln>
            <a:noFill/>
          </a:ln>
        </p:spPr>
        <p:txBody>
          <a:bodyPr wrap="square" anchor="t" lIns="0" rIns="0" tIns="0" bIns="0"/>
          <a:lstStyle/>
          <a:p>
            <a:pPr algn="ctr"/>
            <a:r>
              <a:rPr lang="en-US" sz="1070" b="1" i="0" dirty="0">
                <a:solidFill>
                  <a:srgbClr val="7C3AED"/>
                </a:solidFill>
                <a:latin typeface="Arial"/>
              </a:rPr>
              <a:t>Evaluate</a:t>
            </a:r>
            <a:endParaRPr lang="en-US" sz="1070"/>
          </a:p>
        </p:txBody>
      </p:sp>
      <p:sp>
        <p:nvSpPr>
          <p:cNvPr id="34" name="Text 34"/>
          <p:cNvSpPr txBox="1"/>
          <p:nvPr/>
        </p:nvSpPr>
        <p:spPr>
          <a:xfrm>
            <a:off x="6638544" y="3163824"/>
            <a:ext cx="1572768" cy="146304"/>
          </a:xfrm>
          <a:prstGeom prst="rect">
            <a:avLst/>
          </a:prstGeom>
          <a:noFill/>
          <a:ln>
            <a:noFill/>
          </a:ln>
        </p:spPr>
        <p:txBody>
          <a:bodyPr wrap="square" anchor="t" lIns="0" rIns="0" tIns="0" bIns="0"/>
          <a:lstStyle/>
          <a:p>
            <a:pPr algn="ctr"/>
            <a:r>
              <a:rPr lang="en-US" sz="770" b="0" i="0" dirty="0">
                <a:solidFill>
                  <a:srgbClr val="56647A"/>
                </a:solidFill>
                <a:latin typeface="Arial"/>
              </a:rPr>
              <a:t>05932762</a:t>
            </a:r>
            <a:endParaRPr lang="en-US" sz="770"/>
          </a:p>
        </p:txBody>
      </p:sp>
      <p:sp>
        <p:nvSpPr>
          <p:cNvPr id="35" name="Ellipse 35"/>
          <p:cNvSpPr/>
          <p:nvPr/>
        </p:nvSpPr>
        <p:spPr>
          <a:xfrm>
            <a:off x="8759952" y="2999232"/>
            <a:ext cx="219456" cy="219456"/>
          </a:xfrm>
          <a:prstGeom prst="ellipse">
            <a:avLst/>
          </a:prstGeom>
          <a:solidFill>
            <a:srgbClr val="7C3AED"/>
          </a:solidFill>
          <a:ln w="12700">
            <a:solidFill>
              <a:srgbClr val="7C3AED"/>
            </a:solidFill>
          </a:ln>
        </p:spPr>
        <p:txBody>
          <a:bodyPr/>
          <a:lstStyle/>
          <a:p>
            <a:endParaRPr lang="en-US"/>
          </a:p>
        </p:txBody>
      </p:sp>
      <p:sp>
        <p:nvSpPr>
          <p:cNvPr id="36" name="Rect 36"/>
          <p:cNvSpPr/>
          <p:nvPr/>
        </p:nvSpPr>
        <p:spPr>
          <a:xfrm>
            <a:off x="9079992" y="2715768"/>
            <a:ext cx="1847088" cy="758952"/>
          </a:xfrm>
          <a:prstGeom prst="roundRect">
            <a:avLst/>
          </a:prstGeom>
          <a:solidFill>
            <a:srgbClr val="FFFFFF"/>
          </a:solidFill>
          <a:ln w="12700">
            <a:solidFill>
              <a:srgbClr val="7C3AED"/>
            </a:solidFill>
          </a:ln>
        </p:spPr>
        <p:txBody>
          <a:bodyPr/>
          <a:lstStyle/>
          <a:p>
            <a:endParaRPr lang="en-US"/>
          </a:p>
        </p:txBody>
      </p:sp>
      <p:sp>
        <p:nvSpPr>
          <p:cNvPr id="37" name="Text 37"/>
          <p:cNvSpPr txBox="1"/>
          <p:nvPr/>
        </p:nvSpPr>
        <p:spPr>
          <a:xfrm>
            <a:off x="9217152" y="2862072"/>
            <a:ext cx="1572768" cy="182880"/>
          </a:xfrm>
          <a:prstGeom prst="rect">
            <a:avLst/>
          </a:prstGeom>
          <a:noFill/>
          <a:ln>
            <a:noFill/>
          </a:ln>
        </p:spPr>
        <p:txBody>
          <a:bodyPr wrap="square" anchor="t" lIns="0" rIns="0" tIns="0" bIns="0"/>
          <a:lstStyle/>
          <a:p>
            <a:pPr algn="ctr"/>
            <a:r>
              <a:rPr lang="en-US" sz="1070" b="1" i="0" dirty="0">
                <a:solidFill>
                  <a:srgbClr val="7C3AED"/>
                </a:solidFill>
                <a:latin typeface="Arial"/>
              </a:rPr>
              <a:t>CI</a:t>
            </a:r>
            <a:endParaRPr lang="en-US" sz="1070"/>
          </a:p>
        </p:txBody>
      </p:sp>
      <p:sp>
        <p:nvSpPr>
          <p:cNvPr id="38" name="Text 38"/>
          <p:cNvSpPr txBox="1"/>
          <p:nvPr/>
        </p:nvSpPr>
        <p:spPr>
          <a:xfrm>
            <a:off x="9217152" y="3163824"/>
            <a:ext cx="1572768" cy="146304"/>
          </a:xfrm>
          <a:prstGeom prst="rect">
            <a:avLst/>
          </a:prstGeom>
          <a:noFill/>
          <a:ln>
            <a:noFill/>
          </a:ln>
        </p:spPr>
        <p:txBody>
          <a:bodyPr wrap="square" anchor="t" lIns="0" rIns="0" tIns="0" bIns="0"/>
          <a:lstStyle/>
          <a:p>
            <a:pPr algn="ctr"/>
            <a:r>
              <a:rPr lang="en-US" sz="770" b="0" i="0" dirty="0">
                <a:solidFill>
                  <a:srgbClr val="56647A"/>
                </a:solidFill>
                <a:latin typeface="Arial"/>
              </a:rPr>
              <a:t>f6b9909</a:t>
            </a:r>
            <a:endParaRPr lang="en-US" sz="770"/>
          </a:p>
        </p:txBody>
      </p:sp>
      <p:cxnSp>
        <p:nvCxnSpPr>
          <p:cNvPr id="39" name="Line 39"/>
          <p:cNvCxnSpPr/>
          <p:nvPr/>
        </p:nvCxnSpPr>
        <p:spPr>
          <a:xfrm flipH="false" flipV="false">
            <a:off x="932688" y="4297680"/>
            <a:ext cx="10268712" cy="0"/>
          </a:xfrm>
          <a:prstGeom prst="line">
            <a:avLst/>
          </a:prstGeom>
          <a:ln w="12700">
            <a:solidFill>
              <a:srgbClr val="C5CFDC"/>
            </a:solidFill>
          </a:ln>
        </p:spPr>
      </p:cxnSp>
      <p:sp>
        <p:nvSpPr>
          <p:cNvPr id="40" name="Ellipse 40"/>
          <p:cNvSpPr/>
          <p:nvPr/>
        </p:nvSpPr>
        <p:spPr>
          <a:xfrm>
            <a:off x="1024128" y="4187952"/>
            <a:ext cx="219456" cy="219456"/>
          </a:xfrm>
          <a:prstGeom prst="ellipse">
            <a:avLst/>
          </a:prstGeom>
          <a:solidFill>
            <a:srgbClr val="0D9488"/>
          </a:solidFill>
          <a:ln w="12700">
            <a:solidFill>
              <a:srgbClr val="0D9488"/>
            </a:solidFill>
          </a:ln>
        </p:spPr>
        <p:txBody>
          <a:bodyPr/>
          <a:lstStyle/>
          <a:p>
            <a:endParaRPr lang="en-US"/>
          </a:p>
        </p:txBody>
      </p:sp>
      <p:sp>
        <p:nvSpPr>
          <p:cNvPr id="41" name="Rect 41"/>
          <p:cNvSpPr/>
          <p:nvPr/>
        </p:nvSpPr>
        <p:spPr>
          <a:xfrm>
            <a:off x="1344168" y="3904488"/>
            <a:ext cx="1847088" cy="758952"/>
          </a:xfrm>
          <a:prstGeom prst="roundRect">
            <a:avLst/>
          </a:prstGeom>
          <a:solidFill>
            <a:srgbClr val="FFFFFF"/>
          </a:solidFill>
          <a:ln w="12700">
            <a:solidFill>
              <a:srgbClr val="0D9488"/>
            </a:solidFill>
          </a:ln>
        </p:spPr>
        <p:txBody>
          <a:bodyPr/>
          <a:lstStyle/>
          <a:p>
            <a:endParaRPr lang="en-US"/>
          </a:p>
        </p:txBody>
      </p:sp>
      <p:sp>
        <p:nvSpPr>
          <p:cNvPr id="42" name="Text 42"/>
          <p:cNvSpPr txBox="1"/>
          <p:nvPr/>
        </p:nvSpPr>
        <p:spPr>
          <a:xfrm>
            <a:off x="1481328" y="4050792"/>
            <a:ext cx="1572768" cy="182880"/>
          </a:xfrm>
          <a:prstGeom prst="rect">
            <a:avLst/>
          </a:prstGeom>
          <a:noFill/>
          <a:ln>
            <a:noFill/>
          </a:ln>
        </p:spPr>
        <p:txBody>
          <a:bodyPr wrap="square" anchor="t" lIns="0" rIns="0" tIns="0" bIns="0"/>
          <a:lstStyle/>
          <a:p>
            <a:pPr algn="ctr"/>
            <a:r>
              <a:rPr lang="en-US" sz="1070" b="1" i="0" dirty="0">
                <a:solidFill>
                  <a:srgbClr val="0D9488"/>
                </a:solidFill>
                <a:latin typeface="Arial"/>
              </a:rPr>
              <a:t>Fleet sync</a:t>
            </a:r>
            <a:endParaRPr lang="en-US" sz="1070"/>
          </a:p>
        </p:txBody>
      </p:sp>
      <p:sp>
        <p:nvSpPr>
          <p:cNvPr id="43" name="Text 43"/>
          <p:cNvSpPr txBox="1"/>
          <p:nvPr/>
        </p:nvSpPr>
        <p:spPr>
          <a:xfrm>
            <a:off x="1481328" y="4352544"/>
            <a:ext cx="1572768" cy="146304"/>
          </a:xfrm>
          <a:prstGeom prst="rect">
            <a:avLst/>
          </a:prstGeom>
          <a:noFill/>
          <a:ln>
            <a:noFill/>
          </a:ln>
        </p:spPr>
        <p:txBody>
          <a:bodyPr wrap="square" anchor="t" lIns="0" rIns="0" tIns="0" bIns="0"/>
          <a:lstStyle/>
          <a:p>
            <a:pPr algn="ctr"/>
            <a:r>
              <a:rPr lang="en-US" sz="770" b="0" i="0" dirty="0">
                <a:solidFill>
                  <a:srgbClr val="56647A"/>
                </a:solidFill>
                <a:latin typeface="Arial"/>
              </a:rPr>
              <a:t>e8b0e9a</a:t>
            </a:r>
            <a:endParaRPr lang="en-US" sz="770"/>
          </a:p>
        </p:txBody>
      </p:sp>
      <p:sp>
        <p:nvSpPr>
          <p:cNvPr id="44" name="Ellipse 44"/>
          <p:cNvSpPr/>
          <p:nvPr/>
        </p:nvSpPr>
        <p:spPr>
          <a:xfrm>
            <a:off x="3602736" y="4187952"/>
            <a:ext cx="219456" cy="219456"/>
          </a:xfrm>
          <a:prstGeom prst="ellipse">
            <a:avLst/>
          </a:prstGeom>
          <a:solidFill>
            <a:srgbClr val="DB2777"/>
          </a:solidFill>
          <a:ln w="12700">
            <a:solidFill>
              <a:srgbClr val="DB2777"/>
            </a:solidFill>
          </a:ln>
        </p:spPr>
        <p:txBody>
          <a:bodyPr/>
          <a:lstStyle/>
          <a:p>
            <a:endParaRPr lang="en-US"/>
          </a:p>
        </p:txBody>
      </p:sp>
      <p:sp>
        <p:nvSpPr>
          <p:cNvPr id="45" name="Rect 45"/>
          <p:cNvSpPr/>
          <p:nvPr/>
        </p:nvSpPr>
        <p:spPr>
          <a:xfrm>
            <a:off x="3922776" y="3904488"/>
            <a:ext cx="1847088" cy="758952"/>
          </a:xfrm>
          <a:prstGeom prst="roundRect">
            <a:avLst/>
          </a:prstGeom>
          <a:solidFill>
            <a:srgbClr val="FFFFFF"/>
          </a:solidFill>
          <a:ln w="12700">
            <a:solidFill>
              <a:srgbClr val="DB2777"/>
            </a:solidFill>
          </a:ln>
        </p:spPr>
        <p:txBody>
          <a:bodyPr/>
          <a:lstStyle/>
          <a:p>
            <a:endParaRPr lang="en-US"/>
          </a:p>
        </p:txBody>
      </p:sp>
      <p:sp>
        <p:nvSpPr>
          <p:cNvPr id="46" name="Text 46"/>
          <p:cNvSpPr txBox="1"/>
          <p:nvPr/>
        </p:nvSpPr>
        <p:spPr>
          <a:xfrm>
            <a:off x="4059936" y="4050792"/>
            <a:ext cx="1572768" cy="182880"/>
          </a:xfrm>
          <a:prstGeom prst="rect">
            <a:avLst/>
          </a:prstGeom>
          <a:noFill/>
          <a:ln>
            <a:noFill/>
          </a:ln>
        </p:spPr>
        <p:txBody>
          <a:bodyPr wrap="square" anchor="t" lIns="0" rIns="0" tIns="0" bIns="0"/>
          <a:lstStyle/>
          <a:p>
            <a:pPr algn="ctr"/>
            <a:r>
              <a:rPr lang="en-US" sz="1070" b="1" i="0" dirty="0">
                <a:solidFill>
                  <a:srgbClr val="DB2777"/>
                </a:solidFill>
                <a:latin typeface="Arial"/>
              </a:rPr>
              <a:t>Mac engine</a:t>
            </a:r>
            <a:endParaRPr lang="en-US" sz="1070"/>
          </a:p>
        </p:txBody>
      </p:sp>
      <p:sp>
        <p:nvSpPr>
          <p:cNvPr id="47" name="Text 47"/>
          <p:cNvSpPr txBox="1"/>
          <p:nvPr/>
        </p:nvSpPr>
        <p:spPr>
          <a:xfrm>
            <a:off x="4059936" y="4352544"/>
            <a:ext cx="1572768" cy="146304"/>
          </a:xfrm>
          <a:prstGeom prst="rect">
            <a:avLst/>
          </a:prstGeom>
          <a:noFill/>
          <a:ln>
            <a:noFill/>
          </a:ln>
        </p:spPr>
        <p:txBody>
          <a:bodyPr wrap="square" anchor="t" lIns="0" rIns="0" tIns="0" bIns="0"/>
          <a:lstStyle/>
          <a:p>
            <a:pPr algn="ctr"/>
            <a:r>
              <a:rPr lang="en-US" sz="770" b="0" i="0" dirty="0">
                <a:solidFill>
                  <a:srgbClr val="56647A"/>
                </a:solidFill>
                <a:latin typeface="Arial"/>
              </a:rPr>
              <a:t>a0b74a4</a:t>
            </a:r>
            <a:endParaRPr lang="en-US" sz="770"/>
          </a:p>
        </p:txBody>
      </p:sp>
      <p:sp>
        <p:nvSpPr>
          <p:cNvPr id="48" name="Ellipse 48"/>
          <p:cNvSpPr/>
          <p:nvPr/>
        </p:nvSpPr>
        <p:spPr>
          <a:xfrm>
            <a:off x="6181344" y="4187952"/>
            <a:ext cx="219456" cy="219456"/>
          </a:xfrm>
          <a:prstGeom prst="ellipse">
            <a:avLst/>
          </a:prstGeom>
          <a:solidFill>
            <a:srgbClr val="DB2777"/>
          </a:solidFill>
          <a:ln w="12700">
            <a:solidFill>
              <a:srgbClr val="DB2777"/>
            </a:solidFill>
          </a:ln>
        </p:spPr>
        <p:txBody>
          <a:bodyPr/>
          <a:lstStyle/>
          <a:p>
            <a:endParaRPr lang="en-US"/>
          </a:p>
        </p:txBody>
      </p:sp>
      <p:sp>
        <p:nvSpPr>
          <p:cNvPr id="49" name="Rect 49"/>
          <p:cNvSpPr/>
          <p:nvPr/>
        </p:nvSpPr>
        <p:spPr>
          <a:xfrm>
            <a:off x="6501384" y="3904488"/>
            <a:ext cx="1847088" cy="758952"/>
          </a:xfrm>
          <a:prstGeom prst="roundRect">
            <a:avLst/>
          </a:prstGeom>
          <a:solidFill>
            <a:srgbClr val="FFFFFF"/>
          </a:solidFill>
          <a:ln w="12700">
            <a:solidFill>
              <a:srgbClr val="DB2777"/>
            </a:solidFill>
          </a:ln>
        </p:spPr>
        <p:txBody>
          <a:bodyPr/>
          <a:lstStyle/>
          <a:p>
            <a:endParaRPr lang="en-US"/>
          </a:p>
        </p:txBody>
      </p:sp>
      <p:sp>
        <p:nvSpPr>
          <p:cNvPr id="50" name="Text 50"/>
          <p:cNvSpPr txBox="1"/>
          <p:nvPr/>
        </p:nvSpPr>
        <p:spPr>
          <a:xfrm>
            <a:off x="6638544" y="4050792"/>
            <a:ext cx="1572768" cy="182880"/>
          </a:xfrm>
          <a:prstGeom prst="rect">
            <a:avLst/>
          </a:prstGeom>
          <a:noFill/>
          <a:ln>
            <a:noFill/>
          </a:ln>
        </p:spPr>
        <p:txBody>
          <a:bodyPr wrap="square" anchor="t" lIns="0" rIns="0" tIns="0" bIns="0"/>
          <a:lstStyle/>
          <a:p>
            <a:pPr algn="ctr"/>
            <a:r>
              <a:rPr lang="en-US" sz="1070" b="1" i="0" dirty="0">
                <a:solidFill>
                  <a:srgbClr val="DB2777"/>
                </a:solidFill>
                <a:latin typeface="Arial"/>
              </a:rPr>
              <a:t>Public Bash/tmux</a:t>
            </a:r>
            <a:endParaRPr lang="en-US" sz="1070"/>
          </a:p>
        </p:txBody>
      </p:sp>
      <p:sp>
        <p:nvSpPr>
          <p:cNvPr id="51" name="Text 51"/>
          <p:cNvSpPr txBox="1"/>
          <p:nvPr/>
        </p:nvSpPr>
        <p:spPr>
          <a:xfrm>
            <a:off x="6638544" y="4352544"/>
            <a:ext cx="1572768" cy="146304"/>
          </a:xfrm>
          <a:prstGeom prst="rect">
            <a:avLst/>
          </a:prstGeom>
          <a:noFill/>
          <a:ln>
            <a:noFill/>
          </a:ln>
        </p:spPr>
        <p:txBody>
          <a:bodyPr wrap="square" anchor="t" lIns="0" rIns="0" tIns="0" bIns="0"/>
          <a:lstStyle/>
          <a:p>
            <a:pPr algn="ctr"/>
            <a:r>
              <a:rPr lang="en-US" sz="770" b="0" i="0" dirty="0">
                <a:solidFill>
                  <a:srgbClr val="56647A"/>
                </a:solidFill>
                <a:latin typeface="Arial"/>
              </a:rPr>
              <a:t>4209ee8</a:t>
            </a:r>
            <a:endParaRPr lang="en-US" sz="770"/>
          </a:p>
        </p:txBody>
      </p:sp>
      <p:sp>
        <p:nvSpPr>
          <p:cNvPr id="52" name="Ellipse 52"/>
          <p:cNvSpPr/>
          <p:nvPr/>
        </p:nvSpPr>
        <p:spPr>
          <a:xfrm>
            <a:off x="8759952" y="4187952"/>
            <a:ext cx="219456" cy="219456"/>
          </a:xfrm>
          <a:prstGeom prst="ellipse">
            <a:avLst/>
          </a:prstGeom>
          <a:solidFill>
            <a:srgbClr val="DB2777"/>
          </a:solidFill>
          <a:ln w="12700">
            <a:solidFill>
              <a:srgbClr val="DB2777"/>
            </a:solidFill>
          </a:ln>
        </p:spPr>
        <p:txBody>
          <a:bodyPr/>
          <a:lstStyle/>
          <a:p>
            <a:endParaRPr lang="en-US"/>
          </a:p>
        </p:txBody>
      </p:sp>
      <p:sp>
        <p:nvSpPr>
          <p:cNvPr id="53" name="Rect 53"/>
          <p:cNvSpPr/>
          <p:nvPr/>
        </p:nvSpPr>
        <p:spPr>
          <a:xfrm>
            <a:off x="9079992" y="3904488"/>
            <a:ext cx="1847088" cy="758952"/>
          </a:xfrm>
          <a:prstGeom prst="roundRect">
            <a:avLst/>
          </a:prstGeom>
          <a:solidFill>
            <a:srgbClr val="FFFFFF"/>
          </a:solidFill>
          <a:ln w="12700">
            <a:solidFill>
              <a:srgbClr val="DB2777"/>
            </a:solidFill>
          </a:ln>
        </p:spPr>
        <p:txBody>
          <a:bodyPr/>
          <a:lstStyle/>
          <a:p>
            <a:endParaRPr lang="en-US"/>
          </a:p>
        </p:txBody>
      </p:sp>
      <p:sp>
        <p:nvSpPr>
          <p:cNvPr id="54" name="Text 54"/>
          <p:cNvSpPr txBox="1"/>
          <p:nvPr/>
        </p:nvSpPr>
        <p:spPr>
          <a:xfrm>
            <a:off x="9217152" y="4050792"/>
            <a:ext cx="1572768" cy="182880"/>
          </a:xfrm>
          <a:prstGeom prst="rect">
            <a:avLst/>
          </a:prstGeom>
          <a:noFill/>
          <a:ln>
            <a:noFill/>
          </a:ln>
        </p:spPr>
        <p:txBody>
          <a:bodyPr wrap="square" anchor="t" lIns="0" rIns="0" tIns="0" bIns="0"/>
          <a:lstStyle/>
          <a:p>
            <a:pPr algn="ctr"/>
            <a:r>
              <a:rPr lang="en-US" sz="1070" b="1" i="0" dirty="0">
                <a:solidFill>
                  <a:srgbClr val="DB2777"/>
                </a:solidFill>
                <a:latin typeface="Arial"/>
              </a:rPr>
              <a:t>Client config</a:t>
            </a:r>
            <a:endParaRPr lang="en-US" sz="1070"/>
          </a:p>
        </p:txBody>
      </p:sp>
      <p:sp>
        <p:nvSpPr>
          <p:cNvPr id="55" name="Text 55"/>
          <p:cNvSpPr txBox="1"/>
          <p:nvPr/>
        </p:nvSpPr>
        <p:spPr>
          <a:xfrm>
            <a:off x="9217152" y="4352544"/>
            <a:ext cx="1572768" cy="146304"/>
          </a:xfrm>
          <a:prstGeom prst="rect">
            <a:avLst/>
          </a:prstGeom>
          <a:noFill/>
          <a:ln>
            <a:noFill/>
          </a:ln>
        </p:spPr>
        <p:txBody>
          <a:bodyPr wrap="square" anchor="t" lIns="0" rIns="0" tIns="0" bIns="0"/>
          <a:lstStyle/>
          <a:p>
            <a:pPr algn="ctr"/>
            <a:r>
              <a:rPr lang="en-US" sz="770" b="0" i="0" dirty="0">
                <a:solidFill>
                  <a:srgbClr val="56647A"/>
                </a:solidFill>
                <a:latin typeface="Arial"/>
              </a:rPr>
              <a:t>6a7e177</a:t>
            </a:r>
            <a:endParaRPr lang="en-US" sz="770"/>
          </a:p>
        </p:txBody>
      </p:sp>
      <p:cxnSp>
        <p:nvCxnSpPr>
          <p:cNvPr id="56" name="Line 56"/>
          <p:cNvCxnSpPr/>
          <p:nvPr/>
        </p:nvCxnSpPr>
        <p:spPr>
          <a:xfrm flipH="false" flipV="false">
            <a:off x="932688" y="5486400"/>
            <a:ext cx="10268712" cy="0"/>
          </a:xfrm>
          <a:prstGeom prst="line">
            <a:avLst/>
          </a:prstGeom>
          <a:ln w="12700">
            <a:solidFill>
              <a:srgbClr val="C5CFDC"/>
            </a:solidFill>
          </a:ln>
        </p:spPr>
      </p:cxnSp>
      <p:sp>
        <p:nvSpPr>
          <p:cNvPr id="57" name="Ellipse 57"/>
          <p:cNvSpPr/>
          <p:nvPr/>
        </p:nvSpPr>
        <p:spPr>
          <a:xfrm>
            <a:off x="1024128" y="5376672"/>
            <a:ext cx="219456" cy="219456"/>
          </a:xfrm>
          <a:prstGeom prst="ellipse">
            <a:avLst/>
          </a:prstGeom>
          <a:solidFill>
            <a:srgbClr val="F59E0B"/>
          </a:solidFill>
          <a:ln w="12700">
            <a:solidFill>
              <a:srgbClr val="F59E0B"/>
            </a:solidFill>
          </a:ln>
        </p:spPr>
        <p:txBody>
          <a:bodyPr/>
          <a:lstStyle/>
          <a:p>
            <a:endParaRPr lang="en-US"/>
          </a:p>
        </p:txBody>
      </p:sp>
      <p:sp>
        <p:nvSpPr>
          <p:cNvPr id="58" name="Rect 58"/>
          <p:cNvSpPr/>
          <p:nvPr/>
        </p:nvSpPr>
        <p:spPr>
          <a:xfrm>
            <a:off x="1344168" y="5093208"/>
            <a:ext cx="1847088" cy="758952"/>
          </a:xfrm>
          <a:prstGeom prst="roundRect">
            <a:avLst/>
          </a:prstGeom>
          <a:solidFill>
            <a:srgbClr val="FFFFFF"/>
          </a:solidFill>
          <a:ln w="12700">
            <a:solidFill>
              <a:srgbClr val="F59E0B"/>
            </a:solidFill>
          </a:ln>
        </p:spPr>
        <p:txBody>
          <a:bodyPr/>
          <a:lstStyle/>
          <a:p>
            <a:endParaRPr lang="en-US"/>
          </a:p>
        </p:txBody>
      </p:sp>
      <p:sp>
        <p:nvSpPr>
          <p:cNvPr id="59" name="Text 59"/>
          <p:cNvSpPr txBox="1"/>
          <p:nvPr/>
        </p:nvSpPr>
        <p:spPr>
          <a:xfrm>
            <a:off x="1481328" y="5239512"/>
            <a:ext cx="1572768" cy="182880"/>
          </a:xfrm>
          <a:prstGeom prst="rect">
            <a:avLst/>
          </a:prstGeom>
          <a:noFill/>
          <a:ln>
            <a:noFill/>
          </a:ln>
        </p:spPr>
        <p:txBody>
          <a:bodyPr wrap="square" anchor="t" lIns="0" rIns="0" tIns="0" bIns="0"/>
          <a:lstStyle/>
          <a:p>
            <a:pPr algn="ctr"/>
            <a:r>
              <a:rPr lang="en-US" sz="1070" b="1" i="0" dirty="0">
                <a:solidFill>
                  <a:srgbClr val="F59E0B"/>
                </a:solidFill>
                <a:latin typeface="Arial"/>
              </a:rPr>
              <a:t>Agent replace</a:t>
            </a:r>
            <a:endParaRPr lang="en-US" sz="1070"/>
          </a:p>
        </p:txBody>
      </p:sp>
      <p:sp>
        <p:nvSpPr>
          <p:cNvPr id="60" name="Text 60"/>
          <p:cNvSpPr txBox="1"/>
          <p:nvPr/>
        </p:nvSpPr>
        <p:spPr>
          <a:xfrm>
            <a:off x="1481328" y="5541264"/>
            <a:ext cx="1572768" cy="146304"/>
          </a:xfrm>
          <a:prstGeom prst="rect">
            <a:avLst/>
          </a:prstGeom>
          <a:noFill/>
          <a:ln>
            <a:noFill/>
          </a:ln>
        </p:spPr>
        <p:txBody>
          <a:bodyPr wrap="square" anchor="t" lIns="0" rIns="0" tIns="0" bIns="0"/>
          <a:lstStyle/>
          <a:p>
            <a:pPr algn="ctr"/>
            <a:r>
              <a:rPr lang="en-US" sz="770" b="0" i="0" dirty="0">
                <a:solidFill>
                  <a:srgbClr val="56647A"/>
                </a:solidFill>
                <a:latin typeface="Arial"/>
              </a:rPr>
              <a:t>1ed9712</a:t>
            </a:r>
            <a:endParaRPr lang="en-US" sz="770"/>
          </a:p>
        </p:txBody>
      </p:sp>
      <p:sp>
        <p:nvSpPr>
          <p:cNvPr id="61" name="Ellipse 61"/>
          <p:cNvSpPr/>
          <p:nvPr/>
        </p:nvSpPr>
        <p:spPr>
          <a:xfrm>
            <a:off x="3602736" y="5376672"/>
            <a:ext cx="219456" cy="219456"/>
          </a:xfrm>
          <a:prstGeom prst="ellipse">
            <a:avLst/>
          </a:prstGeom>
          <a:solidFill>
            <a:srgbClr val="16A34A"/>
          </a:solidFill>
          <a:ln w="12700">
            <a:solidFill>
              <a:srgbClr val="16A34A"/>
            </a:solidFill>
          </a:ln>
        </p:spPr>
        <p:txBody>
          <a:bodyPr/>
          <a:lstStyle/>
          <a:p>
            <a:endParaRPr lang="en-US"/>
          </a:p>
        </p:txBody>
      </p:sp>
      <p:sp>
        <p:nvSpPr>
          <p:cNvPr id="62" name="Rect 62"/>
          <p:cNvSpPr/>
          <p:nvPr/>
        </p:nvSpPr>
        <p:spPr>
          <a:xfrm>
            <a:off x="3922776" y="5093208"/>
            <a:ext cx="1847088" cy="758952"/>
          </a:xfrm>
          <a:prstGeom prst="roundRect">
            <a:avLst/>
          </a:prstGeom>
          <a:solidFill>
            <a:srgbClr val="FFFFFF"/>
          </a:solidFill>
          <a:ln w="12700">
            <a:solidFill>
              <a:srgbClr val="16A34A"/>
            </a:solidFill>
          </a:ln>
        </p:spPr>
        <p:txBody>
          <a:bodyPr/>
          <a:lstStyle/>
          <a:p>
            <a:endParaRPr lang="en-US"/>
          </a:p>
        </p:txBody>
      </p:sp>
      <p:sp>
        <p:nvSpPr>
          <p:cNvPr id="63" name="Text 63"/>
          <p:cNvSpPr txBox="1"/>
          <p:nvPr/>
        </p:nvSpPr>
        <p:spPr>
          <a:xfrm>
            <a:off x="4059936" y="5239512"/>
            <a:ext cx="1572768" cy="182880"/>
          </a:xfrm>
          <a:prstGeom prst="rect">
            <a:avLst/>
          </a:prstGeom>
          <a:noFill/>
          <a:ln>
            <a:noFill/>
          </a:ln>
        </p:spPr>
        <p:txBody>
          <a:bodyPr wrap="square" anchor="t" lIns="0" rIns="0" tIns="0" bIns="0"/>
          <a:lstStyle/>
          <a:p>
            <a:pPr algn="ctr"/>
            <a:r>
              <a:rPr lang="en-US" sz="1070" b="1" i="0" dirty="0">
                <a:solidFill>
                  <a:srgbClr val="16A34A"/>
                </a:solidFill>
                <a:latin typeface="Arial"/>
              </a:rPr>
              <a:t>Cowork</a:t>
            </a:r>
            <a:endParaRPr lang="en-US" sz="1070"/>
          </a:p>
        </p:txBody>
      </p:sp>
      <p:sp>
        <p:nvSpPr>
          <p:cNvPr id="64" name="Text 64"/>
          <p:cNvSpPr txBox="1"/>
          <p:nvPr/>
        </p:nvSpPr>
        <p:spPr>
          <a:xfrm>
            <a:off x="4059936" y="5541264"/>
            <a:ext cx="1572768" cy="146304"/>
          </a:xfrm>
          <a:prstGeom prst="rect">
            <a:avLst/>
          </a:prstGeom>
          <a:noFill/>
          <a:ln>
            <a:noFill/>
          </a:ln>
        </p:spPr>
        <p:txBody>
          <a:bodyPr wrap="square" anchor="t" lIns="0" rIns="0" tIns="0" bIns="0"/>
          <a:lstStyle/>
          <a:p>
            <a:pPr algn="ctr"/>
            <a:r>
              <a:rPr lang="en-US" sz="770" b="0" i="0" dirty="0">
                <a:solidFill>
                  <a:srgbClr val="56647A"/>
                </a:solidFill>
                <a:latin typeface="Arial"/>
              </a:rPr>
              <a:t>535a492</a:t>
            </a:r>
            <a:endParaRPr lang="en-US" sz="770"/>
          </a:p>
        </p:txBody>
      </p:sp>
      <p:sp>
        <p:nvSpPr>
          <p:cNvPr id="65" name="Ellipse 65"/>
          <p:cNvSpPr/>
          <p:nvPr/>
        </p:nvSpPr>
        <p:spPr>
          <a:xfrm>
            <a:off x="6181344" y="5376672"/>
            <a:ext cx="219456" cy="219456"/>
          </a:xfrm>
          <a:prstGeom prst="ellipse">
            <a:avLst/>
          </a:prstGeom>
          <a:solidFill>
            <a:srgbClr val="16A34A"/>
          </a:solidFill>
          <a:ln w="12700">
            <a:solidFill>
              <a:srgbClr val="16A34A"/>
            </a:solidFill>
          </a:ln>
        </p:spPr>
        <p:txBody>
          <a:bodyPr/>
          <a:lstStyle/>
          <a:p>
            <a:endParaRPr lang="en-US"/>
          </a:p>
        </p:txBody>
      </p:sp>
      <p:sp>
        <p:nvSpPr>
          <p:cNvPr id="66" name="Rect 66"/>
          <p:cNvSpPr/>
          <p:nvPr/>
        </p:nvSpPr>
        <p:spPr>
          <a:xfrm>
            <a:off x="6501384" y="5093208"/>
            <a:ext cx="1847088" cy="758952"/>
          </a:xfrm>
          <a:prstGeom prst="roundRect">
            <a:avLst/>
          </a:prstGeom>
          <a:solidFill>
            <a:srgbClr val="FFFFFF"/>
          </a:solidFill>
          <a:ln w="12700">
            <a:solidFill>
              <a:srgbClr val="16A34A"/>
            </a:solidFill>
          </a:ln>
        </p:spPr>
        <p:txBody>
          <a:bodyPr/>
          <a:lstStyle/>
          <a:p>
            <a:endParaRPr lang="en-US"/>
          </a:p>
        </p:txBody>
      </p:sp>
      <p:sp>
        <p:nvSpPr>
          <p:cNvPr id="67" name="Text 67"/>
          <p:cNvSpPr txBox="1"/>
          <p:nvPr/>
        </p:nvSpPr>
        <p:spPr>
          <a:xfrm>
            <a:off x="6638544" y="5239512"/>
            <a:ext cx="1572768" cy="182880"/>
          </a:xfrm>
          <a:prstGeom prst="rect">
            <a:avLst/>
          </a:prstGeom>
          <a:noFill/>
          <a:ln>
            <a:noFill/>
          </a:ln>
        </p:spPr>
        <p:txBody>
          <a:bodyPr wrap="square" anchor="t" lIns="0" rIns="0" tIns="0" bIns="0"/>
          <a:lstStyle/>
          <a:p>
            <a:pPr algn="ctr"/>
            <a:r>
              <a:rPr lang="en-US" sz="1070" b="1" i="0" dirty="0">
                <a:solidFill>
                  <a:srgbClr val="16A34A"/>
                </a:solidFill>
                <a:latin typeface="Arial"/>
              </a:rPr>
              <a:t>Instrument</a:t>
            </a:r>
            <a:endParaRPr lang="en-US" sz="1070"/>
          </a:p>
        </p:txBody>
      </p:sp>
      <p:sp>
        <p:nvSpPr>
          <p:cNvPr id="68" name="Text 68"/>
          <p:cNvSpPr txBox="1"/>
          <p:nvPr/>
        </p:nvSpPr>
        <p:spPr>
          <a:xfrm>
            <a:off x="6638544" y="5541264"/>
            <a:ext cx="1572768" cy="146304"/>
          </a:xfrm>
          <a:prstGeom prst="rect">
            <a:avLst/>
          </a:prstGeom>
          <a:noFill/>
          <a:ln>
            <a:noFill/>
          </a:ln>
        </p:spPr>
        <p:txBody>
          <a:bodyPr wrap="square" anchor="t" lIns="0" rIns="0" tIns="0" bIns="0"/>
          <a:lstStyle/>
          <a:p>
            <a:pPr algn="ctr"/>
            <a:r>
              <a:rPr lang="en-US" sz="770" b="0" i="0" dirty="0">
                <a:solidFill>
                  <a:srgbClr val="56647A"/>
                </a:solidFill>
                <a:latin typeface="Arial"/>
              </a:rPr>
              <a:t>bb11854</a:t>
            </a:r>
            <a:endParaRPr lang="en-US" sz="770"/>
          </a:p>
        </p:txBody>
      </p:sp>
      <p:sp>
        <p:nvSpPr>
          <p:cNvPr id="69" name="Ellipse 69"/>
          <p:cNvSpPr/>
          <p:nvPr/>
        </p:nvSpPr>
        <p:spPr>
          <a:xfrm>
            <a:off x="8759952" y="5376672"/>
            <a:ext cx="219456" cy="219456"/>
          </a:xfrm>
          <a:prstGeom prst="ellipse">
            <a:avLst/>
          </a:prstGeom>
          <a:solidFill>
            <a:srgbClr val="16A34A"/>
          </a:solidFill>
          <a:ln w="12700">
            <a:solidFill>
              <a:srgbClr val="16A34A"/>
            </a:solidFill>
          </a:ln>
        </p:spPr>
        <p:txBody>
          <a:bodyPr/>
          <a:lstStyle/>
          <a:p>
            <a:endParaRPr lang="en-US"/>
          </a:p>
        </p:txBody>
      </p:sp>
      <p:sp>
        <p:nvSpPr>
          <p:cNvPr id="70" name="Rect 70"/>
          <p:cNvSpPr/>
          <p:nvPr/>
        </p:nvSpPr>
        <p:spPr>
          <a:xfrm>
            <a:off x="9079992" y="5093208"/>
            <a:ext cx="1847088" cy="758952"/>
          </a:xfrm>
          <a:prstGeom prst="roundRect">
            <a:avLst/>
          </a:prstGeom>
          <a:solidFill>
            <a:srgbClr val="FFFFFF"/>
          </a:solidFill>
          <a:ln w="12700">
            <a:solidFill>
              <a:srgbClr val="16A34A"/>
            </a:solidFill>
          </a:ln>
        </p:spPr>
        <p:txBody>
          <a:bodyPr/>
          <a:lstStyle/>
          <a:p>
            <a:endParaRPr lang="en-US"/>
          </a:p>
        </p:txBody>
      </p:sp>
      <p:sp>
        <p:nvSpPr>
          <p:cNvPr id="71" name="Text 71"/>
          <p:cNvSpPr txBox="1"/>
          <p:nvPr/>
        </p:nvSpPr>
        <p:spPr>
          <a:xfrm>
            <a:off x="9217152" y="5239512"/>
            <a:ext cx="1572768" cy="182880"/>
          </a:xfrm>
          <a:prstGeom prst="rect">
            <a:avLst/>
          </a:prstGeom>
          <a:noFill/>
          <a:ln>
            <a:noFill/>
          </a:ln>
        </p:spPr>
        <p:txBody>
          <a:bodyPr wrap="square" anchor="t" lIns="0" rIns="0" tIns="0" bIns="0"/>
          <a:lstStyle/>
          <a:p>
            <a:pPr algn="ctr"/>
            <a:r>
              <a:rPr lang="en-US" sz="1070" b="1" i="0" dirty="0">
                <a:solidFill>
                  <a:srgbClr val="16A34A"/>
                </a:solidFill>
                <a:latin typeface="Arial"/>
              </a:rPr>
              <a:t>HEAD</a:t>
            </a:r>
            <a:endParaRPr lang="en-US" sz="1070"/>
          </a:p>
        </p:txBody>
      </p:sp>
      <p:sp>
        <p:nvSpPr>
          <p:cNvPr id="72" name="Text 72"/>
          <p:cNvSpPr txBox="1"/>
          <p:nvPr/>
        </p:nvSpPr>
        <p:spPr>
          <a:xfrm>
            <a:off x="9217152" y="5541264"/>
            <a:ext cx="1572768" cy="146304"/>
          </a:xfrm>
          <a:prstGeom prst="rect">
            <a:avLst/>
          </a:prstGeom>
          <a:noFill/>
          <a:ln>
            <a:noFill/>
          </a:ln>
        </p:spPr>
        <p:txBody>
          <a:bodyPr wrap="square" anchor="t" lIns="0" rIns="0" tIns="0" bIns="0"/>
          <a:lstStyle/>
          <a:p>
            <a:pPr algn="ctr"/>
            <a:r>
              <a:rPr lang="en-US" sz="770" b="0" i="0" dirty="0">
                <a:solidFill>
                  <a:srgbClr val="56647A"/>
                </a:solidFill>
                <a:latin typeface="Arial"/>
              </a:rPr>
              <a:t>f254295</a:t>
            </a:r>
            <a:endParaRPr lang="en-US" sz="770"/>
          </a:p>
        </p:txBody>
      </p:sp>
      <p:sp>
        <p:nvSpPr>
          <p:cNvPr id="73" name="Text 73"/>
          <p:cNvSpPr txBox="1"/>
          <p:nvPr/>
        </p:nvSpPr>
        <p:spPr>
          <a:xfrm>
            <a:off x="768096" y="6236208"/>
            <a:ext cx="10716768" cy="201168"/>
          </a:xfrm>
          <a:prstGeom prst="rect">
            <a:avLst/>
          </a:prstGeom>
          <a:noFill/>
          <a:ln>
            <a:noFill/>
          </a:ln>
        </p:spPr>
        <p:txBody>
          <a:bodyPr wrap="square" anchor="t" lIns="0" rIns="0" tIns="0" bIns="0"/>
          <a:lstStyle/>
          <a:p>
            <a:pPr algn="ctr"/>
            <a:r>
              <a:rPr lang="en-US" sz="950" b="0" i="0" dirty="0">
                <a:solidFill>
                  <a:srgbClr val="56647A"/>
                </a:solidFill>
                <a:latin typeface="Arial"/>
              </a:rPr>
              <a:t>25-event CSV includes additional acceptance and reversal commits; this slide shows only architectural anchors.</a:t>
            </a:r>
            <a:endParaRPr lang="en-US" sz="950"/>
          </a:p>
        </p:txBody>
      </p:sp>
      <p:cxnSp>
        <p:nvCxnSpPr>
          <p:cNvPr id="74" name="Line 74"/>
          <p:cNvCxnSpPr/>
          <p:nvPr/>
        </p:nvCxnSpPr>
        <p:spPr>
          <a:xfrm flipH="false" flipV="false">
            <a:off x="621792" y="6473952"/>
            <a:ext cx="10954512" cy="0"/>
          </a:xfrm>
          <a:prstGeom prst="line">
            <a:avLst/>
          </a:prstGeom>
          <a:ln w="10160">
            <a:solidFill>
              <a:srgbClr val="D7DFEA"/>
            </a:solidFill>
          </a:ln>
        </p:spPr>
      </p:cxnSp>
      <p:sp>
        <p:nvSpPr>
          <p:cNvPr id="75" name="Text 75"/>
          <p:cNvSpPr txBox="1"/>
          <p:nvPr/>
        </p:nvSpPr>
        <p:spPr>
          <a:xfrm>
            <a:off x="640080" y="6510528"/>
            <a:ext cx="10469880" cy="201168"/>
          </a:xfrm>
          <a:prstGeom prst="rect">
            <a:avLst/>
          </a:prstGeom>
          <a:noFill/>
          <a:ln>
            <a:noFill/>
          </a:ln>
        </p:spPr>
        <p:txBody>
          <a:bodyPr wrap="square" anchor="t" lIns="0" rIns="0" tIns="0" bIns="0"/>
          <a:lstStyle/>
          <a:p>
            <a:pPr algn="l"/>
            <a:r>
              <a:rPr lang="en-US" sz="720" b="0" i="0" dirty="0">
                <a:solidFill>
                  <a:srgbClr val="56647A"/>
                </a:solidFill>
                <a:latin typeface="Arial"/>
              </a:rPr>
              <a:t>presentation/evidence/timeline.csv • full SHAs and evidence paths in sources.md</a:t>
            </a:r>
            <a:endParaRPr lang="en-US" sz="720"/>
          </a:p>
        </p:txBody>
      </p:sp>
      <p:sp>
        <p:nvSpPr>
          <p:cNvPr id="76" name="Text 76"/>
          <p:cNvSpPr txBox="1"/>
          <p:nvPr/>
        </p:nvSpPr>
        <p:spPr>
          <a:xfrm>
            <a:off x="11201400" y="6492240"/>
            <a:ext cx="329184" cy="201168"/>
          </a:xfrm>
          <a:prstGeom prst="rect">
            <a:avLst/>
          </a:prstGeom>
          <a:noFill/>
          <a:ln>
            <a:noFill/>
          </a:ln>
        </p:spPr>
        <p:txBody>
          <a:bodyPr wrap="square" anchor="t" lIns="0" rIns="0" tIns="0" bIns="0"/>
          <a:lstStyle/>
          <a:p>
            <a:pPr algn="r"/>
            <a:r>
              <a:rPr lang="en-US" sz="800" b="1" i="0" dirty="0">
                <a:solidFill>
                  <a:srgbClr val="56647A"/>
                </a:solidFill>
                <a:latin typeface="Arial"/>
              </a:rPr>
              <a:t>14</a:t>
            </a:r>
            <a:endParaRPr lang="en-US" sz="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FFFFFF"/>
          </a:solidFill>
          <a:ln w="12700">
            <a:solidFill>
              <a:srgbClr val="FFFFFF"/>
            </a:solidFill>
          </a:ln>
        </p:spPr>
        <p:txBody>
          <a:bodyPr/>
          <a:lstStyle/>
          <a:p>
            <a:endParaRPr lang="en-US"/>
          </a:p>
        </p:txBody>
      </p:sp>
      <p:sp>
        <p:nvSpPr>
          <p:cNvPr id="3" name="Text 3"/>
          <p:cNvSpPr txBox="1"/>
          <p:nvPr/>
        </p:nvSpPr>
        <p:spPr>
          <a:xfrm>
            <a:off x="621792" y="347472"/>
            <a:ext cx="10927080" cy="566928"/>
          </a:xfrm>
          <a:prstGeom prst="rect">
            <a:avLst/>
          </a:prstGeom>
          <a:noFill/>
          <a:ln>
            <a:noFill/>
          </a:ln>
        </p:spPr>
        <p:txBody>
          <a:bodyPr wrap="square" anchor="t" lIns="0" rIns="0" tIns="0" bIns="0"/>
          <a:lstStyle/>
          <a:p>
            <a:pPr algn="l"/>
            <a:r>
              <a:rPr lang="en-US" sz="2700" b="1" i="0" dirty="0">
                <a:solidFill>
                  <a:srgbClr val="14213D"/>
                </a:solidFill>
                <a:latin typeface="Arial"/>
              </a:rPr>
              <a:t>Native readiness distinguishes pass, skip, failure, and exclusion</a:t>
            </a:r>
            <a:endParaRPr lang="en-US" sz="2700"/>
          </a:p>
        </p:txBody>
      </p:sp>
      <p:sp>
        <p:nvSpPr>
          <p:cNvPr id="4" name="Text 4"/>
          <p:cNvSpPr txBox="1"/>
          <p:nvPr/>
        </p:nvSpPr>
        <p:spPr>
          <a:xfrm>
            <a:off x="640080" y="932688"/>
            <a:ext cx="10881360" cy="310896"/>
          </a:xfrm>
          <a:prstGeom prst="rect">
            <a:avLst/>
          </a:prstGeom>
          <a:noFill/>
          <a:ln>
            <a:noFill/>
          </a:ln>
        </p:spPr>
        <p:txBody>
          <a:bodyPr wrap="square" anchor="t" lIns="0" rIns="0" tIns="0" bIns="0"/>
          <a:lstStyle/>
          <a:p>
            <a:pPr algn="l"/>
            <a:r>
              <a:rPr lang="en-US" sz="1250" b="0" i="0" dirty="0">
                <a:solidFill>
                  <a:srgbClr val="56647A"/>
                </a:solidFill>
                <a:latin typeface="Arial"/>
              </a:rPr>
              <a:t>Appendix • categorical readiness evidence, not a benchmark</a:t>
            </a:r>
            <a:endParaRPr lang="en-US" sz="1250"/>
          </a:p>
        </p:txBody>
      </p:sp>
      <p:sp>
        <p:nvSpPr>
          <p:cNvPr id="5" name="Rect 5"/>
          <p:cNvSpPr/>
          <p:nvPr/>
        </p:nvSpPr>
        <p:spPr>
          <a:xfrm>
            <a:off x="731520" y="1307592"/>
            <a:ext cx="274320" cy="201168"/>
          </a:xfrm>
          <a:prstGeom prst="roundRect">
            <a:avLst/>
          </a:prstGeom>
          <a:solidFill>
            <a:srgbClr val="16A34A"/>
          </a:solidFill>
          <a:ln w="12700">
            <a:solidFill>
              <a:srgbClr val="16A34A"/>
            </a:solidFill>
          </a:ln>
        </p:spPr>
        <p:txBody>
          <a:bodyPr/>
          <a:lstStyle/>
          <a:p>
            <a:endParaRPr lang="en-US"/>
          </a:p>
        </p:txBody>
      </p:sp>
      <p:sp>
        <p:nvSpPr>
          <p:cNvPr id="6" name="Text 6"/>
          <p:cNvSpPr txBox="1"/>
          <p:nvPr/>
        </p:nvSpPr>
        <p:spPr>
          <a:xfrm>
            <a:off x="1115568" y="1316736"/>
            <a:ext cx="1920240" cy="164592"/>
          </a:xfrm>
          <a:prstGeom prst="rect">
            <a:avLst/>
          </a:prstGeom>
          <a:noFill/>
          <a:ln>
            <a:noFill/>
          </a:ln>
        </p:spPr>
        <p:txBody>
          <a:bodyPr wrap="square" anchor="t" lIns="0" rIns="0" tIns="0" bIns="0"/>
          <a:lstStyle/>
          <a:p>
            <a:pPr algn="l"/>
            <a:r>
              <a:rPr lang="en-US" sz="920" b="0" i="0" dirty="0">
                <a:solidFill>
                  <a:srgbClr val="56647A"/>
                </a:solidFill>
                <a:latin typeface="Arial"/>
              </a:rPr>
              <a:t>Pass</a:t>
            </a:r>
            <a:endParaRPr lang="en-US" sz="920"/>
          </a:p>
        </p:txBody>
      </p:sp>
      <p:sp>
        <p:nvSpPr>
          <p:cNvPr id="7" name="Rect 7"/>
          <p:cNvSpPr/>
          <p:nvPr/>
        </p:nvSpPr>
        <p:spPr>
          <a:xfrm>
            <a:off x="3227832" y="1307592"/>
            <a:ext cx="274320" cy="201168"/>
          </a:xfrm>
          <a:prstGeom prst="roundRect">
            <a:avLst/>
          </a:prstGeom>
          <a:solidFill>
            <a:srgbClr val="F59E0B"/>
          </a:solidFill>
          <a:ln w="12700">
            <a:solidFill>
              <a:srgbClr val="F59E0B"/>
            </a:solidFill>
          </a:ln>
        </p:spPr>
        <p:txBody>
          <a:bodyPr/>
          <a:lstStyle/>
          <a:p>
            <a:endParaRPr lang="en-US"/>
          </a:p>
        </p:txBody>
      </p:sp>
      <p:sp>
        <p:nvSpPr>
          <p:cNvPr id="8" name="Text 8"/>
          <p:cNvSpPr txBox="1"/>
          <p:nvPr/>
        </p:nvSpPr>
        <p:spPr>
          <a:xfrm>
            <a:off x="3611880" y="1316736"/>
            <a:ext cx="1920240" cy="164592"/>
          </a:xfrm>
          <a:prstGeom prst="rect">
            <a:avLst/>
          </a:prstGeom>
          <a:noFill/>
          <a:ln>
            <a:noFill/>
          </a:ln>
        </p:spPr>
        <p:txBody>
          <a:bodyPr wrap="square" anchor="t" lIns="0" rIns="0" tIns="0" bIns="0"/>
          <a:lstStyle/>
          <a:p>
            <a:pPr algn="l"/>
            <a:r>
              <a:rPr lang="en-US" sz="920" b="0" i="0" dirty="0">
                <a:solidFill>
                  <a:srgbClr val="56647A"/>
                </a:solidFill>
                <a:latin typeface="Arial"/>
              </a:rPr>
              <a:t>Declared skip / no route</a:t>
            </a:r>
            <a:endParaRPr lang="en-US" sz="920"/>
          </a:p>
        </p:txBody>
      </p:sp>
      <p:sp>
        <p:nvSpPr>
          <p:cNvPr id="9" name="Rect 9"/>
          <p:cNvSpPr/>
          <p:nvPr/>
        </p:nvSpPr>
        <p:spPr>
          <a:xfrm>
            <a:off x="5724144" y="1307592"/>
            <a:ext cx="274320" cy="201168"/>
          </a:xfrm>
          <a:prstGeom prst="roundRect">
            <a:avLst/>
          </a:prstGeom>
          <a:solidFill>
            <a:srgbClr val="DC2626"/>
          </a:solidFill>
          <a:ln w="12700">
            <a:solidFill>
              <a:srgbClr val="DC2626"/>
            </a:solidFill>
          </a:ln>
        </p:spPr>
        <p:txBody>
          <a:bodyPr/>
          <a:lstStyle/>
          <a:p>
            <a:endParaRPr lang="en-US"/>
          </a:p>
        </p:txBody>
      </p:sp>
      <p:sp>
        <p:nvSpPr>
          <p:cNvPr id="10" name="Text 10"/>
          <p:cNvSpPr txBox="1"/>
          <p:nvPr/>
        </p:nvSpPr>
        <p:spPr>
          <a:xfrm>
            <a:off x="6108192" y="1316736"/>
            <a:ext cx="1920240" cy="164592"/>
          </a:xfrm>
          <a:prstGeom prst="rect">
            <a:avLst/>
          </a:prstGeom>
          <a:noFill/>
          <a:ln>
            <a:noFill/>
          </a:ln>
        </p:spPr>
        <p:txBody>
          <a:bodyPr wrap="square" anchor="t" lIns="0" rIns="0" tIns="0" bIns="0"/>
          <a:lstStyle/>
          <a:p>
            <a:pPr algn="l"/>
            <a:r>
              <a:rPr lang="en-US" sz="920" b="0" i="0" dirty="0">
                <a:solidFill>
                  <a:srgbClr val="56647A"/>
                </a:solidFill>
                <a:latin typeface="Arial"/>
              </a:rPr>
              <a:t>Environment failure</a:t>
            </a:r>
            <a:endParaRPr lang="en-US" sz="920"/>
          </a:p>
        </p:txBody>
      </p:sp>
      <p:sp>
        <p:nvSpPr>
          <p:cNvPr id="11" name="Rect 11"/>
          <p:cNvSpPr/>
          <p:nvPr/>
        </p:nvSpPr>
        <p:spPr>
          <a:xfrm>
            <a:off x="8220456" y="1307592"/>
            <a:ext cx="274320" cy="201168"/>
          </a:xfrm>
          <a:prstGeom prst="roundRect">
            <a:avLst/>
          </a:prstGeom>
          <a:solidFill>
            <a:srgbClr val="334155"/>
          </a:solidFill>
          <a:ln w="12700">
            <a:solidFill>
              <a:srgbClr val="334155"/>
            </a:solidFill>
          </a:ln>
        </p:spPr>
        <p:txBody>
          <a:bodyPr/>
          <a:lstStyle/>
          <a:p>
            <a:endParaRPr lang="en-US"/>
          </a:p>
        </p:txBody>
      </p:sp>
      <p:sp>
        <p:nvSpPr>
          <p:cNvPr id="12" name="Text 12"/>
          <p:cNvSpPr txBox="1"/>
          <p:nvPr/>
        </p:nvSpPr>
        <p:spPr>
          <a:xfrm>
            <a:off x="8604504" y="1316736"/>
            <a:ext cx="1920240" cy="164592"/>
          </a:xfrm>
          <a:prstGeom prst="rect">
            <a:avLst/>
          </a:prstGeom>
          <a:noFill/>
          <a:ln>
            <a:noFill/>
          </a:ln>
        </p:spPr>
        <p:txBody>
          <a:bodyPr wrap="square" anchor="t" lIns="0" rIns="0" tIns="0" bIns="0"/>
          <a:lstStyle/>
          <a:p>
            <a:pPr algn="l"/>
            <a:r>
              <a:rPr lang="en-US" sz="920" b="0" i="0" dirty="0">
                <a:solidFill>
                  <a:srgbClr val="56647A"/>
                </a:solidFill>
                <a:latin typeface="Arial"/>
              </a:rPr>
              <a:t>Excluded</a:t>
            </a:r>
            <a:endParaRPr lang="en-US" sz="920"/>
          </a:p>
        </p:txBody>
      </p:sp>
      <p:sp>
        <p:nvSpPr>
          <p:cNvPr id="13" name="Text 13"/>
          <p:cNvSpPr txBox="1"/>
          <p:nvPr/>
        </p:nvSpPr>
        <p:spPr>
          <a:xfrm>
            <a:off x="749808" y="2075688"/>
            <a:ext cx="2048256" cy="246888"/>
          </a:xfrm>
          <a:prstGeom prst="rect">
            <a:avLst/>
          </a:prstGeom>
          <a:noFill/>
          <a:ln>
            <a:noFill/>
          </a:ln>
        </p:spPr>
        <p:txBody>
          <a:bodyPr wrap="square" anchor="t" lIns="0" rIns="0" tIns="0" bIns="0"/>
          <a:lstStyle/>
          <a:p>
            <a:pPr algn="l"/>
            <a:r>
              <a:rPr lang="en-US" sz="1300" b="1" i="0" dirty="0">
                <a:solidFill>
                  <a:srgbClr val="14213D"/>
                </a:solidFill>
                <a:latin typeface="Arial"/>
              </a:rPr>
              <a:t>CPU</a:t>
            </a:r>
            <a:endParaRPr lang="en-US" sz="1300"/>
          </a:p>
        </p:txBody>
      </p:sp>
      <p:sp>
        <p:nvSpPr>
          <p:cNvPr id="14" name="Text 14"/>
          <p:cNvSpPr txBox="1"/>
          <p:nvPr/>
        </p:nvSpPr>
        <p:spPr>
          <a:xfrm>
            <a:off x="749808" y="2414016"/>
            <a:ext cx="2048256" cy="173736"/>
          </a:xfrm>
          <a:prstGeom prst="rect">
            <a:avLst/>
          </a:prstGeom>
          <a:noFill/>
          <a:ln>
            <a:noFill/>
          </a:ln>
        </p:spPr>
        <p:txBody>
          <a:bodyPr wrap="square" anchor="t" lIns="0" rIns="0" tIns="0" bIns="0"/>
          <a:lstStyle/>
          <a:p>
            <a:pPr algn="l"/>
            <a:r>
              <a:rPr lang="en-US" sz="880" b="0" i="0" dirty="0">
                <a:solidFill>
                  <a:srgbClr val="56647A"/>
                </a:solidFill>
                <a:latin typeface="Arial"/>
              </a:rPr>
              <a:t>compiler • Python • CTest</a:t>
            </a:r>
            <a:endParaRPr lang="en-US" sz="880"/>
          </a:p>
        </p:txBody>
      </p:sp>
      <p:sp>
        <p:nvSpPr>
          <p:cNvPr id="15" name="Rect 15"/>
          <p:cNvSpPr/>
          <p:nvPr/>
        </p:nvSpPr>
        <p:spPr>
          <a:xfrm>
            <a:off x="2944368" y="1965960"/>
            <a:ext cx="7635240" cy="658368"/>
          </a:xfrm>
          <a:prstGeom prst="roundRect">
            <a:avLst/>
          </a:prstGeom>
          <a:solidFill>
            <a:srgbClr val="16A34A"/>
          </a:solidFill>
          <a:ln w="12700">
            <a:solidFill>
              <a:srgbClr val="FFFFFF"/>
            </a:solidFill>
          </a:ln>
        </p:spPr>
        <p:txBody>
          <a:bodyPr/>
          <a:lstStyle/>
          <a:p>
            <a:endParaRPr lang="en-US"/>
          </a:p>
        </p:txBody>
      </p:sp>
      <p:sp>
        <p:nvSpPr>
          <p:cNvPr id="16" name="Text 16"/>
          <p:cNvSpPr txBox="1"/>
          <p:nvPr/>
        </p:nvSpPr>
        <p:spPr>
          <a:xfrm>
            <a:off x="2999232" y="2167128"/>
            <a:ext cx="7525512" cy="201168"/>
          </a:xfrm>
          <a:prstGeom prst="rect">
            <a:avLst/>
          </a:prstGeom>
          <a:noFill/>
          <a:ln>
            <a:noFill/>
          </a:ln>
        </p:spPr>
        <p:txBody>
          <a:bodyPr wrap="square" anchor="t" lIns="0" rIns="0" tIns="0" bIns="0"/>
          <a:lstStyle/>
          <a:p>
            <a:pPr algn="ctr"/>
            <a:r>
              <a:rPr lang="en-US" sz="1200" b="1" i="0" dirty="0">
                <a:solidFill>
                  <a:srgbClr val="FFFFFF"/>
                </a:solidFill>
                <a:latin typeface="Arial"/>
              </a:rPr>
              <a:t>7</a:t>
            </a:r>
            <a:endParaRPr lang="en-US" sz="1200"/>
          </a:p>
        </p:txBody>
      </p:sp>
      <p:sp>
        <p:nvSpPr>
          <p:cNvPr id="17" name="Text 17"/>
          <p:cNvSpPr txBox="1"/>
          <p:nvPr/>
        </p:nvSpPr>
        <p:spPr>
          <a:xfrm>
            <a:off x="10789920" y="2167128"/>
            <a:ext cx="484632" cy="201168"/>
          </a:xfrm>
          <a:prstGeom prst="rect">
            <a:avLst/>
          </a:prstGeom>
          <a:noFill/>
          <a:ln>
            <a:noFill/>
          </a:ln>
        </p:spPr>
        <p:txBody>
          <a:bodyPr wrap="square" anchor="t" lIns="0" rIns="0" tIns="0" bIns="0"/>
          <a:lstStyle/>
          <a:p>
            <a:pPr algn="r"/>
            <a:r>
              <a:rPr lang="en-US" sz="1100" b="1" i="0" dirty="0">
                <a:solidFill>
                  <a:srgbClr val="16A34A"/>
                </a:solidFill>
                <a:latin typeface="Arial"/>
              </a:rPr>
              <a:t>7/7</a:t>
            </a:r>
            <a:endParaRPr lang="en-US" sz="1100"/>
          </a:p>
        </p:txBody>
      </p:sp>
      <p:sp>
        <p:nvSpPr>
          <p:cNvPr id="18" name="Text 18"/>
          <p:cNvSpPr txBox="1"/>
          <p:nvPr/>
        </p:nvSpPr>
        <p:spPr>
          <a:xfrm>
            <a:off x="749808" y="3063240"/>
            <a:ext cx="2048256" cy="246888"/>
          </a:xfrm>
          <a:prstGeom prst="rect">
            <a:avLst/>
          </a:prstGeom>
          <a:noFill/>
          <a:ln>
            <a:noFill/>
          </a:ln>
        </p:spPr>
        <p:txBody>
          <a:bodyPr wrap="square" anchor="t" lIns="0" rIns="0" tIns="0" bIns="0"/>
          <a:lstStyle/>
          <a:p>
            <a:pPr algn="l"/>
            <a:r>
              <a:rPr lang="en-US" sz="1300" b="1" i="0" dirty="0">
                <a:solidFill>
                  <a:srgbClr val="14213D"/>
                </a:solidFill>
                <a:latin typeface="Arial"/>
              </a:rPr>
              <a:t>Accelerator runtime</a:t>
            </a:r>
            <a:endParaRPr lang="en-US" sz="1300"/>
          </a:p>
        </p:txBody>
      </p:sp>
      <p:sp>
        <p:nvSpPr>
          <p:cNvPr id="19" name="Text 19"/>
          <p:cNvSpPr txBox="1"/>
          <p:nvPr/>
        </p:nvSpPr>
        <p:spPr>
          <a:xfrm>
            <a:off x="749808" y="3401568"/>
            <a:ext cx="2048256" cy="173736"/>
          </a:xfrm>
          <a:prstGeom prst="rect">
            <a:avLst/>
          </a:prstGeom>
          <a:noFill/>
          <a:ln>
            <a:noFill/>
          </a:ln>
        </p:spPr>
        <p:txBody>
          <a:bodyPr wrap="square" anchor="t" lIns="0" rIns="0" tIns="0" bIns="0"/>
          <a:lstStyle/>
          <a:p>
            <a:pPr algn="l"/>
            <a:r>
              <a:rPr lang="en-US" sz="880" b="0" i="0" dirty="0">
                <a:solidFill>
                  <a:srgbClr val="56647A"/>
                </a:solidFill>
                <a:latin typeface="Arial"/>
              </a:rPr>
              <a:t>5 CUDA kernels + 2 toolkit skips</a:t>
            </a:r>
            <a:endParaRPr lang="en-US" sz="880"/>
          </a:p>
        </p:txBody>
      </p:sp>
      <p:sp>
        <p:nvSpPr>
          <p:cNvPr id="20" name="Rect 20"/>
          <p:cNvSpPr/>
          <p:nvPr/>
        </p:nvSpPr>
        <p:spPr>
          <a:xfrm>
            <a:off x="2944368" y="2953512"/>
            <a:ext cx="7635240" cy="658368"/>
          </a:xfrm>
          <a:prstGeom prst="roundRect">
            <a:avLst/>
          </a:prstGeom>
          <a:solidFill>
            <a:srgbClr val="16A34A"/>
          </a:solidFill>
          <a:ln w="12700">
            <a:solidFill>
              <a:srgbClr val="FFFFFF"/>
            </a:solidFill>
          </a:ln>
        </p:spPr>
        <p:txBody>
          <a:bodyPr/>
          <a:lstStyle/>
          <a:p>
            <a:endParaRPr lang="en-US"/>
          </a:p>
        </p:txBody>
      </p:sp>
      <p:sp>
        <p:nvSpPr>
          <p:cNvPr id="21" name="Text 21"/>
          <p:cNvSpPr txBox="1"/>
          <p:nvPr/>
        </p:nvSpPr>
        <p:spPr>
          <a:xfrm>
            <a:off x="2999232" y="3154680"/>
            <a:ext cx="7525512" cy="201168"/>
          </a:xfrm>
          <a:prstGeom prst="rect">
            <a:avLst/>
          </a:prstGeom>
          <a:noFill/>
          <a:ln>
            <a:noFill/>
          </a:ln>
        </p:spPr>
        <p:txBody>
          <a:bodyPr wrap="square" anchor="t" lIns="0" rIns="0" tIns="0" bIns="0"/>
          <a:lstStyle/>
          <a:p>
            <a:pPr algn="ctr"/>
            <a:r>
              <a:rPr lang="en-US" sz="1200" b="1" i="0" dirty="0">
                <a:solidFill>
                  <a:srgbClr val="FFFFFF"/>
                </a:solidFill>
                <a:latin typeface="Arial"/>
              </a:rPr>
              <a:t>7</a:t>
            </a:r>
            <a:endParaRPr lang="en-US" sz="1200"/>
          </a:p>
        </p:txBody>
      </p:sp>
      <p:sp>
        <p:nvSpPr>
          <p:cNvPr id="22" name="Text 22"/>
          <p:cNvSpPr txBox="1"/>
          <p:nvPr/>
        </p:nvSpPr>
        <p:spPr>
          <a:xfrm>
            <a:off x="10789920" y="3154680"/>
            <a:ext cx="484632" cy="201168"/>
          </a:xfrm>
          <a:prstGeom prst="rect">
            <a:avLst/>
          </a:prstGeom>
          <a:noFill/>
          <a:ln>
            <a:noFill/>
          </a:ln>
        </p:spPr>
        <p:txBody>
          <a:bodyPr wrap="square" anchor="t" lIns="0" rIns="0" tIns="0" bIns="0"/>
          <a:lstStyle/>
          <a:p>
            <a:pPr algn="r"/>
            <a:r>
              <a:rPr lang="en-US" sz="1100" b="1" i="0" dirty="0">
                <a:solidFill>
                  <a:srgbClr val="16A34A"/>
                </a:solidFill>
                <a:latin typeface="Arial"/>
              </a:rPr>
              <a:t>7/7</a:t>
            </a:r>
            <a:endParaRPr lang="en-US" sz="1100"/>
          </a:p>
        </p:txBody>
      </p:sp>
      <p:sp>
        <p:nvSpPr>
          <p:cNvPr id="23" name="Text 23"/>
          <p:cNvSpPr txBox="1"/>
          <p:nvPr/>
        </p:nvSpPr>
        <p:spPr>
          <a:xfrm>
            <a:off x="749808" y="4050792"/>
            <a:ext cx="2048256" cy="246888"/>
          </a:xfrm>
          <a:prstGeom prst="rect">
            <a:avLst/>
          </a:prstGeom>
          <a:noFill/>
          <a:ln>
            <a:noFill/>
          </a:ln>
        </p:spPr>
        <p:txBody>
          <a:bodyPr wrap="square" anchor="t" lIns="0" rIns="0" tIns="0" bIns="0"/>
          <a:lstStyle/>
          <a:p>
            <a:pPr algn="l"/>
            <a:r>
              <a:rPr lang="en-US" sz="1300" b="1" i="0" dirty="0">
                <a:solidFill>
                  <a:srgbClr val="14213D"/>
                </a:solidFill>
                <a:latin typeface="Arial"/>
              </a:rPr>
              <a:t>Single-node MPI</a:t>
            </a:r>
            <a:endParaRPr lang="en-US" sz="1300"/>
          </a:p>
        </p:txBody>
      </p:sp>
      <p:sp>
        <p:nvSpPr>
          <p:cNvPr id="24" name="Text 24"/>
          <p:cNvSpPr txBox="1"/>
          <p:nvPr/>
        </p:nvSpPr>
        <p:spPr>
          <a:xfrm>
            <a:off x="749808" y="4389120"/>
            <a:ext cx="2048256" cy="173736"/>
          </a:xfrm>
          <a:prstGeom prst="rect">
            <a:avLst/>
          </a:prstGeom>
          <a:noFill/>
          <a:ln>
            <a:noFill/>
          </a:ln>
        </p:spPr>
        <p:txBody>
          <a:bodyPr wrap="square" anchor="t" lIns="0" rIns="0" tIns="0" bIns="0"/>
          <a:lstStyle/>
          <a:p>
            <a:pPr algn="l"/>
            <a:r>
              <a:rPr lang="en-US" sz="880" b="0" i="0" dirty="0">
                <a:solidFill>
                  <a:srgbClr val="56647A"/>
                </a:solidFill>
                <a:latin typeface="Arial"/>
              </a:rPr>
              <a:t>two ranks; one node</a:t>
            </a:r>
            <a:endParaRPr lang="en-US" sz="880"/>
          </a:p>
        </p:txBody>
      </p:sp>
      <p:sp>
        <p:nvSpPr>
          <p:cNvPr id="25" name="Rect 25"/>
          <p:cNvSpPr/>
          <p:nvPr/>
        </p:nvSpPr>
        <p:spPr>
          <a:xfrm>
            <a:off x="2944368" y="3941064"/>
            <a:ext cx="5453743" cy="658368"/>
          </a:xfrm>
          <a:prstGeom prst="roundRect">
            <a:avLst/>
          </a:prstGeom>
          <a:solidFill>
            <a:srgbClr val="16A34A"/>
          </a:solidFill>
          <a:ln w="12700">
            <a:solidFill>
              <a:srgbClr val="FFFFFF"/>
            </a:solidFill>
          </a:ln>
        </p:spPr>
        <p:txBody>
          <a:bodyPr/>
          <a:lstStyle/>
          <a:p>
            <a:endParaRPr lang="en-US"/>
          </a:p>
        </p:txBody>
      </p:sp>
      <p:sp>
        <p:nvSpPr>
          <p:cNvPr id="26" name="Text 26"/>
          <p:cNvSpPr txBox="1"/>
          <p:nvPr/>
        </p:nvSpPr>
        <p:spPr>
          <a:xfrm>
            <a:off x="2999232" y="4142232"/>
            <a:ext cx="5344015" cy="201168"/>
          </a:xfrm>
          <a:prstGeom prst="rect">
            <a:avLst/>
          </a:prstGeom>
          <a:noFill/>
          <a:ln>
            <a:noFill/>
          </a:ln>
        </p:spPr>
        <p:txBody>
          <a:bodyPr wrap="square" anchor="t" lIns="0" rIns="0" tIns="0" bIns="0"/>
          <a:lstStyle/>
          <a:p>
            <a:pPr algn="ctr"/>
            <a:r>
              <a:rPr lang="en-US" sz="1200" b="1" i="0" dirty="0">
                <a:solidFill>
                  <a:srgbClr val="FFFFFF"/>
                </a:solidFill>
                <a:latin typeface="Arial"/>
              </a:rPr>
              <a:t>5</a:t>
            </a:r>
            <a:endParaRPr lang="en-US" sz="1200"/>
          </a:p>
        </p:txBody>
      </p:sp>
      <p:sp>
        <p:nvSpPr>
          <p:cNvPr id="27" name="Rect 27"/>
          <p:cNvSpPr/>
          <p:nvPr/>
        </p:nvSpPr>
        <p:spPr>
          <a:xfrm>
            <a:off x="8398111" y="3941064"/>
            <a:ext cx="2181497" cy="658368"/>
          </a:xfrm>
          <a:prstGeom prst="roundRect">
            <a:avLst/>
          </a:prstGeom>
          <a:solidFill>
            <a:srgbClr val="F59E0B"/>
          </a:solidFill>
          <a:ln w="12700">
            <a:solidFill>
              <a:srgbClr val="FFFFFF"/>
            </a:solidFill>
          </a:ln>
        </p:spPr>
        <p:txBody>
          <a:bodyPr/>
          <a:lstStyle/>
          <a:p>
            <a:endParaRPr lang="en-US"/>
          </a:p>
        </p:txBody>
      </p:sp>
      <p:sp>
        <p:nvSpPr>
          <p:cNvPr id="28" name="Text 28"/>
          <p:cNvSpPr txBox="1"/>
          <p:nvPr/>
        </p:nvSpPr>
        <p:spPr>
          <a:xfrm>
            <a:off x="8452975" y="4142232"/>
            <a:ext cx="2071769" cy="201168"/>
          </a:xfrm>
          <a:prstGeom prst="rect">
            <a:avLst/>
          </a:prstGeom>
          <a:noFill/>
          <a:ln>
            <a:noFill/>
          </a:ln>
        </p:spPr>
        <p:txBody>
          <a:bodyPr wrap="square" anchor="t" lIns="0" rIns="0" tIns="0" bIns="0"/>
          <a:lstStyle/>
          <a:p>
            <a:pPr algn="ctr"/>
            <a:r>
              <a:rPr lang="en-US" sz="1200" b="1" i="0" dirty="0">
                <a:solidFill>
                  <a:srgbClr val="FFFFFF"/>
                </a:solidFill>
                <a:latin typeface="Arial"/>
              </a:rPr>
              <a:t>2</a:t>
            </a:r>
            <a:endParaRPr lang="en-US" sz="1200"/>
          </a:p>
        </p:txBody>
      </p:sp>
      <p:sp>
        <p:nvSpPr>
          <p:cNvPr id="29" name="Text 29"/>
          <p:cNvSpPr txBox="1"/>
          <p:nvPr/>
        </p:nvSpPr>
        <p:spPr>
          <a:xfrm>
            <a:off x="10789920" y="4142232"/>
            <a:ext cx="484632" cy="201168"/>
          </a:xfrm>
          <a:prstGeom prst="rect">
            <a:avLst/>
          </a:prstGeom>
          <a:noFill/>
          <a:ln>
            <a:noFill/>
          </a:ln>
        </p:spPr>
        <p:txBody>
          <a:bodyPr wrap="square" anchor="t" lIns="0" rIns="0" tIns="0" bIns="0"/>
          <a:lstStyle/>
          <a:p>
            <a:pPr algn="r"/>
            <a:r>
              <a:rPr lang="en-US" sz="1100" b="1" i="0" dirty="0">
                <a:solidFill>
                  <a:srgbClr val="16A34A"/>
                </a:solidFill>
                <a:latin typeface="Arial"/>
              </a:rPr>
              <a:t>5/7</a:t>
            </a:r>
            <a:endParaRPr lang="en-US" sz="1100"/>
          </a:p>
        </p:txBody>
      </p:sp>
      <p:sp>
        <p:nvSpPr>
          <p:cNvPr id="30" name="Text 30"/>
          <p:cNvSpPr txBox="1"/>
          <p:nvPr/>
        </p:nvSpPr>
        <p:spPr>
          <a:xfrm>
            <a:off x="749808" y="5038344"/>
            <a:ext cx="2048256" cy="246888"/>
          </a:xfrm>
          <a:prstGeom prst="rect">
            <a:avLst/>
          </a:prstGeom>
          <a:noFill/>
          <a:ln>
            <a:noFill/>
          </a:ln>
        </p:spPr>
        <p:txBody>
          <a:bodyPr wrap="square" anchor="t" lIns="0" rIns="0" tIns="0" bIns="0"/>
          <a:lstStyle/>
          <a:p>
            <a:pPr algn="l"/>
            <a:r>
              <a:rPr lang="en-US" sz="1300" b="1" i="0" dirty="0">
                <a:solidFill>
                  <a:srgbClr val="14213D"/>
                </a:solidFill>
                <a:latin typeface="Arial"/>
              </a:rPr>
              <a:t>Multi-node MPI</a:t>
            </a:r>
            <a:endParaRPr lang="en-US" sz="1300"/>
          </a:p>
        </p:txBody>
      </p:sp>
      <p:sp>
        <p:nvSpPr>
          <p:cNvPr id="31" name="Text 31"/>
          <p:cNvSpPr txBox="1"/>
          <p:nvPr/>
        </p:nvSpPr>
        <p:spPr>
          <a:xfrm>
            <a:off x="749808" y="5376672"/>
            <a:ext cx="2048256" cy="173736"/>
          </a:xfrm>
          <a:prstGeom prst="rect">
            <a:avLst/>
          </a:prstGeom>
          <a:noFill/>
          <a:ln>
            <a:noFill/>
          </a:ln>
        </p:spPr>
        <p:txBody>
          <a:bodyPr wrap="square" anchor="t" lIns="0" rIns="0" tIns="0" bIns="0"/>
          <a:lstStyle/>
          <a:p>
            <a:pPr algn="l"/>
            <a:r>
              <a:rPr lang="en-US" sz="880" b="0" i="0" dirty="0">
                <a:solidFill>
                  <a:srgbClr val="56647A"/>
                </a:solidFill>
                <a:latin typeface="Arial"/>
              </a:rPr>
              <a:t>two ranks; two hosts</a:t>
            </a:r>
            <a:endParaRPr lang="en-US" sz="880"/>
          </a:p>
        </p:txBody>
      </p:sp>
      <p:sp>
        <p:nvSpPr>
          <p:cNvPr id="32" name="Rect 32"/>
          <p:cNvSpPr/>
          <p:nvPr/>
        </p:nvSpPr>
        <p:spPr>
          <a:xfrm>
            <a:off x="2944368" y="4928616"/>
            <a:ext cx="3272246" cy="658368"/>
          </a:xfrm>
          <a:prstGeom prst="roundRect">
            <a:avLst/>
          </a:prstGeom>
          <a:solidFill>
            <a:srgbClr val="16A34A"/>
          </a:solidFill>
          <a:ln w="12700">
            <a:solidFill>
              <a:srgbClr val="FFFFFF"/>
            </a:solidFill>
          </a:ln>
        </p:spPr>
        <p:txBody>
          <a:bodyPr/>
          <a:lstStyle/>
          <a:p>
            <a:endParaRPr lang="en-US"/>
          </a:p>
        </p:txBody>
      </p:sp>
      <p:sp>
        <p:nvSpPr>
          <p:cNvPr id="33" name="Text 33"/>
          <p:cNvSpPr txBox="1"/>
          <p:nvPr/>
        </p:nvSpPr>
        <p:spPr>
          <a:xfrm>
            <a:off x="2999232" y="5129784"/>
            <a:ext cx="3162518" cy="201168"/>
          </a:xfrm>
          <a:prstGeom prst="rect">
            <a:avLst/>
          </a:prstGeom>
          <a:noFill/>
          <a:ln>
            <a:noFill/>
          </a:ln>
        </p:spPr>
        <p:txBody>
          <a:bodyPr wrap="square" anchor="t" lIns="0" rIns="0" tIns="0" bIns="0"/>
          <a:lstStyle/>
          <a:p>
            <a:pPr algn="ctr"/>
            <a:r>
              <a:rPr lang="en-US" sz="1200" b="1" i="0" dirty="0">
                <a:solidFill>
                  <a:srgbClr val="FFFFFF"/>
                </a:solidFill>
                <a:latin typeface="Arial"/>
              </a:rPr>
              <a:t>3</a:t>
            </a:r>
            <a:endParaRPr lang="en-US" sz="1200"/>
          </a:p>
        </p:txBody>
      </p:sp>
      <p:sp>
        <p:nvSpPr>
          <p:cNvPr id="34" name="Rect 34"/>
          <p:cNvSpPr/>
          <p:nvPr/>
        </p:nvSpPr>
        <p:spPr>
          <a:xfrm>
            <a:off x="6216614" y="4928616"/>
            <a:ext cx="2181497" cy="658368"/>
          </a:xfrm>
          <a:prstGeom prst="roundRect">
            <a:avLst/>
          </a:prstGeom>
          <a:solidFill>
            <a:srgbClr val="DC2626"/>
          </a:solidFill>
          <a:ln w="12700">
            <a:solidFill>
              <a:srgbClr val="FFFFFF"/>
            </a:solidFill>
          </a:ln>
        </p:spPr>
        <p:txBody>
          <a:bodyPr/>
          <a:lstStyle/>
          <a:p>
            <a:endParaRPr lang="en-US"/>
          </a:p>
        </p:txBody>
      </p:sp>
      <p:sp>
        <p:nvSpPr>
          <p:cNvPr id="35" name="Text 35"/>
          <p:cNvSpPr txBox="1"/>
          <p:nvPr/>
        </p:nvSpPr>
        <p:spPr>
          <a:xfrm>
            <a:off x="6271478" y="5129784"/>
            <a:ext cx="2071769" cy="201168"/>
          </a:xfrm>
          <a:prstGeom prst="rect">
            <a:avLst/>
          </a:prstGeom>
          <a:noFill/>
          <a:ln>
            <a:noFill/>
          </a:ln>
        </p:spPr>
        <p:txBody>
          <a:bodyPr wrap="square" anchor="t" lIns="0" rIns="0" tIns="0" bIns="0"/>
          <a:lstStyle/>
          <a:p>
            <a:pPr algn="ctr"/>
            <a:r>
              <a:rPr lang="en-US" sz="1200" b="1" i="0" dirty="0">
                <a:solidFill>
                  <a:srgbClr val="FFFFFF"/>
                </a:solidFill>
                <a:latin typeface="Arial"/>
              </a:rPr>
              <a:t>2</a:t>
            </a:r>
            <a:endParaRPr lang="en-US" sz="1200"/>
          </a:p>
        </p:txBody>
      </p:sp>
      <p:sp>
        <p:nvSpPr>
          <p:cNvPr id="36" name="Rect 36"/>
          <p:cNvSpPr/>
          <p:nvPr/>
        </p:nvSpPr>
        <p:spPr>
          <a:xfrm>
            <a:off x="8398111" y="4928616"/>
            <a:ext cx="2181497" cy="658368"/>
          </a:xfrm>
          <a:prstGeom prst="roundRect">
            <a:avLst/>
          </a:prstGeom>
          <a:solidFill>
            <a:srgbClr val="334155"/>
          </a:solidFill>
          <a:ln w="12700">
            <a:solidFill>
              <a:srgbClr val="FFFFFF"/>
            </a:solidFill>
          </a:ln>
        </p:spPr>
        <p:txBody>
          <a:bodyPr/>
          <a:lstStyle/>
          <a:p>
            <a:endParaRPr lang="en-US"/>
          </a:p>
        </p:txBody>
      </p:sp>
      <p:sp>
        <p:nvSpPr>
          <p:cNvPr id="37" name="Text 37"/>
          <p:cNvSpPr txBox="1"/>
          <p:nvPr/>
        </p:nvSpPr>
        <p:spPr>
          <a:xfrm>
            <a:off x="8452975" y="5129784"/>
            <a:ext cx="2071769" cy="201168"/>
          </a:xfrm>
          <a:prstGeom prst="rect">
            <a:avLst/>
          </a:prstGeom>
          <a:noFill/>
          <a:ln>
            <a:noFill/>
          </a:ln>
        </p:spPr>
        <p:txBody>
          <a:bodyPr wrap="square" anchor="t" lIns="0" rIns="0" tIns="0" bIns="0"/>
          <a:lstStyle/>
          <a:p>
            <a:pPr algn="ctr"/>
            <a:r>
              <a:rPr lang="en-US" sz="1200" b="1" i="0" dirty="0">
                <a:solidFill>
                  <a:srgbClr val="FFFFFF"/>
                </a:solidFill>
                <a:latin typeface="Arial"/>
              </a:rPr>
              <a:t>2</a:t>
            </a:r>
            <a:endParaRPr lang="en-US" sz="1200"/>
          </a:p>
        </p:txBody>
      </p:sp>
      <p:sp>
        <p:nvSpPr>
          <p:cNvPr id="38" name="Text 38"/>
          <p:cNvSpPr txBox="1"/>
          <p:nvPr/>
        </p:nvSpPr>
        <p:spPr>
          <a:xfrm>
            <a:off x="10789920" y="5129784"/>
            <a:ext cx="484632" cy="201168"/>
          </a:xfrm>
          <a:prstGeom prst="rect">
            <a:avLst/>
          </a:prstGeom>
          <a:noFill/>
          <a:ln>
            <a:noFill/>
          </a:ln>
        </p:spPr>
        <p:txBody>
          <a:bodyPr wrap="square" anchor="t" lIns="0" rIns="0" tIns="0" bIns="0"/>
          <a:lstStyle/>
          <a:p>
            <a:pPr algn="r"/>
            <a:r>
              <a:rPr lang="en-US" sz="1100" b="1" i="0" dirty="0">
                <a:solidFill>
                  <a:srgbClr val="16A34A"/>
                </a:solidFill>
                <a:latin typeface="Arial"/>
              </a:rPr>
              <a:t>3/7</a:t>
            </a:r>
            <a:endParaRPr lang="en-US" sz="1100"/>
          </a:p>
        </p:txBody>
      </p:sp>
      <p:sp>
        <p:nvSpPr>
          <p:cNvPr id="39" name="Rect 39"/>
          <p:cNvSpPr/>
          <p:nvPr/>
        </p:nvSpPr>
        <p:spPr>
          <a:xfrm>
            <a:off x="749808" y="5998464"/>
            <a:ext cx="10515600" cy="347472"/>
          </a:xfrm>
          <a:prstGeom prst="roundRect">
            <a:avLst/>
          </a:prstGeom>
          <a:solidFill>
            <a:srgbClr val="FEF5E7"/>
          </a:solidFill>
          <a:ln w="12700">
            <a:solidFill>
              <a:srgbClr val="F59E0B"/>
            </a:solidFill>
          </a:ln>
        </p:spPr>
        <p:txBody>
          <a:bodyPr/>
          <a:lstStyle/>
          <a:p>
            <a:endParaRPr lang="en-US"/>
          </a:p>
        </p:txBody>
      </p:sp>
      <p:sp>
        <p:nvSpPr>
          <p:cNvPr id="40" name="Text 40"/>
          <p:cNvSpPr txBox="1"/>
          <p:nvPr/>
        </p:nvSpPr>
        <p:spPr>
          <a:xfrm>
            <a:off x="932688" y="6089904"/>
            <a:ext cx="10149840" cy="146304"/>
          </a:xfrm>
          <a:prstGeom prst="rect">
            <a:avLst/>
          </a:prstGeom>
          <a:noFill/>
          <a:ln>
            <a:noFill/>
          </a:ln>
        </p:spPr>
        <p:txBody>
          <a:bodyPr wrap="square" anchor="t" lIns="0" rIns="0" tIns="0" bIns="0"/>
          <a:lstStyle/>
          <a:p>
            <a:pPr algn="ctr"/>
            <a:r>
              <a:rPr lang="en-US" sz="880" b="1" i="0" dirty="0">
                <a:solidFill>
                  <a:srgbClr val="F59E0B"/>
                </a:solidFill>
                <a:latin typeface="Arial"/>
              </a:rPr>
              <a:t>NO LATENCY • BANDWIDTH • SCALING • GPU-AWARE MPI • PRODUCTION-TRAINING CLAIM</a:t>
            </a:r>
            <a:endParaRPr lang="en-US" sz="880"/>
          </a:p>
        </p:txBody>
      </p:sp>
      <p:cxnSp>
        <p:nvCxnSpPr>
          <p:cNvPr id="41" name="Line 41"/>
          <p:cNvCxnSpPr/>
          <p:nvPr/>
        </p:nvCxnSpPr>
        <p:spPr>
          <a:xfrm flipH="false" flipV="false">
            <a:off x="621792" y="6473952"/>
            <a:ext cx="10954512" cy="0"/>
          </a:xfrm>
          <a:prstGeom prst="line">
            <a:avLst/>
          </a:prstGeom>
          <a:ln w="10160">
            <a:solidFill>
              <a:srgbClr val="D7DFEA"/>
            </a:solidFill>
          </a:ln>
        </p:spPr>
      </p:cxnSp>
      <p:sp>
        <p:nvSpPr>
          <p:cNvPr id="42" name="Text 42"/>
          <p:cNvSpPr txBox="1"/>
          <p:nvPr/>
        </p:nvSpPr>
        <p:spPr>
          <a:xfrm>
            <a:off x="640080" y="6510528"/>
            <a:ext cx="10469880" cy="201168"/>
          </a:xfrm>
          <a:prstGeom prst="rect">
            <a:avLst/>
          </a:prstGeom>
          <a:noFill/>
          <a:ln>
            <a:noFill/>
          </a:ln>
        </p:spPr>
        <p:txBody>
          <a:bodyPr wrap="square" anchor="t" lIns="0" rIns="0" tIns="0" bIns="0"/>
          <a:lstStyle/>
          <a:p>
            <a:pPr algn="l"/>
            <a:r>
              <a:rPr lang="en-US" sz="720" b="0" i="0" dirty="0">
                <a:solidFill>
                  <a:srgbClr val="56647A"/>
                </a:solidFill>
                <a:latin typeface="Arial"/>
              </a:rPr>
              <a:t>docs/audits/hpc-{cpu,accelerator,mpi,multinode-mpi}-readiness-*.json</a:t>
            </a:r>
            <a:endParaRPr lang="en-US" sz="720"/>
          </a:p>
        </p:txBody>
      </p:sp>
      <p:sp>
        <p:nvSpPr>
          <p:cNvPr id="43" name="Text 43"/>
          <p:cNvSpPr txBox="1"/>
          <p:nvPr/>
        </p:nvSpPr>
        <p:spPr>
          <a:xfrm>
            <a:off x="11201400" y="6492240"/>
            <a:ext cx="329184" cy="201168"/>
          </a:xfrm>
          <a:prstGeom prst="rect">
            <a:avLst/>
          </a:prstGeom>
          <a:noFill/>
          <a:ln>
            <a:noFill/>
          </a:ln>
        </p:spPr>
        <p:txBody>
          <a:bodyPr wrap="square" anchor="t" lIns="0" rIns="0" tIns="0" bIns="0"/>
          <a:lstStyle/>
          <a:p>
            <a:pPr algn="r"/>
            <a:r>
              <a:rPr lang="en-US" sz="800" b="1" i="0" dirty="0">
                <a:solidFill>
                  <a:srgbClr val="56647A"/>
                </a:solidFill>
                <a:latin typeface="Arial"/>
              </a:rPr>
              <a:t>15</a:t>
            </a:r>
            <a:endParaRPr lang="en-US" sz="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F6F8FC"/>
          </a:solidFill>
          <a:ln w="12700">
            <a:solidFill>
              <a:srgbClr val="F6F8FC"/>
            </a:solidFill>
          </a:ln>
        </p:spPr>
        <p:txBody>
          <a:bodyPr/>
          <a:lstStyle/>
          <a:p>
            <a:endParaRPr lang="en-US"/>
          </a:p>
        </p:txBody>
      </p:sp>
      <p:sp>
        <p:nvSpPr>
          <p:cNvPr id="3" name="Text 3"/>
          <p:cNvSpPr txBox="1"/>
          <p:nvPr/>
        </p:nvSpPr>
        <p:spPr>
          <a:xfrm>
            <a:off x="621792" y="347472"/>
            <a:ext cx="10927080" cy="566928"/>
          </a:xfrm>
          <a:prstGeom prst="rect">
            <a:avLst/>
          </a:prstGeom>
          <a:noFill/>
          <a:ln>
            <a:noFill/>
          </a:ln>
        </p:spPr>
        <p:txBody>
          <a:bodyPr wrap="square" anchor="t" lIns="0" rIns="0" tIns="0" bIns="0"/>
          <a:lstStyle/>
          <a:p>
            <a:pPr algn="l"/>
            <a:r>
              <a:rPr lang="en-US" sz="2600" b="1" i="0" dirty="0">
                <a:solidFill>
                  <a:srgbClr val="14213D"/>
                </a:solidFill>
                <a:latin typeface="Arial"/>
              </a:rPr>
              <a:t>Safety evolved from collision refusal to revalidated lifecycle controls</a:t>
            </a:r>
            <a:endParaRPr lang="en-US" sz="2600"/>
          </a:p>
        </p:txBody>
      </p:sp>
      <p:sp>
        <p:nvSpPr>
          <p:cNvPr id="4" name="Text 4"/>
          <p:cNvSpPr txBox="1"/>
          <p:nvPr/>
        </p:nvSpPr>
        <p:spPr>
          <a:xfrm>
            <a:off x="640080" y="932688"/>
            <a:ext cx="10881360" cy="310896"/>
          </a:xfrm>
          <a:prstGeom prst="rect">
            <a:avLst/>
          </a:prstGeom>
          <a:noFill/>
          <a:ln>
            <a:noFill/>
          </a:ln>
        </p:spPr>
        <p:txBody>
          <a:bodyPr wrap="square" anchor="t" lIns="0" rIns="0" tIns="0" bIns="0"/>
          <a:lstStyle/>
          <a:p>
            <a:pPr algn="l"/>
            <a:r>
              <a:rPr lang="en-US" sz="1250" b="0" i="0" dirty="0">
                <a:solidFill>
                  <a:srgbClr val="56647A"/>
                </a:solidFill>
                <a:latin typeface="Arial"/>
              </a:rPr>
              <a:t>Appendix • each layer answers a different failure mode</a:t>
            </a:r>
            <a:endParaRPr lang="en-US" sz="1250"/>
          </a:p>
        </p:txBody>
      </p:sp>
      <p:sp>
        <p:nvSpPr>
          <p:cNvPr id="5" name="Rect 5"/>
          <p:cNvSpPr/>
          <p:nvPr/>
        </p:nvSpPr>
        <p:spPr>
          <a:xfrm>
            <a:off x="768096" y="1335024"/>
            <a:ext cx="10625328" cy="640080"/>
          </a:xfrm>
          <a:prstGeom prst="roundRect">
            <a:avLst/>
          </a:prstGeom>
          <a:solidFill>
            <a:srgbClr val="EDF4FE"/>
          </a:solidFill>
          <a:ln w="12700">
            <a:solidFill>
              <a:srgbClr val="3B82F6"/>
            </a:solidFill>
          </a:ln>
        </p:spPr>
        <p:txBody>
          <a:bodyPr/>
          <a:lstStyle/>
          <a:p>
            <a:endParaRPr lang="en-US"/>
          </a:p>
        </p:txBody>
      </p:sp>
      <p:sp>
        <p:nvSpPr>
          <p:cNvPr id="6" name="Ellipse 6"/>
          <p:cNvSpPr/>
          <p:nvPr/>
        </p:nvSpPr>
        <p:spPr>
          <a:xfrm>
            <a:off x="932688" y="1481328"/>
            <a:ext cx="347472" cy="347472"/>
          </a:xfrm>
          <a:prstGeom prst="ellipse">
            <a:avLst/>
          </a:prstGeom>
          <a:solidFill>
            <a:srgbClr val="3B82F6"/>
          </a:solidFill>
          <a:ln w="12700">
            <a:solidFill>
              <a:srgbClr val="3B82F6"/>
            </a:solidFill>
          </a:ln>
        </p:spPr>
        <p:txBody>
          <a:bodyPr/>
          <a:lstStyle/>
          <a:p>
            <a:endParaRPr lang="en-US"/>
          </a:p>
        </p:txBody>
      </p:sp>
      <p:sp>
        <p:nvSpPr>
          <p:cNvPr id="7" name="Text 7"/>
          <p:cNvSpPr txBox="1"/>
          <p:nvPr/>
        </p:nvSpPr>
        <p:spPr>
          <a:xfrm>
            <a:off x="932688" y="1563624"/>
            <a:ext cx="347472" cy="146304"/>
          </a:xfrm>
          <a:prstGeom prst="rect">
            <a:avLst/>
          </a:prstGeom>
          <a:noFill/>
          <a:ln>
            <a:noFill/>
          </a:ln>
        </p:spPr>
        <p:txBody>
          <a:bodyPr wrap="square" anchor="t" lIns="0" rIns="0" tIns="0" bIns="0"/>
          <a:lstStyle/>
          <a:p>
            <a:pPr algn="ctr"/>
            <a:r>
              <a:rPr lang="en-US" sz="900" b="1" i="0" dirty="0">
                <a:solidFill>
                  <a:srgbClr val="FFFFFF"/>
                </a:solidFill>
                <a:latin typeface="Arial"/>
              </a:rPr>
              <a:t>1</a:t>
            </a:r>
            <a:endParaRPr lang="en-US" sz="900"/>
          </a:p>
        </p:txBody>
      </p:sp>
      <p:sp>
        <p:nvSpPr>
          <p:cNvPr id="8" name="Text 8"/>
          <p:cNvSpPr txBox="1"/>
          <p:nvPr/>
        </p:nvSpPr>
        <p:spPr>
          <a:xfrm>
            <a:off x="1426464" y="1463040"/>
            <a:ext cx="2304288" cy="219456"/>
          </a:xfrm>
          <a:prstGeom prst="rect">
            <a:avLst/>
          </a:prstGeom>
          <a:noFill/>
          <a:ln>
            <a:noFill/>
          </a:ln>
        </p:spPr>
        <p:txBody>
          <a:bodyPr wrap="square" anchor="t" lIns="0" rIns="0" tIns="0" bIns="0"/>
          <a:lstStyle/>
          <a:p>
            <a:pPr algn="l"/>
            <a:r>
              <a:rPr lang="en-US" sz="1220" b="1" i="0" dirty="0">
                <a:solidFill>
                  <a:srgbClr val="3B82F6"/>
                </a:solidFill>
                <a:latin typeface="Arial"/>
              </a:rPr>
              <a:t>Collision refusal</a:t>
            </a:r>
            <a:endParaRPr lang="en-US" sz="1220"/>
          </a:p>
        </p:txBody>
      </p:sp>
      <p:sp>
        <p:nvSpPr>
          <p:cNvPr id="9" name="Text 9"/>
          <p:cNvSpPr txBox="1"/>
          <p:nvPr/>
        </p:nvSpPr>
        <p:spPr>
          <a:xfrm>
            <a:off x="3877056" y="1472184"/>
            <a:ext cx="7242048" cy="228600"/>
          </a:xfrm>
          <a:prstGeom prst="rect">
            <a:avLst/>
          </a:prstGeom>
          <a:noFill/>
          <a:ln>
            <a:noFill/>
          </a:ln>
        </p:spPr>
        <p:txBody>
          <a:bodyPr wrap="square" anchor="t" lIns="0" rIns="0" tIns="0" bIns="0"/>
          <a:lstStyle/>
          <a:p>
            <a:pPr algn="l"/>
            <a:r>
              <a:rPr lang="en-US" sz="1030" b="0" i="0" dirty="0">
                <a:solidFill>
                  <a:srgbClr val="56647A"/>
                </a:solidFill>
                <a:latin typeface="Arial"/>
              </a:rPr>
              <a:t>Do not overwrite unmanaged paths</a:t>
            </a:r>
            <a:endParaRPr lang="en-US" sz="1030"/>
          </a:p>
        </p:txBody>
      </p:sp>
      <p:sp>
        <p:nvSpPr>
          <p:cNvPr id="10" name="Rect 10"/>
          <p:cNvSpPr/>
          <p:nvPr/>
        </p:nvSpPr>
        <p:spPr>
          <a:xfrm>
            <a:off x="877824" y="2139696"/>
            <a:ext cx="10405872" cy="640080"/>
          </a:xfrm>
          <a:prstGeom prst="roundRect">
            <a:avLst/>
          </a:prstGeom>
          <a:solidFill>
            <a:srgbClr val="E9F5F4"/>
          </a:solidFill>
          <a:ln w="12700">
            <a:solidFill>
              <a:srgbClr val="0D9488"/>
            </a:solidFill>
          </a:ln>
        </p:spPr>
        <p:txBody>
          <a:bodyPr/>
          <a:lstStyle/>
          <a:p>
            <a:endParaRPr lang="en-US"/>
          </a:p>
        </p:txBody>
      </p:sp>
      <p:sp>
        <p:nvSpPr>
          <p:cNvPr id="11" name="Ellipse 11"/>
          <p:cNvSpPr/>
          <p:nvPr/>
        </p:nvSpPr>
        <p:spPr>
          <a:xfrm>
            <a:off x="1042416" y="2286000"/>
            <a:ext cx="347472" cy="347472"/>
          </a:xfrm>
          <a:prstGeom prst="ellipse">
            <a:avLst/>
          </a:prstGeom>
          <a:solidFill>
            <a:srgbClr val="0D9488"/>
          </a:solidFill>
          <a:ln w="12700">
            <a:solidFill>
              <a:srgbClr val="0D9488"/>
            </a:solidFill>
          </a:ln>
        </p:spPr>
        <p:txBody>
          <a:bodyPr/>
          <a:lstStyle/>
          <a:p>
            <a:endParaRPr lang="en-US"/>
          </a:p>
        </p:txBody>
      </p:sp>
      <p:sp>
        <p:nvSpPr>
          <p:cNvPr id="12" name="Text 12"/>
          <p:cNvSpPr txBox="1"/>
          <p:nvPr/>
        </p:nvSpPr>
        <p:spPr>
          <a:xfrm>
            <a:off x="1042416" y="2368296"/>
            <a:ext cx="347472" cy="146304"/>
          </a:xfrm>
          <a:prstGeom prst="rect">
            <a:avLst/>
          </a:prstGeom>
          <a:noFill/>
          <a:ln>
            <a:noFill/>
          </a:ln>
        </p:spPr>
        <p:txBody>
          <a:bodyPr wrap="square" anchor="t" lIns="0" rIns="0" tIns="0" bIns="0"/>
          <a:lstStyle/>
          <a:p>
            <a:pPr algn="ctr"/>
            <a:r>
              <a:rPr lang="en-US" sz="900" b="1" i="0" dirty="0">
                <a:solidFill>
                  <a:srgbClr val="FFFFFF"/>
                </a:solidFill>
                <a:latin typeface="Arial"/>
              </a:rPr>
              <a:t>2</a:t>
            </a:r>
            <a:endParaRPr lang="en-US" sz="900"/>
          </a:p>
        </p:txBody>
      </p:sp>
      <p:sp>
        <p:nvSpPr>
          <p:cNvPr id="13" name="Text 13"/>
          <p:cNvSpPr txBox="1"/>
          <p:nvPr/>
        </p:nvSpPr>
        <p:spPr>
          <a:xfrm>
            <a:off x="1536192" y="2267712"/>
            <a:ext cx="2304288" cy="219456"/>
          </a:xfrm>
          <a:prstGeom prst="rect">
            <a:avLst/>
          </a:prstGeom>
          <a:noFill/>
          <a:ln>
            <a:noFill/>
          </a:ln>
        </p:spPr>
        <p:txBody>
          <a:bodyPr wrap="square" anchor="t" lIns="0" rIns="0" tIns="0" bIns="0"/>
          <a:lstStyle/>
          <a:p>
            <a:pPr algn="l"/>
            <a:r>
              <a:rPr lang="en-US" sz="1220" b="1" i="0" dirty="0">
                <a:solidFill>
                  <a:srgbClr val="0D9488"/>
                </a:solidFill>
                <a:latin typeface="Arial"/>
              </a:rPr>
              <a:t>Recorded preimages</a:t>
            </a:r>
            <a:endParaRPr lang="en-US" sz="1220"/>
          </a:p>
        </p:txBody>
      </p:sp>
      <p:sp>
        <p:nvSpPr>
          <p:cNvPr id="14" name="Text 14"/>
          <p:cNvSpPr txBox="1"/>
          <p:nvPr/>
        </p:nvSpPr>
        <p:spPr>
          <a:xfrm>
            <a:off x="3986784" y="2276856"/>
            <a:ext cx="7022592" cy="228600"/>
          </a:xfrm>
          <a:prstGeom prst="rect">
            <a:avLst/>
          </a:prstGeom>
          <a:noFill/>
          <a:ln>
            <a:noFill/>
          </a:ln>
        </p:spPr>
        <p:txBody>
          <a:bodyPr wrap="square" anchor="t" lIns="0" rIns="0" tIns="0" bIns="0"/>
          <a:lstStyle/>
          <a:p>
            <a:pPr algn="l"/>
            <a:r>
              <a:rPr lang="en-US" sz="1030" b="0" i="0" dirty="0">
                <a:solidFill>
                  <a:srgbClr val="56647A"/>
                </a:solidFill>
                <a:latin typeface="Arial"/>
              </a:rPr>
              <a:t>Rollback only unchanged managed state</a:t>
            </a:r>
            <a:endParaRPr lang="en-US" sz="1030"/>
          </a:p>
        </p:txBody>
      </p:sp>
      <p:sp>
        <p:nvSpPr>
          <p:cNvPr id="15" name="Rect 15"/>
          <p:cNvSpPr/>
          <p:nvPr/>
        </p:nvSpPr>
        <p:spPr>
          <a:xfrm>
            <a:off x="987552" y="2944368"/>
            <a:ext cx="10186416" cy="640080"/>
          </a:xfrm>
          <a:prstGeom prst="roundRect">
            <a:avLst/>
          </a:prstGeom>
          <a:solidFill>
            <a:srgbClr val="FEF6E9"/>
          </a:solidFill>
          <a:ln w="12700">
            <a:solidFill>
              <a:srgbClr val="F59E0B"/>
            </a:solidFill>
          </a:ln>
        </p:spPr>
        <p:txBody>
          <a:bodyPr/>
          <a:lstStyle/>
          <a:p>
            <a:endParaRPr lang="en-US"/>
          </a:p>
        </p:txBody>
      </p:sp>
      <p:sp>
        <p:nvSpPr>
          <p:cNvPr id="16" name="Ellipse 16"/>
          <p:cNvSpPr/>
          <p:nvPr/>
        </p:nvSpPr>
        <p:spPr>
          <a:xfrm>
            <a:off x="1152144" y="3090672"/>
            <a:ext cx="347472" cy="347472"/>
          </a:xfrm>
          <a:prstGeom prst="ellipse">
            <a:avLst/>
          </a:prstGeom>
          <a:solidFill>
            <a:srgbClr val="F59E0B"/>
          </a:solidFill>
          <a:ln w="12700">
            <a:solidFill>
              <a:srgbClr val="F59E0B"/>
            </a:solidFill>
          </a:ln>
        </p:spPr>
        <p:txBody>
          <a:bodyPr/>
          <a:lstStyle/>
          <a:p>
            <a:endParaRPr lang="en-US"/>
          </a:p>
        </p:txBody>
      </p:sp>
      <p:sp>
        <p:nvSpPr>
          <p:cNvPr id="17" name="Text 17"/>
          <p:cNvSpPr txBox="1"/>
          <p:nvPr/>
        </p:nvSpPr>
        <p:spPr>
          <a:xfrm>
            <a:off x="1152144" y="3172968"/>
            <a:ext cx="347472" cy="146304"/>
          </a:xfrm>
          <a:prstGeom prst="rect">
            <a:avLst/>
          </a:prstGeom>
          <a:noFill/>
          <a:ln>
            <a:noFill/>
          </a:ln>
        </p:spPr>
        <p:txBody>
          <a:bodyPr wrap="square" anchor="t" lIns="0" rIns="0" tIns="0" bIns="0"/>
          <a:lstStyle/>
          <a:p>
            <a:pPr algn="ctr"/>
            <a:r>
              <a:rPr lang="en-US" sz="900" b="1" i="0" dirty="0">
                <a:solidFill>
                  <a:srgbClr val="FFFFFF"/>
                </a:solidFill>
                <a:latin typeface="Arial"/>
              </a:rPr>
              <a:t>3</a:t>
            </a:r>
            <a:endParaRPr lang="en-US" sz="900"/>
          </a:p>
        </p:txBody>
      </p:sp>
      <p:sp>
        <p:nvSpPr>
          <p:cNvPr id="18" name="Text 18"/>
          <p:cNvSpPr txBox="1"/>
          <p:nvPr/>
        </p:nvSpPr>
        <p:spPr>
          <a:xfrm>
            <a:off x="1645920" y="3072384"/>
            <a:ext cx="2304288" cy="219456"/>
          </a:xfrm>
          <a:prstGeom prst="rect">
            <a:avLst/>
          </a:prstGeom>
          <a:noFill/>
          <a:ln>
            <a:noFill/>
          </a:ln>
        </p:spPr>
        <p:txBody>
          <a:bodyPr wrap="square" anchor="t" lIns="0" rIns="0" tIns="0" bIns="0"/>
          <a:lstStyle/>
          <a:p>
            <a:pPr algn="l"/>
            <a:r>
              <a:rPr lang="en-US" sz="1220" b="1" i="0" dirty="0">
                <a:solidFill>
                  <a:srgbClr val="F59E0B"/>
                </a:solidFill>
                <a:latin typeface="Arial"/>
              </a:rPr>
              <a:t>Guarded manifests</a:t>
            </a:r>
            <a:endParaRPr lang="en-US" sz="1220"/>
          </a:p>
        </p:txBody>
      </p:sp>
      <p:sp>
        <p:nvSpPr>
          <p:cNvPr id="19" name="Text 19"/>
          <p:cNvSpPr txBox="1"/>
          <p:nvPr/>
        </p:nvSpPr>
        <p:spPr>
          <a:xfrm>
            <a:off x="4096512" y="3081528"/>
            <a:ext cx="6803136" cy="228600"/>
          </a:xfrm>
          <a:prstGeom prst="rect">
            <a:avLst/>
          </a:prstGeom>
          <a:noFill/>
          <a:ln>
            <a:noFill/>
          </a:ln>
        </p:spPr>
        <p:txBody>
          <a:bodyPr wrap="square" anchor="t" lIns="0" rIns="0" tIns="0" bIns="0"/>
          <a:lstStyle/>
          <a:p>
            <a:pPr algn="l"/>
            <a:r>
              <a:rPr lang="en-US" sz="1030" b="0" i="0" dirty="0">
                <a:solidFill>
                  <a:srgbClr val="56647A"/>
                </a:solidFill>
                <a:latin typeface="Arial"/>
              </a:rPr>
              <a:t>Revalidate recursive deletion boundaries</a:t>
            </a:r>
            <a:endParaRPr lang="en-US" sz="1030"/>
          </a:p>
        </p:txBody>
      </p:sp>
      <p:sp>
        <p:nvSpPr>
          <p:cNvPr id="20" name="Rect 20"/>
          <p:cNvSpPr/>
          <p:nvPr/>
        </p:nvSpPr>
        <p:spPr>
          <a:xfrm>
            <a:off x="1097280" y="3749040"/>
            <a:ext cx="9966960" cy="640080"/>
          </a:xfrm>
          <a:prstGeom prst="roundRect">
            <a:avLst/>
          </a:prstGeom>
          <a:solidFill>
            <a:srgbClr val="F3EDFD"/>
          </a:solidFill>
          <a:ln w="12700">
            <a:solidFill>
              <a:srgbClr val="7C3AED"/>
            </a:solidFill>
          </a:ln>
        </p:spPr>
        <p:txBody>
          <a:bodyPr/>
          <a:lstStyle/>
          <a:p>
            <a:endParaRPr lang="en-US"/>
          </a:p>
        </p:txBody>
      </p:sp>
      <p:sp>
        <p:nvSpPr>
          <p:cNvPr id="21" name="Ellipse 21"/>
          <p:cNvSpPr/>
          <p:nvPr/>
        </p:nvSpPr>
        <p:spPr>
          <a:xfrm>
            <a:off x="1261872" y="3895344"/>
            <a:ext cx="347472" cy="347472"/>
          </a:xfrm>
          <a:prstGeom prst="ellipse">
            <a:avLst/>
          </a:prstGeom>
          <a:solidFill>
            <a:srgbClr val="7C3AED"/>
          </a:solidFill>
          <a:ln w="12700">
            <a:solidFill>
              <a:srgbClr val="7C3AED"/>
            </a:solidFill>
          </a:ln>
        </p:spPr>
        <p:txBody>
          <a:bodyPr/>
          <a:lstStyle/>
          <a:p>
            <a:endParaRPr lang="en-US"/>
          </a:p>
        </p:txBody>
      </p:sp>
      <p:sp>
        <p:nvSpPr>
          <p:cNvPr id="22" name="Text 22"/>
          <p:cNvSpPr txBox="1"/>
          <p:nvPr/>
        </p:nvSpPr>
        <p:spPr>
          <a:xfrm>
            <a:off x="1261872" y="3977640"/>
            <a:ext cx="347472" cy="146304"/>
          </a:xfrm>
          <a:prstGeom prst="rect">
            <a:avLst/>
          </a:prstGeom>
          <a:noFill/>
          <a:ln>
            <a:noFill/>
          </a:ln>
        </p:spPr>
        <p:txBody>
          <a:bodyPr wrap="square" anchor="t" lIns="0" rIns="0" tIns="0" bIns="0"/>
          <a:lstStyle/>
          <a:p>
            <a:pPr algn="ctr"/>
            <a:r>
              <a:rPr lang="en-US" sz="900" b="1" i="0" dirty="0">
                <a:solidFill>
                  <a:srgbClr val="FFFFFF"/>
                </a:solidFill>
                <a:latin typeface="Arial"/>
              </a:rPr>
              <a:t>4</a:t>
            </a:r>
            <a:endParaRPr lang="en-US" sz="900"/>
          </a:p>
        </p:txBody>
      </p:sp>
      <p:sp>
        <p:nvSpPr>
          <p:cNvPr id="23" name="Text 23"/>
          <p:cNvSpPr txBox="1"/>
          <p:nvPr/>
        </p:nvSpPr>
        <p:spPr>
          <a:xfrm>
            <a:off x="1755648" y="3877056"/>
            <a:ext cx="2304288" cy="219456"/>
          </a:xfrm>
          <a:prstGeom prst="rect">
            <a:avLst/>
          </a:prstGeom>
          <a:noFill/>
          <a:ln>
            <a:noFill/>
          </a:ln>
        </p:spPr>
        <p:txBody>
          <a:bodyPr wrap="square" anchor="t" lIns="0" rIns="0" tIns="0" bIns="0"/>
          <a:lstStyle/>
          <a:p>
            <a:pPr algn="l"/>
            <a:r>
              <a:rPr lang="en-US" sz="1220" b="1" i="0" dirty="0">
                <a:solidFill>
                  <a:srgbClr val="7C3AED"/>
                </a:solidFill>
                <a:latin typeface="Arial"/>
              </a:rPr>
              <a:t>Check + restore</a:t>
            </a:r>
            <a:endParaRPr lang="en-US" sz="1220"/>
          </a:p>
        </p:txBody>
      </p:sp>
      <p:sp>
        <p:nvSpPr>
          <p:cNvPr id="24" name="Text 24"/>
          <p:cNvSpPr txBox="1"/>
          <p:nvPr/>
        </p:nvSpPr>
        <p:spPr>
          <a:xfrm>
            <a:off x="4206240" y="3886200"/>
            <a:ext cx="6583680" cy="228600"/>
          </a:xfrm>
          <a:prstGeom prst="rect">
            <a:avLst/>
          </a:prstGeom>
          <a:noFill/>
          <a:ln>
            <a:noFill/>
          </a:ln>
        </p:spPr>
        <p:txBody>
          <a:bodyPr wrap="square" anchor="t" lIns="0" rIns="0" tIns="0" bIns="0"/>
          <a:lstStyle/>
          <a:p>
            <a:pPr algn="l"/>
            <a:r>
              <a:rPr lang="en-US" sz="1030" b="0" i="0" dirty="0">
                <a:solidFill>
                  <a:srgbClr val="56647A"/>
                </a:solidFill>
                <a:latin typeface="Arial"/>
              </a:rPr>
              <a:t>Prove recovery before lifecycle progression</a:t>
            </a:r>
            <a:endParaRPr lang="en-US" sz="1030"/>
          </a:p>
        </p:txBody>
      </p:sp>
      <p:sp>
        <p:nvSpPr>
          <p:cNvPr id="25" name="Rect 25"/>
          <p:cNvSpPr/>
          <p:nvPr/>
        </p:nvSpPr>
        <p:spPr>
          <a:xfrm>
            <a:off x="1207008" y="4553712"/>
            <a:ext cx="9747504" cy="640080"/>
          </a:xfrm>
          <a:prstGeom prst="roundRect">
            <a:avLst/>
          </a:prstGeom>
          <a:solidFill>
            <a:srgbClr val="FCECF3"/>
          </a:solidFill>
          <a:ln w="12700">
            <a:solidFill>
              <a:srgbClr val="DB2777"/>
            </a:solidFill>
          </a:ln>
        </p:spPr>
        <p:txBody>
          <a:bodyPr/>
          <a:lstStyle/>
          <a:p>
            <a:endParaRPr lang="en-US"/>
          </a:p>
        </p:txBody>
      </p:sp>
      <p:sp>
        <p:nvSpPr>
          <p:cNvPr id="26" name="Ellipse 26"/>
          <p:cNvSpPr/>
          <p:nvPr/>
        </p:nvSpPr>
        <p:spPr>
          <a:xfrm>
            <a:off x="1371600" y="4700016"/>
            <a:ext cx="347472" cy="347472"/>
          </a:xfrm>
          <a:prstGeom prst="ellipse">
            <a:avLst/>
          </a:prstGeom>
          <a:solidFill>
            <a:srgbClr val="DB2777"/>
          </a:solidFill>
          <a:ln w="12700">
            <a:solidFill>
              <a:srgbClr val="DB2777"/>
            </a:solidFill>
          </a:ln>
        </p:spPr>
        <p:txBody>
          <a:bodyPr/>
          <a:lstStyle/>
          <a:p>
            <a:endParaRPr lang="en-US"/>
          </a:p>
        </p:txBody>
      </p:sp>
      <p:sp>
        <p:nvSpPr>
          <p:cNvPr id="27" name="Text 27"/>
          <p:cNvSpPr txBox="1"/>
          <p:nvPr/>
        </p:nvSpPr>
        <p:spPr>
          <a:xfrm>
            <a:off x="1371600" y="4782312"/>
            <a:ext cx="347472" cy="146304"/>
          </a:xfrm>
          <a:prstGeom prst="rect">
            <a:avLst/>
          </a:prstGeom>
          <a:noFill/>
          <a:ln>
            <a:noFill/>
          </a:ln>
        </p:spPr>
        <p:txBody>
          <a:bodyPr wrap="square" anchor="t" lIns="0" rIns="0" tIns="0" bIns="0"/>
          <a:lstStyle/>
          <a:p>
            <a:pPr algn="ctr"/>
            <a:r>
              <a:rPr lang="en-US" sz="900" b="1" i="0" dirty="0">
                <a:solidFill>
                  <a:srgbClr val="FFFFFF"/>
                </a:solidFill>
                <a:latin typeface="Arial"/>
              </a:rPr>
              <a:t>5</a:t>
            </a:r>
            <a:endParaRPr lang="en-US" sz="900"/>
          </a:p>
        </p:txBody>
      </p:sp>
      <p:sp>
        <p:nvSpPr>
          <p:cNvPr id="28" name="Text 28"/>
          <p:cNvSpPr txBox="1"/>
          <p:nvPr/>
        </p:nvSpPr>
        <p:spPr>
          <a:xfrm>
            <a:off x="1865376" y="4681728"/>
            <a:ext cx="2304288" cy="219456"/>
          </a:xfrm>
          <a:prstGeom prst="rect">
            <a:avLst/>
          </a:prstGeom>
          <a:noFill/>
          <a:ln>
            <a:noFill/>
          </a:ln>
        </p:spPr>
        <p:txBody>
          <a:bodyPr wrap="square" anchor="t" lIns="0" rIns="0" tIns="0" bIns="0"/>
          <a:lstStyle/>
          <a:p>
            <a:pPr algn="l"/>
            <a:r>
              <a:rPr lang="en-US" sz="1220" b="1" i="0" dirty="0">
                <a:solidFill>
                  <a:srgbClr val="DB2777"/>
                </a:solidFill>
                <a:latin typeface="Arial"/>
              </a:rPr>
              <a:t>Ancestry + bundle hash</a:t>
            </a:r>
            <a:endParaRPr lang="en-US" sz="1220"/>
          </a:p>
        </p:txBody>
      </p:sp>
      <p:sp>
        <p:nvSpPr>
          <p:cNvPr id="29" name="Text 29"/>
          <p:cNvSpPr txBox="1"/>
          <p:nvPr/>
        </p:nvSpPr>
        <p:spPr>
          <a:xfrm>
            <a:off x="4315968" y="4690872"/>
            <a:ext cx="6364224" cy="228600"/>
          </a:xfrm>
          <a:prstGeom prst="rect">
            <a:avLst/>
          </a:prstGeom>
          <a:noFill/>
          <a:ln>
            <a:noFill/>
          </a:ln>
        </p:spPr>
        <p:txBody>
          <a:bodyPr wrap="square" anchor="t" lIns="0" rIns="0" tIns="0" bIns="0"/>
          <a:lstStyle/>
          <a:p>
            <a:pPr algn="l"/>
            <a:r>
              <a:rPr lang="en-US" sz="1030" b="0" i="0" dirty="0">
                <a:solidFill>
                  <a:srgbClr val="56647A"/>
                </a:solidFill>
                <a:latin typeface="Arial"/>
              </a:rPr>
              <a:t>Keep fleet distribution clean and retry-safe</a:t>
            </a:r>
            <a:endParaRPr lang="en-US" sz="1030"/>
          </a:p>
        </p:txBody>
      </p:sp>
      <p:sp>
        <p:nvSpPr>
          <p:cNvPr id="30" name="Rect 30"/>
          <p:cNvSpPr/>
          <p:nvPr/>
        </p:nvSpPr>
        <p:spPr>
          <a:xfrm>
            <a:off x="1316736" y="5358384"/>
            <a:ext cx="9528048" cy="640080"/>
          </a:xfrm>
          <a:prstGeom prst="roundRect">
            <a:avLst/>
          </a:prstGeom>
          <a:solidFill>
            <a:srgbClr val="EAF7EF"/>
          </a:solidFill>
          <a:ln w="12700">
            <a:solidFill>
              <a:srgbClr val="16A34A"/>
            </a:solidFill>
          </a:ln>
        </p:spPr>
        <p:txBody>
          <a:bodyPr/>
          <a:lstStyle/>
          <a:p>
            <a:endParaRPr lang="en-US"/>
          </a:p>
        </p:txBody>
      </p:sp>
      <p:sp>
        <p:nvSpPr>
          <p:cNvPr id="31" name="Ellipse 31"/>
          <p:cNvSpPr/>
          <p:nvPr/>
        </p:nvSpPr>
        <p:spPr>
          <a:xfrm>
            <a:off x="1481328" y="5504688"/>
            <a:ext cx="347472" cy="347472"/>
          </a:xfrm>
          <a:prstGeom prst="ellipse">
            <a:avLst/>
          </a:prstGeom>
          <a:solidFill>
            <a:srgbClr val="16A34A"/>
          </a:solidFill>
          <a:ln w="12700">
            <a:solidFill>
              <a:srgbClr val="16A34A"/>
            </a:solidFill>
          </a:ln>
        </p:spPr>
        <p:txBody>
          <a:bodyPr/>
          <a:lstStyle/>
          <a:p>
            <a:endParaRPr lang="en-US"/>
          </a:p>
        </p:txBody>
      </p:sp>
      <p:sp>
        <p:nvSpPr>
          <p:cNvPr id="32" name="Text 32"/>
          <p:cNvSpPr txBox="1"/>
          <p:nvPr/>
        </p:nvSpPr>
        <p:spPr>
          <a:xfrm>
            <a:off x="1481328" y="5586984"/>
            <a:ext cx="347472" cy="146304"/>
          </a:xfrm>
          <a:prstGeom prst="rect">
            <a:avLst/>
          </a:prstGeom>
          <a:noFill/>
          <a:ln>
            <a:noFill/>
          </a:ln>
        </p:spPr>
        <p:txBody>
          <a:bodyPr wrap="square" anchor="t" lIns="0" rIns="0" tIns="0" bIns="0"/>
          <a:lstStyle/>
          <a:p>
            <a:pPr algn="ctr"/>
            <a:r>
              <a:rPr lang="en-US" sz="900" b="1" i="0" dirty="0">
                <a:solidFill>
                  <a:srgbClr val="FFFFFF"/>
                </a:solidFill>
                <a:latin typeface="Arial"/>
              </a:rPr>
              <a:t>6</a:t>
            </a:r>
            <a:endParaRPr lang="en-US" sz="900"/>
          </a:p>
        </p:txBody>
      </p:sp>
      <p:sp>
        <p:nvSpPr>
          <p:cNvPr id="33" name="Text 33"/>
          <p:cNvSpPr txBox="1"/>
          <p:nvPr/>
        </p:nvSpPr>
        <p:spPr>
          <a:xfrm>
            <a:off x="1975104" y="5486400"/>
            <a:ext cx="2304288" cy="219456"/>
          </a:xfrm>
          <a:prstGeom prst="rect">
            <a:avLst/>
          </a:prstGeom>
          <a:noFill/>
          <a:ln>
            <a:noFill/>
          </a:ln>
        </p:spPr>
        <p:txBody>
          <a:bodyPr wrap="square" anchor="t" lIns="0" rIns="0" tIns="0" bIns="0"/>
          <a:lstStyle/>
          <a:p>
            <a:pPr algn="l"/>
            <a:r>
              <a:rPr lang="en-US" sz="1220" b="1" i="0" dirty="0">
                <a:solidFill>
                  <a:srgbClr val="16A34A"/>
                </a:solidFill>
                <a:latin typeface="Arial"/>
              </a:rPr>
              <a:t>Seals + receipts</a:t>
            </a:r>
            <a:endParaRPr lang="en-US" sz="1220"/>
          </a:p>
        </p:txBody>
      </p:sp>
      <p:sp>
        <p:nvSpPr>
          <p:cNvPr id="34" name="Text 34"/>
          <p:cNvSpPr txBox="1"/>
          <p:nvPr/>
        </p:nvSpPr>
        <p:spPr>
          <a:xfrm>
            <a:off x="4425696" y="5495544"/>
            <a:ext cx="6144768" cy="228600"/>
          </a:xfrm>
          <a:prstGeom prst="rect">
            <a:avLst/>
          </a:prstGeom>
          <a:noFill/>
          <a:ln>
            <a:noFill/>
          </a:ln>
        </p:spPr>
        <p:txBody>
          <a:bodyPr wrap="square" anchor="t" lIns="0" rIns="0" tIns="0" bIns="0"/>
          <a:lstStyle/>
          <a:p>
            <a:pPr algn="l"/>
            <a:r>
              <a:rPr lang="en-US" sz="1030" b="0" i="0" dirty="0">
                <a:solidFill>
                  <a:srgbClr val="56647A"/>
                </a:solidFill>
                <a:latin typeface="Arial"/>
              </a:rPr>
              <a:t>Bind staged cross-client evidence bytes</a:t>
            </a:r>
            <a:endParaRPr lang="en-US" sz="1030"/>
          </a:p>
        </p:txBody>
      </p:sp>
      <p:sp>
        <p:nvSpPr>
          <p:cNvPr id="35" name="Rect 35"/>
          <p:cNvSpPr/>
          <p:nvPr/>
        </p:nvSpPr>
        <p:spPr>
          <a:xfrm>
            <a:off x="1389888" y="6236208"/>
            <a:ext cx="9400032" cy="164592"/>
          </a:xfrm>
          <a:prstGeom prst="roundRect">
            <a:avLst/>
          </a:prstGeom>
          <a:solidFill>
            <a:srgbClr val="E8EDF4"/>
          </a:solidFill>
          <a:ln w="12700">
            <a:solidFill>
              <a:srgbClr val="C5CFDC"/>
            </a:solidFill>
            <a:prstDash val="dash"/>
          </a:ln>
        </p:spPr>
        <p:txBody>
          <a:bodyPr/>
          <a:lstStyle/>
          <a:p>
            <a:endParaRPr lang="en-US"/>
          </a:p>
        </p:txBody>
      </p:sp>
      <p:sp>
        <p:nvSpPr>
          <p:cNvPr id="36" name="Text 36"/>
          <p:cNvSpPr txBox="1"/>
          <p:nvPr/>
        </p:nvSpPr>
        <p:spPr>
          <a:xfrm>
            <a:off x="1554480" y="6199632"/>
            <a:ext cx="9070848" cy="201168"/>
          </a:xfrm>
          <a:prstGeom prst="rect">
            <a:avLst/>
          </a:prstGeom>
          <a:noFill/>
          <a:ln>
            <a:noFill/>
          </a:ln>
        </p:spPr>
        <p:txBody>
          <a:bodyPr wrap="square" anchor="t" lIns="0" rIns="0" tIns="0" bIns="0"/>
          <a:lstStyle/>
          <a:p>
            <a:pPr algn="ctr"/>
            <a:r>
              <a:rPr lang="en-US" sz="930" b="1" i="0" dirty="0">
                <a:solidFill>
                  <a:srgbClr val="56647A"/>
                </a:solidFill>
                <a:latin typeface="Arial"/>
              </a:rPr>
              <a:t>Bounded controls, not a universal security boundary</a:t>
            </a:r>
            <a:endParaRPr lang="en-US" sz="930"/>
          </a:p>
        </p:txBody>
      </p:sp>
      <p:cxnSp>
        <p:nvCxnSpPr>
          <p:cNvPr id="37" name="Line 37"/>
          <p:cNvCxnSpPr/>
          <p:nvPr/>
        </p:nvCxnSpPr>
        <p:spPr>
          <a:xfrm flipH="false" flipV="false">
            <a:off x="621792" y="6473952"/>
            <a:ext cx="10954512" cy="0"/>
          </a:xfrm>
          <a:prstGeom prst="line">
            <a:avLst/>
          </a:prstGeom>
          <a:ln w="10160">
            <a:solidFill>
              <a:srgbClr val="D7DFEA"/>
            </a:solidFill>
          </a:ln>
        </p:spPr>
      </p:cxnSp>
      <p:sp>
        <p:nvSpPr>
          <p:cNvPr id="38" name="Text 38"/>
          <p:cNvSpPr txBox="1"/>
          <p:nvPr/>
        </p:nvSpPr>
        <p:spPr>
          <a:xfrm>
            <a:off x="640080" y="6510528"/>
            <a:ext cx="10469880" cy="201168"/>
          </a:xfrm>
          <a:prstGeom prst="rect">
            <a:avLst/>
          </a:prstGeom>
          <a:noFill/>
          <a:ln>
            <a:noFill/>
          </a:ln>
        </p:spPr>
        <p:txBody>
          <a:bodyPr wrap="square" anchor="t" lIns="0" rIns="0" tIns="0" bIns="0"/>
          <a:lstStyle/>
          <a:p>
            <a:pPr algn="l"/>
            <a:r>
              <a:rPr lang="en-US" sz="720" b="0" i="0" dirty="0">
                <a:solidFill>
                  <a:srgbClr val="56647A"/>
                </a:solidFill>
                <a:latin typeface="Arial"/>
              </a:rPr>
              <a:t>7f969317 • 07351a40 • 238f022 • 4f34299 • e8b0e9ae • 535a492</a:t>
            </a:r>
            <a:endParaRPr lang="en-US" sz="720"/>
          </a:p>
        </p:txBody>
      </p:sp>
      <p:sp>
        <p:nvSpPr>
          <p:cNvPr id="39" name="Text 39"/>
          <p:cNvSpPr txBox="1"/>
          <p:nvPr/>
        </p:nvSpPr>
        <p:spPr>
          <a:xfrm>
            <a:off x="11201400" y="6492240"/>
            <a:ext cx="329184" cy="201168"/>
          </a:xfrm>
          <a:prstGeom prst="rect">
            <a:avLst/>
          </a:prstGeom>
          <a:noFill/>
          <a:ln>
            <a:noFill/>
          </a:ln>
        </p:spPr>
        <p:txBody>
          <a:bodyPr wrap="square" anchor="t" lIns="0" rIns="0" tIns="0" bIns="0"/>
          <a:lstStyle/>
          <a:p>
            <a:pPr algn="r"/>
            <a:r>
              <a:rPr lang="en-US" sz="800" b="1" i="0" dirty="0">
                <a:solidFill>
                  <a:srgbClr val="56647A"/>
                </a:solidFill>
                <a:latin typeface="Arial"/>
              </a:rPr>
              <a:t>16</a:t>
            </a:r>
            <a:endParaRPr lang="en-US" sz="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FFFFFF"/>
          </a:solidFill>
          <a:ln w="12700">
            <a:solidFill>
              <a:srgbClr val="FFFFFF"/>
            </a:solidFill>
          </a:ln>
        </p:spPr>
        <p:txBody>
          <a:bodyPr/>
          <a:lstStyle/>
          <a:p>
            <a:endParaRPr lang="en-US"/>
          </a:p>
        </p:txBody>
      </p:sp>
      <p:sp>
        <p:nvSpPr>
          <p:cNvPr id="3" name="Text 3"/>
          <p:cNvSpPr txBox="1"/>
          <p:nvPr/>
        </p:nvSpPr>
        <p:spPr>
          <a:xfrm>
            <a:off x="621792" y="347472"/>
            <a:ext cx="10927080" cy="566928"/>
          </a:xfrm>
          <a:prstGeom prst="rect">
            <a:avLst/>
          </a:prstGeom>
          <a:noFill/>
          <a:ln>
            <a:noFill/>
          </a:ln>
        </p:spPr>
        <p:txBody>
          <a:bodyPr wrap="square" anchor="t" lIns="0" rIns="0" tIns="0" bIns="0"/>
          <a:lstStyle/>
          <a:p>
            <a:pPr algn="l"/>
            <a:r>
              <a:rPr lang="en-US" sz="2700" b="1" i="0" dirty="0">
                <a:solidFill>
                  <a:srgbClr val="14213D"/>
                </a:solidFill>
                <a:latin typeface="Arial"/>
              </a:rPr>
              <a:t>Current commands follow one plan–apply–verify grammar</a:t>
            </a:r>
            <a:endParaRPr lang="en-US" sz="2700"/>
          </a:p>
        </p:txBody>
      </p:sp>
      <p:sp>
        <p:nvSpPr>
          <p:cNvPr id="4" name="Text 4"/>
          <p:cNvSpPr txBox="1"/>
          <p:nvPr/>
        </p:nvSpPr>
        <p:spPr>
          <a:xfrm>
            <a:off x="640080" y="932688"/>
            <a:ext cx="10881360" cy="310896"/>
          </a:xfrm>
          <a:prstGeom prst="rect">
            <a:avLst/>
          </a:prstGeom>
          <a:noFill/>
          <a:ln>
            <a:noFill/>
          </a:ln>
        </p:spPr>
        <p:txBody>
          <a:bodyPr wrap="square" anchor="t" lIns="0" rIns="0" tIns="0" bIns="0"/>
          <a:lstStyle/>
          <a:p>
            <a:pPr algn="l"/>
            <a:r>
              <a:rPr lang="en-US" sz="1250" b="0" i="0" dirty="0">
                <a:solidFill>
                  <a:srgbClr val="56647A"/>
                </a:solidFill>
                <a:latin typeface="Arial"/>
              </a:rPr>
              <a:t>Appendix • 43 user commands grouped by control role</a:t>
            </a:r>
            <a:endParaRPr lang="en-US" sz="1250"/>
          </a:p>
        </p:txBody>
      </p:sp>
      <p:sp>
        <p:nvSpPr>
          <p:cNvPr id="5" name="Rect 5"/>
          <p:cNvSpPr/>
          <p:nvPr/>
        </p:nvSpPr>
        <p:spPr>
          <a:xfrm>
            <a:off x="658368" y="1371600"/>
            <a:ext cx="3493008" cy="1938528"/>
          </a:xfrm>
          <a:prstGeom prst="roundRect">
            <a:avLst/>
          </a:prstGeom>
          <a:solidFill>
            <a:srgbClr val="F3FBFD"/>
          </a:solidFill>
          <a:ln w="12700">
            <a:solidFill>
              <a:srgbClr val="06B6D4"/>
            </a:solidFill>
          </a:ln>
        </p:spPr>
        <p:txBody>
          <a:bodyPr/>
          <a:lstStyle/>
          <a:p>
            <a:endParaRPr lang="en-US"/>
          </a:p>
        </p:txBody>
      </p:sp>
      <p:sp>
        <p:nvSpPr>
          <p:cNvPr id="6" name="Rect 6"/>
          <p:cNvSpPr/>
          <p:nvPr/>
        </p:nvSpPr>
        <p:spPr>
          <a:xfrm>
            <a:off x="877824" y="1581912"/>
            <a:ext cx="1280160" cy="310896"/>
          </a:xfrm>
          <a:prstGeom prst="roundRect">
            <a:avLst/>
          </a:prstGeom>
          <a:solidFill>
            <a:srgbClr val="D2F2F7"/>
          </a:solidFill>
          <a:ln w="10160">
            <a:solidFill>
              <a:srgbClr val="06B6D4"/>
            </a:solidFill>
          </a:ln>
        </p:spPr>
        <p:txBody>
          <a:bodyPr/>
          <a:lstStyle/>
          <a:p>
            <a:endParaRPr lang="en-US"/>
          </a:p>
        </p:txBody>
      </p:sp>
      <p:sp>
        <p:nvSpPr>
          <p:cNvPr id="7" name="Text 7"/>
          <p:cNvSpPr txBox="1"/>
          <p:nvPr/>
        </p:nvSpPr>
        <p:spPr>
          <a:xfrm>
            <a:off x="950976" y="1632204"/>
            <a:ext cx="1133856" cy="192024"/>
          </a:xfrm>
          <a:prstGeom prst="rect">
            <a:avLst/>
          </a:prstGeom>
          <a:noFill/>
          <a:ln>
            <a:noFill/>
          </a:ln>
        </p:spPr>
        <p:txBody>
          <a:bodyPr wrap="square" anchor="t" lIns="0" rIns="0" tIns="0" bIns="0"/>
          <a:lstStyle/>
          <a:p>
            <a:pPr algn="ctr"/>
            <a:r>
              <a:rPr lang="en-US" sz="920" b="1" i="0" dirty="0">
                <a:solidFill>
                  <a:srgbClr val="06B6D4"/>
                </a:solidFill>
                <a:latin typeface="Arial"/>
              </a:rPr>
              <a:t>OBSERVE</a:t>
            </a:r>
            <a:endParaRPr lang="en-US" sz="920"/>
          </a:p>
        </p:txBody>
      </p:sp>
      <p:sp>
        <p:nvSpPr>
          <p:cNvPr id="8" name="Text 8"/>
          <p:cNvSpPr txBox="1"/>
          <p:nvPr/>
        </p:nvSpPr>
        <p:spPr>
          <a:xfrm>
            <a:off x="914400" y="2194560"/>
            <a:ext cx="2980944" cy="612648"/>
          </a:xfrm>
          <a:prstGeom prst="rect">
            <a:avLst/>
          </a:prstGeom>
          <a:noFill/>
          <a:ln>
            <a:noFill/>
          </a:ln>
        </p:spPr>
        <p:txBody>
          <a:bodyPr wrap="square" anchor="t" lIns="0" rIns="0" tIns="0" bIns="0"/>
          <a:lstStyle/>
          <a:p>
            <a:pPr algn="ctr"/>
            <a:r>
              <a:rPr lang="en-US" sz="1200" b="1" i="0" dirty="0">
                <a:solidFill>
                  <a:srgbClr val="14213D"/>
                </a:solidFill>
                <a:latin typeface="Arial"/>
              </a:rPr>
              <a:t>inventory • plan • doctor</a:t>
            </a:r>
            <a:endParaRPr lang="en-US" sz="1200"/>
          </a:p>
          <a:p>
            <a:pPr algn="ctr"/>
            <a:r>
              <a:rPr lang="en-US" sz="1200" b="1" i="0" dirty="0">
                <a:solidFill>
                  <a:srgbClr val="14213D"/>
                </a:solidFill>
                <a:latin typeface="Arial"/>
              </a:rPr>
              <a:t>macos-inventory • storage-readiness</a:t>
            </a:r>
            <a:endParaRPr lang="en-US" sz="1200"/>
          </a:p>
        </p:txBody>
      </p:sp>
      <p:sp>
        <p:nvSpPr>
          <p:cNvPr id="9" name="Text 9"/>
          <p:cNvSpPr txBox="1"/>
          <p:nvPr/>
        </p:nvSpPr>
        <p:spPr>
          <a:xfrm>
            <a:off x="914400" y="2926080"/>
            <a:ext cx="2980944" cy="182880"/>
          </a:xfrm>
          <a:prstGeom prst="rect">
            <a:avLst/>
          </a:prstGeom>
          <a:noFill/>
          <a:ln>
            <a:noFill/>
          </a:ln>
        </p:spPr>
        <p:txBody>
          <a:bodyPr wrap="square" anchor="t" lIns="0" rIns="0" tIns="0" bIns="0"/>
          <a:lstStyle/>
          <a:p>
            <a:pPr algn="ctr"/>
            <a:r>
              <a:rPr lang="en-US" sz="880" b="0" i="0" dirty="0">
                <a:solidFill>
                  <a:srgbClr val="56647A"/>
                </a:solidFill>
                <a:latin typeface="Arial"/>
              </a:rPr>
              <a:t>plan by default • explicit live gate</a:t>
            </a:r>
            <a:endParaRPr lang="en-US" sz="880"/>
          </a:p>
        </p:txBody>
      </p:sp>
      <p:sp>
        <p:nvSpPr>
          <p:cNvPr id="10" name="Rect 10"/>
          <p:cNvSpPr/>
          <p:nvPr/>
        </p:nvSpPr>
        <p:spPr>
          <a:xfrm>
            <a:off x="4343400" y="1371600"/>
            <a:ext cx="3493008" cy="1938528"/>
          </a:xfrm>
          <a:prstGeom prst="roundRect">
            <a:avLst/>
          </a:prstGeom>
          <a:solidFill>
            <a:srgbClr val="F3FAF9"/>
          </a:solidFill>
          <a:ln w="12700">
            <a:solidFill>
              <a:srgbClr val="0D9488"/>
            </a:solidFill>
          </a:ln>
        </p:spPr>
        <p:txBody>
          <a:bodyPr/>
          <a:lstStyle/>
          <a:p>
            <a:endParaRPr lang="en-US"/>
          </a:p>
        </p:txBody>
      </p:sp>
      <p:sp>
        <p:nvSpPr>
          <p:cNvPr id="11" name="Rect 11"/>
          <p:cNvSpPr/>
          <p:nvPr/>
        </p:nvSpPr>
        <p:spPr>
          <a:xfrm>
            <a:off x="4562856" y="1581912"/>
            <a:ext cx="1280160" cy="310896"/>
          </a:xfrm>
          <a:prstGeom prst="roundRect">
            <a:avLst/>
          </a:prstGeom>
          <a:solidFill>
            <a:srgbClr val="D3ECEA"/>
          </a:solidFill>
          <a:ln w="10160">
            <a:solidFill>
              <a:srgbClr val="0D9488"/>
            </a:solidFill>
          </a:ln>
        </p:spPr>
        <p:txBody>
          <a:bodyPr/>
          <a:lstStyle/>
          <a:p>
            <a:endParaRPr lang="en-US"/>
          </a:p>
        </p:txBody>
      </p:sp>
      <p:sp>
        <p:nvSpPr>
          <p:cNvPr id="12" name="Text 12"/>
          <p:cNvSpPr txBox="1"/>
          <p:nvPr/>
        </p:nvSpPr>
        <p:spPr>
          <a:xfrm>
            <a:off x="4636008" y="1632204"/>
            <a:ext cx="1133856" cy="192024"/>
          </a:xfrm>
          <a:prstGeom prst="rect">
            <a:avLst/>
          </a:prstGeom>
          <a:noFill/>
          <a:ln>
            <a:noFill/>
          </a:ln>
        </p:spPr>
        <p:txBody>
          <a:bodyPr wrap="square" anchor="t" lIns="0" rIns="0" tIns="0" bIns="0"/>
          <a:lstStyle/>
          <a:p>
            <a:pPr algn="ctr"/>
            <a:r>
              <a:rPr lang="en-US" sz="920" b="1" i="0" dirty="0">
                <a:solidFill>
                  <a:srgbClr val="0D9488"/>
                </a:solidFill>
                <a:latin typeface="Arial"/>
              </a:rPr>
              <a:t>CONTROL</a:t>
            </a:r>
            <a:endParaRPr lang="en-US" sz="920"/>
          </a:p>
        </p:txBody>
      </p:sp>
      <p:sp>
        <p:nvSpPr>
          <p:cNvPr id="13" name="Text 13"/>
          <p:cNvSpPr txBox="1"/>
          <p:nvPr/>
        </p:nvSpPr>
        <p:spPr>
          <a:xfrm>
            <a:off x="4599432" y="2194560"/>
            <a:ext cx="2980944" cy="612648"/>
          </a:xfrm>
          <a:prstGeom prst="rect">
            <a:avLst/>
          </a:prstGeom>
          <a:noFill/>
          <a:ln>
            <a:noFill/>
          </a:ln>
        </p:spPr>
        <p:txBody>
          <a:bodyPr wrap="square" anchor="t" lIns="0" rIns="0" tIns="0" bIns="0"/>
          <a:lstStyle/>
          <a:p>
            <a:pPr algn="ctr"/>
            <a:r>
              <a:rPr lang="en-US" sz="1200" b="1" i="0" dirty="0">
                <a:solidFill>
                  <a:srgbClr val="14213D"/>
                </a:solidFill>
                <a:latin typeface="Arial"/>
              </a:rPr>
              <a:t>apply • shell • tool • runtime</a:t>
            </a:r>
            <a:endParaRPr lang="en-US" sz="1200"/>
          </a:p>
          <a:p>
            <a:pPr algn="ctr"/>
            <a:r>
              <a:rPr lang="en-US" sz="1200" b="1" i="0" dirty="0">
                <a:solidFill>
                  <a:srgbClr val="14213D"/>
                </a:solidFill>
                <a:latin typeface="Arial"/>
              </a:rPr>
              <a:t>python • agent • build-tool</a:t>
            </a:r>
            <a:endParaRPr lang="en-US" sz="1200"/>
          </a:p>
        </p:txBody>
      </p:sp>
      <p:sp>
        <p:nvSpPr>
          <p:cNvPr id="14" name="Text 14"/>
          <p:cNvSpPr txBox="1"/>
          <p:nvPr/>
        </p:nvSpPr>
        <p:spPr>
          <a:xfrm>
            <a:off x="4599432" y="2926080"/>
            <a:ext cx="2980944" cy="182880"/>
          </a:xfrm>
          <a:prstGeom prst="rect">
            <a:avLst/>
          </a:prstGeom>
          <a:noFill/>
          <a:ln>
            <a:noFill/>
          </a:ln>
        </p:spPr>
        <p:txBody>
          <a:bodyPr wrap="square" anchor="t" lIns="0" rIns="0" tIns="0" bIns="0"/>
          <a:lstStyle/>
          <a:p>
            <a:pPr algn="ctr"/>
            <a:r>
              <a:rPr lang="en-US" sz="880" b="0" i="0" dirty="0">
                <a:solidFill>
                  <a:srgbClr val="56647A"/>
                </a:solidFill>
                <a:latin typeface="Arial"/>
              </a:rPr>
              <a:t>plan by default • explicit live gate</a:t>
            </a:r>
            <a:endParaRPr lang="en-US" sz="880"/>
          </a:p>
        </p:txBody>
      </p:sp>
      <p:sp>
        <p:nvSpPr>
          <p:cNvPr id="15" name="Rect 15"/>
          <p:cNvSpPr/>
          <p:nvPr/>
        </p:nvSpPr>
        <p:spPr>
          <a:xfrm>
            <a:off x="8028432" y="1371600"/>
            <a:ext cx="3493008" cy="1938528"/>
          </a:xfrm>
          <a:prstGeom prst="roundRect">
            <a:avLst/>
          </a:prstGeom>
          <a:solidFill>
            <a:srgbClr val="FEFAF3"/>
          </a:solidFill>
          <a:ln w="12700">
            <a:solidFill>
              <a:srgbClr val="F59E0B"/>
            </a:solidFill>
          </a:ln>
        </p:spPr>
        <p:txBody>
          <a:bodyPr/>
          <a:lstStyle/>
          <a:p>
            <a:endParaRPr lang="en-US"/>
          </a:p>
        </p:txBody>
      </p:sp>
      <p:sp>
        <p:nvSpPr>
          <p:cNvPr id="16" name="Rect 16"/>
          <p:cNvSpPr/>
          <p:nvPr/>
        </p:nvSpPr>
        <p:spPr>
          <a:xfrm>
            <a:off x="8247888" y="1581912"/>
            <a:ext cx="1280160" cy="310896"/>
          </a:xfrm>
          <a:prstGeom prst="roundRect">
            <a:avLst/>
          </a:prstGeom>
          <a:solidFill>
            <a:srgbClr val="FDEED3"/>
          </a:solidFill>
          <a:ln w="10160">
            <a:solidFill>
              <a:srgbClr val="F59E0B"/>
            </a:solidFill>
          </a:ln>
        </p:spPr>
        <p:txBody>
          <a:bodyPr/>
          <a:lstStyle/>
          <a:p>
            <a:endParaRPr lang="en-US"/>
          </a:p>
        </p:txBody>
      </p:sp>
      <p:sp>
        <p:nvSpPr>
          <p:cNvPr id="17" name="Text 17"/>
          <p:cNvSpPr txBox="1"/>
          <p:nvPr/>
        </p:nvSpPr>
        <p:spPr>
          <a:xfrm>
            <a:off x="8321040" y="1632204"/>
            <a:ext cx="1133856" cy="192024"/>
          </a:xfrm>
          <a:prstGeom prst="rect">
            <a:avLst/>
          </a:prstGeom>
          <a:noFill/>
          <a:ln>
            <a:noFill/>
          </a:ln>
        </p:spPr>
        <p:txBody>
          <a:bodyPr wrap="square" anchor="t" lIns="0" rIns="0" tIns="0" bIns="0"/>
          <a:lstStyle/>
          <a:p>
            <a:pPr algn="ctr"/>
            <a:r>
              <a:rPr lang="en-US" sz="920" b="1" i="0" dirty="0">
                <a:solidFill>
                  <a:srgbClr val="F59E0B"/>
                </a:solidFill>
                <a:latin typeface="Arial"/>
              </a:rPr>
              <a:t>RECOVER</a:t>
            </a:r>
            <a:endParaRPr lang="en-US" sz="920"/>
          </a:p>
        </p:txBody>
      </p:sp>
      <p:sp>
        <p:nvSpPr>
          <p:cNvPr id="18" name="Text 18"/>
          <p:cNvSpPr txBox="1"/>
          <p:nvPr/>
        </p:nvSpPr>
        <p:spPr>
          <a:xfrm>
            <a:off x="8284464" y="2194560"/>
            <a:ext cx="2980944" cy="612648"/>
          </a:xfrm>
          <a:prstGeom prst="rect">
            <a:avLst/>
          </a:prstGeom>
          <a:noFill/>
          <a:ln>
            <a:noFill/>
          </a:ln>
        </p:spPr>
        <p:txBody>
          <a:bodyPr wrap="square" anchor="t" lIns="0" rIns="0" tIns="0" bIns="0"/>
          <a:lstStyle/>
          <a:p>
            <a:pPr algn="ctr"/>
            <a:r>
              <a:rPr lang="en-US" sz="1200" b="1" i="0" dirty="0">
                <a:solidFill>
                  <a:srgbClr val="14213D"/>
                </a:solidFill>
                <a:latin typeface="Arial"/>
              </a:rPr>
              <a:t>rollback • restic-primary</a:t>
            </a:r>
            <a:endParaRPr lang="en-US" sz="1200"/>
          </a:p>
          <a:p>
            <a:pPr algn="ctr"/>
            <a:r>
              <a:rPr lang="en-US" sz="1200" b="1" i="0" dirty="0">
                <a:solidFill>
                  <a:srgbClr val="14213D"/>
                </a:solidFill>
                <a:latin typeface="Arial"/>
              </a:rPr>
              <a:t>restic-schedule • replica</a:t>
            </a:r>
            <a:endParaRPr lang="en-US" sz="1200"/>
          </a:p>
        </p:txBody>
      </p:sp>
      <p:sp>
        <p:nvSpPr>
          <p:cNvPr id="19" name="Text 19"/>
          <p:cNvSpPr txBox="1"/>
          <p:nvPr/>
        </p:nvSpPr>
        <p:spPr>
          <a:xfrm>
            <a:off x="8284464" y="2926080"/>
            <a:ext cx="2980944" cy="182880"/>
          </a:xfrm>
          <a:prstGeom prst="rect">
            <a:avLst/>
          </a:prstGeom>
          <a:noFill/>
          <a:ln>
            <a:noFill/>
          </a:ln>
        </p:spPr>
        <p:txBody>
          <a:bodyPr wrap="square" anchor="t" lIns="0" rIns="0" tIns="0" bIns="0"/>
          <a:lstStyle/>
          <a:p>
            <a:pPr algn="ctr"/>
            <a:r>
              <a:rPr lang="en-US" sz="880" b="0" i="0" dirty="0">
                <a:solidFill>
                  <a:srgbClr val="56647A"/>
                </a:solidFill>
                <a:latin typeface="Arial"/>
              </a:rPr>
              <a:t>plan by default • explicit live gate</a:t>
            </a:r>
            <a:endParaRPr lang="en-US" sz="880"/>
          </a:p>
        </p:txBody>
      </p:sp>
      <p:sp>
        <p:nvSpPr>
          <p:cNvPr id="20" name="Rect 20"/>
          <p:cNvSpPr/>
          <p:nvPr/>
        </p:nvSpPr>
        <p:spPr>
          <a:xfrm>
            <a:off x="658368" y="3566160"/>
            <a:ext cx="3493008" cy="1938528"/>
          </a:xfrm>
          <a:prstGeom prst="roundRect">
            <a:avLst/>
          </a:prstGeom>
          <a:solidFill>
            <a:srgbClr val="FDF4F8"/>
          </a:solidFill>
          <a:ln w="12700">
            <a:solidFill>
              <a:srgbClr val="DB2777"/>
            </a:solidFill>
          </a:ln>
        </p:spPr>
        <p:txBody>
          <a:bodyPr/>
          <a:lstStyle/>
          <a:p>
            <a:endParaRPr lang="en-US"/>
          </a:p>
        </p:txBody>
      </p:sp>
      <p:sp>
        <p:nvSpPr>
          <p:cNvPr id="21" name="Rect 21"/>
          <p:cNvSpPr/>
          <p:nvPr/>
        </p:nvSpPr>
        <p:spPr>
          <a:xfrm>
            <a:off x="877824" y="3776472"/>
            <a:ext cx="1280160" cy="310896"/>
          </a:xfrm>
          <a:prstGeom prst="roundRect">
            <a:avLst/>
          </a:prstGeom>
          <a:solidFill>
            <a:srgbClr val="F9D8E7"/>
          </a:solidFill>
          <a:ln w="10160">
            <a:solidFill>
              <a:srgbClr val="DB2777"/>
            </a:solidFill>
          </a:ln>
        </p:spPr>
        <p:txBody>
          <a:bodyPr/>
          <a:lstStyle/>
          <a:p>
            <a:endParaRPr lang="en-US"/>
          </a:p>
        </p:txBody>
      </p:sp>
      <p:sp>
        <p:nvSpPr>
          <p:cNvPr id="22" name="Text 22"/>
          <p:cNvSpPr txBox="1"/>
          <p:nvPr/>
        </p:nvSpPr>
        <p:spPr>
          <a:xfrm>
            <a:off x="950976" y="3826764"/>
            <a:ext cx="1133856" cy="192024"/>
          </a:xfrm>
          <a:prstGeom prst="rect">
            <a:avLst/>
          </a:prstGeom>
          <a:noFill/>
          <a:ln>
            <a:noFill/>
          </a:ln>
        </p:spPr>
        <p:txBody>
          <a:bodyPr wrap="square" anchor="t" lIns="0" rIns="0" tIns="0" bIns="0"/>
          <a:lstStyle/>
          <a:p>
            <a:pPr algn="ctr"/>
            <a:r>
              <a:rPr lang="en-US" sz="920" b="1" i="0" dirty="0">
                <a:solidFill>
                  <a:srgbClr val="DB2777"/>
                </a:solidFill>
                <a:latin typeface="Arial"/>
              </a:rPr>
              <a:t>DISTRIBUTE</a:t>
            </a:r>
            <a:endParaRPr lang="en-US" sz="920"/>
          </a:p>
        </p:txBody>
      </p:sp>
      <p:sp>
        <p:nvSpPr>
          <p:cNvPr id="23" name="Text 23"/>
          <p:cNvSpPr txBox="1"/>
          <p:nvPr/>
        </p:nvSpPr>
        <p:spPr>
          <a:xfrm>
            <a:off x="914400" y="4389120"/>
            <a:ext cx="2980944" cy="612648"/>
          </a:xfrm>
          <a:prstGeom prst="rect">
            <a:avLst/>
          </a:prstGeom>
          <a:noFill/>
          <a:ln>
            <a:noFill/>
          </a:ln>
        </p:spPr>
        <p:txBody>
          <a:bodyPr wrap="square" anchor="t" lIns="0" rIns="0" tIns="0" bIns="0"/>
          <a:lstStyle/>
          <a:p>
            <a:pPr algn="ctr"/>
            <a:r>
              <a:rPr lang="en-US" sz="1200" b="1" i="0" dirty="0">
                <a:solidFill>
                  <a:srgbClr val="14213D"/>
                </a:solidFill>
                <a:latin typeface="Arial"/>
              </a:rPr>
              <a:t>fleet-sync • Mac update/catch-up</a:t>
            </a:r>
            <a:endParaRPr lang="en-US" sz="1200"/>
          </a:p>
          <a:p>
            <a:pPr algn="ctr"/>
            <a:r>
              <a:rPr lang="en-US" sz="1200" b="1" i="0" dirty="0">
                <a:solidFill>
                  <a:srgbClr val="14213D"/>
                </a:solidFill>
                <a:latin typeface="Arial"/>
              </a:rPr>
              <a:t>agent-config-fleet</a:t>
            </a:r>
            <a:endParaRPr lang="en-US" sz="1200"/>
          </a:p>
        </p:txBody>
      </p:sp>
      <p:sp>
        <p:nvSpPr>
          <p:cNvPr id="24" name="Text 24"/>
          <p:cNvSpPr txBox="1"/>
          <p:nvPr/>
        </p:nvSpPr>
        <p:spPr>
          <a:xfrm>
            <a:off x="914400" y="5120640"/>
            <a:ext cx="2980944" cy="182880"/>
          </a:xfrm>
          <a:prstGeom prst="rect">
            <a:avLst/>
          </a:prstGeom>
          <a:noFill/>
          <a:ln>
            <a:noFill/>
          </a:ln>
        </p:spPr>
        <p:txBody>
          <a:bodyPr wrap="square" anchor="t" lIns="0" rIns="0" tIns="0" bIns="0"/>
          <a:lstStyle/>
          <a:p>
            <a:pPr algn="ctr"/>
            <a:r>
              <a:rPr lang="en-US" sz="880" b="0" i="0" dirty="0">
                <a:solidFill>
                  <a:srgbClr val="56647A"/>
                </a:solidFill>
                <a:latin typeface="Arial"/>
              </a:rPr>
              <a:t>plan by default • explicit live gate</a:t>
            </a:r>
            <a:endParaRPr lang="en-US" sz="880"/>
          </a:p>
        </p:txBody>
      </p:sp>
      <p:sp>
        <p:nvSpPr>
          <p:cNvPr id="25" name="Rect 25"/>
          <p:cNvSpPr/>
          <p:nvPr/>
        </p:nvSpPr>
        <p:spPr>
          <a:xfrm>
            <a:off x="4343400" y="3566160"/>
            <a:ext cx="3493008" cy="1938528"/>
          </a:xfrm>
          <a:prstGeom prst="roundRect">
            <a:avLst/>
          </a:prstGeom>
          <a:solidFill>
            <a:srgbClr val="F3FAF6"/>
          </a:solidFill>
          <a:ln w="12700">
            <a:solidFill>
              <a:srgbClr val="16A34A"/>
            </a:solidFill>
          </a:ln>
        </p:spPr>
        <p:txBody>
          <a:bodyPr/>
          <a:lstStyle/>
          <a:p>
            <a:endParaRPr lang="en-US"/>
          </a:p>
        </p:txBody>
      </p:sp>
      <p:sp>
        <p:nvSpPr>
          <p:cNvPr id="26" name="Rect 26"/>
          <p:cNvSpPr/>
          <p:nvPr/>
        </p:nvSpPr>
        <p:spPr>
          <a:xfrm>
            <a:off x="4562856" y="3776472"/>
            <a:ext cx="1280160" cy="310896"/>
          </a:xfrm>
          <a:prstGeom prst="roundRect">
            <a:avLst/>
          </a:prstGeom>
          <a:solidFill>
            <a:srgbClr val="D5EEDE"/>
          </a:solidFill>
          <a:ln w="10160">
            <a:solidFill>
              <a:srgbClr val="16A34A"/>
            </a:solidFill>
          </a:ln>
        </p:spPr>
        <p:txBody>
          <a:bodyPr/>
          <a:lstStyle/>
          <a:p>
            <a:endParaRPr lang="en-US"/>
          </a:p>
        </p:txBody>
      </p:sp>
      <p:sp>
        <p:nvSpPr>
          <p:cNvPr id="27" name="Text 27"/>
          <p:cNvSpPr txBox="1"/>
          <p:nvPr/>
        </p:nvSpPr>
        <p:spPr>
          <a:xfrm>
            <a:off x="4636008" y="3826764"/>
            <a:ext cx="1133856" cy="192024"/>
          </a:xfrm>
          <a:prstGeom prst="rect">
            <a:avLst/>
          </a:prstGeom>
          <a:noFill/>
          <a:ln>
            <a:noFill/>
          </a:ln>
        </p:spPr>
        <p:txBody>
          <a:bodyPr wrap="square" anchor="t" lIns="0" rIns="0" tIns="0" bIns="0"/>
          <a:lstStyle/>
          <a:p>
            <a:pPr algn="ctr"/>
            <a:r>
              <a:rPr lang="en-US" sz="920" b="1" i="0" dirty="0">
                <a:solidFill>
                  <a:srgbClr val="16A34A"/>
                </a:solidFill>
                <a:latin typeface="Arial"/>
              </a:rPr>
              <a:t>COLLABORATE</a:t>
            </a:r>
            <a:endParaRPr lang="en-US" sz="920"/>
          </a:p>
        </p:txBody>
      </p:sp>
      <p:sp>
        <p:nvSpPr>
          <p:cNvPr id="28" name="Text 28"/>
          <p:cNvSpPr txBox="1"/>
          <p:nvPr/>
        </p:nvSpPr>
        <p:spPr>
          <a:xfrm>
            <a:off x="4599432" y="4389120"/>
            <a:ext cx="2980944" cy="612648"/>
          </a:xfrm>
          <a:prstGeom prst="rect">
            <a:avLst/>
          </a:prstGeom>
          <a:noFill/>
          <a:ln>
            <a:noFill/>
          </a:ln>
        </p:spPr>
        <p:txBody>
          <a:bodyPr wrap="square" anchor="t" lIns="0" rIns="0" tIns="0" bIns="0"/>
          <a:lstStyle/>
          <a:p>
            <a:pPr algn="ctr"/>
            <a:r>
              <a:rPr lang="en-US" sz="1200" b="1" i="0" dirty="0">
                <a:solidFill>
                  <a:srgbClr val="14213D"/>
                </a:solidFill>
                <a:latin typeface="Arial"/>
              </a:rPr>
              <a:t>shared skills • durable ledger</a:t>
            </a:r>
            <a:endParaRPr lang="en-US" sz="1200"/>
          </a:p>
          <a:p>
            <a:pPr algn="ctr"/>
            <a:r>
              <a:rPr lang="en-US" sz="1200" b="1" i="0" dirty="0">
                <a:solidFill>
                  <a:srgbClr val="14213D"/>
                </a:solidFill>
                <a:latin typeface="Arial"/>
              </a:rPr>
              <a:t>Codex–Claude cowork</a:t>
            </a:r>
            <a:endParaRPr lang="en-US" sz="1200"/>
          </a:p>
        </p:txBody>
      </p:sp>
      <p:sp>
        <p:nvSpPr>
          <p:cNvPr id="29" name="Text 29"/>
          <p:cNvSpPr txBox="1"/>
          <p:nvPr/>
        </p:nvSpPr>
        <p:spPr>
          <a:xfrm>
            <a:off x="4599432" y="5120640"/>
            <a:ext cx="2980944" cy="182880"/>
          </a:xfrm>
          <a:prstGeom prst="rect">
            <a:avLst/>
          </a:prstGeom>
          <a:noFill/>
          <a:ln>
            <a:noFill/>
          </a:ln>
        </p:spPr>
        <p:txBody>
          <a:bodyPr wrap="square" anchor="t" lIns="0" rIns="0" tIns="0" bIns="0"/>
          <a:lstStyle/>
          <a:p>
            <a:pPr algn="ctr"/>
            <a:r>
              <a:rPr lang="en-US" sz="880" b="0" i="0" dirty="0">
                <a:solidFill>
                  <a:srgbClr val="56647A"/>
                </a:solidFill>
                <a:latin typeface="Arial"/>
              </a:rPr>
              <a:t>plan by default • explicit live gate</a:t>
            </a:r>
            <a:endParaRPr lang="en-US" sz="880"/>
          </a:p>
        </p:txBody>
      </p:sp>
      <p:sp>
        <p:nvSpPr>
          <p:cNvPr id="30" name="Rect 30"/>
          <p:cNvSpPr/>
          <p:nvPr/>
        </p:nvSpPr>
        <p:spPr>
          <a:xfrm>
            <a:off x="8028432" y="3566160"/>
            <a:ext cx="3493008" cy="1938528"/>
          </a:xfrm>
          <a:prstGeom prst="roundRect">
            <a:avLst/>
          </a:prstGeom>
          <a:solidFill>
            <a:srgbClr val="FDF4F4"/>
          </a:solidFill>
          <a:ln w="12700">
            <a:solidFill>
              <a:srgbClr val="DC2626"/>
            </a:solidFill>
          </a:ln>
        </p:spPr>
        <p:txBody>
          <a:bodyPr/>
          <a:lstStyle/>
          <a:p>
            <a:endParaRPr lang="en-US"/>
          </a:p>
        </p:txBody>
      </p:sp>
      <p:sp>
        <p:nvSpPr>
          <p:cNvPr id="31" name="Rect 31"/>
          <p:cNvSpPr/>
          <p:nvPr/>
        </p:nvSpPr>
        <p:spPr>
          <a:xfrm>
            <a:off x="8247888" y="3776472"/>
            <a:ext cx="1280160" cy="310896"/>
          </a:xfrm>
          <a:prstGeom prst="roundRect">
            <a:avLst/>
          </a:prstGeom>
          <a:solidFill>
            <a:srgbClr val="F9D8D8"/>
          </a:solidFill>
          <a:ln w="10160">
            <a:solidFill>
              <a:srgbClr val="DC2626"/>
            </a:solidFill>
          </a:ln>
        </p:spPr>
        <p:txBody>
          <a:bodyPr/>
          <a:lstStyle/>
          <a:p>
            <a:endParaRPr lang="en-US"/>
          </a:p>
        </p:txBody>
      </p:sp>
      <p:sp>
        <p:nvSpPr>
          <p:cNvPr id="32" name="Text 32"/>
          <p:cNvSpPr txBox="1"/>
          <p:nvPr/>
        </p:nvSpPr>
        <p:spPr>
          <a:xfrm>
            <a:off x="8321040" y="3826764"/>
            <a:ext cx="1133856" cy="192024"/>
          </a:xfrm>
          <a:prstGeom prst="rect">
            <a:avLst/>
          </a:prstGeom>
          <a:noFill/>
          <a:ln>
            <a:noFill/>
          </a:ln>
        </p:spPr>
        <p:txBody>
          <a:bodyPr wrap="square" anchor="t" lIns="0" rIns="0" tIns="0" bIns="0"/>
          <a:lstStyle/>
          <a:p>
            <a:pPr algn="ctr"/>
            <a:r>
              <a:rPr lang="en-US" sz="920" b="1" i="0" dirty="0">
                <a:solidFill>
                  <a:srgbClr val="DC2626"/>
                </a:solidFill>
                <a:latin typeface="Arial"/>
              </a:rPr>
              <a:t>SAFETY</a:t>
            </a:r>
            <a:endParaRPr lang="en-US" sz="920"/>
          </a:p>
        </p:txBody>
      </p:sp>
      <p:sp>
        <p:nvSpPr>
          <p:cNvPr id="33" name="Text 33"/>
          <p:cNvSpPr txBox="1"/>
          <p:nvPr/>
        </p:nvSpPr>
        <p:spPr>
          <a:xfrm>
            <a:off x="8284464" y="4389120"/>
            <a:ext cx="2980944" cy="612648"/>
          </a:xfrm>
          <a:prstGeom prst="rect">
            <a:avLst/>
          </a:prstGeom>
          <a:noFill/>
          <a:ln>
            <a:noFill/>
          </a:ln>
        </p:spPr>
        <p:txBody>
          <a:bodyPr wrap="square" anchor="t" lIns="0" rIns="0" tIns="0" bIns="0"/>
          <a:lstStyle/>
          <a:p>
            <a:pPr algn="ctr"/>
            <a:r>
              <a:rPr lang="en-US" sz="1200" b="1" i="0" dirty="0">
                <a:solidFill>
                  <a:srgbClr val="14213D"/>
                </a:solidFill>
                <a:latin typeface="Arial"/>
              </a:rPr>
              <a:t>guarded-delete • exact remediation</a:t>
            </a:r>
            <a:endParaRPr lang="en-US" sz="1200"/>
          </a:p>
          <a:p>
            <a:pPr algn="ctr"/>
            <a:r>
              <a:rPr lang="en-US" sz="1200" b="1" i="0" dirty="0">
                <a:solidFill>
                  <a:srgbClr val="14213D"/>
                </a:solidFill>
                <a:latin typeface="Arial"/>
              </a:rPr>
              <a:t>public audit • source contract</a:t>
            </a:r>
            <a:endParaRPr lang="en-US" sz="1200"/>
          </a:p>
        </p:txBody>
      </p:sp>
      <p:sp>
        <p:nvSpPr>
          <p:cNvPr id="34" name="Text 34"/>
          <p:cNvSpPr txBox="1"/>
          <p:nvPr/>
        </p:nvSpPr>
        <p:spPr>
          <a:xfrm>
            <a:off x="8284464" y="5120640"/>
            <a:ext cx="2980944" cy="182880"/>
          </a:xfrm>
          <a:prstGeom prst="rect">
            <a:avLst/>
          </a:prstGeom>
          <a:noFill/>
          <a:ln>
            <a:noFill/>
          </a:ln>
        </p:spPr>
        <p:txBody>
          <a:bodyPr wrap="square" anchor="t" lIns="0" rIns="0" tIns="0" bIns="0"/>
          <a:lstStyle/>
          <a:p>
            <a:pPr algn="ctr"/>
            <a:r>
              <a:rPr lang="en-US" sz="880" b="0" i="0" dirty="0">
                <a:solidFill>
                  <a:srgbClr val="56647A"/>
                </a:solidFill>
                <a:latin typeface="Arial"/>
              </a:rPr>
              <a:t>plan by default • explicit live gate</a:t>
            </a:r>
            <a:endParaRPr lang="en-US" sz="880"/>
          </a:p>
        </p:txBody>
      </p:sp>
      <p:cxnSp>
        <p:nvCxnSpPr>
          <p:cNvPr id="35" name="Line 35"/>
          <p:cNvCxnSpPr/>
          <p:nvPr/>
        </p:nvCxnSpPr>
        <p:spPr>
          <a:xfrm flipH="false" flipV="false">
            <a:off x="621792" y="6473952"/>
            <a:ext cx="10954512" cy="0"/>
          </a:xfrm>
          <a:prstGeom prst="line">
            <a:avLst/>
          </a:prstGeom>
          <a:ln w="10160">
            <a:solidFill>
              <a:srgbClr val="D7DFEA"/>
            </a:solidFill>
          </a:ln>
        </p:spPr>
      </p:cxnSp>
      <p:sp>
        <p:nvSpPr>
          <p:cNvPr id="36" name="Text 36"/>
          <p:cNvSpPr txBox="1"/>
          <p:nvPr/>
        </p:nvSpPr>
        <p:spPr>
          <a:xfrm>
            <a:off x="640080" y="6510528"/>
            <a:ext cx="10469880" cy="201168"/>
          </a:xfrm>
          <a:prstGeom prst="rect">
            <a:avLst/>
          </a:prstGeom>
          <a:noFill/>
          <a:ln>
            <a:noFill/>
          </a:ln>
        </p:spPr>
        <p:txBody>
          <a:bodyPr wrap="square" anchor="t" lIns="0" rIns="0" tIns="0" bIns="0"/>
          <a:lstStyle/>
          <a:p>
            <a:pPr algn="l"/>
            <a:r>
              <a:rPr lang="en-US" sz="720" b="0" i="0" dirty="0">
                <a:solidFill>
                  <a:srgbClr val="56647A"/>
                </a:solidFill>
                <a:latin typeface="Arial"/>
              </a:rPr>
              <a:t>f254295: bin/harness • README.md • history_metrics.py --check</a:t>
            </a:r>
            <a:endParaRPr lang="en-US" sz="720"/>
          </a:p>
        </p:txBody>
      </p:sp>
      <p:sp>
        <p:nvSpPr>
          <p:cNvPr id="37" name="Text 37"/>
          <p:cNvSpPr txBox="1"/>
          <p:nvPr/>
        </p:nvSpPr>
        <p:spPr>
          <a:xfrm>
            <a:off x="11201400" y="6492240"/>
            <a:ext cx="329184" cy="201168"/>
          </a:xfrm>
          <a:prstGeom prst="rect">
            <a:avLst/>
          </a:prstGeom>
          <a:noFill/>
          <a:ln>
            <a:noFill/>
          </a:ln>
        </p:spPr>
        <p:txBody>
          <a:bodyPr wrap="square" anchor="t" lIns="0" rIns="0" tIns="0" bIns="0"/>
          <a:lstStyle/>
          <a:p>
            <a:pPr algn="r"/>
            <a:r>
              <a:rPr lang="en-US" sz="800" b="1" i="0" dirty="0">
                <a:solidFill>
                  <a:srgbClr val="56647A"/>
                </a:solidFill>
                <a:latin typeface="Arial"/>
              </a:rPr>
              <a:t>17</a:t>
            </a:r>
            <a:endParaRPr lang="en-US" sz="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 2"/>
          <p:cNvSpPr/>
          <p:nvPr/>
        </p:nvSpPr>
        <p:spPr>
          <a:xfrm>
            <a:off x="0" y="0"/>
            <a:ext cx="12192000" cy="6858000"/>
          </a:xfrm>
          <a:prstGeom prst="rect">
            <a:avLst/>
          </a:prstGeom>
          <a:solidFill>
            <a:srgbClr val="F6F8FC"/>
          </a:solidFill>
          <a:ln w="12700">
            <a:solidFill>
              <a:srgbClr val="F6F8FC"/>
            </a:solidFill>
          </a:ln>
        </p:spPr>
        <p:txBody>
          <a:bodyPr/>
          <a:lstStyle/>
          <a:p>
            <a:endParaRPr lang="en-US"/>
          </a:p>
        </p:txBody>
      </p:sp>
      <p:sp>
        <p:nvSpPr>
          <p:cNvPr id="3" name="Text 3"/>
          <p:cNvSpPr txBox="1"/>
          <p:nvPr/>
        </p:nvSpPr>
        <p:spPr>
          <a:xfrm>
            <a:off x="621792" y="347472"/>
            <a:ext cx="10927080" cy="566928"/>
          </a:xfrm>
          <a:prstGeom prst="rect">
            <a:avLst/>
          </a:prstGeom>
          <a:noFill/>
          <a:ln>
            <a:noFill/>
          </a:ln>
        </p:spPr>
        <p:txBody>
          <a:bodyPr wrap="square" anchor="t" lIns="0" rIns="0" tIns="0" bIns="0"/>
          <a:lstStyle/>
          <a:p>
            <a:pPr algn="l"/>
            <a:r>
              <a:rPr lang="en-US" sz="2700" b="1" i="0" dirty="0">
                <a:solidFill>
                  <a:srgbClr val="14213D"/>
                </a:solidFill>
                <a:latin typeface="Arial"/>
              </a:rPr>
              <a:t>Evidence limits define what this deck does not claim</a:t>
            </a:r>
            <a:endParaRPr lang="en-US" sz="2700"/>
          </a:p>
        </p:txBody>
      </p:sp>
      <p:sp>
        <p:nvSpPr>
          <p:cNvPr id="4" name="Text 4"/>
          <p:cNvSpPr txBox="1"/>
          <p:nvPr/>
        </p:nvSpPr>
        <p:spPr>
          <a:xfrm>
            <a:off x="640080" y="932688"/>
            <a:ext cx="10881360" cy="310896"/>
          </a:xfrm>
          <a:prstGeom prst="rect">
            <a:avLst/>
          </a:prstGeom>
          <a:noFill/>
          <a:ln>
            <a:noFill/>
          </a:ln>
        </p:spPr>
        <p:txBody>
          <a:bodyPr wrap="square" anchor="t" lIns="0" rIns="0" tIns="0" bIns="0"/>
          <a:lstStyle/>
          <a:p>
            <a:pPr algn="l"/>
            <a:r>
              <a:rPr lang="en-US" sz="1250" b="0" i="0" dirty="0">
                <a:solidFill>
                  <a:srgbClr val="56647A"/>
                </a:solidFill>
                <a:latin typeface="Arial"/>
              </a:rPr>
              <a:t>Use these boundaries during Q&amp;A</a:t>
            </a:r>
            <a:endParaRPr lang="en-US" sz="1250"/>
          </a:p>
        </p:txBody>
      </p:sp>
      <p:sp>
        <p:nvSpPr>
          <p:cNvPr id="5" name="Text 5"/>
          <p:cNvSpPr txBox="1"/>
          <p:nvPr/>
        </p:nvSpPr>
        <p:spPr>
          <a:xfrm>
            <a:off x="804672" y="1353312"/>
            <a:ext cx="4297680" cy="237744"/>
          </a:xfrm>
          <a:prstGeom prst="rect">
            <a:avLst/>
          </a:prstGeom>
          <a:noFill/>
          <a:ln>
            <a:noFill/>
          </a:ln>
        </p:spPr>
        <p:txBody>
          <a:bodyPr wrap="square" anchor="t" lIns="0" rIns="0" tIns="0" bIns="0"/>
          <a:lstStyle/>
          <a:p>
            <a:pPr algn="ctr"/>
            <a:r>
              <a:rPr lang="en-US" sz="1050" b="1" i="0" dirty="0">
                <a:solidFill>
                  <a:srgbClr val="56647A"/>
                </a:solidFill>
                <a:latin typeface="Arial"/>
              </a:rPr>
              <a:t>SUPPORTED CLAIM</a:t>
            </a:r>
            <a:endParaRPr lang="en-US" sz="1050"/>
          </a:p>
        </p:txBody>
      </p:sp>
      <p:sp>
        <p:nvSpPr>
          <p:cNvPr id="6" name="Text 6"/>
          <p:cNvSpPr txBox="1"/>
          <p:nvPr/>
        </p:nvSpPr>
        <p:spPr>
          <a:xfrm>
            <a:off x="6446520" y="1353312"/>
            <a:ext cx="4526280" cy="237744"/>
          </a:xfrm>
          <a:prstGeom prst="rect">
            <a:avLst/>
          </a:prstGeom>
          <a:noFill/>
          <a:ln>
            <a:noFill/>
          </a:ln>
        </p:spPr>
        <p:txBody>
          <a:bodyPr wrap="square" anchor="t" lIns="0" rIns="0" tIns="0" bIns="0"/>
          <a:lstStyle/>
          <a:p>
            <a:pPr algn="ctr"/>
            <a:r>
              <a:rPr lang="en-US" sz="1050" b="1" i="0" dirty="0">
                <a:solidFill>
                  <a:srgbClr val="56647A"/>
                </a:solidFill>
                <a:latin typeface="Arial"/>
              </a:rPr>
              <a:t>NOT CLAIMED</a:t>
            </a:r>
            <a:endParaRPr lang="en-US" sz="1050"/>
          </a:p>
        </p:txBody>
      </p:sp>
      <p:sp>
        <p:nvSpPr>
          <p:cNvPr id="7" name="Rect 7"/>
          <p:cNvSpPr/>
          <p:nvPr/>
        </p:nvSpPr>
        <p:spPr>
          <a:xfrm>
            <a:off x="804672" y="1737360"/>
            <a:ext cx="4297680" cy="512064"/>
          </a:xfrm>
          <a:prstGeom prst="roundRect">
            <a:avLst/>
          </a:prstGeom>
          <a:solidFill>
            <a:srgbClr val="E6F8FB"/>
          </a:solidFill>
          <a:ln w="12700">
            <a:solidFill>
              <a:srgbClr val="06B6D4"/>
            </a:solidFill>
          </a:ln>
        </p:spPr>
        <p:txBody>
          <a:bodyPr/>
          <a:lstStyle/>
          <a:p>
            <a:endParaRPr lang="en-US"/>
          </a:p>
        </p:txBody>
      </p:sp>
      <p:sp>
        <p:nvSpPr>
          <p:cNvPr id="8" name="Text 8"/>
          <p:cNvSpPr txBox="1"/>
          <p:nvPr/>
        </p:nvSpPr>
        <p:spPr>
          <a:xfrm>
            <a:off x="987552" y="1883664"/>
            <a:ext cx="3931920" cy="201168"/>
          </a:xfrm>
          <a:prstGeom prst="rect">
            <a:avLst/>
          </a:prstGeom>
          <a:noFill/>
          <a:ln>
            <a:noFill/>
          </a:ln>
        </p:spPr>
        <p:txBody>
          <a:bodyPr wrap="square" anchor="t" lIns="0" rIns="0" tIns="0" bIns="0"/>
          <a:lstStyle/>
          <a:p>
            <a:pPr algn="ctr"/>
            <a:r>
              <a:rPr lang="en-US" sz="1150" b="1" i="0" dirty="0">
                <a:solidFill>
                  <a:srgbClr val="06B6D4"/>
                </a:solidFill>
                <a:latin typeface="Arial"/>
              </a:rPr>
              <a:t>Readiness</a:t>
            </a:r>
            <a:endParaRPr lang="en-US" sz="1150"/>
          </a:p>
        </p:txBody>
      </p:sp>
      <p:cxnSp>
        <p:nvCxnSpPr>
          <p:cNvPr id="9" name="Line 9"/>
          <p:cNvCxnSpPr/>
          <p:nvPr/>
        </p:nvCxnSpPr>
        <p:spPr>
          <a:xfrm flipH="false" flipV="false">
            <a:off x="5285232" y="1993392"/>
            <a:ext cx="868680" cy="0"/>
          </a:xfrm>
          <a:prstGeom prst="line">
            <a:avLst/>
          </a:prstGeom>
          <a:ln w="17780">
            <a:solidFill>
              <a:srgbClr val="C5CFDC"/>
            </a:solidFill>
            <a:tailEnd type="triangle"/>
          </a:ln>
        </p:spPr>
      </p:cxnSp>
      <p:sp>
        <p:nvSpPr>
          <p:cNvPr id="10" name="Rect 10"/>
          <p:cNvSpPr/>
          <p:nvPr/>
        </p:nvSpPr>
        <p:spPr>
          <a:xfrm>
            <a:off x="6419088" y="1737360"/>
            <a:ext cx="4572000" cy="512064"/>
          </a:xfrm>
          <a:prstGeom prst="roundRect">
            <a:avLst/>
          </a:prstGeom>
          <a:solidFill>
            <a:srgbClr val="FFFFFF"/>
          </a:solidFill>
          <a:ln w="12700">
            <a:solidFill>
              <a:srgbClr val="C5CFDC"/>
            </a:solidFill>
            <a:prstDash val="dash"/>
          </a:ln>
        </p:spPr>
        <p:txBody>
          <a:bodyPr/>
          <a:lstStyle/>
          <a:p>
            <a:endParaRPr lang="en-US"/>
          </a:p>
        </p:txBody>
      </p:sp>
      <p:sp>
        <p:nvSpPr>
          <p:cNvPr id="11" name="Text 11"/>
          <p:cNvSpPr txBox="1"/>
          <p:nvPr/>
        </p:nvSpPr>
        <p:spPr>
          <a:xfrm>
            <a:off x="6601968" y="1883664"/>
            <a:ext cx="4206240" cy="201168"/>
          </a:xfrm>
          <a:prstGeom prst="rect">
            <a:avLst/>
          </a:prstGeom>
          <a:noFill/>
          <a:ln>
            <a:noFill/>
          </a:ln>
        </p:spPr>
        <p:txBody>
          <a:bodyPr wrap="square" anchor="t" lIns="0" rIns="0" tIns="0" bIns="0"/>
          <a:lstStyle/>
          <a:p>
            <a:pPr algn="ctr"/>
            <a:r>
              <a:rPr lang="en-US" sz="1120" b="0" i="0" dirty="0">
                <a:solidFill>
                  <a:srgbClr val="334155"/>
                </a:solidFill>
                <a:latin typeface="Arial"/>
              </a:rPr>
              <a:t>Performance or scaling</a:t>
            </a:r>
            <a:endParaRPr lang="en-US" sz="1120"/>
          </a:p>
        </p:txBody>
      </p:sp>
      <p:sp>
        <p:nvSpPr>
          <p:cNvPr id="12" name="Rect 12"/>
          <p:cNvSpPr/>
          <p:nvPr/>
        </p:nvSpPr>
        <p:spPr>
          <a:xfrm>
            <a:off x="804672" y="2450592"/>
            <a:ext cx="4297680" cy="512064"/>
          </a:xfrm>
          <a:prstGeom prst="roundRect">
            <a:avLst/>
          </a:prstGeom>
          <a:solidFill>
            <a:srgbClr val="F2EBFD"/>
          </a:solidFill>
          <a:ln w="12700">
            <a:solidFill>
              <a:srgbClr val="7C3AED"/>
            </a:solidFill>
          </a:ln>
        </p:spPr>
        <p:txBody>
          <a:bodyPr/>
          <a:lstStyle/>
          <a:p>
            <a:endParaRPr lang="en-US"/>
          </a:p>
        </p:txBody>
      </p:sp>
      <p:sp>
        <p:nvSpPr>
          <p:cNvPr id="13" name="Text 13"/>
          <p:cNvSpPr txBox="1"/>
          <p:nvPr/>
        </p:nvSpPr>
        <p:spPr>
          <a:xfrm>
            <a:off x="987552" y="2596896"/>
            <a:ext cx="3931920" cy="201168"/>
          </a:xfrm>
          <a:prstGeom prst="rect">
            <a:avLst/>
          </a:prstGeom>
          <a:noFill/>
          <a:ln>
            <a:noFill/>
          </a:ln>
        </p:spPr>
        <p:txBody>
          <a:bodyPr wrap="square" anchor="t" lIns="0" rIns="0" tIns="0" bIns="0"/>
          <a:lstStyle/>
          <a:p>
            <a:pPr algn="ctr"/>
            <a:r>
              <a:rPr lang="en-US" sz="1150" b="1" i="0" dirty="0">
                <a:solidFill>
                  <a:srgbClr val="7C3AED"/>
                </a:solidFill>
                <a:latin typeface="Arial"/>
              </a:rPr>
              <a:t>Deterministic corpus score</a:t>
            </a:r>
            <a:endParaRPr lang="en-US" sz="1150"/>
          </a:p>
        </p:txBody>
      </p:sp>
      <p:cxnSp>
        <p:nvCxnSpPr>
          <p:cNvPr id="14" name="Line 14"/>
          <p:cNvCxnSpPr/>
          <p:nvPr/>
        </p:nvCxnSpPr>
        <p:spPr>
          <a:xfrm flipH="false" flipV="false">
            <a:off x="5285232" y="2706624"/>
            <a:ext cx="868680" cy="0"/>
          </a:xfrm>
          <a:prstGeom prst="line">
            <a:avLst/>
          </a:prstGeom>
          <a:ln w="17780">
            <a:solidFill>
              <a:srgbClr val="C5CFDC"/>
            </a:solidFill>
            <a:tailEnd type="triangle"/>
          </a:ln>
        </p:spPr>
      </p:cxnSp>
      <p:sp>
        <p:nvSpPr>
          <p:cNvPr id="15" name="Rect 15"/>
          <p:cNvSpPr/>
          <p:nvPr/>
        </p:nvSpPr>
        <p:spPr>
          <a:xfrm>
            <a:off x="6419088" y="2450592"/>
            <a:ext cx="4572000" cy="512064"/>
          </a:xfrm>
          <a:prstGeom prst="roundRect">
            <a:avLst/>
          </a:prstGeom>
          <a:solidFill>
            <a:srgbClr val="FFFFFF"/>
          </a:solidFill>
          <a:ln w="12700">
            <a:solidFill>
              <a:srgbClr val="C5CFDC"/>
            </a:solidFill>
            <a:prstDash val="dash"/>
          </a:ln>
        </p:spPr>
        <p:txBody>
          <a:bodyPr/>
          <a:lstStyle/>
          <a:p>
            <a:endParaRPr lang="en-US"/>
          </a:p>
        </p:txBody>
      </p:sp>
      <p:sp>
        <p:nvSpPr>
          <p:cNvPr id="16" name="Text 16"/>
          <p:cNvSpPr txBox="1"/>
          <p:nvPr/>
        </p:nvSpPr>
        <p:spPr>
          <a:xfrm>
            <a:off x="6601968" y="2596896"/>
            <a:ext cx="4206240" cy="201168"/>
          </a:xfrm>
          <a:prstGeom prst="rect">
            <a:avLst/>
          </a:prstGeom>
          <a:noFill/>
          <a:ln>
            <a:noFill/>
          </a:ln>
        </p:spPr>
        <p:txBody>
          <a:bodyPr wrap="square" anchor="t" lIns="0" rIns="0" tIns="0" bIns="0"/>
          <a:lstStyle/>
          <a:p>
            <a:pPr algn="ctr"/>
            <a:r>
              <a:rPr lang="en-US" sz="1120" b="0" i="0" dirty="0">
                <a:solidFill>
                  <a:srgbClr val="334155"/>
                </a:solidFill>
                <a:latin typeface="Arial"/>
              </a:rPr>
              <a:t>Universal agent quality</a:t>
            </a:r>
            <a:endParaRPr lang="en-US" sz="1120"/>
          </a:p>
        </p:txBody>
      </p:sp>
      <p:sp>
        <p:nvSpPr>
          <p:cNvPr id="17" name="Rect 17"/>
          <p:cNvSpPr/>
          <p:nvPr/>
        </p:nvSpPr>
        <p:spPr>
          <a:xfrm>
            <a:off x="804672" y="3163824"/>
            <a:ext cx="4297680" cy="512064"/>
          </a:xfrm>
          <a:prstGeom prst="roundRect">
            <a:avLst/>
          </a:prstGeom>
          <a:solidFill>
            <a:srgbClr val="E8F6ED"/>
          </a:solidFill>
          <a:ln w="12700">
            <a:solidFill>
              <a:srgbClr val="16A34A"/>
            </a:solidFill>
          </a:ln>
        </p:spPr>
        <p:txBody>
          <a:bodyPr/>
          <a:lstStyle/>
          <a:p>
            <a:endParaRPr lang="en-US"/>
          </a:p>
        </p:txBody>
      </p:sp>
      <p:sp>
        <p:nvSpPr>
          <p:cNvPr id="18" name="Text 18"/>
          <p:cNvSpPr txBox="1"/>
          <p:nvPr/>
        </p:nvSpPr>
        <p:spPr>
          <a:xfrm>
            <a:off x="987552" y="3310128"/>
            <a:ext cx="3931920" cy="201168"/>
          </a:xfrm>
          <a:prstGeom prst="rect">
            <a:avLst/>
          </a:prstGeom>
          <a:noFill/>
          <a:ln>
            <a:noFill/>
          </a:ln>
        </p:spPr>
        <p:txBody>
          <a:bodyPr wrap="square" anchor="t" lIns="0" rIns="0" tIns="0" bIns="0"/>
          <a:lstStyle/>
          <a:p>
            <a:pPr algn="ctr"/>
            <a:r>
              <a:rPr lang="en-US" sz="1150" b="1" i="0" dirty="0">
                <a:solidFill>
                  <a:srgbClr val="16A34A"/>
                </a:solidFill>
                <a:latin typeface="Arial"/>
              </a:rPr>
              <a:t>Hashes + receipts</a:t>
            </a:r>
            <a:endParaRPr lang="en-US" sz="1150"/>
          </a:p>
        </p:txBody>
      </p:sp>
      <p:cxnSp>
        <p:nvCxnSpPr>
          <p:cNvPr id="19" name="Line 19"/>
          <p:cNvCxnSpPr/>
          <p:nvPr/>
        </p:nvCxnSpPr>
        <p:spPr>
          <a:xfrm flipH="false" flipV="false">
            <a:off x="5285232" y="3419856"/>
            <a:ext cx="868680" cy="0"/>
          </a:xfrm>
          <a:prstGeom prst="line">
            <a:avLst/>
          </a:prstGeom>
          <a:ln w="17780">
            <a:solidFill>
              <a:srgbClr val="C5CFDC"/>
            </a:solidFill>
            <a:tailEnd type="triangle"/>
          </a:ln>
        </p:spPr>
      </p:cxnSp>
      <p:sp>
        <p:nvSpPr>
          <p:cNvPr id="20" name="Rect 20"/>
          <p:cNvSpPr/>
          <p:nvPr/>
        </p:nvSpPr>
        <p:spPr>
          <a:xfrm>
            <a:off x="6419088" y="3163824"/>
            <a:ext cx="4572000" cy="512064"/>
          </a:xfrm>
          <a:prstGeom prst="roundRect">
            <a:avLst/>
          </a:prstGeom>
          <a:solidFill>
            <a:srgbClr val="FFFFFF"/>
          </a:solidFill>
          <a:ln w="12700">
            <a:solidFill>
              <a:srgbClr val="C5CFDC"/>
            </a:solidFill>
            <a:prstDash val="dash"/>
          </a:ln>
        </p:spPr>
        <p:txBody>
          <a:bodyPr/>
          <a:lstStyle/>
          <a:p>
            <a:endParaRPr lang="en-US"/>
          </a:p>
        </p:txBody>
      </p:sp>
      <p:sp>
        <p:nvSpPr>
          <p:cNvPr id="21" name="Text 21"/>
          <p:cNvSpPr txBox="1"/>
          <p:nvPr/>
        </p:nvSpPr>
        <p:spPr>
          <a:xfrm>
            <a:off x="6601968" y="3310128"/>
            <a:ext cx="4206240" cy="201168"/>
          </a:xfrm>
          <a:prstGeom prst="rect">
            <a:avLst/>
          </a:prstGeom>
          <a:noFill/>
          <a:ln>
            <a:noFill/>
          </a:ln>
        </p:spPr>
        <p:txBody>
          <a:bodyPr wrap="square" anchor="t" lIns="0" rIns="0" tIns="0" bIns="0"/>
          <a:lstStyle/>
          <a:p>
            <a:pPr algn="ctr"/>
            <a:r>
              <a:rPr lang="en-US" sz="1120" b="0" i="0" dirty="0">
                <a:solidFill>
                  <a:srgbClr val="334155"/>
                </a:solidFill>
                <a:latin typeface="Arial"/>
              </a:rPr>
              <a:t>Model authorship or honesty</a:t>
            </a:r>
            <a:endParaRPr lang="en-US" sz="1120"/>
          </a:p>
        </p:txBody>
      </p:sp>
      <p:sp>
        <p:nvSpPr>
          <p:cNvPr id="22" name="Rect 22"/>
          <p:cNvSpPr/>
          <p:nvPr/>
        </p:nvSpPr>
        <p:spPr>
          <a:xfrm>
            <a:off x="804672" y="3877056"/>
            <a:ext cx="4297680" cy="512064"/>
          </a:xfrm>
          <a:prstGeom prst="roundRect">
            <a:avLst/>
          </a:prstGeom>
          <a:solidFill>
            <a:srgbClr val="EBF2FE"/>
          </a:solidFill>
          <a:ln w="12700">
            <a:solidFill>
              <a:srgbClr val="3B82F6"/>
            </a:solidFill>
          </a:ln>
        </p:spPr>
        <p:txBody>
          <a:bodyPr/>
          <a:lstStyle/>
          <a:p>
            <a:endParaRPr lang="en-US"/>
          </a:p>
        </p:txBody>
      </p:sp>
      <p:sp>
        <p:nvSpPr>
          <p:cNvPr id="23" name="Text 23"/>
          <p:cNvSpPr txBox="1"/>
          <p:nvPr/>
        </p:nvSpPr>
        <p:spPr>
          <a:xfrm>
            <a:off x="987552" y="4023360"/>
            <a:ext cx="3931920" cy="201168"/>
          </a:xfrm>
          <a:prstGeom prst="rect">
            <a:avLst/>
          </a:prstGeom>
          <a:noFill/>
          <a:ln>
            <a:noFill/>
          </a:ln>
        </p:spPr>
        <p:txBody>
          <a:bodyPr wrap="square" anchor="t" lIns="0" rIns="0" tIns="0" bIns="0"/>
          <a:lstStyle/>
          <a:p>
            <a:pPr algn="ctr"/>
            <a:r>
              <a:rPr lang="en-US" sz="1150" b="1" i="0" dirty="0">
                <a:solidFill>
                  <a:srgbClr val="3B82F6"/>
                </a:solidFill>
                <a:latin typeface="Arial"/>
              </a:rPr>
              <a:t>Workspace-write</a:t>
            </a:r>
            <a:endParaRPr lang="en-US" sz="1150"/>
          </a:p>
        </p:txBody>
      </p:sp>
      <p:cxnSp>
        <p:nvCxnSpPr>
          <p:cNvPr id="24" name="Line 24"/>
          <p:cNvCxnSpPr/>
          <p:nvPr/>
        </p:nvCxnSpPr>
        <p:spPr>
          <a:xfrm flipH="false" flipV="false">
            <a:off x="5285232" y="4133088"/>
            <a:ext cx="868680" cy="0"/>
          </a:xfrm>
          <a:prstGeom prst="line">
            <a:avLst/>
          </a:prstGeom>
          <a:ln w="17780">
            <a:solidFill>
              <a:srgbClr val="C5CFDC"/>
            </a:solidFill>
            <a:tailEnd type="triangle"/>
          </a:ln>
        </p:spPr>
      </p:cxnSp>
      <p:sp>
        <p:nvSpPr>
          <p:cNvPr id="25" name="Rect 25"/>
          <p:cNvSpPr/>
          <p:nvPr/>
        </p:nvSpPr>
        <p:spPr>
          <a:xfrm>
            <a:off x="6419088" y="3877056"/>
            <a:ext cx="4572000" cy="512064"/>
          </a:xfrm>
          <a:prstGeom prst="roundRect">
            <a:avLst/>
          </a:prstGeom>
          <a:solidFill>
            <a:srgbClr val="FFFFFF"/>
          </a:solidFill>
          <a:ln w="12700">
            <a:solidFill>
              <a:srgbClr val="C5CFDC"/>
            </a:solidFill>
            <a:prstDash val="dash"/>
          </a:ln>
        </p:spPr>
        <p:txBody>
          <a:bodyPr/>
          <a:lstStyle/>
          <a:p>
            <a:endParaRPr lang="en-US"/>
          </a:p>
        </p:txBody>
      </p:sp>
      <p:sp>
        <p:nvSpPr>
          <p:cNvPr id="26" name="Text 26"/>
          <p:cNvSpPr txBox="1"/>
          <p:nvPr/>
        </p:nvSpPr>
        <p:spPr>
          <a:xfrm>
            <a:off x="6601968" y="4023360"/>
            <a:ext cx="4206240" cy="201168"/>
          </a:xfrm>
          <a:prstGeom prst="rect">
            <a:avLst/>
          </a:prstGeom>
          <a:noFill/>
          <a:ln>
            <a:noFill/>
          </a:ln>
        </p:spPr>
        <p:txBody>
          <a:bodyPr wrap="square" anchor="t" lIns="0" rIns="0" tIns="0" bIns="0"/>
          <a:lstStyle/>
          <a:p>
            <a:pPr algn="ctr"/>
            <a:r>
              <a:rPr lang="en-US" sz="1120" b="0" i="0" dirty="0">
                <a:solidFill>
                  <a:srgbClr val="334155"/>
                </a:solidFill>
                <a:latin typeface="Arial"/>
              </a:rPr>
              <a:t>Read confidentiality</a:t>
            </a:r>
            <a:endParaRPr lang="en-US" sz="1120"/>
          </a:p>
        </p:txBody>
      </p:sp>
      <p:sp>
        <p:nvSpPr>
          <p:cNvPr id="27" name="Rect 27"/>
          <p:cNvSpPr/>
          <p:nvPr/>
        </p:nvSpPr>
        <p:spPr>
          <a:xfrm>
            <a:off x="804672" y="4590288"/>
            <a:ext cx="4297680" cy="512064"/>
          </a:xfrm>
          <a:prstGeom prst="roundRect">
            <a:avLst/>
          </a:prstGeom>
          <a:solidFill>
            <a:srgbClr val="FEF5E7"/>
          </a:solidFill>
          <a:ln w="12700">
            <a:solidFill>
              <a:srgbClr val="F59E0B"/>
            </a:solidFill>
          </a:ln>
        </p:spPr>
        <p:txBody>
          <a:bodyPr/>
          <a:lstStyle/>
          <a:p>
            <a:endParaRPr lang="en-US"/>
          </a:p>
        </p:txBody>
      </p:sp>
      <p:sp>
        <p:nvSpPr>
          <p:cNvPr id="28" name="Text 28"/>
          <p:cNvSpPr txBox="1"/>
          <p:nvPr/>
        </p:nvSpPr>
        <p:spPr>
          <a:xfrm>
            <a:off x="987552" y="4736592"/>
            <a:ext cx="3931920" cy="201168"/>
          </a:xfrm>
          <a:prstGeom prst="rect">
            <a:avLst/>
          </a:prstGeom>
          <a:noFill/>
          <a:ln>
            <a:noFill/>
          </a:ln>
        </p:spPr>
        <p:txBody>
          <a:bodyPr wrap="square" anchor="t" lIns="0" rIns="0" tIns="0" bIns="0"/>
          <a:lstStyle/>
          <a:p>
            <a:pPr algn="ctr"/>
            <a:r>
              <a:rPr lang="en-US" sz="1150" b="1" i="0" dirty="0">
                <a:solidFill>
                  <a:srgbClr val="F59E0B"/>
                </a:solidFill>
                <a:latin typeface="Arial"/>
              </a:rPr>
              <a:t>Verified restore</a:t>
            </a:r>
            <a:endParaRPr lang="en-US" sz="1150"/>
          </a:p>
        </p:txBody>
      </p:sp>
      <p:cxnSp>
        <p:nvCxnSpPr>
          <p:cNvPr id="29" name="Line 29"/>
          <p:cNvCxnSpPr/>
          <p:nvPr/>
        </p:nvCxnSpPr>
        <p:spPr>
          <a:xfrm flipH="false" flipV="false">
            <a:off x="5285232" y="4846320"/>
            <a:ext cx="868680" cy="0"/>
          </a:xfrm>
          <a:prstGeom prst="line">
            <a:avLst/>
          </a:prstGeom>
          <a:ln w="17780">
            <a:solidFill>
              <a:srgbClr val="C5CFDC"/>
            </a:solidFill>
            <a:tailEnd type="triangle"/>
          </a:ln>
        </p:spPr>
      </p:cxnSp>
      <p:sp>
        <p:nvSpPr>
          <p:cNvPr id="30" name="Rect 30"/>
          <p:cNvSpPr/>
          <p:nvPr/>
        </p:nvSpPr>
        <p:spPr>
          <a:xfrm>
            <a:off x="6419088" y="4590288"/>
            <a:ext cx="4572000" cy="512064"/>
          </a:xfrm>
          <a:prstGeom prst="roundRect">
            <a:avLst/>
          </a:prstGeom>
          <a:solidFill>
            <a:srgbClr val="FFFFFF"/>
          </a:solidFill>
          <a:ln w="12700">
            <a:solidFill>
              <a:srgbClr val="C5CFDC"/>
            </a:solidFill>
            <a:prstDash val="dash"/>
          </a:ln>
        </p:spPr>
        <p:txBody>
          <a:bodyPr/>
          <a:lstStyle/>
          <a:p>
            <a:endParaRPr lang="en-US"/>
          </a:p>
        </p:txBody>
      </p:sp>
      <p:sp>
        <p:nvSpPr>
          <p:cNvPr id="31" name="Text 31"/>
          <p:cNvSpPr txBox="1"/>
          <p:nvPr/>
        </p:nvSpPr>
        <p:spPr>
          <a:xfrm>
            <a:off x="6601968" y="4736592"/>
            <a:ext cx="4206240" cy="201168"/>
          </a:xfrm>
          <a:prstGeom prst="rect">
            <a:avLst/>
          </a:prstGeom>
          <a:noFill/>
          <a:ln>
            <a:noFill/>
          </a:ln>
        </p:spPr>
        <p:txBody>
          <a:bodyPr wrap="square" anchor="t" lIns="0" rIns="0" tIns="0" bIns="0"/>
          <a:lstStyle/>
          <a:p>
            <a:pPr algn="ctr"/>
            <a:r>
              <a:rPr lang="en-US" sz="1120" b="0" i="0" dirty="0">
                <a:solidFill>
                  <a:srgbClr val="334155"/>
                </a:solidFill>
                <a:latin typeface="Arial"/>
              </a:rPr>
              <a:t>Retention deletion authority</a:t>
            </a:r>
            <a:endParaRPr lang="en-US" sz="1120"/>
          </a:p>
        </p:txBody>
      </p:sp>
      <p:sp>
        <p:nvSpPr>
          <p:cNvPr id="32" name="Rect 32"/>
          <p:cNvSpPr/>
          <p:nvPr/>
        </p:nvSpPr>
        <p:spPr>
          <a:xfrm>
            <a:off x="804672" y="5303520"/>
            <a:ext cx="4297680" cy="512064"/>
          </a:xfrm>
          <a:prstGeom prst="roundRect">
            <a:avLst/>
          </a:prstGeom>
          <a:solidFill>
            <a:srgbClr val="FBE9F1"/>
          </a:solidFill>
          <a:ln w="12700">
            <a:solidFill>
              <a:srgbClr val="DB2777"/>
            </a:solidFill>
          </a:ln>
        </p:spPr>
        <p:txBody>
          <a:bodyPr/>
          <a:lstStyle/>
          <a:p>
            <a:endParaRPr lang="en-US"/>
          </a:p>
        </p:txBody>
      </p:sp>
      <p:sp>
        <p:nvSpPr>
          <p:cNvPr id="33" name="Text 33"/>
          <p:cNvSpPr txBox="1"/>
          <p:nvPr/>
        </p:nvSpPr>
        <p:spPr>
          <a:xfrm>
            <a:off x="987552" y="5449824"/>
            <a:ext cx="3931920" cy="201168"/>
          </a:xfrm>
          <a:prstGeom prst="rect">
            <a:avLst/>
          </a:prstGeom>
          <a:noFill/>
          <a:ln>
            <a:noFill/>
          </a:ln>
        </p:spPr>
        <p:txBody>
          <a:bodyPr wrap="square" anchor="t" lIns="0" rIns="0" tIns="0" bIns="0"/>
          <a:lstStyle/>
          <a:p>
            <a:pPr algn="ctr"/>
            <a:r>
              <a:rPr lang="en-US" sz="1150" b="1" i="0" dirty="0">
                <a:solidFill>
                  <a:srgbClr val="DB2777"/>
                </a:solidFill>
                <a:latin typeface="Arial"/>
              </a:rPr>
              <a:t>Checked-in HEAD state</a:t>
            </a:r>
            <a:endParaRPr lang="en-US" sz="1150"/>
          </a:p>
        </p:txBody>
      </p:sp>
      <p:cxnSp>
        <p:nvCxnSpPr>
          <p:cNvPr id="34" name="Line 34"/>
          <p:cNvCxnSpPr/>
          <p:nvPr/>
        </p:nvCxnSpPr>
        <p:spPr>
          <a:xfrm flipH="false" flipV="false">
            <a:off x="5285232" y="5559552"/>
            <a:ext cx="868680" cy="0"/>
          </a:xfrm>
          <a:prstGeom prst="line">
            <a:avLst/>
          </a:prstGeom>
          <a:ln w="17780">
            <a:solidFill>
              <a:srgbClr val="C5CFDC"/>
            </a:solidFill>
            <a:tailEnd type="triangle"/>
          </a:ln>
        </p:spPr>
      </p:cxnSp>
      <p:sp>
        <p:nvSpPr>
          <p:cNvPr id="35" name="Rect 35"/>
          <p:cNvSpPr/>
          <p:nvPr/>
        </p:nvSpPr>
        <p:spPr>
          <a:xfrm>
            <a:off x="6419088" y="5303520"/>
            <a:ext cx="4572000" cy="512064"/>
          </a:xfrm>
          <a:prstGeom prst="roundRect">
            <a:avLst/>
          </a:prstGeom>
          <a:solidFill>
            <a:srgbClr val="FFFFFF"/>
          </a:solidFill>
          <a:ln w="12700">
            <a:solidFill>
              <a:srgbClr val="C5CFDC"/>
            </a:solidFill>
            <a:prstDash val="dash"/>
          </a:ln>
        </p:spPr>
        <p:txBody>
          <a:bodyPr/>
          <a:lstStyle/>
          <a:p>
            <a:endParaRPr lang="en-US"/>
          </a:p>
        </p:txBody>
      </p:sp>
      <p:sp>
        <p:nvSpPr>
          <p:cNvPr id="36" name="Text 36"/>
          <p:cNvSpPr txBox="1"/>
          <p:nvPr/>
        </p:nvSpPr>
        <p:spPr>
          <a:xfrm>
            <a:off x="6601968" y="5449824"/>
            <a:ext cx="4206240" cy="201168"/>
          </a:xfrm>
          <a:prstGeom prst="rect">
            <a:avLst/>
          </a:prstGeom>
          <a:noFill/>
          <a:ln>
            <a:noFill/>
          </a:ln>
        </p:spPr>
        <p:txBody>
          <a:bodyPr wrap="square" anchor="t" lIns="0" rIns="0" tIns="0" bIns="0"/>
          <a:lstStyle/>
          <a:p>
            <a:pPr algn="ctr"/>
            <a:r>
              <a:rPr lang="en-US" sz="1120" b="0" i="0" dirty="0">
                <a:solidFill>
                  <a:srgbClr val="334155"/>
                </a:solidFill>
                <a:latin typeface="Arial"/>
              </a:rPr>
              <a:t>Future external state</a:t>
            </a:r>
            <a:endParaRPr lang="en-US" sz="1120"/>
          </a:p>
        </p:txBody>
      </p:sp>
      <p:sp>
        <p:nvSpPr>
          <p:cNvPr id="37" name="Rect 37"/>
          <p:cNvSpPr/>
          <p:nvPr/>
        </p:nvSpPr>
        <p:spPr>
          <a:xfrm>
            <a:off x="804672" y="6144768"/>
            <a:ext cx="10186416" cy="219456"/>
          </a:xfrm>
          <a:prstGeom prst="roundRect">
            <a:avLst/>
          </a:prstGeom>
          <a:solidFill>
            <a:srgbClr val="08152F"/>
          </a:solidFill>
          <a:ln w="12700">
            <a:solidFill>
              <a:srgbClr val="08152F"/>
            </a:solidFill>
          </a:ln>
        </p:spPr>
        <p:txBody>
          <a:bodyPr/>
          <a:lstStyle/>
          <a:p>
            <a:endParaRPr lang="en-US"/>
          </a:p>
        </p:txBody>
      </p:sp>
      <p:sp>
        <p:nvSpPr>
          <p:cNvPr id="38" name="Text 38"/>
          <p:cNvSpPr txBox="1"/>
          <p:nvPr/>
        </p:nvSpPr>
        <p:spPr>
          <a:xfrm>
            <a:off x="1005840" y="6181344"/>
            <a:ext cx="9784080" cy="137160"/>
          </a:xfrm>
          <a:prstGeom prst="rect">
            <a:avLst/>
          </a:prstGeom>
          <a:noFill/>
          <a:ln>
            <a:noFill/>
          </a:ln>
        </p:spPr>
        <p:txBody>
          <a:bodyPr wrap="square" anchor="t" lIns="0" rIns="0" tIns="0" bIns="0"/>
          <a:lstStyle/>
          <a:p>
            <a:pPr algn="ctr"/>
            <a:r>
              <a:rPr lang="en-US" sz="880" b="1" i="0" dirty="0">
                <a:solidFill>
                  <a:srgbClr val="FFFFFF"/>
                </a:solidFill>
                <a:latin typeface="Arial"/>
              </a:rPr>
              <a:t>Precision about limits is part of the harness architecture—not an appendix afterthought.</a:t>
            </a:r>
            <a:endParaRPr lang="en-US" sz="880"/>
          </a:p>
        </p:txBody>
      </p:sp>
      <p:cxnSp>
        <p:nvCxnSpPr>
          <p:cNvPr id="39" name="Line 39"/>
          <p:cNvCxnSpPr/>
          <p:nvPr/>
        </p:nvCxnSpPr>
        <p:spPr>
          <a:xfrm flipH="false" flipV="false">
            <a:off x="621792" y="6473952"/>
            <a:ext cx="10954512" cy="0"/>
          </a:xfrm>
          <a:prstGeom prst="line">
            <a:avLst/>
          </a:prstGeom>
          <a:ln w="10160">
            <a:solidFill>
              <a:srgbClr val="D7DFEA"/>
            </a:solidFill>
          </a:ln>
        </p:spPr>
      </p:cxnSp>
      <p:sp>
        <p:nvSpPr>
          <p:cNvPr id="40" name="Text 40"/>
          <p:cNvSpPr txBox="1"/>
          <p:nvPr/>
        </p:nvSpPr>
        <p:spPr>
          <a:xfrm>
            <a:off x="640080" y="6510528"/>
            <a:ext cx="10469880" cy="201168"/>
          </a:xfrm>
          <a:prstGeom prst="rect">
            <a:avLst/>
          </a:prstGeom>
          <a:noFill/>
          <a:ln>
            <a:noFill/>
          </a:ln>
        </p:spPr>
        <p:txBody>
          <a:bodyPr wrap="square" anchor="t" lIns="0" rIns="0" tIns="0" bIns="0"/>
          <a:lstStyle/>
          <a:p>
            <a:pPr algn="l"/>
            <a:r>
              <a:rPr lang="en-US" sz="720" b="0" i="0" dirty="0">
                <a:solidFill>
                  <a:srgbClr val="56647A"/>
                </a:solidFill>
                <a:latin typeface="Arial"/>
              </a:rPr>
              <a:t>source-map.md • evaluation/HPC/backup/cowork limitation sections</a:t>
            </a:r>
            <a:endParaRPr lang="en-US" sz="720"/>
          </a:p>
        </p:txBody>
      </p:sp>
      <p:sp>
        <p:nvSpPr>
          <p:cNvPr id="41" name="Text 41"/>
          <p:cNvSpPr txBox="1"/>
          <p:nvPr/>
        </p:nvSpPr>
        <p:spPr>
          <a:xfrm>
            <a:off x="11201400" y="6492240"/>
            <a:ext cx="329184" cy="201168"/>
          </a:xfrm>
          <a:prstGeom prst="rect">
            <a:avLst/>
          </a:prstGeom>
          <a:noFill/>
          <a:ln>
            <a:noFill/>
          </a:ln>
        </p:spPr>
        <p:txBody>
          <a:bodyPr wrap="square" anchor="t" lIns="0" rIns="0" tIns="0" bIns="0"/>
          <a:lstStyle/>
          <a:p>
            <a:pPr algn="r"/>
            <a:r>
              <a:rPr lang="en-US" sz="800" b="1" i="0" dirty="0">
                <a:solidFill>
                  <a:srgbClr val="56647A"/>
                </a:solidFill>
                <a:latin typeface="Arial"/>
              </a:rPr>
              <a:t>18</a:t>
            </a:r>
            <a:endParaRPr lang="en-US" sz="800"/>
          </a:p>
        </p:txBody>
      </p:sp>
    </p:spTree>
  </p:cSld>
  <p:clrMapOvr>
    <a:masterClrMapping/>
  </p:clrMapOvr>
</p:sld>
</file>

<file path=ppt/theme/theme1.xml><?xml version="1.0" encoding="utf-8"?>
<a:theme xmlns:a="http://schemas.openxmlformats.org/drawingml/2006/main" name="Harness Technical">
  <a:themeElements>
    <a:clrScheme name="Harness">
      <a:dk1>
        <a:srgbClr val="08152F"/>
      </a:dk1>
      <a:lt1>
        <a:srgbClr val="FFFFFF"/>
      </a:lt1>
      <a:dk2>
        <a:srgbClr val="14213D"/>
      </a:dk2>
      <a:lt2>
        <a:srgbClr val="F6F8FC"/>
      </a:lt2>
      <a:accent1>
        <a:srgbClr val="3B82F6"/>
      </a:accent1>
      <a:accent2>
        <a:srgbClr val="06B6D4"/>
      </a:accent2>
      <a:accent3>
        <a:srgbClr val="0D9488"/>
      </a:accent3>
      <a:accent4>
        <a:srgbClr val="F59E0B"/>
      </a:accent4>
      <a:accent5>
        <a:srgbClr val="7C3AED"/>
      </a:accent5>
      <a:accent6>
        <a:srgbClr val="16A34A"/>
      </a:accent6>
      <a:hlink>
        <a:srgbClr val="0563C1"/>
      </a:hlink>
      <a:folHlink>
        <a:srgbClr val="954F72"/>
      </a:folHlink>
    </a:clrScheme>
    <a:fontScheme name="Arial">
      <a:majorFont>
        <a:latin typeface="Arial"/>
        <a:ea typeface=""/>
        <a:cs typeface=""/>
      </a:majorFont>
      <a:minorFont>
        <a:latin typeface="Arial"/>
        <a:ea typeface=""/>
        <a:cs typeface=""/>
      </a:minorFont>
    </a:fontScheme>
    <a:fmtScheme name="Harness">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18</Slides>
  <Notes>18</Notes>
  <HiddenSlides>0</HiddenSlides>
  <ScaleCrop>false</ScaleCrop>
  <HeadingPairs>
    <vt:vector size="2" baseType="variant">
      <vt:variant>
        <vt:lpstr>Slide Titles</vt:lpstr>
      </vt:variant>
      <vt:variant>
        <vt:i4>18</vt:i4>
      </vt:variant>
    </vt:vector>
  </HeadingPairs>
  <TitlesOfParts>
    <vt:vector size="18" baseType="lpstr">
      <vt:lpstr>The harness became a control plane by making authority explicit</vt:lpstr>
      <vt:lpstr>The first harness protected portable intent—not machine state</vt:lpstr>
      <vt:lpstr>Seven architectural shifts turned discovery into controlled execution</vt:lpstr>
      <vt:lpstr>Versioned links were a foundation, not yet an operating system</vt:lpstr>
      <vt:lpstr>Value-free observation made heterogeneity actionable</vt:lpstr>
      <vt:lpstr>Transactions replaced fragile manual coordination</vt:lpstr>
      <vt:lpstr>Evidence became a gate—not a post-hoc report</vt:lpstr>
      <vt:lpstr>The public engine expanded without absorbing private Mac intent</vt:lpstr>
      <vt:lpstr>The control loop grew; the ownership boundary stayed narrow</vt:lpstr>
      <vt:lpstr>Measured outcomes improved confidence—not every number claims speed</vt:lpstr>
      <vt:lpstr>Reversals made the harness safer than accretion alone</vt:lpstr>
      <vt:lpstr>HEAD is broad; the next stage is disciplined reduction of coordination</vt:lpstr>
      <vt:lpstr>Every claim resolves to Git, code, tests, or a labeled interpretation</vt:lpstr>
      <vt:lpstr>Milestone commits anchor the complete linear history</vt:lpstr>
      <vt:lpstr>Native readiness distinguishes pass, skip, failure, and exclusion</vt:lpstr>
      <vt:lpstr>Safety evolved from collision refusal to revalidated lifecycle controls</vt:lpstr>
      <vt:lpstr>Current commands follow one plan–apply–verify grammar</vt:lpstr>
      <vt:lpstr>Evidence limits define what this deck does not claim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Harness evolution</dc:title>
  <dc:subject>Sourced architecture evolution</dc:subject>
  <dc:creator>OpenAI Codex</dc:creator>
  <cp:lastModifiedBy>OpenAI Codex</cp:lastModifiedBy>
  <dcterms:created xsi:type="dcterms:W3CDTF">2026-07-21T00:00:00Z</dcterms:created>
  <dcterms:modified xsi:type="dcterms:W3CDTF">2026-07-21T00:00:00Z</dcterms:modified>
</cp:coreProperties>
</file>